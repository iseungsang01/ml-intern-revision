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074" r:id="rId1"/>
  </p:sldMasterIdLst>
  <p:notesMasterIdLst>
    <p:notesMasterId r:id="rId20"/>
  </p:notesMasterIdLst>
  <p:sldIdLst>
    <p:sldId id="299" r:id="rId2"/>
    <p:sldId id="325" r:id="rId3"/>
    <p:sldId id="281" r:id="rId4"/>
    <p:sldId id="318" r:id="rId5"/>
    <p:sldId id="312" r:id="rId6"/>
    <p:sldId id="316" r:id="rId7"/>
    <p:sldId id="317" r:id="rId8"/>
    <p:sldId id="259" r:id="rId9"/>
    <p:sldId id="300" r:id="rId10"/>
    <p:sldId id="284" r:id="rId11"/>
    <p:sldId id="320" r:id="rId12"/>
    <p:sldId id="319" r:id="rId13"/>
    <p:sldId id="322" r:id="rId14"/>
    <p:sldId id="315" r:id="rId15"/>
    <p:sldId id="326" r:id="rId16"/>
    <p:sldId id="288" r:id="rId17"/>
    <p:sldId id="323" r:id="rId18"/>
    <p:sldId id="303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C16E1794-A788-4134-BEF9-366545E25A22}">
          <p14:sldIdLst>
            <p14:sldId id="299"/>
            <p14:sldId id="325"/>
            <p14:sldId id="281"/>
            <p14:sldId id="318"/>
            <p14:sldId id="312"/>
            <p14:sldId id="316"/>
            <p14:sldId id="317"/>
            <p14:sldId id="259"/>
            <p14:sldId id="300"/>
            <p14:sldId id="284"/>
            <p14:sldId id="320"/>
            <p14:sldId id="319"/>
            <p14:sldId id="322"/>
            <p14:sldId id="315"/>
            <p14:sldId id="326"/>
            <p14:sldId id="288"/>
          </p14:sldIdLst>
        </p14:section>
        <p14:section name="질문 정리" id="{63306DBA-ED7F-46B9-8AE3-B122BD8D49F7}">
          <p14:sldIdLst>
            <p14:sldId id="323"/>
          </p14:sldIdLst>
        </p14:section>
        <p14:section name="기타" id="{04312123-6EEA-40BA-93F8-1778982C6DA3}">
          <p14:sldIdLst>
            <p14:sldId id="30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6489"/>
    <p:restoredTop sz="88482" autoAdjust="0"/>
  </p:normalViewPr>
  <p:slideViewPr>
    <p:cSldViewPr snapToGrid="0">
      <p:cViewPr varScale="1">
        <p:scale>
          <a:sx n="73" d="100"/>
          <a:sy n="73" d="100"/>
        </p:scale>
        <p:origin x="54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0AF299-1A1E-6245-AEFA-AC1BD23D9692}" type="datetimeFigureOut">
              <a:rPr kumimoji="1" lang="ko-KR" altLang="en-US" smtClean="0"/>
              <a:t>2026-05-03</a:t>
            </a:fld>
            <a:endParaRPr kumimoji="1"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DD9D144-CCF1-644D-916F-034919B88698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8286971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D9D144-CCF1-644D-916F-034919B88698}" type="slidenum">
              <a:rPr kumimoji="1" lang="ko-KR" altLang="en-US" smtClean="0"/>
              <a:t>1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66757039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D9D144-CCF1-644D-916F-034919B88698}" type="slidenum">
              <a:rPr kumimoji="1" lang="ko-KR" altLang="en-US" smtClean="0"/>
              <a:t>8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47563994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https://agenda.enea.it/event/1065/contributions/3517/attachments/905/2118/202411ENEA_KSTARDiag.pdf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D9D144-CCF1-644D-916F-034919B88698}" type="slidenum">
              <a:rPr kumimoji="1" lang="ko-KR" altLang="en-US" smtClean="0"/>
              <a:t>9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0599667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3FB0B5F-097D-1940-8AD7-D9FADDA53E52}" type="datetimeFigureOut">
              <a:rPr kumimoji="1" lang="ko-KR" altLang="en-US" smtClean="0"/>
              <a:t>2026-05-03</a:t>
            </a:fld>
            <a:endParaRPr kumimoji="1"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kumimoji="1"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F47C9037-D820-8C46-AFEF-63E722C5F974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6158550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FB0B5F-097D-1940-8AD7-D9FADDA53E52}" type="datetimeFigureOut">
              <a:rPr kumimoji="1" lang="ko-KR" altLang="en-US" smtClean="0"/>
              <a:t>2026-05-03</a:t>
            </a:fld>
            <a:endParaRPr kumimoji="1"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F47C9037-D820-8C46-AFEF-63E722C5F974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8947524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3FB0B5F-097D-1940-8AD7-D9FADDA53E52}" type="datetimeFigureOut">
              <a:rPr kumimoji="1" lang="ko-KR" altLang="en-US" smtClean="0"/>
              <a:t>2026-05-03</a:t>
            </a:fld>
            <a:endParaRPr kumimoji="1"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kumimoji="1"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F47C9037-D820-8C46-AFEF-63E722C5F974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4391574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5"/>
            <a:ext cx="11300036" cy="871264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600378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FB0B5F-097D-1940-8AD7-D9FADDA53E52}" type="datetimeFigureOut">
              <a:rPr kumimoji="1" lang="ko-KR" altLang="en-US" smtClean="0"/>
              <a:t>2026-05-03</a:t>
            </a:fld>
            <a:endParaRPr kumimoji="1"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7C9037-D820-8C46-AFEF-63E722C5F974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7439690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FB0B5F-097D-1940-8AD7-D9FADDA53E52}" type="datetimeFigureOut">
              <a:rPr kumimoji="1" lang="ko-KR" altLang="en-US" smtClean="0"/>
              <a:t>2026-05-03</a:t>
            </a:fld>
            <a:endParaRPr kumimoji="1"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7C9037-D820-8C46-AFEF-63E722C5F974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3415360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FB0B5F-097D-1940-8AD7-D9FADDA53E52}" type="datetimeFigureOut">
              <a:rPr kumimoji="1" lang="ko-KR" altLang="en-US" smtClean="0"/>
              <a:t>2026-05-03</a:t>
            </a:fld>
            <a:endParaRPr kumimoji="1"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7C9037-D820-8C46-AFEF-63E722C5F974}" type="slidenum">
              <a:rPr kumimoji="1" lang="ko-KR" altLang="en-US" smtClean="0"/>
              <a:t>‹#›</a:t>
            </a:fld>
            <a:endParaRPr kumimoji="1" lang="ko-KR" altLang="en-US"/>
          </a:p>
        </p:txBody>
      </p:sp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05986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FB0B5F-097D-1940-8AD7-D9FADDA53E52}" type="datetimeFigureOut">
              <a:rPr kumimoji="1" lang="ko-KR" altLang="en-US" smtClean="0"/>
              <a:t>2026-05-03</a:t>
            </a:fld>
            <a:endParaRPr kumimoji="1"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7C9037-D820-8C46-AFEF-63E722C5F974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6521577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3FB0B5F-097D-1940-8AD7-D9FADDA53E52}" type="datetimeFigureOut">
              <a:rPr kumimoji="1" lang="ko-KR" altLang="en-US" smtClean="0"/>
              <a:t>2026-05-03</a:t>
            </a:fld>
            <a:endParaRPr kumimoji="1"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kumimoji="1"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F47C9037-D820-8C46-AFEF-63E722C5F974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7410658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FB0B5F-097D-1940-8AD7-D9FADDA53E52}" type="datetimeFigureOut">
              <a:rPr kumimoji="1" lang="ko-KR" altLang="en-US" smtClean="0"/>
              <a:t>2026-05-03</a:t>
            </a:fld>
            <a:endParaRPr kumimoji="1"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7C9037-D820-8C46-AFEF-63E722C5F974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3698843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FB0B5F-097D-1940-8AD7-D9FADDA53E52}" type="datetimeFigureOut">
              <a:rPr kumimoji="1" lang="ko-KR" altLang="en-US" smtClean="0"/>
              <a:t>2026-05-03</a:t>
            </a:fld>
            <a:endParaRPr kumimoji="1"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7C9037-D820-8C46-AFEF-63E722C5F974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4153149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3FB0B5F-097D-1940-8AD7-D9FADDA53E52}" type="datetimeFigureOut">
              <a:rPr kumimoji="1" lang="ko-KR" altLang="en-US" smtClean="0"/>
              <a:t>2026-05-03</a:t>
            </a:fld>
            <a:endParaRPr kumimoji="1"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kumimoji="1"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F47C9037-D820-8C46-AFEF-63E722C5F974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4153644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B3FB0B5F-097D-1940-8AD7-D9FADDA53E52}" type="datetimeFigureOut">
              <a:rPr kumimoji="1" lang="ko-KR" altLang="en-US" smtClean="0"/>
              <a:t>2026-05-03</a:t>
            </a:fld>
            <a:endParaRPr kumimoji="1"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kumimoji="1"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F47C9037-D820-8C46-AFEF-63E722C5F974}" type="slidenum">
              <a:rPr kumimoji="1" lang="ko-KR" altLang="en-US" smtClean="0"/>
              <a:t>‹#›</a:t>
            </a:fld>
            <a:endParaRPr kumimoji="1" lang="ko-KR" altLang="en-US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005419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75" r:id="rId1"/>
    <p:sldLayoutId id="2147484076" r:id="rId2"/>
    <p:sldLayoutId id="2147484077" r:id="rId3"/>
    <p:sldLayoutId id="2147484078" r:id="rId4"/>
    <p:sldLayoutId id="2147484079" r:id="rId5"/>
    <p:sldLayoutId id="2147484080" r:id="rId6"/>
    <p:sldLayoutId id="2147484081" r:id="rId7"/>
    <p:sldLayoutId id="2147484082" r:id="rId8"/>
    <p:sldLayoutId id="2147484083" r:id="rId9"/>
    <p:sldLayoutId id="2147484084" r:id="rId10"/>
    <p:sldLayoutId id="2147484085" r:id="rId11"/>
  </p:sldLayoutIdLst>
  <p:txStyles>
    <p:titleStyle>
      <a:lvl1pPr algn="l" defTabSz="457200" rtl="0" eaLnBrk="1" latinLnBrk="1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latinLnBrk="1" hangingPunct="1">
        <a:defRPr>
          <a:solidFill>
            <a:schemeClr val="tx2"/>
          </a:solidFill>
        </a:defRPr>
      </a:lvl2pPr>
      <a:lvl3pPr eaLnBrk="1" latinLnBrk="1" hangingPunct="1">
        <a:defRPr>
          <a:solidFill>
            <a:schemeClr val="tx2"/>
          </a:solidFill>
        </a:defRPr>
      </a:lvl3pPr>
      <a:lvl4pPr eaLnBrk="1" latinLnBrk="1" hangingPunct="1">
        <a:defRPr>
          <a:solidFill>
            <a:schemeClr val="tx2"/>
          </a:solidFill>
        </a:defRPr>
      </a:lvl4pPr>
      <a:lvl5pPr eaLnBrk="1" latinLnBrk="1" hangingPunct="1">
        <a:defRPr>
          <a:solidFill>
            <a:schemeClr val="tx2"/>
          </a:solidFill>
        </a:defRPr>
      </a:lvl5pPr>
      <a:lvl6pPr eaLnBrk="1" latinLnBrk="1" hangingPunct="1">
        <a:defRPr>
          <a:solidFill>
            <a:schemeClr val="tx2"/>
          </a:solidFill>
        </a:defRPr>
      </a:lvl6pPr>
      <a:lvl7pPr eaLnBrk="1" latinLnBrk="1" hangingPunct="1">
        <a:defRPr>
          <a:solidFill>
            <a:schemeClr val="tx2"/>
          </a:solidFill>
        </a:defRPr>
      </a:lvl7pPr>
      <a:lvl8pPr eaLnBrk="1" latinLnBrk="1" hangingPunct="1">
        <a:defRPr>
          <a:solidFill>
            <a:schemeClr val="tx2"/>
          </a:solidFill>
        </a:defRPr>
      </a:lvl8pPr>
      <a:lvl9pPr eaLnBrk="1" latin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1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1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1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1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1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1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1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1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1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B2A7133-9370-0F54-FA34-0F475DD4C80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7622" y="864579"/>
            <a:ext cx="10956756" cy="1772700"/>
          </a:xfrm>
        </p:spPr>
        <p:txBody>
          <a:bodyPr anchor="ctr">
            <a:normAutofit fontScale="90000"/>
          </a:bodyPr>
          <a:lstStyle/>
          <a:p>
            <a:pPr algn="r"/>
            <a:r>
              <a:rPr kumimoji="1" lang="en-US" altLang="ko-KR" b="1" cap="none" dirty="0">
                <a:solidFill>
                  <a:schemeClr val="tx2">
                    <a:lumMod val="75000"/>
                  </a:schemeClr>
                </a:solidFill>
                <a:latin typeface="Helvetica" pitchFamily="2" charset="0"/>
                <a:cs typeface="Helvetica Neue" panose="02000503000000020004" pitchFamily="2" charset="0"/>
              </a:rPr>
              <a:t>Improvement of CES Terminal Resolution at KSTAR Pedestal Top via Multimodal Neural Networks Using Muti-Diagnostic Data (BES, ECEI, </a:t>
            </a:r>
            <a:r>
              <a:rPr kumimoji="1" lang="en-US" altLang="ko-KR" b="1" cap="none" dirty="0" err="1">
                <a:solidFill>
                  <a:schemeClr val="tx2">
                    <a:lumMod val="75000"/>
                  </a:schemeClr>
                </a:solidFill>
                <a:latin typeface="Helvetica" pitchFamily="2" charset="0"/>
                <a:cs typeface="Helvetica Neue" panose="02000503000000020004" pitchFamily="2" charset="0"/>
              </a:rPr>
              <a:t>Mirnov</a:t>
            </a:r>
            <a:r>
              <a:rPr kumimoji="1" lang="en-US" altLang="ko-KR" b="1" cap="none">
                <a:solidFill>
                  <a:schemeClr val="tx2">
                    <a:lumMod val="75000"/>
                  </a:schemeClr>
                </a:solidFill>
                <a:latin typeface="Helvetica" pitchFamily="2" charset="0"/>
                <a:cs typeface="Helvetica Neue" panose="02000503000000020004" pitchFamily="2" charset="0"/>
              </a:rPr>
              <a:t> Coil)</a:t>
            </a:r>
            <a:endParaRPr kumimoji="1" lang="ko-KR" altLang="en-US" b="1" cap="none" dirty="0">
              <a:solidFill>
                <a:schemeClr val="tx2">
                  <a:lumMod val="75000"/>
                </a:schemeClr>
              </a:solidFill>
              <a:latin typeface="Helvetica" pitchFamily="2" charset="0"/>
              <a:cs typeface="Helvetica Neue" panose="02000503000000020004" pitchFamily="2" charset="0"/>
            </a:endParaRP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8399120-33E6-ADA5-6F56-E50A9E9ED3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00111" y="4969065"/>
            <a:ext cx="10453850" cy="1024356"/>
          </a:xfrm>
        </p:spPr>
        <p:txBody>
          <a:bodyPr anchor="ctr">
            <a:normAutofit/>
          </a:bodyPr>
          <a:lstStyle/>
          <a:p>
            <a:pPr algn="ctr"/>
            <a:r>
              <a:rPr kumimoji="1" lang="en-US" altLang="ko-KR" sz="2000" cap="none" dirty="0">
                <a:solidFill>
                  <a:srgbClr val="FFFFFF"/>
                </a:solidFill>
              </a:rPr>
              <a:t>Department of Nuclear-Engineering, Seoul National University, Seoul, Korea</a:t>
            </a:r>
          </a:p>
        </p:txBody>
      </p:sp>
    </p:spTree>
    <p:extLst>
      <p:ext uri="{BB962C8B-B14F-4D97-AF65-F5344CB8AC3E}">
        <p14:creationId xmlns:p14="http://schemas.microsoft.com/office/powerpoint/2010/main" val="11778677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98129C4-2490-CA42-04E7-B45185FD83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BC2057B-29A1-0B7D-395C-B7B43F3EAE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주식 형태 모델들 기반으로 실시간 </a:t>
            </a:r>
            <a:r>
              <a:rPr lang="en-US" altLang="ko-KR" dirty="0"/>
              <a:t>CES or </a:t>
            </a:r>
            <a:r>
              <a:rPr lang="en-US" altLang="ko-KR" dirty="0" err="1"/>
              <a:t>T_i</a:t>
            </a:r>
            <a:r>
              <a:rPr lang="en-US" altLang="ko-KR" dirty="0"/>
              <a:t>, </a:t>
            </a:r>
            <a:r>
              <a:rPr lang="en-US" altLang="ko-KR" dirty="0" err="1"/>
              <a:t>V_rot</a:t>
            </a:r>
            <a:r>
              <a:rPr lang="en-US" altLang="ko-KR" dirty="0"/>
              <a:t> prediction</a:t>
            </a:r>
            <a:r>
              <a:rPr lang="ko-KR" altLang="en-US" dirty="0"/>
              <a:t>도 </a:t>
            </a:r>
            <a:r>
              <a:rPr lang="ko-KR" altLang="en-US" dirty="0" err="1"/>
              <a:t>해볼만</a:t>
            </a:r>
            <a:r>
              <a:rPr lang="ko-KR" altLang="en-US" dirty="0"/>
              <a:t> 할 것 같음</a:t>
            </a:r>
            <a:endParaRPr lang="en-US" altLang="ko-KR"/>
          </a:p>
          <a:p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1209783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10EB4BA-726A-64F9-3547-A5096232FE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9960" y="1507414"/>
            <a:ext cx="7295507" cy="370332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atinLnBrk="0"/>
            <a:r>
              <a:rPr kumimoji="1" lang="en-US" altLang="ko-KR" sz="4800">
                <a:solidFill>
                  <a:schemeClr val="accent1"/>
                </a:solidFill>
              </a:rPr>
              <a:t>Introduction</a:t>
            </a:r>
          </a:p>
        </p:txBody>
      </p:sp>
    </p:spTree>
    <p:extLst>
      <p:ext uri="{BB962C8B-B14F-4D97-AF65-F5344CB8AC3E}">
        <p14:creationId xmlns:p14="http://schemas.microsoft.com/office/powerpoint/2010/main" val="42598619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1460719-4353-3F68-7908-EF7E8EBC2E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구체적인 연구 계획과 목표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441F3A7-44E4-3C83-3F14-26E9741885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dirty="0"/>
              <a:t>1. </a:t>
            </a:r>
            <a:r>
              <a:rPr lang="ko-KR" altLang="en-US" dirty="0"/>
              <a:t>연구 주제 </a:t>
            </a:r>
            <a:r>
              <a:rPr lang="en-US" altLang="ko-KR" dirty="0"/>
              <a:t>: Multimodal </a:t>
            </a:r>
            <a:r>
              <a:rPr lang="ko-KR" altLang="en-US" dirty="0"/>
              <a:t>신경망을 활용한 </a:t>
            </a:r>
            <a:r>
              <a:rPr lang="en-US" altLang="ko-KR" dirty="0"/>
              <a:t>KSTAR</a:t>
            </a:r>
            <a:r>
              <a:rPr lang="ko-KR" altLang="en-US" dirty="0"/>
              <a:t>의 </a:t>
            </a:r>
            <a:r>
              <a:rPr lang="en-US" altLang="ko-KR" dirty="0"/>
              <a:t>pedestal top</a:t>
            </a:r>
            <a:r>
              <a:rPr lang="ko-KR" altLang="en-US" dirty="0"/>
              <a:t>에서의 다중 진단</a:t>
            </a:r>
            <a:r>
              <a:rPr lang="en-US" altLang="ko-KR" dirty="0"/>
              <a:t>(BES, ECEI, </a:t>
            </a:r>
            <a:r>
              <a:rPr lang="en-US" altLang="ko-KR" dirty="0" err="1"/>
              <a:t>Mirnov</a:t>
            </a:r>
            <a:r>
              <a:rPr lang="en-US" altLang="ko-KR" dirty="0"/>
              <a:t> coil) </a:t>
            </a:r>
            <a:r>
              <a:rPr lang="ko-KR" altLang="en-US" dirty="0"/>
              <a:t>기반 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                     CES</a:t>
            </a:r>
            <a:r>
              <a:rPr lang="ko-KR" altLang="en-US" dirty="0"/>
              <a:t>의 시간해상도 확장에 관한 연구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2 .</a:t>
            </a:r>
            <a:r>
              <a:rPr lang="ko-KR" altLang="en-US" dirty="0"/>
              <a:t>달성하고자 하는 바 </a:t>
            </a:r>
            <a:r>
              <a:rPr lang="en-US" altLang="ko-KR" dirty="0"/>
              <a:t>: CES</a:t>
            </a:r>
            <a:r>
              <a:rPr lang="ko-KR" altLang="en-US" dirty="0"/>
              <a:t>의 시간해상도 확장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3. </a:t>
            </a:r>
            <a:r>
              <a:rPr lang="ko-KR" altLang="en-US" dirty="0"/>
              <a:t>추진 일정 </a:t>
            </a:r>
            <a:r>
              <a:rPr lang="en-US" altLang="ko-KR" dirty="0"/>
              <a:t>:  </a:t>
            </a:r>
          </a:p>
          <a:p>
            <a:pPr marL="0" indent="0">
              <a:buNone/>
            </a:pPr>
            <a:r>
              <a:rPr lang="en-US" altLang="ko-KR" dirty="0"/>
              <a:t>	3</a:t>
            </a:r>
            <a:r>
              <a:rPr lang="ko-KR" altLang="en-US" dirty="0"/>
              <a:t>월 </a:t>
            </a:r>
            <a:r>
              <a:rPr lang="en-US" altLang="ko-KR" dirty="0"/>
              <a:t>– </a:t>
            </a:r>
            <a:r>
              <a:rPr lang="ko-KR" altLang="en-US" dirty="0"/>
              <a:t>데이터셋 기준 수립</a:t>
            </a:r>
            <a:r>
              <a:rPr lang="en-US" altLang="ko-KR" dirty="0"/>
              <a:t>, </a:t>
            </a:r>
            <a:r>
              <a:rPr lang="ko-KR" altLang="en-US" dirty="0"/>
              <a:t>서론 초안 작성</a:t>
            </a:r>
            <a:br>
              <a:rPr lang="en-US" altLang="ko-KR" dirty="0"/>
            </a:br>
            <a:r>
              <a:rPr lang="en-US" altLang="ko-KR" dirty="0"/>
              <a:t>	4</a:t>
            </a:r>
            <a:r>
              <a:rPr lang="ko-KR" altLang="en-US" dirty="0"/>
              <a:t>월 </a:t>
            </a:r>
            <a:r>
              <a:rPr lang="en-US" altLang="ko-KR" dirty="0"/>
              <a:t>– </a:t>
            </a:r>
            <a:r>
              <a:rPr lang="ko-KR" altLang="en-US" dirty="0"/>
              <a:t>데이터셋 정리해서 직접 </a:t>
            </a:r>
            <a:r>
              <a:rPr lang="en-US" altLang="ko-KR" dirty="0"/>
              <a:t>diag2diag</a:t>
            </a:r>
            <a:r>
              <a:rPr lang="ko-KR" altLang="en-US" dirty="0"/>
              <a:t>에 넣고</a:t>
            </a:r>
            <a:r>
              <a:rPr lang="en-US" altLang="ko-KR" dirty="0"/>
              <a:t> </a:t>
            </a:r>
            <a:r>
              <a:rPr lang="ko-KR" altLang="en-US" dirty="0"/>
              <a:t>분석</a:t>
            </a:r>
            <a:r>
              <a:rPr lang="en-US" altLang="ko-KR" dirty="0"/>
              <a:t>, </a:t>
            </a:r>
            <a:r>
              <a:rPr lang="ko-KR" altLang="en-US" dirty="0"/>
              <a:t>재료 및 방법 기술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	5</a:t>
            </a:r>
            <a:r>
              <a:rPr lang="ko-KR" altLang="en-US" dirty="0"/>
              <a:t>월 </a:t>
            </a:r>
            <a:r>
              <a:rPr lang="en-US" altLang="ko-KR" dirty="0"/>
              <a:t>– </a:t>
            </a:r>
            <a:r>
              <a:rPr lang="ko-KR" altLang="en-US" dirty="0"/>
              <a:t>모델 직접 구현 및 결과 분석 </a:t>
            </a:r>
            <a:r>
              <a:rPr lang="en-US" altLang="ko-KR" dirty="0"/>
              <a:t>+ </a:t>
            </a:r>
            <a:r>
              <a:rPr lang="ko-KR" altLang="en-US" dirty="0"/>
              <a:t>논문 초안 작성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	6</a:t>
            </a:r>
            <a:r>
              <a:rPr lang="ko-KR" altLang="en-US" dirty="0"/>
              <a:t>월 </a:t>
            </a:r>
            <a:r>
              <a:rPr lang="en-US" altLang="ko-KR" dirty="0"/>
              <a:t>– </a:t>
            </a:r>
            <a:r>
              <a:rPr lang="ko-KR" altLang="en-US" dirty="0"/>
              <a:t>마무리 작업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4. </a:t>
            </a:r>
            <a:r>
              <a:rPr lang="ko-KR" altLang="en-US" dirty="0"/>
              <a:t>물리적 목적 </a:t>
            </a:r>
            <a:r>
              <a:rPr lang="en-US" altLang="ko-KR" dirty="0"/>
              <a:t>: </a:t>
            </a:r>
            <a:r>
              <a:rPr lang="ko-KR" altLang="en-US" dirty="0"/>
              <a:t>고해상도 </a:t>
            </a:r>
            <a:r>
              <a:rPr lang="en-US" altLang="ko-KR" dirty="0"/>
              <a:t>CES </a:t>
            </a:r>
            <a:r>
              <a:rPr lang="ko-KR" altLang="en-US" dirty="0"/>
              <a:t>데이터를 통한</a:t>
            </a:r>
            <a:r>
              <a:rPr lang="en-US" altLang="ko-KR" dirty="0"/>
              <a:t> RMP </a:t>
            </a:r>
            <a:r>
              <a:rPr lang="ko-KR" altLang="en-US" dirty="0"/>
              <a:t>상태에서의 </a:t>
            </a:r>
            <a:r>
              <a:rPr lang="en-US" altLang="ko-KR" dirty="0"/>
              <a:t>ELM</a:t>
            </a:r>
            <a:r>
              <a:rPr lang="ko-KR" altLang="en-US" dirty="0"/>
              <a:t>의</a:t>
            </a:r>
            <a:r>
              <a:rPr lang="en-US" altLang="ko-KR" dirty="0"/>
              <a:t> </a:t>
            </a:r>
            <a:r>
              <a:rPr lang="ko-KR" altLang="en-US" dirty="0"/>
              <a:t>이온 동역학 분석의 기틀 마련</a:t>
            </a:r>
            <a:r>
              <a:rPr lang="en-US" altLang="ko-KR" dirty="0"/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2885218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30A6121-35DD-9EDE-EA47-98521CA53E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왜 이 연구를 </a:t>
            </a:r>
            <a:r>
              <a:rPr lang="ko-KR" altLang="en-US" dirty="0" err="1"/>
              <a:t>해야하는가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E8416D9-3B0C-994D-0B1E-6F967B9F50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dirty="0"/>
              <a:t>현재 </a:t>
            </a:r>
            <a:r>
              <a:rPr lang="en-US" altLang="ko-KR" dirty="0"/>
              <a:t>CES</a:t>
            </a:r>
            <a:r>
              <a:rPr lang="ko-KR" altLang="en-US" dirty="0"/>
              <a:t>의 문제점 </a:t>
            </a:r>
            <a:endParaRPr lang="en-US" altLang="ko-KR" dirty="0"/>
          </a:p>
          <a:p>
            <a:r>
              <a:rPr lang="en-US" altLang="ko-KR" dirty="0"/>
              <a:t>SNR </a:t>
            </a:r>
            <a:r>
              <a:rPr lang="ko-KR" altLang="en-US" dirty="0"/>
              <a:t>확보를 위해 </a:t>
            </a:r>
            <a:r>
              <a:rPr lang="en-US" altLang="ko-KR" dirty="0"/>
              <a:t>photon</a:t>
            </a:r>
            <a:r>
              <a:rPr lang="ko-KR" altLang="en-US" dirty="0"/>
              <a:t>을 오래 </a:t>
            </a:r>
            <a:r>
              <a:rPr lang="ko-KR" altLang="en-US" dirty="0" err="1"/>
              <a:t>받아야함</a:t>
            </a:r>
            <a:endParaRPr lang="en-US" altLang="ko-KR" dirty="0"/>
          </a:p>
          <a:p>
            <a:pPr>
              <a:buFont typeface="Wingdings" panose="05000000000000000000" pitchFamily="2" charset="2"/>
              <a:buChar char="Ø"/>
            </a:pPr>
            <a:r>
              <a:rPr lang="ko-KR" altLang="en-US" dirty="0"/>
              <a:t>시간 해상도가 클 수 밖에 없는 문제점 존재</a:t>
            </a:r>
            <a:endParaRPr lang="en-US" altLang="ko-KR" dirty="0"/>
          </a:p>
          <a:p>
            <a:pPr>
              <a:buFont typeface="Wingdings" panose="05000000000000000000" pitchFamily="2" charset="2"/>
              <a:buChar char="Ø"/>
            </a:pP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KSTAR</a:t>
            </a:r>
            <a:r>
              <a:rPr lang="ko-KR" altLang="en-US" dirty="0"/>
              <a:t>에서는 </a:t>
            </a:r>
            <a:r>
              <a:rPr lang="en-US" altLang="ko-KR" dirty="0"/>
              <a:t>UFCES</a:t>
            </a:r>
            <a:r>
              <a:rPr lang="ko-KR" altLang="en-US" dirty="0"/>
              <a:t>를 도입하여 이를 보완함 </a:t>
            </a:r>
            <a:r>
              <a:rPr lang="en-US" altLang="ko-KR" dirty="0"/>
              <a:t>(10ms </a:t>
            </a:r>
            <a:r>
              <a:rPr lang="ko-KR" altLang="en-US" dirty="0"/>
              <a:t>수준</a:t>
            </a:r>
            <a:r>
              <a:rPr lang="en-US" altLang="ko-KR" dirty="0"/>
              <a:t>)</a:t>
            </a:r>
          </a:p>
          <a:p>
            <a:pPr marL="0" indent="0">
              <a:buNone/>
            </a:pPr>
            <a:r>
              <a:rPr lang="ko-KR" altLang="en-US" dirty="0"/>
              <a:t>그러나 </a:t>
            </a:r>
            <a:r>
              <a:rPr lang="en-US" altLang="ko-KR" dirty="0"/>
              <a:t>UFCES</a:t>
            </a:r>
            <a:r>
              <a:rPr lang="ko-KR" altLang="en-US" dirty="0"/>
              <a:t>의 단점은</a:t>
            </a:r>
            <a:endParaRPr lang="en-US" altLang="ko-KR" dirty="0"/>
          </a:p>
          <a:p>
            <a:pPr marL="342900" indent="-342900">
              <a:buAutoNum type="arabicPeriod"/>
            </a:pPr>
            <a:r>
              <a:rPr lang="ko-KR" altLang="en-US" dirty="0"/>
              <a:t>몇 개의 </a:t>
            </a:r>
            <a:r>
              <a:rPr lang="en-US" altLang="ko-KR" dirty="0"/>
              <a:t>wavelength channel</a:t>
            </a:r>
            <a:r>
              <a:rPr lang="ko-KR" altLang="en-US" dirty="0"/>
              <a:t>만 선택</a:t>
            </a:r>
            <a:endParaRPr lang="en-US" altLang="ko-KR" dirty="0"/>
          </a:p>
          <a:p>
            <a:pPr marL="342900" indent="-342900">
              <a:buAutoNum type="arabicPeriod"/>
            </a:pPr>
            <a:r>
              <a:rPr lang="ko-KR" altLang="en-US" dirty="0"/>
              <a:t>강한 물리적 가정들을 기반으로 </a:t>
            </a:r>
            <a:r>
              <a:rPr lang="en-US" altLang="ko-KR" dirty="0"/>
              <a:t>inverse mapping </a:t>
            </a:r>
            <a:r>
              <a:rPr lang="ko-KR" altLang="en-US" dirty="0"/>
              <a:t>학습을 통한 </a:t>
            </a:r>
            <a:r>
              <a:rPr lang="en-US" altLang="ko-KR" dirty="0"/>
              <a:t>S -&gt; </a:t>
            </a:r>
            <a:r>
              <a:rPr lang="ko-KR" altLang="en-US" dirty="0"/>
              <a:t>이온 온도</a:t>
            </a:r>
            <a:r>
              <a:rPr lang="en-US" altLang="ko-KR" dirty="0"/>
              <a:t>, rot </a:t>
            </a:r>
            <a:r>
              <a:rPr lang="ko-KR" altLang="en-US" dirty="0"/>
              <a:t>속도를 도출함</a:t>
            </a:r>
            <a:endParaRPr lang="en-US" altLang="ko-KR" dirty="0"/>
          </a:p>
          <a:p>
            <a:pPr marL="342900" indent="-342900">
              <a:buAutoNum type="arabicPeriod"/>
            </a:pP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5592679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1460719-4353-3F68-7908-EF7E8EBC2E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왜 이 연구를 </a:t>
            </a:r>
            <a:r>
              <a:rPr lang="ko-KR" altLang="en-US" dirty="0" err="1"/>
              <a:t>해야하는가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441F3A7-44E4-3C83-3F14-26E9741885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AutoNum type="arabicPeriod"/>
            </a:pPr>
            <a:endParaRPr lang="en-US" altLang="ko-KR" dirty="0"/>
          </a:p>
          <a:p>
            <a:pPr marL="0" indent="0">
              <a:buNone/>
            </a:pPr>
            <a:r>
              <a:rPr lang="ko-KR" altLang="en-US" dirty="0"/>
              <a:t>현재 있는 </a:t>
            </a:r>
            <a:r>
              <a:rPr lang="en-US" altLang="ko-KR" dirty="0"/>
              <a:t>CES, UFCES</a:t>
            </a:r>
            <a:r>
              <a:rPr lang="ko-KR" altLang="en-US" dirty="0"/>
              <a:t>에서의 단점들을 </a:t>
            </a:r>
            <a:r>
              <a:rPr lang="en-US" altLang="ko-KR" dirty="0"/>
              <a:t>multimodal</a:t>
            </a:r>
            <a:r>
              <a:rPr lang="ko-KR" altLang="en-US" dirty="0"/>
              <a:t>을 통해 크게 해결할 수 있음</a:t>
            </a:r>
            <a:endParaRPr lang="en-US" altLang="ko-KR" dirty="0"/>
          </a:p>
          <a:p>
            <a:pPr marL="342900" indent="-342900">
              <a:buAutoNum type="arabicPeriod"/>
            </a:pPr>
            <a:r>
              <a:rPr lang="en-US" altLang="ko-KR" dirty="0"/>
              <a:t>UFCES</a:t>
            </a:r>
            <a:r>
              <a:rPr lang="ko-KR" altLang="en-US" dirty="0"/>
              <a:t>보다 높은 수준의 시간 해상도   </a:t>
            </a:r>
            <a:r>
              <a:rPr lang="en-US" altLang="ko-KR" dirty="0"/>
              <a:t> </a:t>
            </a:r>
          </a:p>
          <a:p>
            <a:pPr marL="342900" indent="-342900">
              <a:buAutoNum type="arabicPeriod"/>
            </a:pPr>
            <a:r>
              <a:rPr lang="en-US" altLang="ko-KR" dirty="0"/>
              <a:t>UFCES</a:t>
            </a:r>
            <a:r>
              <a:rPr lang="ko-KR" altLang="en-US" dirty="0"/>
              <a:t>보다 높은 공간 해상도 </a:t>
            </a:r>
            <a:r>
              <a:rPr lang="en-US" altLang="ko-KR" dirty="0"/>
              <a:t>(CES </a:t>
            </a:r>
            <a:r>
              <a:rPr lang="ko-KR" altLang="en-US" dirty="0"/>
              <a:t>데이터 </a:t>
            </a:r>
            <a:r>
              <a:rPr lang="en-US" altLang="ko-KR" dirty="0"/>
              <a:t>32ch</a:t>
            </a:r>
            <a:r>
              <a:rPr lang="ko-KR" altLang="en-US" dirty="0"/>
              <a:t>에 대해서 가능할 것으로 예상</a:t>
            </a:r>
            <a:r>
              <a:rPr lang="en-US" altLang="ko-KR" dirty="0"/>
              <a:t>, UFCES</a:t>
            </a:r>
            <a:r>
              <a:rPr lang="ko-KR" altLang="en-US" dirty="0"/>
              <a:t>는 </a:t>
            </a:r>
            <a:r>
              <a:rPr lang="en-US" altLang="ko-KR" dirty="0"/>
              <a:t>2ch</a:t>
            </a:r>
            <a:r>
              <a:rPr lang="ko-KR" altLang="en-US" dirty="0"/>
              <a:t>만 사용</a:t>
            </a:r>
            <a:r>
              <a:rPr lang="en-US" altLang="ko-KR" dirty="0"/>
              <a:t>)</a:t>
            </a:r>
          </a:p>
          <a:p>
            <a:pPr marL="342900" indent="-342900">
              <a:buAutoNum type="arabicPeriod"/>
            </a:pPr>
            <a:r>
              <a:rPr lang="ko-KR" altLang="en-US" dirty="0"/>
              <a:t>물리적 가정이 </a:t>
            </a:r>
            <a:r>
              <a:rPr lang="en-US" altLang="ko-KR" dirty="0"/>
              <a:t>UFCES</a:t>
            </a:r>
            <a:r>
              <a:rPr lang="ko-KR" altLang="en-US" dirty="0"/>
              <a:t>보다 덜 </a:t>
            </a:r>
            <a:r>
              <a:rPr lang="ko-KR" altLang="en-US" dirty="0" err="1"/>
              <a:t>들어감</a:t>
            </a:r>
            <a:r>
              <a:rPr lang="ko-KR" altLang="en-US" dirty="0"/>
              <a:t> </a:t>
            </a:r>
            <a:r>
              <a:rPr lang="en-US" altLang="ko-KR" dirty="0"/>
              <a:t>(</a:t>
            </a:r>
            <a:r>
              <a:rPr lang="ko-KR" altLang="en-US" dirty="0"/>
              <a:t>핵융합에서 가장 기본적인 </a:t>
            </a:r>
            <a:r>
              <a:rPr lang="en-US" altLang="ko-KR" dirty="0"/>
              <a:t>axis symmetry </a:t>
            </a:r>
            <a:r>
              <a:rPr lang="ko-KR" altLang="en-US" dirty="0"/>
              <a:t>가정만 필요</a:t>
            </a:r>
            <a:r>
              <a:rPr lang="en-US" altLang="ko-KR" dirty="0"/>
              <a:t>)</a:t>
            </a:r>
          </a:p>
          <a:p>
            <a:pPr marL="342900" indent="-342900">
              <a:buAutoNum type="arabicPeriod"/>
            </a:pP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CES </a:t>
            </a:r>
            <a:r>
              <a:rPr lang="ko-KR" altLang="en-US" dirty="0"/>
              <a:t>대비 강점은 약 </a:t>
            </a:r>
            <a:r>
              <a:rPr lang="en-US" altLang="ko-KR" dirty="0"/>
              <a:t>10000</a:t>
            </a:r>
            <a:r>
              <a:rPr lang="ko-KR" altLang="en-US" dirty="0"/>
              <a:t>배 이상의 시간 해상도 증가를 통해서 긴 노출로 인해서 평탄해지는 </a:t>
            </a:r>
            <a:r>
              <a:rPr lang="en-US" altLang="ko-KR" dirty="0"/>
              <a:t>intensity</a:t>
            </a:r>
            <a:r>
              <a:rPr lang="ko-KR" altLang="en-US" dirty="0"/>
              <a:t>를 짧은 시간 간격으로 정확하게 분석할 수 있어 이온 온도</a:t>
            </a:r>
            <a:r>
              <a:rPr lang="en-US" altLang="ko-KR" dirty="0"/>
              <a:t>, </a:t>
            </a:r>
            <a:r>
              <a:rPr lang="ko-KR" altLang="en-US" dirty="0"/>
              <a:t>회전 속도의 평탄화를 막을 수 있음</a:t>
            </a:r>
          </a:p>
        </p:txBody>
      </p:sp>
    </p:spTree>
    <p:extLst>
      <p:ext uri="{BB962C8B-B14F-4D97-AF65-F5344CB8AC3E}">
        <p14:creationId xmlns:p14="http://schemas.microsoft.com/office/powerpoint/2010/main" val="19812802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1460719-4353-3F68-7908-EF7E8EBC2E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연구를 통해 기대되는 효과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441F3A7-44E4-3C83-3F14-26E9741885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AutoNum type="arabicPeriod"/>
            </a:pPr>
            <a:r>
              <a:rPr lang="en-US" altLang="ko-KR" dirty="0"/>
              <a:t>Type III ELM </a:t>
            </a:r>
            <a:r>
              <a:rPr lang="ko-KR" altLang="en-US" dirty="0"/>
              <a:t>같이 고주파수 및 작은 붕괴를 지니는 현상들은 </a:t>
            </a:r>
            <a:r>
              <a:rPr lang="en-US" altLang="ko-KR" dirty="0"/>
              <a:t>CES</a:t>
            </a:r>
            <a:r>
              <a:rPr lang="ko-KR" altLang="en-US" dirty="0"/>
              <a:t>의 긴 노출 시간 때문에 시간 </a:t>
            </a:r>
            <a:r>
              <a:rPr lang="ko-KR" altLang="en-US" dirty="0" err="1"/>
              <a:t>평균되어</a:t>
            </a:r>
            <a:r>
              <a:rPr lang="ko-KR" altLang="en-US" dirty="0"/>
              <a:t> 잘 드러나지 않았기 때문에 이를 해결할 수 있을 것</a:t>
            </a:r>
            <a:endParaRPr lang="en-US" altLang="ko-KR" dirty="0"/>
          </a:p>
          <a:p>
            <a:pPr marL="342900" indent="-342900">
              <a:buAutoNum type="arabicPeriod"/>
            </a:pPr>
            <a:r>
              <a:rPr lang="en-US" altLang="ko-KR" dirty="0"/>
              <a:t>H-mode</a:t>
            </a:r>
            <a:r>
              <a:rPr lang="ko-KR" altLang="en-US" dirty="0"/>
              <a:t>에서 발생하는 </a:t>
            </a:r>
            <a:r>
              <a:rPr lang="en-US" altLang="ko-KR" dirty="0"/>
              <a:t>100 </a:t>
            </a:r>
            <a:r>
              <a:rPr lang="ko-KR" altLang="en-US" dirty="0"/>
              <a:t>마이크로 </a:t>
            </a:r>
            <a:r>
              <a:rPr lang="en-US" altLang="ko-KR" dirty="0"/>
              <a:t>sec </a:t>
            </a:r>
            <a:r>
              <a:rPr lang="ko-KR" altLang="en-US" dirty="0"/>
              <a:t>수준의 </a:t>
            </a:r>
            <a:r>
              <a:rPr lang="en-US" altLang="ko-KR" dirty="0"/>
              <a:t>SP (</a:t>
            </a:r>
            <a:r>
              <a:rPr lang="ko-KR" altLang="en-US" dirty="0"/>
              <a:t>고립된 섭동</a:t>
            </a:r>
            <a:r>
              <a:rPr lang="en-US" altLang="ko-KR" dirty="0"/>
              <a:t>) </a:t>
            </a:r>
            <a:r>
              <a:rPr lang="ko-KR" altLang="en-US" dirty="0"/>
              <a:t>발생에 대해서 이온의 움직임을 해석할 수 있음</a:t>
            </a:r>
            <a:endParaRPr lang="en-US" altLang="ko-KR" dirty="0"/>
          </a:p>
          <a:p>
            <a:pPr marL="342900" indent="-342900">
              <a:buAutoNum type="arabicPeriod"/>
            </a:pPr>
            <a:r>
              <a:rPr lang="ko-KR" altLang="en-US" dirty="0"/>
              <a:t>전자 중심의 고해상도 플라즈마 동역학 연구를 이온 기반으로도 가능하게 함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42458466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CBF9C7E-DA9A-F9A4-B5A4-B51C6EC369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9960" y="1507414"/>
            <a:ext cx="7295507" cy="370332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atinLnBrk="0"/>
            <a:r>
              <a:rPr kumimoji="1" lang="en-US" altLang="ko-KR" sz="4800">
                <a:solidFill>
                  <a:schemeClr val="accent1"/>
                </a:solidFill>
              </a:rPr>
              <a:t>Theoretical Backgrounds</a:t>
            </a:r>
          </a:p>
        </p:txBody>
      </p:sp>
    </p:spTree>
    <p:extLst>
      <p:ext uri="{BB962C8B-B14F-4D97-AF65-F5344CB8AC3E}">
        <p14:creationId xmlns:p14="http://schemas.microsoft.com/office/powerpoint/2010/main" val="42941212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FFB2621-5CC9-FF02-C58D-443473955D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 err="1"/>
              <a:t>KstAr</a:t>
            </a:r>
            <a:r>
              <a:rPr kumimoji="1" lang="en-US" altLang="ko-KR" dirty="0"/>
              <a:t> diagnostics layout</a:t>
            </a:r>
            <a:endParaRPr lang="ko-KR" altLang="en-US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BCC5CBA3-89CD-1455-2C1C-1DE56DF78DA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6765" t="10384" b="1"/>
          <a:stretch/>
        </p:blipFill>
        <p:spPr>
          <a:xfrm>
            <a:off x="363894" y="2228850"/>
            <a:ext cx="6601723" cy="4442538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7A44B898-CF19-36BE-24E6-7B2375AB76D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3967" y="2674278"/>
            <a:ext cx="6814139" cy="3210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01292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3B8CB63-E55C-FA9E-8C1D-25992C3EE2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9960" y="1507414"/>
            <a:ext cx="7295507" cy="370332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atinLnBrk="0"/>
            <a:r>
              <a:rPr kumimoji="1" lang="en-US" altLang="ko-KR" sz="4800" dirty="0">
                <a:solidFill>
                  <a:schemeClr val="accent1"/>
                </a:solidFill>
              </a:rPr>
              <a:t>methods</a:t>
            </a:r>
          </a:p>
        </p:txBody>
      </p:sp>
    </p:spTree>
    <p:extLst>
      <p:ext uri="{BB962C8B-B14F-4D97-AF65-F5344CB8AC3E}">
        <p14:creationId xmlns:p14="http://schemas.microsoft.com/office/powerpoint/2010/main" val="22136447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03BB99F-367A-8E24-5D4E-3F2CADF915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데이터셋 수집 기준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DE65766-C53D-F154-BEE8-50DD9A9B3C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ko-KR" dirty="0"/>
              <a:t>A. </a:t>
            </a:r>
            <a:r>
              <a:rPr lang="ko-KR" altLang="en-US" dirty="0"/>
              <a:t>시나리오 혹은 플라즈마 상태 분류 </a:t>
            </a:r>
            <a:r>
              <a:rPr lang="en-US" altLang="ko-KR" dirty="0"/>
              <a:t>: </a:t>
            </a:r>
          </a:p>
          <a:p>
            <a:r>
              <a:rPr lang="ko-KR" altLang="en-US" dirty="0"/>
              <a:t>플라즈마 상태 </a:t>
            </a:r>
            <a:r>
              <a:rPr lang="en-US" altLang="ko-KR" dirty="0"/>
              <a:t>:  H-mode ELM suppression</a:t>
            </a:r>
            <a:r>
              <a:rPr lang="ko-KR" altLang="en-US" dirty="0"/>
              <a:t> </a:t>
            </a:r>
            <a:r>
              <a:rPr lang="en-US" altLang="ko-KR" dirty="0"/>
              <a:t>(RMP)</a:t>
            </a:r>
            <a:r>
              <a:rPr lang="ko-KR" altLang="en-US" dirty="0"/>
              <a:t> 상황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	(suppression</a:t>
            </a:r>
            <a:r>
              <a:rPr lang="ko-KR" altLang="en-US" dirty="0"/>
              <a:t>에서도 </a:t>
            </a:r>
            <a:r>
              <a:rPr lang="en-US" altLang="ko-KR" dirty="0"/>
              <a:t>Da </a:t>
            </a:r>
            <a:r>
              <a:rPr lang="ko-KR" altLang="en-US" dirty="0"/>
              <a:t>튀는 걸 보면 이 때의 </a:t>
            </a:r>
            <a:r>
              <a:rPr lang="en-US" altLang="ko-KR" dirty="0"/>
              <a:t>ELM </a:t>
            </a:r>
            <a:r>
              <a:rPr lang="ko-KR" altLang="en-US" dirty="0"/>
              <a:t>잘라서 쓰면 될 것이라고 판단</a:t>
            </a:r>
            <a:r>
              <a:rPr lang="en-US" altLang="ko-KR" dirty="0"/>
              <a:t>)</a:t>
            </a:r>
          </a:p>
          <a:p>
            <a:pPr marL="0" indent="0">
              <a:buNone/>
            </a:pPr>
            <a:r>
              <a:rPr lang="en-US" altLang="ko-KR" dirty="0"/>
              <a:t>   </a:t>
            </a:r>
            <a:r>
              <a:rPr lang="en-US" altLang="ko-KR" b="1" dirty="0"/>
              <a:t>    (</a:t>
            </a:r>
            <a:r>
              <a:rPr lang="ko-KR" altLang="en-US" b="1" dirty="0"/>
              <a:t>따로 </a:t>
            </a:r>
            <a:r>
              <a:rPr lang="en-US" altLang="ko-KR" b="1" dirty="0" err="1"/>
              <a:t>beta_N</a:t>
            </a:r>
            <a:r>
              <a:rPr lang="en-US" altLang="ko-KR" b="1" dirty="0"/>
              <a:t> </a:t>
            </a:r>
            <a:r>
              <a:rPr lang="ko-KR" altLang="en-US" b="1" dirty="0"/>
              <a:t>값을 고정하거나 </a:t>
            </a:r>
            <a:r>
              <a:rPr lang="ko-KR" altLang="en-US" b="1" dirty="0" err="1"/>
              <a:t>해야할지</a:t>
            </a:r>
            <a:r>
              <a:rPr lang="ko-KR" altLang="en-US" b="1" dirty="0"/>
              <a:t> 아니면 </a:t>
            </a:r>
            <a:r>
              <a:rPr lang="en-US" altLang="ko-KR" b="1" dirty="0"/>
              <a:t>ELM suppression-RMP </a:t>
            </a:r>
            <a:r>
              <a:rPr lang="ko-KR" altLang="en-US" b="1" dirty="0"/>
              <a:t>시나리오</a:t>
            </a:r>
            <a:endParaRPr lang="en-US" altLang="ko-KR" b="1" dirty="0"/>
          </a:p>
          <a:p>
            <a:pPr marL="0" indent="0">
              <a:buNone/>
            </a:pPr>
            <a:r>
              <a:rPr lang="en-US" altLang="ko-KR" b="1" dirty="0"/>
              <a:t>        </a:t>
            </a:r>
            <a:r>
              <a:rPr lang="ko-KR" altLang="en-US" b="1" dirty="0"/>
              <a:t>라는 좀 더 광범위한 기준으로 가도 될지 의문입니다</a:t>
            </a:r>
            <a:r>
              <a:rPr lang="en-US" altLang="ko-KR" b="1" dirty="0"/>
              <a:t>)</a:t>
            </a:r>
          </a:p>
          <a:p>
            <a:pPr marL="0" indent="0">
              <a:buNone/>
            </a:pPr>
            <a:r>
              <a:rPr lang="en-US" altLang="ko-KR" b="1" dirty="0"/>
              <a:t>        (</a:t>
            </a:r>
            <a:r>
              <a:rPr lang="ko-KR" altLang="en-US" b="1" dirty="0"/>
              <a:t>데이터셋 보면 </a:t>
            </a:r>
            <a:r>
              <a:rPr lang="en-US" altLang="ko-KR" b="1" dirty="0"/>
              <a:t>beta N 2~3 </a:t>
            </a:r>
            <a:r>
              <a:rPr lang="ko-KR" altLang="en-US" b="1" dirty="0"/>
              <a:t>사이정도</a:t>
            </a:r>
            <a:r>
              <a:rPr lang="en-US" altLang="ko-KR" b="1" dirty="0"/>
              <a:t>) </a:t>
            </a:r>
          </a:p>
          <a:p>
            <a:endParaRPr lang="en-US" altLang="ko-KR" dirty="0"/>
          </a:p>
          <a:p>
            <a:r>
              <a:rPr lang="en-US" altLang="ko-KR" dirty="0"/>
              <a:t>B. discharge </a:t>
            </a:r>
            <a:r>
              <a:rPr lang="ko-KR" altLang="en-US" dirty="0"/>
              <a:t>시계열 데이터는 어떤 시계열 데이터</a:t>
            </a:r>
            <a:r>
              <a:rPr lang="en-US" altLang="ko-KR" dirty="0"/>
              <a:t>?</a:t>
            </a:r>
          </a:p>
          <a:p>
            <a:r>
              <a:rPr lang="en-US" altLang="ko-KR" dirty="0"/>
              <a:t>ELM suppression</a:t>
            </a:r>
            <a:r>
              <a:rPr lang="ko-KR" altLang="en-US" dirty="0"/>
              <a:t>이 유지되는 동안 </a:t>
            </a:r>
            <a:r>
              <a:rPr lang="en-US" altLang="ko-KR" dirty="0" err="1"/>
              <a:t>D_alpha</a:t>
            </a:r>
            <a:r>
              <a:rPr lang="ko-KR" altLang="en-US" dirty="0"/>
              <a:t>의 값이 튄 구간을 중점으로 약 </a:t>
            </a:r>
            <a:r>
              <a:rPr lang="en-US" altLang="ko-KR" dirty="0"/>
              <a:t>100ms </a:t>
            </a:r>
            <a:r>
              <a:rPr lang="ko-KR" altLang="en-US" dirty="0"/>
              <a:t>정도 잘라 학습에 사용</a:t>
            </a: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3E843218-EFB4-0216-1623-48B72F98BE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5846" y="2151346"/>
            <a:ext cx="5394961" cy="7441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12377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762C6A1-C76F-F6CF-91FF-AE079112A9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데이터셋 수집 기준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0915F6B-7D24-8409-D602-6C6FCD3A73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/>
            <a:r>
              <a:rPr lang="en-US" altLang="ko-KR" sz="1800" dirty="0"/>
              <a:t>C. </a:t>
            </a:r>
            <a:r>
              <a:rPr lang="ko-KR" altLang="en-US" sz="1800" dirty="0"/>
              <a:t>실험 연도 및 </a:t>
            </a:r>
            <a:r>
              <a:rPr lang="en-US" altLang="ko-KR" sz="1800" dirty="0"/>
              <a:t>KSTAR </a:t>
            </a:r>
            <a:r>
              <a:rPr lang="ko-KR" altLang="en-US" sz="1800" dirty="0"/>
              <a:t>장치 상태에 따른 </a:t>
            </a:r>
            <a:r>
              <a:rPr lang="en-US" altLang="ko-KR" sz="1800" dirty="0"/>
              <a:t>discharge</a:t>
            </a:r>
          </a:p>
          <a:p>
            <a:pPr marL="324000" lvl="1" indent="0">
              <a:buNone/>
            </a:pPr>
            <a:endParaRPr lang="en-US" altLang="ko-KR" sz="1800" dirty="0"/>
          </a:p>
          <a:p>
            <a:pPr lvl="1"/>
            <a:r>
              <a:rPr lang="ko-KR" altLang="en-US" sz="1800" dirty="0"/>
              <a:t>현재 </a:t>
            </a:r>
            <a:r>
              <a:rPr lang="en-US" altLang="ko-KR" sz="1800" dirty="0"/>
              <a:t>KSTAR</a:t>
            </a:r>
            <a:r>
              <a:rPr lang="ko-KR" altLang="en-US" sz="1800" dirty="0"/>
              <a:t>에서 </a:t>
            </a:r>
            <a:r>
              <a:rPr lang="en-US" altLang="ko-KR" sz="1800" dirty="0"/>
              <a:t>divertor 2023</a:t>
            </a:r>
            <a:r>
              <a:rPr lang="ko-KR" altLang="en-US" sz="1800" dirty="0"/>
              <a:t>년 텅스텐 교체</a:t>
            </a:r>
            <a:endParaRPr lang="en-US" altLang="ko-KR" sz="1800" dirty="0"/>
          </a:p>
          <a:p>
            <a:pPr lvl="1"/>
            <a:r>
              <a:rPr lang="en-US" altLang="ko-KR" sz="1800" dirty="0"/>
              <a:t>2020</a:t>
            </a:r>
            <a:r>
              <a:rPr lang="ko-KR" altLang="en-US" sz="1800" dirty="0"/>
              <a:t>년 전후로</a:t>
            </a:r>
            <a:r>
              <a:rPr lang="en-US" altLang="ko-KR" sz="1800" dirty="0"/>
              <a:t>, UFCES </a:t>
            </a:r>
            <a:r>
              <a:rPr lang="ko-KR" altLang="en-US" sz="1800" dirty="0"/>
              <a:t>도입</a:t>
            </a:r>
            <a:endParaRPr lang="en-US" altLang="ko-KR" sz="1800" dirty="0"/>
          </a:p>
          <a:p>
            <a:pPr lvl="1"/>
            <a:r>
              <a:rPr lang="en-US" altLang="ko-KR" sz="1800" dirty="0"/>
              <a:t>2017</a:t>
            </a:r>
            <a:r>
              <a:rPr lang="ko-KR" altLang="en-US" sz="1800" dirty="0"/>
              <a:t>년 즈음 </a:t>
            </a:r>
            <a:r>
              <a:rPr lang="en-US" altLang="ko-KR" sz="1800" dirty="0" err="1"/>
              <a:t>MicroTCA</a:t>
            </a:r>
            <a:r>
              <a:rPr lang="ko-KR" altLang="en-US" sz="1800" dirty="0"/>
              <a:t>를 기반으로 한 하드웨어 업데이트</a:t>
            </a:r>
            <a:endParaRPr lang="en-US" altLang="ko-KR" sz="1800" dirty="0"/>
          </a:p>
          <a:p>
            <a:pPr lvl="1"/>
            <a:endParaRPr lang="en-US" altLang="ko-KR" sz="1800" dirty="0"/>
          </a:p>
          <a:p>
            <a:pPr marL="324000" lvl="1" indent="0">
              <a:buNone/>
            </a:pPr>
            <a:r>
              <a:rPr lang="en-US" altLang="ko-KR" sz="1800" dirty="0"/>
              <a:t>2018</a:t>
            </a:r>
            <a:r>
              <a:rPr lang="ko-KR" altLang="en-US" sz="1800" dirty="0"/>
              <a:t>년 </a:t>
            </a:r>
            <a:r>
              <a:rPr lang="en-US" altLang="ko-KR" sz="1800" dirty="0"/>
              <a:t>20,000 shot,</a:t>
            </a:r>
            <a:r>
              <a:rPr lang="ko-KR" altLang="en-US" sz="1800" dirty="0"/>
              <a:t> </a:t>
            </a:r>
            <a:r>
              <a:rPr lang="en-US" altLang="ko-KR" sz="1800" dirty="0"/>
              <a:t>2021</a:t>
            </a:r>
            <a:r>
              <a:rPr lang="ko-KR" altLang="en-US" sz="1800" dirty="0"/>
              <a:t>년 </a:t>
            </a:r>
            <a:r>
              <a:rPr lang="en-US" altLang="ko-KR" sz="1800" dirty="0"/>
              <a:t>9</a:t>
            </a:r>
            <a:r>
              <a:rPr lang="ko-KR" altLang="en-US" sz="1800" dirty="0"/>
              <a:t>월 </a:t>
            </a:r>
            <a:r>
              <a:rPr lang="en-US" altLang="ko-KR" sz="1800" dirty="0"/>
              <a:t>30,000 shot</a:t>
            </a:r>
            <a:r>
              <a:rPr lang="ko-KR" altLang="en-US" sz="1800" dirty="0"/>
              <a:t> 달성하였음</a:t>
            </a:r>
            <a:r>
              <a:rPr lang="en-US" altLang="ko-KR" sz="1800" dirty="0"/>
              <a:t>.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ko-KR" altLang="en-US" sz="1800" dirty="0"/>
              <a:t>약 </a:t>
            </a:r>
            <a:r>
              <a:rPr lang="en-US" altLang="ko-KR" sz="1800" dirty="0"/>
              <a:t>#24000 </a:t>
            </a:r>
            <a:r>
              <a:rPr lang="ko-KR" altLang="en-US" sz="1800" dirty="0"/>
              <a:t>정도를 마지노선으로 </a:t>
            </a:r>
            <a:r>
              <a:rPr lang="en-US" altLang="ko-KR" sz="1800" dirty="0"/>
              <a:t>1</a:t>
            </a:r>
            <a:r>
              <a:rPr lang="ko-KR" altLang="en-US" sz="1800" dirty="0"/>
              <a:t>순위 </a:t>
            </a:r>
            <a:r>
              <a:rPr lang="en-US" altLang="ko-KR" sz="1800" dirty="0"/>
              <a:t>#30000~33000, 2</a:t>
            </a:r>
            <a:r>
              <a:rPr lang="ko-KR" altLang="en-US" sz="1800" dirty="0"/>
              <a:t>순위 </a:t>
            </a:r>
            <a:r>
              <a:rPr lang="en-US" altLang="ko-KR" sz="1800" dirty="0"/>
              <a:t>#27000-30000, 3</a:t>
            </a:r>
            <a:r>
              <a:rPr lang="ko-KR" altLang="en-US" sz="1800" dirty="0"/>
              <a:t>순위 </a:t>
            </a:r>
            <a:r>
              <a:rPr lang="en-US" altLang="ko-KR" sz="1800" dirty="0"/>
              <a:t>#24000-27000</a:t>
            </a:r>
            <a:r>
              <a:rPr lang="ko-KR" altLang="en-US" sz="1800" dirty="0"/>
              <a:t>으로 설정하여</a:t>
            </a:r>
            <a:endParaRPr lang="en-US" altLang="ko-KR" sz="1800" dirty="0"/>
          </a:p>
          <a:p>
            <a:pPr marL="324000" lvl="1" indent="0">
              <a:buNone/>
            </a:pPr>
            <a:r>
              <a:rPr lang="en-US" altLang="ko-KR" sz="1800" dirty="0"/>
              <a:t>	   </a:t>
            </a:r>
            <a:r>
              <a:rPr lang="ko-KR" altLang="en-US" sz="1800" dirty="0"/>
              <a:t>데이터셋을 수집하고자 하였음</a:t>
            </a:r>
            <a:r>
              <a:rPr lang="en-US" altLang="ko-KR" sz="1800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27477890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924E7E6-422C-4FB5-1DFD-BA19658721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Data</a:t>
            </a:r>
            <a:r>
              <a:rPr lang="ko-KR" altLang="en-US" dirty="0"/>
              <a:t> 처리 </a:t>
            </a:r>
            <a:r>
              <a:rPr lang="en-US" altLang="ko-KR" dirty="0"/>
              <a:t>pipeline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43FA31F-83AB-026C-04BF-269FD98FE0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Data </a:t>
            </a:r>
            <a:r>
              <a:rPr lang="ko-KR" altLang="en-US" dirty="0"/>
              <a:t>처리는 </a:t>
            </a:r>
            <a:r>
              <a:rPr lang="en-US" altLang="ko-KR" dirty="0"/>
              <a:t>nature multimodal </a:t>
            </a:r>
            <a:r>
              <a:rPr lang="ko-KR" altLang="en-US" dirty="0"/>
              <a:t>논문과 비슷하게</a:t>
            </a:r>
            <a:endParaRPr lang="en-US" altLang="ko-KR" dirty="0"/>
          </a:p>
          <a:p>
            <a:r>
              <a:rPr lang="en-US" altLang="ko-KR" dirty="0"/>
              <a:t>1. CES time </a:t>
            </a:r>
            <a:r>
              <a:rPr lang="ko-KR" altLang="en-US" dirty="0"/>
              <a:t>으로 </a:t>
            </a:r>
            <a:r>
              <a:rPr lang="en-US" altLang="ko-KR" dirty="0"/>
              <a:t>resampling </a:t>
            </a:r>
            <a:r>
              <a:rPr lang="ko-KR" altLang="en-US" dirty="0"/>
              <a:t>하여서 진행하여 실제 </a:t>
            </a:r>
            <a:r>
              <a:rPr lang="en-US" altLang="ko-KR" dirty="0"/>
              <a:t>data</a:t>
            </a:r>
            <a:r>
              <a:rPr lang="ko-KR" altLang="en-US" dirty="0"/>
              <a:t>와 </a:t>
            </a:r>
            <a:r>
              <a:rPr lang="en-US" altLang="ko-KR" dirty="0"/>
              <a:t>R2</a:t>
            </a:r>
            <a:r>
              <a:rPr lang="ko-KR" altLang="en-US" dirty="0"/>
              <a:t>를 검증하고</a:t>
            </a:r>
            <a:r>
              <a:rPr lang="en-US" altLang="ko-KR" dirty="0"/>
              <a:t>,</a:t>
            </a:r>
          </a:p>
          <a:p>
            <a:r>
              <a:rPr lang="en-US" altLang="ko-KR" dirty="0"/>
              <a:t>2. 1MHz</a:t>
            </a:r>
            <a:r>
              <a:rPr lang="ko-KR" altLang="en-US" dirty="0"/>
              <a:t>로 </a:t>
            </a:r>
            <a:r>
              <a:rPr lang="en-US" altLang="ko-KR" dirty="0"/>
              <a:t>sampling </a:t>
            </a:r>
            <a:r>
              <a:rPr lang="ko-KR" altLang="en-US" dirty="0"/>
              <a:t>및 </a:t>
            </a:r>
            <a:r>
              <a:rPr lang="en-US" altLang="ko-KR" dirty="0"/>
              <a:t>physical based and inference </a:t>
            </a:r>
            <a:r>
              <a:rPr lang="ko-KR" altLang="en-US" dirty="0"/>
              <a:t>기반으로 높게 </a:t>
            </a:r>
            <a:r>
              <a:rPr lang="ko-KR" altLang="en-US" dirty="0" err="1"/>
              <a:t>샘플링하여</a:t>
            </a:r>
            <a:r>
              <a:rPr lang="ko-KR" altLang="en-US" dirty="0"/>
              <a:t> 이를 </a:t>
            </a:r>
            <a:r>
              <a:rPr lang="en-US" altLang="ko-KR" dirty="0"/>
              <a:t>UFCES </a:t>
            </a:r>
            <a:r>
              <a:rPr lang="ko-KR" altLang="en-US" dirty="0"/>
              <a:t>및 </a:t>
            </a:r>
            <a:r>
              <a:rPr lang="en-US" altLang="ko-KR" dirty="0"/>
              <a:t>Da </a:t>
            </a:r>
            <a:r>
              <a:rPr lang="ko-KR" altLang="en-US" dirty="0"/>
              <a:t>신호와 비교할 계획임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42472576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28071FC-AF36-D3C3-8D44-8BE94C2786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9960" y="1507414"/>
            <a:ext cx="7295507" cy="370332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atinLnBrk="0"/>
            <a:r>
              <a:rPr kumimoji="1" lang="en-US" altLang="ko-KR" sz="4800" dirty="0">
                <a:solidFill>
                  <a:schemeClr val="accent1"/>
                </a:solidFill>
              </a:rPr>
              <a:t>DATASET</a:t>
            </a:r>
          </a:p>
        </p:txBody>
      </p:sp>
    </p:spTree>
    <p:extLst>
      <p:ext uri="{BB962C8B-B14F-4D97-AF65-F5344CB8AC3E}">
        <p14:creationId xmlns:p14="http://schemas.microsoft.com/office/powerpoint/2010/main" val="27534930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918A86F-7D59-0E10-DAD8-C12CB498B8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시간 축 설정 방법</a:t>
            </a:r>
          </a:p>
        </p:txBody>
      </p:sp>
      <p:graphicFrame>
        <p:nvGraphicFramePr>
          <p:cNvPr id="4" name="내용 개체 틀 3">
            <a:extLst>
              <a:ext uri="{FF2B5EF4-FFF2-40B4-BE49-F238E27FC236}">
                <a16:creationId xmlns:a16="http://schemas.microsoft.com/office/drawing/2014/main" id="{D3A50FE8-F6BD-3546-1EDB-517D297E217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28304801"/>
              </p:ext>
            </p:extLst>
          </p:nvPr>
        </p:nvGraphicFramePr>
        <p:xfrm>
          <a:off x="581025" y="1960508"/>
          <a:ext cx="11029948" cy="4632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57487">
                  <a:extLst>
                    <a:ext uri="{9D8B030D-6E8A-4147-A177-3AD203B41FA5}">
                      <a16:colId xmlns:a16="http://schemas.microsoft.com/office/drawing/2014/main" val="2181763212"/>
                    </a:ext>
                  </a:extLst>
                </a:gridCol>
                <a:gridCol w="2757487">
                  <a:extLst>
                    <a:ext uri="{9D8B030D-6E8A-4147-A177-3AD203B41FA5}">
                      <a16:colId xmlns:a16="http://schemas.microsoft.com/office/drawing/2014/main" val="3593984860"/>
                    </a:ext>
                  </a:extLst>
                </a:gridCol>
                <a:gridCol w="2757487">
                  <a:extLst>
                    <a:ext uri="{9D8B030D-6E8A-4147-A177-3AD203B41FA5}">
                      <a16:colId xmlns:a16="http://schemas.microsoft.com/office/drawing/2014/main" val="885040625"/>
                    </a:ext>
                  </a:extLst>
                </a:gridCol>
                <a:gridCol w="2757487">
                  <a:extLst>
                    <a:ext uri="{9D8B030D-6E8A-4147-A177-3AD203B41FA5}">
                      <a16:colId xmlns:a16="http://schemas.microsoft.com/office/drawing/2014/main" val="3610285172"/>
                    </a:ext>
                  </a:extLst>
                </a:gridCol>
              </a:tblGrid>
              <a:tr h="266148">
                <a:tc>
                  <a:txBody>
                    <a:bodyPr/>
                    <a:lstStyle/>
                    <a:p>
                      <a:r>
                        <a:rPr lang="ko-KR" altLang="en-US" b="1" dirty="0">
                          <a:effectLst/>
                          <a:latin typeface="Google Sans Text"/>
                        </a:rPr>
                        <a:t>인덱스</a:t>
                      </a:r>
                      <a:endParaRPr lang="ko-KR" altLang="en-US" dirty="0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 b="1">
                          <a:effectLst/>
                          <a:latin typeface="Google Sans Text"/>
                        </a:rPr>
                        <a:t>이름</a:t>
                      </a:r>
                      <a:endParaRPr lang="ko-KR" altLang="en-US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 b="1" dirty="0">
                          <a:effectLst/>
                          <a:latin typeface="Google Sans Text"/>
                        </a:rPr>
                        <a:t>계산 방식</a:t>
                      </a:r>
                      <a:endParaRPr lang="ko-KR" altLang="en-US" dirty="0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 b="1">
                          <a:effectLst/>
                          <a:latin typeface="Google Sans Text"/>
                        </a:rPr>
                        <a:t>의미</a:t>
                      </a:r>
                      <a:endParaRPr lang="ko-KR" altLang="en-US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96089259"/>
                  </a:ext>
                </a:extLst>
              </a:tr>
              <a:tr h="853132">
                <a:tc>
                  <a:txBody>
                    <a:bodyPr/>
                    <a:lstStyle/>
                    <a:p>
                      <a:r>
                        <a:rPr lang="en-US" altLang="ko-KR" b="1">
                          <a:effectLst/>
                          <a:latin typeface="Google Sans Text"/>
                        </a:rPr>
                        <a:t>0</a:t>
                      </a:r>
                      <a:endParaRPr lang="ko-KR" altLang="en-US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1">
                          <a:effectLst/>
                          <a:latin typeface="Google Sans Text"/>
                        </a:rPr>
                        <a:t>lookback</a:t>
                      </a:r>
                      <a:endParaRPr lang="en-US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 dirty="0">
                          <a:effectLst/>
                          <a:latin typeface="Google Sans Text"/>
                        </a:rPr>
                        <a:t>현재</a:t>
                      </a:r>
                      <a:r>
                        <a:rPr lang="en-US" altLang="ko-KR" dirty="0">
                          <a:effectLst/>
                          <a:latin typeface="Google Sans Text"/>
                        </a:rPr>
                        <a:t>_</a:t>
                      </a:r>
                      <a:r>
                        <a:rPr lang="ko-KR" altLang="en-US" dirty="0">
                          <a:effectLst/>
                          <a:latin typeface="Google Sans Text"/>
                        </a:rPr>
                        <a:t>시간 </a:t>
                      </a:r>
                      <a:r>
                        <a:rPr lang="en-US" altLang="ko-KR" dirty="0">
                          <a:effectLst/>
                          <a:latin typeface="Google Sans Text"/>
                        </a:rPr>
                        <a:t>- </a:t>
                      </a:r>
                      <a:r>
                        <a:rPr lang="ko-KR" altLang="en-US" dirty="0">
                          <a:effectLst/>
                          <a:latin typeface="Google Sans Text"/>
                        </a:rPr>
                        <a:t>해당</a:t>
                      </a:r>
                      <a:r>
                        <a:rPr lang="en-US" altLang="ko-KR" dirty="0">
                          <a:effectLst/>
                          <a:latin typeface="Google Sans Text"/>
                        </a:rPr>
                        <a:t>_</a:t>
                      </a:r>
                      <a:r>
                        <a:rPr lang="ko-KR" altLang="en-US" dirty="0">
                          <a:effectLst/>
                          <a:latin typeface="Google Sans Text"/>
                        </a:rPr>
                        <a:t>행</a:t>
                      </a:r>
                      <a:r>
                        <a:rPr lang="en-US" altLang="ko-KR" dirty="0">
                          <a:effectLst/>
                          <a:latin typeface="Google Sans Text"/>
                        </a:rPr>
                        <a:t>_</a:t>
                      </a:r>
                      <a:r>
                        <a:rPr lang="ko-KR" altLang="en-US" dirty="0">
                          <a:effectLst/>
                          <a:latin typeface="Google Sans Text"/>
                        </a:rPr>
                        <a:t>시간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ko-KR" sz="1600" b="1" dirty="0">
                          <a:effectLst/>
                          <a:latin typeface="Google Sans Text"/>
                        </a:rPr>
                        <a:t>"</a:t>
                      </a:r>
                      <a:r>
                        <a:rPr lang="ko-KR" altLang="en-US" sz="1600" b="1" dirty="0">
                          <a:effectLst/>
                          <a:latin typeface="Google Sans Text"/>
                        </a:rPr>
                        <a:t>얼마나 과거인가</a:t>
                      </a:r>
                      <a:r>
                        <a:rPr lang="en-US" altLang="ko-KR" sz="1600" b="1" dirty="0">
                          <a:effectLst/>
                          <a:latin typeface="Google Sans Text"/>
                        </a:rPr>
                        <a:t>"</a:t>
                      </a:r>
                      <a:r>
                        <a:rPr lang="en-US" altLang="ko-KR" sz="1600" dirty="0">
                          <a:effectLst/>
                          <a:latin typeface="Google Sans Text"/>
                        </a:rPr>
                        <a:t>: </a:t>
                      </a:r>
                      <a:r>
                        <a:rPr lang="ko-KR" altLang="en-US" sz="1600" dirty="0">
                          <a:effectLst/>
                          <a:latin typeface="Google Sans Text"/>
                        </a:rPr>
                        <a:t>현재</a:t>
                      </a:r>
                      <a:r>
                        <a:rPr lang="en-US" altLang="ko-KR" sz="1600" dirty="0">
                          <a:effectLst/>
                          <a:latin typeface="Google Sans Text"/>
                        </a:rPr>
                        <a:t>(</a:t>
                      </a:r>
                      <a:r>
                        <a:rPr lang="ko-KR" altLang="en-US" sz="1600" dirty="0">
                          <a:effectLst/>
                          <a:latin typeface="Google Sans Text"/>
                        </a:rPr>
                        <a:t>윈도우의 </a:t>
                      </a:r>
                      <a:r>
                        <a:rPr lang="ko-KR" altLang="en-US" sz="1600">
                          <a:effectLst/>
                          <a:latin typeface="Google Sans Text"/>
                        </a:rPr>
                        <a:t>마지막 행</a:t>
                      </a:r>
                      <a:r>
                        <a:rPr lang="en-US" altLang="ko-KR" sz="1600">
                          <a:effectLst/>
                          <a:latin typeface="Google Sans Text"/>
                        </a:rPr>
                        <a:t>)</a:t>
                      </a:r>
                      <a:r>
                        <a:rPr lang="ko-KR" altLang="en-US" sz="1600" dirty="0">
                          <a:effectLst/>
                          <a:latin typeface="Google Sans Text"/>
                        </a:rPr>
                        <a:t>를 기준으로 각 행이 몇 초 전 데이터인지 나타냄</a:t>
                      </a:r>
                      <a:r>
                        <a:rPr lang="en-US" altLang="ko-KR" sz="1600" dirty="0">
                          <a:effectLst/>
                          <a:latin typeface="Google Sans Text"/>
                        </a:rPr>
                        <a:t> (</a:t>
                      </a:r>
                      <a:r>
                        <a:rPr lang="ko-KR" altLang="en-US" sz="1600" dirty="0">
                          <a:effectLst/>
                          <a:latin typeface="Google Sans Text"/>
                        </a:rPr>
                        <a:t>마지막 로우는 </a:t>
                      </a:r>
                      <a:r>
                        <a:rPr lang="en-US" altLang="ko-KR" sz="1600" dirty="0">
                          <a:effectLst/>
                          <a:latin typeface="Google Sans Text"/>
                        </a:rPr>
                        <a:t>0)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00632175"/>
                  </a:ext>
                </a:extLst>
              </a:tr>
              <a:tr h="1050009">
                <a:tc>
                  <a:txBody>
                    <a:bodyPr/>
                    <a:lstStyle/>
                    <a:p>
                      <a:r>
                        <a:rPr lang="en-US" altLang="ko-KR" b="1">
                          <a:effectLst/>
                          <a:latin typeface="Google Sans Text"/>
                        </a:rPr>
                        <a:t>1</a:t>
                      </a:r>
                      <a:endParaRPr lang="ko-KR" altLang="en-US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1">
                          <a:effectLst/>
                          <a:latin typeface="Google Sans Text"/>
                        </a:rPr>
                        <a:t>delta</a:t>
                      </a:r>
                      <a:endParaRPr lang="en-US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>
                          <a:effectLst/>
                          <a:latin typeface="Google Sans Text"/>
                        </a:rPr>
                        <a:t>현재</a:t>
                      </a:r>
                      <a:r>
                        <a:rPr lang="en-US" altLang="ko-KR">
                          <a:effectLst/>
                          <a:latin typeface="Google Sans Text"/>
                        </a:rPr>
                        <a:t>_</a:t>
                      </a:r>
                      <a:r>
                        <a:rPr lang="ko-KR" altLang="en-US">
                          <a:effectLst/>
                          <a:latin typeface="Google Sans Text"/>
                        </a:rPr>
                        <a:t>행</a:t>
                      </a:r>
                      <a:r>
                        <a:rPr lang="en-US" altLang="ko-KR">
                          <a:effectLst/>
                          <a:latin typeface="Google Sans Text"/>
                        </a:rPr>
                        <a:t>_</a:t>
                      </a:r>
                      <a:r>
                        <a:rPr lang="ko-KR" altLang="en-US">
                          <a:effectLst/>
                          <a:latin typeface="Google Sans Text"/>
                        </a:rPr>
                        <a:t>시간 </a:t>
                      </a:r>
                      <a:r>
                        <a:rPr lang="en-US" altLang="ko-KR">
                          <a:effectLst/>
                          <a:latin typeface="Google Sans Text"/>
                        </a:rPr>
                        <a:t>- </a:t>
                      </a:r>
                      <a:r>
                        <a:rPr lang="ko-KR" altLang="en-US">
                          <a:effectLst/>
                          <a:latin typeface="Google Sans Text"/>
                        </a:rPr>
                        <a:t>이전</a:t>
                      </a:r>
                      <a:r>
                        <a:rPr lang="en-US" altLang="ko-KR">
                          <a:effectLst/>
                          <a:latin typeface="Google Sans Text"/>
                        </a:rPr>
                        <a:t>_</a:t>
                      </a:r>
                      <a:r>
                        <a:rPr lang="ko-KR" altLang="en-US">
                          <a:effectLst/>
                          <a:latin typeface="Google Sans Text"/>
                        </a:rPr>
                        <a:t>행</a:t>
                      </a:r>
                      <a:r>
                        <a:rPr lang="en-US" altLang="ko-KR">
                          <a:effectLst/>
                          <a:latin typeface="Google Sans Text"/>
                        </a:rPr>
                        <a:t>_</a:t>
                      </a:r>
                      <a:r>
                        <a:rPr lang="ko-KR" altLang="en-US">
                          <a:effectLst/>
                          <a:latin typeface="Google Sans Text"/>
                        </a:rPr>
                        <a:t>시간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ko-KR" sz="1600" b="1" dirty="0">
                          <a:effectLst/>
                          <a:latin typeface="Google Sans Text"/>
                        </a:rPr>
                        <a:t>"</a:t>
                      </a:r>
                      <a:r>
                        <a:rPr lang="ko-KR" altLang="en-US" sz="1600" b="1" dirty="0">
                          <a:effectLst/>
                          <a:latin typeface="Google Sans Text"/>
                        </a:rPr>
                        <a:t>샘플링 간격</a:t>
                      </a:r>
                      <a:r>
                        <a:rPr lang="en-US" altLang="ko-KR" sz="1600" b="1" dirty="0">
                          <a:effectLst/>
                          <a:latin typeface="Google Sans Text"/>
                        </a:rPr>
                        <a:t>"</a:t>
                      </a:r>
                      <a:r>
                        <a:rPr lang="en-US" altLang="ko-KR" sz="1600" dirty="0">
                          <a:effectLst/>
                          <a:latin typeface="Google Sans Text"/>
                        </a:rPr>
                        <a:t>: </a:t>
                      </a:r>
                      <a:r>
                        <a:rPr lang="ko-KR" altLang="en-US" sz="1600" dirty="0">
                          <a:effectLst/>
                          <a:latin typeface="Google Sans Text"/>
                        </a:rPr>
                        <a:t>바로 직전 데이터로부터 시간이 얼마나 경과했는지 나타냅니다</a:t>
                      </a:r>
                      <a:r>
                        <a:rPr lang="en-US" altLang="ko-KR" sz="1600" dirty="0">
                          <a:effectLst/>
                          <a:latin typeface="Google Sans Text"/>
                        </a:rPr>
                        <a:t>. </a:t>
                      </a:r>
                      <a:r>
                        <a:rPr lang="ko-KR" altLang="en-US" sz="1600" dirty="0">
                          <a:effectLst/>
                          <a:latin typeface="Google Sans Text"/>
                        </a:rPr>
                        <a:t>데이터가 고르게 쌓였는지 확인하는 지표가 됨</a:t>
                      </a:r>
                      <a:endParaRPr lang="en-US" altLang="ko-KR" sz="1600" dirty="0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98132637"/>
                  </a:ext>
                </a:extLst>
              </a:tr>
              <a:tr h="1050009">
                <a:tc>
                  <a:txBody>
                    <a:bodyPr/>
                    <a:lstStyle/>
                    <a:p>
                      <a:r>
                        <a:rPr lang="en-US" altLang="ko-KR" b="1">
                          <a:effectLst/>
                          <a:latin typeface="Google Sans Text"/>
                        </a:rPr>
                        <a:t>2</a:t>
                      </a:r>
                      <a:endParaRPr lang="ko-KR" altLang="en-US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1">
                          <a:effectLst/>
                          <a:latin typeface="Google Sans Text"/>
                        </a:rPr>
                        <a:t>log1p_lookback</a:t>
                      </a:r>
                      <a:endParaRPr lang="en-US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  <a:latin typeface="Google Sans Text"/>
                        </a:rPr>
                        <a:t>log(1 + lookback)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ko-KR" sz="1600" b="1" dirty="0">
                          <a:effectLst/>
                          <a:latin typeface="Google Sans Text"/>
                        </a:rPr>
                        <a:t>"</a:t>
                      </a:r>
                      <a:r>
                        <a:rPr lang="ko-KR" altLang="en-US" sz="1600" b="1" dirty="0">
                          <a:effectLst/>
                          <a:latin typeface="Google Sans Text"/>
                        </a:rPr>
                        <a:t>로그 스케일 과거 시간</a:t>
                      </a:r>
                      <a:r>
                        <a:rPr lang="en-US" altLang="ko-KR" sz="1600" b="1" dirty="0">
                          <a:effectLst/>
                          <a:latin typeface="Google Sans Text"/>
                        </a:rPr>
                        <a:t>"</a:t>
                      </a:r>
                      <a:r>
                        <a:rPr lang="en-US" altLang="ko-KR" sz="1600" dirty="0">
                          <a:effectLst/>
                          <a:latin typeface="Google Sans Text"/>
                        </a:rPr>
                        <a:t>: </a:t>
                      </a:r>
                      <a:r>
                        <a:rPr lang="ko-KR" altLang="en-US" sz="1600" dirty="0">
                          <a:effectLst/>
                          <a:latin typeface="Google Sans Text"/>
                        </a:rPr>
                        <a:t>과거 시간을 로그 변환한 값입니다</a:t>
                      </a:r>
                      <a:r>
                        <a:rPr lang="en-US" altLang="ko-KR" sz="1600" dirty="0">
                          <a:effectLst/>
                          <a:latin typeface="Google Sans Text"/>
                        </a:rPr>
                        <a:t>. </a:t>
                      </a:r>
                      <a:r>
                        <a:rPr lang="ko-KR" altLang="en-US" sz="1600" dirty="0">
                          <a:effectLst/>
                          <a:latin typeface="Google Sans Text"/>
                        </a:rPr>
                        <a:t>시간 차이가 클 때 모델이 값의 범위를 안정적으로 처리하도록 도움</a:t>
                      </a:r>
                      <a:endParaRPr lang="en-US" altLang="ko-KR" sz="1600" dirty="0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12175869"/>
                  </a:ext>
                </a:extLst>
              </a:tr>
              <a:tr h="853132">
                <a:tc>
                  <a:txBody>
                    <a:bodyPr/>
                    <a:lstStyle/>
                    <a:p>
                      <a:r>
                        <a:rPr lang="en-US" altLang="ko-KR" b="1">
                          <a:effectLst/>
                          <a:latin typeface="Google Sans Text"/>
                        </a:rPr>
                        <a:t>3</a:t>
                      </a:r>
                      <a:endParaRPr lang="ko-KR" altLang="en-US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1">
                          <a:effectLst/>
                          <a:latin typeface="Google Sans Text"/>
                        </a:rPr>
                        <a:t>log1p_delta</a:t>
                      </a:r>
                      <a:endParaRPr lang="en-US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  <a:latin typeface="Google Sans Text"/>
                        </a:rPr>
                        <a:t>log(1 + delta)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ko-KR" sz="1600" b="1" dirty="0">
                          <a:effectLst/>
                          <a:latin typeface="Google Sans Text"/>
                        </a:rPr>
                        <a:t>"</a:t>
                      </a:r>
                      <a:r>
                        <a:rPr lang="ko-KR" altLang="en-US" sz="1600" b="1" dirty="0">
                          <a:effectLst/>
                          <a:latin typeface="Google Sans Text"/>
                        </a:rPr>
                        <a:t>로그 스케일 간격</a:t>
                      </a:r>
                      <a:r>
                        <a:rPr lang="en-US" altLang="ko-KR" sz="1600" b="1" dirty="0">
                          <a:effectLst/>
                          <a:latin typeface="Google Sans Text"/>
                        </a:rPr>
                        <a:t>"</a:t>
                      </a:r>
                      <a:r>
                        <a:rPr lang="en-US" altLang="ko-KR" sz="1600" dirty="0">
                          <a:effectLst/>
                          <a:latin typeface="Google Sans Text"/>
                        </a:rPr>
                        <a:t>: </a:t>
                      </a:r>
                      <a:r>
                        <a:rPr lang="ko-KR" altLang="en-US" sz="1600" dirty="0">
                          <a:effectLst/>
                          <a:latin typeface="Google Sans Text"/>
                        </a:rPr>
                        <a:t>샘플링 간격을 로그 변환한 값입니다</a:t>
                      </a:r>
                      <a:r>
                        <a:rPr lang="en-US" altLang="ko-KR" sz="1600" dirty="0">
                          <a:effectLst/>
                          <a:latin typeface="Google Sans Text"/>
                        </a:rPr>
                        <a:t>. </a:t>
                      </a:r>
                      <a:r>
                        <a:rPr lang="ko-KR" altLang="en-US" sz="1600" dirty="0">
                          <a:effectLst/>
                          <a:latin typeface="Google Sans Text"/>
                        </a:rPr>
                        <a:t>미세한 간격 차이를 모델이 더 민감하게 학습하도록 함</a:t>
                      </a:r>
                      <a:endParaRPr lang="en-US" altLang="ko-KR" sz="1600" dirty="0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606649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096809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28071FC-AF36-D3C3-8D44-8BE94C2786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9960" y="1507414"/>
            <a:ext cx="7295507" cy="370332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atinLnBrk="0"/>
            <a:r>
              <a:rPr kumimoji="1" lang="en-US" altLang="ko-KR" sz="4800" dirty="0" err="1">
                <a:solidFill>
                  <a:schemeClr val="accent1"/>
                </a:solidFill>
              </a:rPr>
              <a:t>REsults</a:t>
            </a:r>
            <a:endParaRPr kumimoji="1" lang="en-US" altLang="ko-KR" sz="48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1043270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7B3D6D0-B690-DB6D-FADF-C85A4516A8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질문 정리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CBAF2BD-E3F0-25E4-ADC8-03B1868216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/>
              <a:t>시나리오 </a:t>
            </a:r>
            <a:r>
              <a:rPr lang="en-US" altLang="ko-KR" dirty="0"/>
              <a:t>ELM suppression RMP </a:t>
            </a:r>
            <a:r>
              <a:rPr lang="ko-KR" altLang="en-US" dirty="0"/>
              <a:t>기준 정도로 잡고 가도 될지</a:t>
            </a:r>
            <a:r>
              <a:rPr lang="en-US" altLang="ko-KR" dirty="0"/>
              <a:t>? </a:t>
            </a:r>
            <a:r>
              <a:rPr lang="ko-KR" altLang="en-US" dirty="0"/>
              <a:t>아니면 좀 더 구체적인 물리적 </a:t>
            </a:r>
            <a:r>
              <a:rPr lang="en-US" altLang="ko-KR" dirty="0"/>
              <a:t>factor</a:t>
            </a:r>
            <a:r>
              <a:rPr lang="ko-KR" altLang="en-US" dirty="0"/>
              <a:t>들의 고정이 필요할지</a:t>
            </a:r>
            <a:r>
              <a:rPr lang="en-US" altLang="ko-KR" dirty="0"/>
              <a:t>?</a:t>
            </a:r>
          </a:p>
          <a:p>
            <a:r>
              <a:rPr lang="en-US" altLang="ko-KR" dirty="0"/>
              <a:t>2. EFIT</a:t>
            </a:r>
            <a:r>
              <a:rPr lang="ko-KR" altLang="en-US" dirty="0"/>
              <a:t>도 여러 종류를 적용하여 </a:t>
            </a:r>
            <a:r>
              <a:rPr lang="en-US" altLang="ko-KR" dirty="0"/>
              <a:t>ECEI</a:t>
            </a:r>
            <a:r>
              <a:rPr lang="ko-KR" altLang="en-US" dirty="0"/>
              <a:t>의 좌표계 </a:t>
            </a:r>
            <a:r>
              <a:rPr lang="en-US" altLang="ko-KR" dirty="0" err="1"/>
              <a:t>Te</a:t>
            </a:r>
            <a:r>
              <a:rPr lang="en-US" altLang="ko-KR" dirty="0"/>
              <a:t> (f, theta, t)</a:t>
            </a:r>
            <a:r>
              <a:rPr lang="ko-KR" altLang="en-US" dirty="0"/>
              <a:t>를 </a:t>
            </a:r>
            <a:r>
              <a:rPr lang="en-US" altLang="ko-KR" dirty="0" err="1"/>
              <a:t>Te</a:t>
            </a:r>
            <a:r>
              <a:rPr lang="en-US" altLang="ko-KR" dirty="0"/>
              <a:t> (R, Z, t)</a:t>
            </a:r>
            <a:r>
              <a:rPr lang="ko-KR" altLang="en-US" dirty="0"/>
              <a:t>로 변환하는 걸로 이해하였는데 어떤 </a:t>
            </a:r>
            <a:r>
              <a:rPr lang="en-US" altLang="ko-KR" dirty="0"/>
              <a:t>EFIT</a:t>
            </a:r>
            <a:r>
              <a:rPr lang="ko-KR" altLang="en-US" dirty="0"/>
              <a:t>를 적용하는 게 좋을지</a:t>
            </a:r>
            <a:r>
              <a:rPr lang="en-US" altLang="ko-KR" dirty="0"/>
              <a:t>?</a:t>
            </a:r>
          </a:p>
          <a:p>
            <a:r>
              <a:rPr lang="en-US" altLang="ko-KR" dirty="0"/>
              <a:t>3. ECEI </a:t>
            </a:r>
            <a:r>
              <a:rPr lang="ko-KR" altLang="en-US" dirty="0"/>
              <a:t>여러 채널</a:t>
            </a:r>
            <a:r>
              <a:rPr lang="en-US" altLang="ko-KR" dirty="0"/>
              <a:t>, </a:t>
            </a:r>
            <a:r>
              <a:rPr lang="en-US" altLang="ko-KR" dirty="0" err="1"/>
              <a:t>Mirnov</a:t>
            </a:r>
            <a:r>
              <a:rPr lang="en-US" altLang="ko-KR" dirty="0"/>
              <a:t> 4</a:t>
            </a:r>
            <a:r>
              <a:rPr lang="ko-KR" altLang="en-US" dirty="0"/>
              <a:t>개 등등 채널 여러 개 있는 건 그냥 평균 내서 처리하는 게 좋을지</a:t>
            </a:r>
            <a:r>
              <a:rPr lang="en-US" altLang="ko-KR" dirty="0"/>
              <a:t>?</a:t>
            </a:r>
            <a:br>
              <a:rPr lang="en-US" altLang="ko-KR" dirty="0"/>
            </a:br>
            <a:r>
              <a:rPr lang="en-US" altLang="ko-KR" dirty="0"/>
              <a:t>(</a:t>
            </a:r>
            <a:r>
              <a:rPr lang="ko-KR" altLang="en-US" dirty="0"/>
              <a:t>평균 내는 방식이 아니라면 </a:t>
            </a:r>
            <a:r>
              <a:rPr lang="en-US" altLang="ko-KR" dirty="0"/>
              <a:t>axis symmetry </a:t>
            </a:r>
            <a:r>
              <a:rPr lang="ko-KR" altLang="en-US" dirty="0"/>
              <a:t>가 깨짐을 가정하는 거랑 같다고 </a:t>
            </a:r>
            <a:r>
              <a:rPr lang="ko-KR" altLang="en-US" dirty="0" err="1"/>
              <a:t>봐야한다고</a:t>
            </a:r>
            <a:r>
              <a:rPr lang="ko-KR" altLang="en-US" dirty="0"/>
              <a:t> 생각</a:t>
            </a:r>
            <a:r>
              <a:rPr lang="en-US" altLang="ko-KR" dirty="0"/>
              <a:t>?)</a:t>
            </a:r>
            <a:r>
              <a:rPr lang="ko-KR" altLang="en-US" dirty="0"/>
              <a:t> </a:t>
            </a:r>
            <a:endParaRPr lang="en-US" altLang="ko-KR" dirty="0"/>
          </a:p>
          <a:p>
            <a:r>
              <a:rPr lang="en-US" altLang="ko-KR" dirty="0"/>
              <a:t>4. RMP</a:t>
            </a:r>
            <a:r>
              <a:rPr lang="ko-KR" altLang="en-US" dirty="0"/>
              <a:t>는 </a:t>
            </a:r>
            <a:r>
              <a:rPr lang="en-US" altLang="ko-KR" dirty="0"/>
              <a:t>non-axis magnetic field</a:t>
            </a:r>
            <a:r>
              <a:rPr lang="ko-KR" altLang="en-US" dirty="0"/>
              <a:t>로</a:t>
            </a:r>
            <a:r>
              <a:rPr lang="en-US" altLang="ko-KR" dirty="0"/>
              <a:t>, axis symmetry</a:t>
            </a:r>
            <a:r>
              <a:rPr lang="ko-KR" altLang="en-US" dirty="0"/>
              <a:t>가 깨지는 데</a:t>
            </a:r>
            <a:r>
              <a:rPr lang="en-US" altLang="ko-KR" dirty="0"/>
              <a:t>, </a:t>
            </a:r>
            <a:r>
              <a:rPr lang="ko-KR" altLang="en-US" dirty="0"/>
              <a:t>그러면 모든 채널 데이터를 다 넣어야 하는 것인지</a:t>
            </a:r>
            <a:r>
              <a:rPr lang="en-US" altLang="ko-KR" dirty="0"/>
              <a:t>?</a:t>
            </a:r>
            <a:br>
              <a:rPr lang="en-US" altLang="ko-KR" dirty="0"/>
            </a:br>
            <a:r>
              <a:rPr lang="ko-KR" altLang="en-US" dirty="0"/>
              <a:t>최소 몇 </a:t>
            </a:r>
            <a:r>
              <a:rPr lang="en-US" altLang="ko-KR" dirty="0" err="1"/>
              <a:t>ch</a:t>
            </a:r>
            <a:r>
              <a:rPr lang="ko-KR" altLang="en-US" dirty="0"/>
              <a:t>의 데이터로 가능할 것인지</a:t>
            </a:r>
            <a:r>
              <a:rPr lang="en-US" altLang="ko-KR" dirty="0"/>
              <a:t>?</a:t>
            </a:r>
            <a:br>
              <a:rPr lang="en-US" altLang="ko-KR" dirty="0"/>
            </a:br>
            <a:r>
              <a:rPr lang="en-US" altLang="ko-KR" dirty="0"/>
              <a:t>(</a:t>
            </a:r>
            <a:r>
              <a:rPr lang="ko-KR" altLang="en-US" dirty="0"/>
              <a:t>문제가 예상된다면</a:t>
            </a:r>
            <a:r>
              <a:rPr lang="en-US" altLang="ko-KR" dirty="0"/>
              <a:t>,</a:t>
            </a:r>
            <a:r>
              <a:rPr lang="ko-KR" altLang="en-US" dirty="0"/>
              <a:t> </a:t>
            </a:r>
            <a:r>
              <a:rPr lang="en-US" altLang="ko-KR" dirty="0"/>
              <a:t>ELM RMP </a:t>
            </a:r>
            <a:r>
              <a:rPr lang="ko-KR" altLang="en-US" dirty="0"/>
              <a:t>말고</a:t>
            </a:r>
            <a:r>
              <a:rPr lang="en-US" altLang="ko-KR" dirty="0"/>
              <a:t>, ELM</a:t>
            </a:r>
            <a:r>
              <a:rPr lang="ko-KR" altLang="en-US" dirty="0"/>
              <a:t> </a:t>
            </a:r>
            <a:r>
              <a:rPr lang="en-US" altLang="ko-KR" dirty="0"/>
              <a:t>type</a:t>
            </a:r>
            <a:r>
              <a:rPr lang="ko-KR" altLang="en-US" dirty="0"/>
              <a:t> </a:t>
            </a:r>
            <a:r>
              <a:rPr lang="en-US" altLang="ko-KR" dirty="0"/>
              <a:t>I</a:t>
            </a:r>
            <a:r>
              <a:rPr lang="ko-KR" altLang="en-US" dirty="0"/>
              <a:t>이나 </a:t>
            </a:r>
            <a:r>
              <a:rPr lang="en-US" altLang="ko-KR" dirty="0"/>
              <a:t>III </a:t>
            </a:r>
            <a:r>
              <a:rPr lang="ko-KR" altLang="en-US" dirty="0"/>
              <a:t>쪽 관련을 더 찾아보는 것이 좋을까요</a:t>
            </a:r>
            <a:r>
              <a:rPr lang="en-US" altLang="ko-KR"/>
              <a:t>?)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86823588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C20B0F9-97B6-6906-6CE9-24A776113E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월드 모델로의 전환</a:t>
            </a:r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45499FBE-CDC5-C2BE-4A85-9F25E3FC539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252918" y="2181225"/>
            <a:ext cx="5686164" cy="3678238"/>
          </a:xfrm>
        </p:spPr>
      </p:pic>
    </p:spTree>
    <p:extLst>
      <p:ext uri="{BB962C8B-B14F-4D97-AF65-F5344CB8AC3E}">
        <p14:creationId xmlns:p14="http://schemas.microsoft.com/office/powerpoint/2010/main" val="520217304"/>
      </p:ext>
    </p:extLst>
  </p:cSld>
  <p:clrMapOvr>
    <a:masterClrMapping/>
  </p:clrMapOvr>
</p:sld>
</file>

<file path=ppt/theme/theme1.xml><?xml version="1.0" encoding="utf-8"?>
<a:theme xmlns:a="http://schemas.openxmlformats.org/drawingml/2006/main" name="분할">
  <a:themeElements>
    <a:clrScheme name="분할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1A3260"/>
      </a:accent1>
      <a:accent2>
        <a:srgbClr val="4590B8"/>
      </a:accent2>
      <a:accent3>
        <a:srgbClr val="45CBE8"/>
      </a:accent3>
      <a:accent4>
        <a:srgbClr val="969FA7"/>
      </a:accent4>
      <a:accent5>
        <a:srgbClr val="A2C777"/>
      </a:accent5>
      <a:accent6>
        <a:srgbClr val="42955F"/>
      </a:accent6>
      <a:hlink>
        <a:srgbClr val="828282"/>
      </a:hlink>
      <a:folHlink>
        <a:srgbClr val="A5A5A5"/>
      </a:folHlink>
    </a:clrScheme>
    <a:fontScheme name="분할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분할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66F1C100-1D2B-4BEA-AD01-C4F230B3B965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Dividend</Template>
  <TotalTime>2801</TotalTime>
  <Words>931</Words>
  <Application>Microsoft Office PowerPoint</Application>
  <PresentationFormat>와이드스크린</PresentationFormat>
  <Paragraphs>94</Paragraphs>
  <Slides>18</Slides>
  <Notes>3</Notes>
  <HiddenSlides>1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18</vt:i4>
      </vt:variant>
    </vt:vector>
  </HeadingPairs>
  <TitlesOfParts>
    <vt:vector size="25" baseType="lpstr">
      <vt:lpstr>Google Sans Text</vt:lpstr>
      <vt:lpstr>맑은 고딕</vt:lpstr>
      <vt:lpstr>Gill Sans MT</vt:lpstr>
      <vt:lpstr>Helvetica</vt:lpstr>
      <vt:lpstr>Wingdings</vt:lpstr>
      <vt:lpstr>Wingdings 2</vt:lpstr>
      <vt:lpstr>분할</vt:lpstr>
      <vt:lpstr>Improvement of CES Terminal Resolution at KSTAR Pedestal Top via Multimodal Neural Networks Using Muti-Diagnostic Data (BES, ECEI, Mirnov Coil)</vt:lpstr>
      <vt:lpstr>PowerPoint 프레젠테이션</vt:lpstr>
      <vt:lpstr>Introduction</vt:lpstr>
      <vt:lpstr>구체적인 연구 계획과 목표</vt:lpstr>
      <vt:lpstr>왜 이 연구를 해야하는가</vt:lpstr>
      <vt:lpstr>왜 이 연구를 해야하는가</vt:lpstr>
      <vt:lpstr>연구를 통해 기대되는 효과</vt:lpstr>
      <vt:lpstr>Theoretical Backgrounds</vt:lpstr>
      <vt:lpstr>KstAr diagnostics layout</vt:lpstr>
      <vt:lpstr>methods</vt:lpstr>
      <vt:lpstr>데이터셋 수집 기준</vt:lpstr>
      <vt:lpstr>데이터셋 수집 기준</vt:lpstr>
      <vt:lpstr>Data 처리 pipeline</vt:lpstr>
      <vt:lpstr>DATASET</vt:lpstr>
      <vt:lpstr>시간 축 설정 방법</vt:lpstr>
      <vt:lpstr>REsults</vt:lpstr>
      <vt:lpstr>질문 정리</vt:lpstr>
      <vt:lpstr>월드 모델로의 전환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김하빈</dc:creator>
  <cp:lastModifiedBy>lss</cp:lastModifiedBy>
  <cp:revision>194</cp:revision>
  <dcterms:created xsi:type="dcterms:W3CDTF">2025-11-13T08:47:20Z</dcterms:created>
  <dcterms:modified xsi:type="dcterms:W3CDTF">2026-05-03T00:37:07Z</dcterms:modified>
</cp:coreProperties>
</file>