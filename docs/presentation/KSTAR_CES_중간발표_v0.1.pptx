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98" y="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987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00:00–00:30  (30초)</a:t>
            </a:r>
          </a:p>
          <a:p>
            <a:endParaRPr/>
          </a:p>
          <a:p>
            <a:r>
              <a:t>"안녕하십니까, 이승상입니다. 오늘은 KSTAR의 빠른 진단들로 CES 결측 구간을 채우는</a:t>
            </a:r>
          </a:p>
          <a:p>
            <a:r>
              <a:t>연구를 20분간 말씀드리겠습니다."</a:t>
            </a:r>
          </a:p>
          <a:p>
            <a:endParaRPr/>
          </a:p>
          <a:p>
            <a:r>
              <a:t>핵심 한 문장(여기서 미리 던지기):</a:t>
            </a:r>
          </a:p>
          <a:p>
            <a:r>
              <a:t>  "느리고 자주 비는 CES를, 항상 측정되는 빠른 진단으로 채울 수 있는지 —</a:t>
            </a:r>
          </a:p>
          <a:p>
            <a:r>
              <a:t>   그것도 미래까지 보는 오프라인 보간을 이길 수 있는지 통계적으로 검증했습니다."</a:t>
            </a:r>
          </a:p>
          <a:p>
            <a:endParaRPr/>
          </a:p>
          <a:p>
            <a:r>
              <a:t>※ 용어 정리를 여기서 한 번: forecasting(예보)이 아니라 nowcasting(현재 시점 결측 채우기).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00:30–01:30  (60초)</a:t>
            </a:r>
          </a:p>
          <a:p>
            <a:endParaRPr/>
          </a:p>
          <a:p>
            <a:r>
              <a:t>이 슬라이드가 발표 전체의 요약입니다. 여기서 결론을 먼저 다 말하고 들어갑니다.</a:t>
            </a:r>
          </a:p>
          <a:p>
            <a:endParaRPr/>
          </a:p>
          <a:p>
            <a:r>
              <a:t>"결론부터 말씀드리면 세 가지입니다.</a:t>
            </a:r>
          </a:p>
          <a:p>
            <a:r>
              <a:t> (1) 빠른 진단은 이온온도 정보를 실제로 운반합니다. 과거만 보는 저희 모델이,</a:t>
            </a:r>
          </a:p>
          <a:p>
            <a:r>
              <a:t>     미래까지 다 보는 오프라인 보간을 Tᵢ에서 통계적으로 유의하게 이겼습니다.</a:t>
            </a:r>
          </a:p>
          <a:p>
            <a:r>
              <a:t> (2) 반면 회전 속도에서는 이기지 못했습니다. 이건 실패가 아니라 물리적으로 예측된</a:t>
            </a:r>
          </a:p>
          <a:p>
            <a:r>
              <a:t>     비대칭이고, 저는 이걸 이 연구의 과학적 발견이라고 봅니다.</a:t>
            </a:r>
          </a:p>
          <a:p>
            <a:r>
              <a:t> (3) 모델의 가치는 전 구간에 고르게 있는 게 아니라, 보간이 약한 급변 구간에 몰려 있습니다."</a:t>
            </a:r>
          </a:p>
          <a:p>
            <a:endParaRPr/>
          </a:p>
          <a:p>
            <a:r>
              <a:t>※ 시간이 밀리면 이 슬라이드는 30초로 줄이고 뒤에서 회수.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01:30–03:00  (90초)</a:t>
            </a:r>
          </a:p>
          <a:p>
            <a:endParaRPr/>
          </a:p>
          <a:p>
            <a:r>
              <a:t>"CES는 이온온도와 토로이달 회전이라는, pedestal 물리에서 가장 중요한 두 양을 줍니다.</a:t>
            </a:r>
          </a:p>
          <a:p>
            <a:r>
              <a:t> 그런데 충분한 신호대잡음비를 얻으려면 광자를 오래 모아야 해서 느리고, 자주 빕니다.</a:t>
            </a:r>
          </a:p>
          <a:p>
            <a:r>
              <a:t> 같은 10 ms 격자에서 Tᵢ는 8.2%, 회전은 23.9%가 값 자체가 비어 있습니다.</a:t>
            </a:r>
          </a:p>
          <a:p>
            <a:r>
              <a:t> 그런데 회전은 여기서 끝이 아닙니다. 값이 채워져 있는 행 중에서도 54%가 직전 값을</a:t>
            </a:r>
          </a:p>
          <a:p>
            <a:r>
              <a:t> 그대로 복사한 held 값입니다 — 진짜 측정이 아닙니다. NaN과 held를 합치면 회전은</a:t>
            </a:r>
          </a:p>
          <a:p>
            <a:r>
              <a:t> 전체 행의 65%가 실질적으로 정보가 없습니다. Tᵢ는 held가 641 shot 전체에서 단 1행,</a:t>
            </a:r>
          </a:p>
          <a:p>
            <a:r>
              <a:t> 사실상 0%입니다. 이 비대칭이 뒤에서 결과로 그대로 나타납니다.</a:t>
            </a:r>
          </a:p>
          <a:p>
            <a:r>
              <a:t> 그리고 이 둘은 서로 독립적으로 빕니다 — 한쪽만 관측된 행이 많다는 뜻입니다.</a:t>
            </a:r>
          </a:p>
          <a:p>
            <a:endParaRPr/>
          </a:p>
          <a:p>
            <a:r>
              <a:t> 반대로 BES, ECEI, Mirnov 같은 빠른 진단은 같은 격자에서 100% 다 있습니다.</a:t>
            </a:r>
          </a:p>
          <a:p>
            <a:r>
              <a:t> 그래서 질문은 자연스럽습니다: '항상 있는 것'으로 '자주 비는 것'을 채울 수 있는가."</a:t>
            </a:r>
          </a:p>
          <a:p>
            <a:endParaRPr/>
          </a:p>
          <a:p>
            <a:r>
              <a:t>물리적 연결고리 (질문 대비):</a:t>
            </a:r>
          </a:p>
          <a:p>
            <a:r>
              <a:t>  · ECEI(Tₑ) + BES(nₑ) → 충돌 e–i 결합 τ_ei ∝ Tₑ^1.5/nₑ 을 통해 Tᵢ와 물리적으로 연결</a:t>
            </a:r>
          </a:p>
          <a:p>
            <a:r>
              <a:t>  · 회전은 주로 NBI 토크가 구동 → 그 토크가 데이터에 없음 = 근본적 정보 부재</a:t>
            </a:r>
          </a:p>
          <a:p>
            <a:endParaRPr/>
          </a:p>
          <a:p>
            <a:r>
              <a:t>아래 밴드(비대칭 미리보기)를 짚으면서 "이 예측이 뒤에서 그대로 확인됩니다"로 넘어갈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03:00–04:15  (75초)</a:t>
            </a:r>
          </a:p>
          <a:p>
            <a:endParaRPr/>
          </a:p>
          <a:p>
            <a:r>
              <a:t>"그래서 연구 질문은 이렇습니다. CES가 비어 있는 10 ms 시점에서, 같은 시각의 빠른 진단과</a:t>
            </a:r>
          </a:p>
          <a:p>
            <a:r>
              <a:t> 과거 CES 이력만으로, 시간 보간이 복원할 수 없는 정보를 회복할 수 있는가.</a:t>
            </a:r>
          </a:p>
          <a:p>
            <a:endParaRPr/>
          </a:p>
          <a:p>
            <a:r>
              <a:t> 세 가지를 짚고 넘어가겠습니다.</a:t>
            </a:r>
          </a:p>
          <a:p>
            <a:r>
              <a:t> 첫째, 이건 가상 센서입니다. 물리 역산 가정 없이 데이터로 추정합니다.</a:t>
            </a:r>
          </a:p>
          <a:p>
            <a:r>
              <a:t> 둘째, forecasting이 아니라 nowcasting입니다. 미래를 예보하는 게 아니라 지금 비어 있는</a:t>
            </a:r>
          </a:p>
          <a:p>
            <a:r>
              <a:t> 값을 채웁니다. 초해상과도 다릅니다.</a:t>
            </a:r>
          </a:p>
          <a:p>
            <a:r>
              <a:t> 셋째, 검증 방식입니다. 진짜 결측 지점은 참값이 없어서 직접 검증이 불가능합니다.</a:t>
            </a:r>
          </a:p>
          <a:p>
            <a:r>
              <a:t> 그래서 관측된 CES를 일부러 가린 뒤 얼마나 복원하는지로 채점합니다.</a:t>
            </a:r>
          </a:p>
          <a:p>
            <a:endParaRPr/>
          </a:p>
          <a:p>
            <a:r>
              <a:t> 다만 결측이 무작위라는 보장이 없어서 — 저 SNR이나 급변 구간에서 잘 빠지니까요 —</a:t>
            </a:r>
          </a:p>
          <a:p>
            <a:r>
              <a:t> 결측 지점의 정확도를 단정하지 않고 '추정한다'고만 말씀드립니다."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04:15–06:00  (105초)  ★ 이 발표에서 가장 중요한 슬라이드</a:t>
            </a:r>
          </a:p>
          <a:p>
            <a:endParaRPr/>
          </a:p>
          <a:p>
            <a:r>
              <a:t>"평가 기준선을 어떻게 잡았는지가 이 연구의 핵심입니다.</a:t>
            </a:r>
          </a:p>
          <a:p>
            <a:endParaRPr/>
          </a:p>
          <a:p>
            <a:r>
              <a:t> 흔한 방식은 persistence, 즉 직전 값 유지와 비교하는 겁니다. 그건 너무 쉽습니다.</a:t>
            </a:r>
          </a:p>
          <a:p>
            <a:r>
              <a:t> 저는 일부러 훨씬 어려운 상대를 골랐습니다 — CES만 쓰는 오프라인 보간,</a:t>
            </a:r>
          </a:p>
          <a:p>
            <a:r>
              <a:t> 구체적으로 linear, PCHIP, local AR입니다.</a:t>
            </a:r>
          </a:p>
          <a:p>
            <a:endParaRPr/>
          </a:p>
          <a:p>
            <a:r>
              <a:t> 여기서 정보 비대칭을 보십시오. 오른쪽 보간은 맞히려는 시점의 앞뒤, 즉 과거와 미래</a:t>
            </a:r>
          </a:p>
          <a:p>
            <a:r>
              <a:t> CES를 모두 씁니다. 반면 저희 모델은 그 시점의 빠른 진단과 과거 이력 4스텝만 쓰고</a:t>
            </a:r>
          </a:p>
          <a:p>
            <a:r>
              <a:t> 미래는 전혀 보지 않습니다. causal입니다.</a:t>
            </a:r>
          </a:p>
          <a:p>
            <a:endParaRPr/>
          </a:p>
          <a:p>
            <a:r>
              <a:t> 그래서 만약 미래를 보는 보간을 과거만 보는 모델이 이긴다면, 그건 '운이 좋아서'가</a:t>
            </a:r>
          </a:p>
          <a:p>
            <a:r>
              <a:t> 아닙니다. 빠른 진단이 시간 보간으로는 절대 얻을 수 없는 CES 정보를 실제로 운반한다는</a:t>
            </a:r>
          </a:p>
          <a:p>
            <a:r>
              <a:t> 강력한 증거가 됩니다. 그리고 미래 보간을 이기는 모델은 persistence 같은 causal</a:t>
            </a:r>
          </a:p>
          <a:p>
            <a:r>
              <a:t> 기준선은 자명하게 이깁니다."</a:t>
            </a:r>
          </a:p>
          <a:p>
            <a:endParaRPr/>
          </a:p>
          <a:p>
            <a:r>
              <a:t>※ 여기서 청중이 "왜 굳이 불리하게?"라고 생각할 수 있으니 마지막 문장을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06:00–07:30  (90초)</a:t>
            </a:r>
          </a:p>
          <a:p>
            <a:endParaRPr/>
          </a:p>
          <a:p>
            <a:r>
              <a:t>"데이터 수집 계획은 RMP로 ELM을 억제한 H-mode 구간을 노렸고, 실제 파일은</a:t>
            </a:r>
          </a:p>
          <a:p>
            <a:r>
              <a:t> shot당 30초 구간 CSV 641개입니다(#30801–#32751).</a:t>
            </a:r>
          </a:p>
          <a:p>
            <a:r>
              <a:t> test는 96 shot, 3만 4천여 샘플입니다.</a:t>
            </a:r>
          </a:p>
          <a:p>
            <a:endParaRPr/>
          </a:p>
          <a:p>
            <a:r>
              <a:t> 전처리에서 세 가지를 특히 신경 썼습니다.</a:t>
            </a:r>
          </a:p>
          <a:p>
            <a:r>
              <a:t> 첫째, 가짜 데이터를 만들지 않았습니다. 결측을 보간으로 메워서 학습에 쓰면</a:t>
            </a:r>
          </a:p>
          <a:p>
            <a:r>
              <a:t> '보간을 이기는가'라는 질문 자체가 무의미해집니다.</a:t>
            </a:r>
          </a:p>
          <a:p>
            <a:r>
              <a:t> 둘째, 두 타겟이 독립적으로 비기 때문에 손실을 타겟별로 마스킹했습니다.</a:t>
            </a:r>
          </a:p>
          <a:p>
            <a:r>
              <a:t> 이걸 안 하면 한쪽만 관측된 행 — 라벨의 약 28% — 을 통째로 버리게 됩니다.</a:t>
            </a:r>
          </a:p>
          <a:p>
            <a:r>
              <a:t> 셋째, 누수 차단입니다. 인접 행은 강하게 상관되므로 행 단위가 아니라 shot 파일 단위로</a:t>
            </a:r>
          </a:p>
          <a:p>
            <a:r>
              <a:t> 나눴고, 정규화 통계도 train 파일에서만 뽑았습니다.</a:t>
            </a:r>
          </a:p>
          <a:p>
            <a:r>
              <a:t> 특히 이력 텐서에서 '지금 맞히려는 시점'은 값과 관측 flag를 모두 0으로 지웠습니다 —</a:t>
            </a:r>
          </a:p>
          <a:p>
            <a:r>
              <a:t> 안 그러면 정답을 그대로 보게 됩니다."</a:t>
            </a:r>
          </a:p>
          <a:p>
            <a:endParaRPr/>
          </a:p>
          <a:p>
            <a:r>
              <a:t>※ 질문 대비: window=4는 직전 4스텝. 시간 간격이 불규칙하므로 lookback/delta와 그 log1p를</a:t>
            </a:r>
          </a:p>
          <a:p>
            <a:r>
              <a:t>   4채널 time feature로 명시적으로 넣어 준다.</a:t>
            </a:r>
          </a:p>
          <a:p>
            <a:r>
              <a:t>※ 질문 대비: V_rot '관측' 27,437은 held(직전값 유지 반복) 포함 집계 — bit-identical 반복을</a:t>
            </a:r>
          </a:p>
          <a:p>
            <a:r>
              <a:t>   제거한 genuine V_rot은 10,729행. Tᵢ의 held는 1행뿐이라 사실상 전부 genuine.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07:00–08:30  (90초)</a:t>
            </a:r>
          </a:p>
          <a:p>
            <a:endParaRPr/>
          </a:p>
          <a:p>
            <a:r>
              <a:t>"모델은 late-fusion multimodal 구조입니다.</a:t>
            </a:r>
          </a:p>
          <a:p>
            <a:endParaRPr/>
          </a:p>
          <a:p>
            <a:r>
              <a:t> 왼쪽부터, 진단별로 전용 인코더를 둡니다. 섣불리 평균 내면 공간 채널 구조가 사라지기</a:t>
            </a:r>
          </a:p>
          <a:p>
            <a:r>
              <a:t> 때문에, BES·ECEI·Mirnov를 각각 시간 정보와 함께 1D convolution으로 인코딩하고</a:t>
            </a:r>
          </a:p>
          <a:p>
            <a:r>
              <a:t> 마지막에 합칩니다.</a:t>
            </a:r>
          </a:p>
          <a:p>
            <a:endParaRPr/>
          </a:p>
          <a:p>
            <a:r>
              <a:t> 가운데가 이력 인코더입니다. 양방향 GRU를 씁니다. 여기가 재미있는 부분인데,</a:t>
            </a:r>
          </a:p>
          <a:p>
            <a:r>
              <a:t> 맞히려는 시점이 window 한가운데에서 마스킹되어 있기 때문에, 양방향 GRU가</a:t>
            </a:r>
          </a:p>
          <a:p>
            <a:r>
              <a:t> 앞뒤 관측 이웃을 모두 취합하게 됩니다. 즉 구조적으로 '학습된 보간'처럼 동작합니다.</a:t>
            </a:r>
          </a:p>
          <a:p>
            <a:endParaRPr/>
          </a:p>
          <a:p>
            <a:r>
              <a:t> 그 위에 관측 마스크 attention pooling을 얹었습니다. 타겟별로 독립적인 multi-head</a:t>
            </a:r>
          </a:p>
          <a:p>
            <a:r>
              <a:t> additive attention인데, 관측 flag가 1인 행에만 softmax를 허용합니다.</a:t>
            </a:r>
          </a:p>
          <a:p>
            <a:r>
              <a:t> '관측된 것만 본다'는 보간의 귀납 편향을 명시적으로 주입한 겁니다.</a:t>
            </a:r>
          </a:p>
          <a:p>
            <a:endParaRPr/>
          </a:p>
          <a:p>
            <a:r>
              <a:t> 마지막으로 타겟별 head가 갈라지는데, 물리 기반 routing이 들어갑니다.</a:t>
            </a:r>
          </a:p>
          <a:p>
            <a:r>
              <a:t> Tᵢ head는 빠른 진단 + 이력 + 시간을 다 받고, V_rot head는 이력과 시간만 받습니다.</a:t>
            </a:r>
          </a:p>
          <a:p>
            <a:r>
              <a:t> 전체 파라미터는 20만 개로 작습니다 — capacity가 아니라 일반화가 관건이었습니다."</a:t>
            </a:r>
          </a:p>
          <a:p>
            <a:endParaRPr/>
          </a:p>
          <a:p>
            <a:r>
              <a:t>※ 질문 대비: LSTM 대신 CNN을 쓴 이유는 결측 제거로 시간축이 불규칙해졌기 때문.</a:t>
            </a:r>
          </a:p>
          <a:p>
            <a:r>
              <a:t>※ 질문 대비: 아키텍처 선택 게이트를 val loss가 아니라 clean skill로 바꾼 게 결정적이었다</a:t>
            </a:r>
          </a:p>
          <a:p>
            <a:r>
              <a:t>   (증강된 val loss는 쉬운 구간이 복제돼 '평활한 예측'을 보상 → 보간이 이미 잘하는 영역).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08:30–09:30  (60초)</a:t>
            </a:r>
          </a:p>
          <a:p>
            <a:endParaRPr/>
          </a:p>
          <a:p>
            <a:r>
              <a:t>"모델에 들어가는 샘플이 어떻게 만들어지는지부터 보겠습니다.</a:t>
            </a:r>
          </a:p>
          <a:p>
            <a:endParaRPr/>
          </a:p>
          <a:p>
            <a:r>
              <a:t> 각 shot 파일은 0.5초 이상 간격으로 끊어진 측정 세그먼트 두세 개로 이루어져</a:t>
            </a:r>
          </a:p>
          <a:p>
            <a:r>
              <a:t> 있습니다. 윈도는 세그먼트 안에서만 만들고, 보간 기준선에도 똑같은 경계를</a:t>
            </a:r>
          </a:p>
          <a:p>
            <a:r>
              <a:t> 적용했습니다. 정보 조건을 양쪽에 동일하게 맞춘 겁니다.</a:t>
            </a:r>
          </a:p>
          <a:p>
            <a:endParaRPr/>
          </a:p>
          <a:p>
            <a:r>
              <a:t> 샘플 하나는 연속 4행이고 마지막 행이 맞혀야 할 시점입니다. 이 시점의 CES</a:t>
            </a:r>
          </a:p>
          <a:p>
            <a:r>
              <a:t> 이력은 값과 관측 플래그를 모두 0으로 지워서, 모델이 자기 정답을 볼 수 있는</a:t>
            </a:r>
          </a:p>
          <a:p>
            <a:r>
              <a:t> 경로를 원천 차단했습니다.</a:t>
            </a:r>
          </a:p>
          <a:p>
            <a:endParaRPr/>
          </a:p>
          <a:p>
            <a:r>
              <a:t> 그리고 증강입니다. 실전에서는 직전 이력이 2개일 수도 4개일 수도 있으니, 같은</a:t>
            </a:r>
          </a:p>
          <a:p>
            <a:r>
              <a:t> 타겟을 이력 부분집합 버전으로도 만들어 학습시켰습니다. 조합이 폭발하기 때문에</a:t>
            </a:r>
          </a:p>
          <a:p>
            <a:r>
              <a:t> 시드 고정 캡으로 train 20만, val 4만 샘플을 쓰고, split은 디스크에 고정해서</a:t>
            </a:r>
          </a:p>
          <a:p>
            <a:r>
              <a:t> 완전히 재현 가능합니다."</a:t>
            </a:r>
          </a:p>
          <a:p>
            <a:endParaRPr/>
          </a:p>
          <a:p>
            <a:r>
              <a:t>※ 질문 대비: 증강은 train에만 영향 — 평가·채점은 증강 없는 원본 샘플로만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09:30–10:30  (60초)</a:t>
            </a:r>
          </a:p>
          <a:p>
            <a:endParaRPr/>
          </a:p>
          <a:p>
            <a:r>
              <a:t>"학습 자체는 평범합니다.</a:t>
            </a:r>
          </a:p>
          <a:p>
            <a:endParaRPr/>
          </a:p>
          <a:p>
            <a:r>
              <a:t> 손실은 관측된 타겟만 반영하는 마스킹 MSE입니다. 두 타겟이 독립적으로 비기</a:t>
            </a:r>
          </a:p>
          <a:p>
            <a:r>
              <a:t> 때문에, 한쪽만 관측된 행도 그 타겟은 학습에 씁니다. 여기에 이온온도가 0 아래로</a:t>
            </a:r>
          </a:p>
          <a:p>
            <a:r>
              <a:t> 내려가지 못하게 하는 물리 페널티를 하나 더했습니다.</a:t>
            </a:r>
          </a:p>
          <a:p>
            <a:r>
              <a:t> 최적화는 AdamW, 배치 512, 10 에폭 — 특별한 트릭이 없습니다.</a:t>
            </a:r>
          </a:p>
          <a:p>
            <a:endParaRPr/>
          </a:p>
          <a:p>
            <a:r>
              <a:t> 중요한 건 아키텍처를 고른 절차입니다. 한 번에 구조를 하나만 바꿔서 처음부터</a:t>
            </a:r>
          </a:p>
          <a:p>
            <a:r>
              <a:t> 다시 학습하고, 증강 없는 검증셋에서 보간 대비 skill로 채점했습니다. 최고 기록을</a:t>
            </a:r>
          </a:p>
          <a:p>
            <a:r>
              <a:t> 넘으면 채택하고, 못 넘으면 직전 최고 모델로 되돌렸습니다. 이걸 40여 번 반복했고,</a:t>
            </a:r>
          </a:p>
          <a:p>
            <a:r>
              <a:t> 그 사이 test 세트는 한 번도 열지 않았습니다. 최종 모델은 그렇게 살아남은</a:t>
            </a:r>
          </a:p>
          <a:p>
            <a:r>
              <a:t> GRU 이력 인코더 + 타겟별 attention 구조, 파라미터 20만 개입니다."</a:t>
            </a:r>
          </a:p>
          <a:p>
            <a:endParaRPr/>
          </a:p>
          <a:p>
            <a:r>
              <a:t>※ 질문 대비: z₀ = 물리 0 keV를 정규화 단위로 옮긴 값. 페널티 가중 0.1은 고정(튜닝 안 함).</a:t>
            </a:r>
          </a:p>
          <a:p>
            <a:r>
              <a:t>※ 질문 대비: '증강 val loss로 고르면 안 되나?' → 쉬운 구간이 복제돼 평활한 예측을</a:t>
            </a:r>
          </a:p>
          <a:p>
            <a:r>
              <a:t>   보상한다(보간이 이미 잘하는 영역). 그래서 채점은 증강 없는 skill로만 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10:30–12:00  (90초)  ★ 통계 질문이 나오는 슬라이드 — 여기서 신뢰를 확보</a:t>
            </a:r>
          </a:p>
          <a:p>
            <a:endParaRPr/>
          </a:p>
          <a:p>
            <a:r>
              <a:t>"결과를 보여드리기 전에, 이 숫자를 믿어도 되는 이유를 먼저 말씀드리겠습니다.</a:t>
            </a:r>
          </a:p>
          <a:p>
            <a:r>
              <a:t> 장치는 두 가지입니다.</a:t>
            </a:r>
          </a:p>
          <a:p>
            <a:endParaRPr/>
          </a:p>
          <a:p>
            <a:r>
              <a:t> 첫째, 채점 규칙을 결과 보기 전에 고정했습니다. test 96개 방전은 모델을 만들기</a:t>
            </a:r>
          </a:p>
          <a:p>
            <a:r>
              <a:t> 전에 떼어놓고 선택이 끝날 때까지 한 번도 열지 않았습니다. 그리고 어떤 보간과</a:t>
            </a:r>
          </a:p>
          <a:p>
            <a:r>
              <a:t> 비교할지, 보간이 예측 못 하는 지점은 어떻게 채점할지, '이겼다'를 뭐라고 정의할지를</a:t>
            </a:r>
          </a:p>
          <a:p>
            <a:r>
              <a:t> 전부 미리 문서로 못박았습니다. 잘 나온 숫자를 사후에 고를 수 있는 길을 다 막은 겁니다.</a:t>
            </a:r>
          </a:p>
          <a:p>
            <a:endParaRPr/>
          </a:p>
          <a:p>
            <a:r>
              <a:t> 둘째, 신뢰구간을 행이 아니라 방전 단위로 계산했습니다. 한 방전 안의 10 ms 간격</a:t>
            </a:r>
          </a:p>
          <a:p>
            <a:r>
              <a:t> 측정들은 거의 복사본입니다. 그걸 3만 4천 개의 독립 증거처럼 세면 확신이</a:t>
            </a:r>
          </a:p>
          <a:p>
            <a:r>
              <a:t> 과장됩니다. 그래서 96개 방전을 통째로 재추출하는 bootstrap을 만 번 돌렸습니다.</a:t>
            </a:r>
          </a:p>
          <a:p>
            <a:r>
              <a:t> 우리에게 불리한 계산이지만, '새로운 방전에서도 이길까'라는 진짜 질문에 답하는</a:t>
            </a:r>
          </a:p>
          <a:p>
            <a:r>
              <a:t> 방식입니다.</a:t>
            </a:r>
          </a:p>
          <a:p>
            <a:endParaRPr/>
          </a:p>
          <a:p>
            <a:r>
              <a:t> 점수는 1 빼기 오차 비율입니다. 0보다 크면 보간보다 정확하다는 뜻이고,</a:t>
            </a:r>
          </a:p>
          <a:p>
            <a:r>
              <a:t> 신뢰구간이 0을 제외할 때만 이겼다고 인정합니다."</a:t>
            </a:r>
          </a:p>
          <a:p>
            <a:endParaRPr/>
          </a:p>
          <a:p>
            <a:r>
              <a:t>※ 예상 질문 "왜 PCHIP인가?" → 단조성을 보존해 overshoot이 적은 보수적(=강한) 기준선.</a:t>
            </a:r>
          </a:p>
          <a:p>
            <a:r>
              <a:t>   게다가 타겟 양쪽의 과거+미래를 다 본다. 즉 우리에게 불리하게 설계된 기준선.</a:t>
            </a:r>
          </a:p>
          <a:p>
            <a:r>
              <a:t>※ 예상 질문 "최소 표본 조건은?" → test 최소 15 shot·관측 3,000행 이상을 사전 조건으로</a:t>
            </a:r>
          </a:p>
          <a:p>
            <a:r>
              <a:t>   걸었고 실제 96 shot·3만 행 이상으로 충족.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10:30–12:00  (90초)  ★ 통계 질문이 나오는 슬라이드 — 여기서 신뢰를 확보</a:t>
            </a:r>
          </a:p>
          <a:p>
            <a:endParaRPr/>
          </a:p>
          <a:p>
            <a:r>
              <a:t>"결과를 보여드리기 전에, 어떻게 채점했는지를 먼저 말씀드리겠습니다.</a:t>
            </a:r>
          </a:p>
          <a:p>
            <a:endParaRPr/>
          </a:p>
          <a:p>
            <a:r>
              <a:t> 왼쪽. test 세트는 아키텍처를 만들기 전에 미리 떼어놓고 선택 과정에서 한 번도 열지</a:t>
            </a:r>
          </a:p>
          <a:p>
            <a:r>
              <a:t> 않았습니다. 모델 선택은 전부 validation에서만 했습니다. 그리고 평가 규칙 네 가지를</a:t>
            </a:r>
          </a:p>
          <a:p>
            <a:r>
              <a:t> 결과를 보기 전에 사전등록했습니다 — 어떤 보간을 헤드라인 기준선으로 쓸지, 미래 이웃이</a:t>
            </a:r>
          </a:p>
          <a:p>
            <a:r>
              <a:t> 없는 지점은 어떻게 채점할지, 최소 표본 조건, 유의성 판정 기준까지요.</a:t>
            </a:r>
          </a:p>
          <a:p>
            <a:endParaRPr/>
          </a:p>
          <a:p>
            <a:r>
              <a:t> 오른쪽이 통계적으로 가장 중요한 부분입니다. 한 방전 안의 인접 CES 행은 서로 매우</a:t>
            </a:r>
          </a:p>
          <a:p>
            <a:r>
              <a:t> 비슷합니다. 이걸 독립 표본으로 세면 신뢰구간이 터무니없이 좁아집니다. 그래서 오차를</a:t>
            </a:r>
          </a:p>
          <a:p>
            <a:r>
              <a:t> shot 단위로 묶어서, shot 전체를 복원추출하는 paired bootstrap을 썼습니다.</a:t>
            </a:r>
          </a:p>
          <a:p>
            <a:r>
              <a:t> 즉 재현의 단위를 '행'이 아니라 '방전'으로 잡은 겁니다.</a:t>
            </a:r>
          </a:p>
          <a:p>
            <a:endParaRPr/>
          </a:p>
          <a:p>
            <a:r>
              <a:t> skill은 Murphy 스킬 스코어로, 1 빼기 MSE 비율입니다. 0보다 크면 이긴 것이고,</a:t>
            </a:r>
          </a:p>
          <a:p>
            <a:r>
              <a:t> 신뢰구간이 0을 제외해야 PASS로 판정합니다."</a:t>
            </a:r>
          </a:p>
          <a:p>
            <a:endParaRPr/>
          </a:p>
          <a:p>
            <a:r>
              <a:t>※ 예상 질문 "왜 PCHIP인가?" → 단조성을 보존해 overshoot이 적은 보수적(=강한) 기준선.</a:t>
            </a:r>
          </a:p>
          <a:p>
            <a:r>
              <a:t>   게다가 타겟 양쪽의 과거+미래를 다 본다. 즉 우리에게 불리하게 설계된 기준선.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12:00–12:45  (45초)</a:t>
            </a:r>
          </a:p>
          <a:p>
            <a:endParaRPr/>
          </a:p>
          <a:p>
            <a:r>
              <a:t>"먼저 가장 강건한 결과입니다. RMSE 사다리인데, 낮을수록 좋습니다.</a:t>
            </a:r>
          </a:p>
          <a:p>
            <a:endParaRPr/>
          </a:p>
          <a:p>
            <a:r>
              <a:t> 두 타겟 모두 저희 모델이 사다리 맨 아래, 즉 오차가 가장 작습니다.</a:t>
            </a:r>
          </a:p>
          <a:p>
            <a:r>
              <a:t> persistence나 local AR 같은 causal 기준선은 큰 마진으로 이깁니다.</a:t>
            </a:r>
          </a:p>
          <a:p>
            <a:r>
              <a:t> 이건 논쟁의 여지가 없는 결과이고, 실시간이나 온라인 상황 — 미래 값을 애초에 쓸 수</a:t>
            </a:r>
          </a:p>
          <a:p>
            <a:r>
              <a:t> 없는 상황 — 에서는 모델이 명확한 승자라는 뜻입니다.</a:t>
            </a:r>
          </a:p>
          <a:p>
            <a:endParaRPr/>
          </a:p>
          <a:p>
            <a:r>
              <a:t> 보간과 비교해도 point estimate로는 앞섭니다. 다만 point estimate가 앞선다고 해서</a:t>
            </a:r>
          </a:p>
          <a:p>
            <a:r>
              <a:t> '유의하게 이겼다'고 말하면 안 됩니다. 그래서 다음 슬라이드에서 신뢰구간을 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12:45–14:15  (90초)  ★ 헤드라인 결과</a:t>
            </a:r>
          </a:p>
          <a:p>
            <a:endParaRPr/>
          </a:p>
          <a:p>
            <a:r>
              <a:t>"이게 헤드라인 결과입니다. forest plot이고, 가로축이 PCHIP 보간 대비 skill입니다.</a:t>
            </a:r>
          </a:p>
          <a:p>
            <a:r>
              <a:t> 점이 추정치, 가로 막대가 shot-clustered 95% 신뢰구간입니다.</a:t>
            </a:r>
          </a:p>
          <a:p>
            <a:r>
              <a:t> 막대가 0선을 넘지 않으면 통계적으로 유의하게 이긴 겁니다.</a:t>
            </a:r>
          </a:p>
          <a:p>
            <a:endParaRPr/>
          </a:p>
          <a:p>
            <a:r>
              <a:t> 위쪽 CES_TI를 보시면, 4개의 독립적인 test split — seed 42, 1, 7, 123 — 전부에서</a:t>
            </a:r>
          </a:p>
          <a:p>
            <a:r>
              <a:t> 신뢰구간이 0을 제외합니다. skill은 +0.19에서 +0.28입니다.</a:t>
            </a:r>
          </a:p>
          <a:p>
            <a:r>
              <a:t> 특히 seed 1, 7, 123은 아키텍처 선택 과정에서 단 한 번도 쓰지 않은 split입니다.</a:t>
            </a:r>
          </a:p>
          <a:p>
            <a:r>
              <a:t> 즉 우연히 잘 맞은 split을 고른 게 아닙니다.</a:t>
            </a:r>
          </a:p>
          <a:p>
            <a:endParaRPr/>
          </a:p>
          <a:p>
            <a:r>
              <a:t> 아래쪽 CES_VT는 다릅니다. 4개 seed 모두 신뢰구간이 0을 포함합니다.</a:t>
            </a:r>
          </a:p>
          <a:p>
            <a:r>
              <a:t> 추정치 자체는 양수지만 통계적으로 지지되지 않습니다. 저는 이걸 '이겼다'고 쓰지</a:t>
            </a:r>
          </a:p>
          <a:p>
            <a:r>
              <a:t> 않았습니다. 그리고 이 차이가 왜 생기는지가 다음 슬라이드입니다."</a:t>
            </a:r>
          </a:p>
          <a:p>
            <a:endParaRPr/>
          </a:p>
          <a:p>
            <a:r>
              <a:t>※ 질문 대비: "왜 4개 seed인가?" → split seed에 따른 안정성 점검. 단, headline CI에</a:t>
            </a:r>
          </a:p>
          <a:p>
            <a:r>
              <a:t>   풀링하지 않고 각각 독립적으로 판정한다(PR4).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14:15–15:35  (80초)  ★ 과학적 발견</a:t>
            </a:r>
          </a:p>
          <a:p>
            <a:endParaRPr/>
          </a:p>
          <a:p>
            <a:r>
              <a:t>"이 비대칭이 왜 생기는지를 ablation으로 확인했습니다. 왼쪽 그림입니다.</a:t>
            </a:r>
          </a:p>
          <a:p>
            <a:endParaRPr/>
          </a:p>
          <a:p>
            <a:r>
              <a:t> Tᵢ부터 보시면, 빠른 진단만 주고 CES 이력을 완전히 뺀 fast-only 모델도</a:t>
            </a:r>
          </a:p>
          <a:p>
            <a:r>
              <a:t> persistence를 +0.372로 이깁니다. 즉 빠른 진단 자체가 이온온도 정보를 진짜로</a:t>
            </a:r>
          </a:p>
          <a:p>
            <a:r>
              <a:t> 운반한다는 뜻입니다. 물리적으로도 자연스럽습니다 — 충돌 e-i 결합을 통해</a:t>
            </a:r>
          </a:p>
          <a:p>
            <a:r>
              <a:t> ECEI가 주는 Tₑ와 BES가 주는 nₑ가 Tᵢ와 연결되니까요.</a:t>
            </a:r>
          </a:p>
          <a:p>
            <a:endParaRPr/>
          </a:p>
          <a:p>
            <a:r>
              <a:t> 회전은 정반대입니다. fast-only V_rot은 −0.64입니다. persistence보다 나쁩니다.</a:t>
            </a:r>
          </a:p>
          <a:p>
            <a:r>
              <a:t> 회전 정보는 거의 전적으로 과거 CES 이력에서 옵니다.</a:t>
            </a:r>
          </a:p>
          <a:p>
            <a:r>
              <a:t> 이유는 두 가지입니다. 첫째, 토로이달 회전을 구동하는 건 주로 NBI 토크인데</a:t>
            </a:r>
          </a:p>
          <a:p>
            <a:r>
              <a:t> 그 신호가 데이터에 없습니다. 둘째, Mirnov는 kHz로 진동하는 dB/dt를 100 Hz로</a:t>
            </a:r>
          </a:p>
          <a:p>
            <a:r>
              <a:t> 순간샘플한 것이라 샘플마다 위상이 무작위가 됩니다. 실제로 같은 격자에서 BES와</a:t>
            </a:r>
          </a:p>
          <a:p>
            <a:r>
              <a:t> ECEI는 lag-1 자기상관이 +0.57인데 Mirnov만 -0.01, 즉 백색잡음입니다.</a:t>
            </a:r>
          </a:p>
          <a:p>
            <a:r>
              <a:t> MHD 모드 정보가 모델에 닿기 전에 이미 소실된 겁니다.</a:t>
            </a:r>
          </a:p>
          <a:p>
            <a:endParaRPr/>
          </a:p>
          <a:p>
            <a:r>
              <a:t> ※ 질문 대비: "Tₑ가 NBI 가열을 대리하니 회전 정보도 담기지 않나?" — 검정했습니다.</a:t>
            </a:r>
          </a:p>
          <a:p>
            <a:r>
              <a:t> shot 간 Tₑ~Tᵢ는 r=+0.35 (p~1e-17)로 경로가 실재하지만, Tₑ~V_rot은 r=+0.02 (p=0.58)로</a:t>
            </a:r>
          </a:p>
          <a:p>
            <a:r>
              <a:t> 전달되지 않습니다. power와 torque가 다르기 때문입니다.</a:t>
            </a:r>
          </a:p>
          <a:p>
            <a:endParaRPr/>
          </a:p>
          <a:p>
            <a:r>
              <a:t> 그래서 저는 V_rot에서 이기지 못한 걸 실패로 보지 않습니다.</a:t>
            </a:r>
          </a:p>
          <a:p>
            <a:r>
              <a:t> 물리적으로 예측되고 데이터로 확인된 발견입니다."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15:35–16:25  (50초)</a:t>
            </a:r>
          </a:p>
          <a:p>
            <a:endParaRPr/>
          </a:p>
          <a:p>
            <a:r>
              <a:t>"그럼 모델은 어디서 이득을 버는가. peak 분석입니다.</a:t>
            </a:r>
          </a:p>
          <a:p>
            <a:endParaRPr/>
          </a:p>
          <a:p>
            <a:r>
              <a:t> 여기서 peak은 예측값이 아니라 입력 기준으로 정의합니다 — 타겟 행을 제외한 이웃에서</a:t>
            </a:r>
          </a:p>
          <a:p>
            <a:r>
              <a:t> 국소 활동도가 높은 구간입니다. 정답을 엿보지 않는 보수적인 정의입니다.</a:t>
            </a:r>
          </a:p>
          <a:p>
            <a:endParaRPr/>
          </a:p>
          <a:p>
            <a:r>
              <a:t> CES_TI는 전체 +0.272에서 peak 구간 +0.702로 뜁니다.</a:t>
            </a:r>
          </a:p>
          <a:p>
            <a:r>
              <a:t> CES_VT도 전체로는 +0.131로 약하지만 peak에서는 +0.438이고, 둘 다 PASS입니다.</a:t>
            </a:r>
          </a:p>
          <a:p>
            <a:endParaRPr/>
          </a:p>
          <a:p>
            <a:r>
              <a:t> 해석은 명확합니다. 매끄러운 bulk 구간에서는 보간이 이미 거의 최적입니다.</a:t>
            </a:r>
          </a:p>
          <a:p>
            <a:r>
              <a:t> 거기서는 이길 여지가 별로 없습니다. 반대로 급변 구간에서는 보간이 구조적으로</a:t>
            </a:r>
          </a:p>
          <a:p>
            <a:r>
              <a:t> 실패하고, 바로 거기서 빠른 진단이 값어치를 합니다.</a:t>
            </a:r>
          </a:p>
          <a:p>
            <a:r>
              <a:t> 즉 V_rot의 열세도 전역적인 게 아니라 국소적입니다."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16:25–17:05  (40초)</a:t>
            </a:r>
          </a:p>
          <a:p>
            <a:endParaRPr/>
          </a:p>
          <a:p>
            <a:r>
              <a:t>"통계만 보면 감이 잘 안 오니, 실제 held-out shot 하나를 보여드리겠습니다. #31815입니다.</a:t>
            </a:r>
          </a:p>
          <a:p>
            <a:endParaRPr/>
          </a:p>
          <a:p>
            <a:r>
              <a:t> 위가 이온온도입니다. 검은 점이 실측, 파란 선이 저희 모델, 회색이 PCHIP 보간입니다.</a:t>
            </a:r>
          </a:p>
          <a:p>
            <a:r>
              <a:t> 빨간 점선은 BES가 급락한 시점입니다. 보시면 빠른 진단의 급락이 CES crash와 정렬되어</a:t>
            </a:r>
          </a:p>
          <a:p>
            <a:r>
              <a:t> 있습니다 — 빠른 진단이 급변을 먼저 봅니다.</a:t>
            </a:r>
          </a:p>
          <a:p>
            <a:r>
              <a:t> PCHIP은 스파이크마다 overshoot합니다. 미래까지 다 보고도 그렇습니다.</a:t>
            </a:r>
          </a:p>
          <a:p>
            <a:r>
              <a:t> 이 shot에서 Tᵢ RMSE는 210 대 263, skill로 +0.36이고 peak 구간만 보면 +0.63입니다.</a:t>
            </a:r>
          </a:p>
          <a:p>
            <a:endParaRPr/>
          </a:p>
          <a:p>
            <a:r>
              <a:t> 다만 정직하게 말씀드리면, 이런 shot이 전부는 아닙니다. test 89개 shot 중 43개에서</a:t>
            </a:r>
          </a:p>
          <a:p>
            <a:r>
              <a:t> 보간을 이깁니다. 즉 우위는 고르게 퍼져 있는 게 아니라 급변 구간에 집중되어 있습니다 —</a:t>
            </a:r>
          </a:p>
          <a:p>
            <a:r>
              <a:t> 이건 앞의 peak 분석과 정확히 일치하는 그림입니다."</a:t>
            </a:r>
          </a:p>
          <a:p>
            <a:endParaRPr/>
          </a:p>
          <a:p>
            <a:r>
              <a:t>※ 시간이 밀리면 이 슬라이드를 30초로 압축하거나 건너뛸 것 (결과 ④까지로도 논지는 성립).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17:05–17:45  (40초)</a:t>
            </a:r>
          </a:p>
          <a:p>
            <a:endParaRPr/>
          </a:p>
          <a:p>
            <a:r>
              <a:t>"연구 후반에 데이터 감사를 하다가 하나 발견한 게 있어서 정직하게 공유드립니다.</a:t>
            </a:r>
          </a:p>
          <a:p>
            <a:endParaRPr/>
          </a:p>
          <a:p>
            <a:r>
              <a:t> 관측된 것으로 표시된 CES_VT 값의 약 54%가 실은 직전 값의 forward-fill이었습니다.</a:t>
            </a:r>
          </a:p>
          <a:p>
            <a:r>
              <a:t> 직전 관측값과 비트 단위로 동일하고, 심한 경우 1214행이 연속으로 같은 값입니다.</a:t>
            </a:r>
          </a:p>
          <a:p>
            <a:r>
              <a:t> 회전 진단의 실제 cadence가 행 cadence보다 느려서 값이 carry-forward된 것으로 보입니다.</a:t>
            </a:r>
          </a:p>
          <a:p>
            <a:r>
              <a:t> CES_TI는 이 현상이 0%라 무관합니다.</a:t>
            </a:r>
          </a:p>
          <a:p>
            <a:endParaRPr/>
          </a:p>
          <a:p>
            <a:r>
              <a:t> 두 가지를 확인했습니다. 첫째, 학습은 오염이 아닙니다 — 이 값들을 마스킹하고 학습해도</a:t>
            </a:r>
          </a:p>
          <a:p>
            <a:r>
              <a:t> genuine 성능이 좋아지지 않았습니다. 둘째, 평가는 영향을 받습니다. held 값은 baseline</a:t>
            </a:r>
          </a:p>
          <a:p>
            <a:r>
              <a:t> 오차가 거의 0이라 보고 RMSE를 35~55% 끌어내립니다. 표의 오른쪽이 진짜 값입니다.</a:t>
            </a:r>
          </a:p>
          <a:p>
            <a:endParaRPr/>
          </a:p>
          <a:p>
            <a:r>
              <a:t> 그래서 평가를 genuine 측정값만으로 다시 돌렸고, Tᵢ는 4개 seed 모두 여전히 PASS,</a:t>
            </a:r>
          </a:p>
          <a:p>
            <a:r>
              <a:t> 비대칭 결론도 그대로였습니다."</a:t>
            </a:r>
          </a:p>
          <a:p>
            <a:endParaRPr/>
          </a:p>
          <a:p>
            <a:r>
              <a:t>※ 이 슬라이드는 내부 발표에서 신뢰를 크게 얻는 지점. 방어적으로 말하지 말고</a:t>
            </a:r>
          </a:p>
          <a:p>
            <a:r>
              <a:t>   "찾아서 고쳤고 결론은 견뎠다"는 톤으로.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17:45–18:50  (65초)</a:t>
            </a:r>
          </a:p>
          <a:p>
            <a:endParaRPr/>
          </a:p>
          <a:p>
            <a:r>
              <a:t>"결론 네 가지입니다.</a:t>
            </a:r>
          </a:p>
          <a:p>
            <a:endParaRPr/>
          </a:p>
          <a:p>
            <a:r>
              <a:t> 하나, causal 기준선은 두 타겟 모두 결정적으로 압도합니다. 실시간 응용에서는</a:t>
            </a:r>
          </a:p>
          <a:p>
            <a:r>
              <a:t> 명확한 승자입니다.</a:t>
            </a:r>
          </a:p>
          <a:p>
            <a:r>
              <a:t> 둘, CES_TI는 미래까지 보는 오프라인 보간마저 통계적으로 유의하게 능가합니다.</a:t>
            </a:r>
          </a:p>
          <a:p>
            <a:r>
              <a:t> 4개 독립 split 전부, genuine-only 평가에서도 마찬가지입니다.</a:t>
            </a:r>
          </a:p>
          <a:p>
            <a:r>
              <a:t> 셋, CES_VT는 보간과 동률입니다. 추정치는 양수지만 유의하지 않고, 저는 이걸</a:t>
            </a:r>
          </a:p>
          <a:p>
            <a:r>
              <a:t> 과대주장하지 않겠습니다.</a:t>
            </a:r>
          </a:p>
          <a:p>
            <a:r>
              <a:t> 넷, 그리고 그 Tᵢ와 V_rot의 비대칭이 이 연구의 과학적 기여라고 생각합니다.</a:t>
            </a:r>
          </a:p>
          <a:p>
            <a:r>
              <a:t> 빠른 진단은 10 ms 격자에서 이온온도 정보는 운반하지만 회전 정보는 거의 운반하지</a:t>
            </a:r>
          </a:p>
          <a:p>
            <a:r>
              <a:t> 않는다 — 물리로 예측하고 ablation으로 확인했습니다."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18:50–19:20  (30초)  — 빠르게 읽되 첫 항목은 반드시 언급</a:t>
            </a:r>
          </a:p>
          <a:p>
            <a:endParaRPr/>
          </a:p>
          <a:p>
            <a:r>
              <a:t>"한계를 분명히 말씀드리면, 가장 큰 제약은 검정력입니다. test shot이 90여 개뿐이고,</a:t>
            </a:r>
          </a:p>
          <a:p>
            <a:r>
              <a:t> 이게 모든 유의성 판정을 구속합니다. 그리고 채점은 관측된 지점에서만 하므로</a:t>
            </a:r>
          </a:p>
          <a:p>
            <a:r>
              <a:t> 이 수치는 낙관적 상한입니다 — 진짜 결측 구간은 참값이 없으니까요.</a:t>
            </a:r>
          </a:p>
          <a:p>
            <a:endParaRPr/>
          </a:p>
          <a:p>
            <a:r>
              <a:t> 향후 가장 확실한 레버는 NBI 토크 신호를 데이터에 넣는 것입니다.</a:t>
            </a:r>
          </a:p>
          <a:p>
            <a:r>
              <a:t> 참고로 Mirnov를 여러 방식으로 재가공해서 회전 정보를 살려보려는 시도는 이미 했고,</a:t>
            </a:r>
          </a:p>
          <a:p>
            <a:r>
              <a:t> 4개 seed 전부에서 성능이 오히려 떨어졌습니다. 재가공이 아니라 미관측 물리량을</a:t>
            </a:r>
          </a:p>
          <a:p>
            <a:r>
              <a:t> 확보하는 게 답이라는 뜻입니다."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19:20–19:40  (20초)</a:t>
            </a:r>
          </a:p>
          <a:p>
            <a:endParaRPr/>
          </a:p>
          <a:p>
            <a:r>
              <a:t>"마지막으로 지금 진행 중인 후속 작업입니다.</a:t>
            </a:r>
          </a:p>
          <a:p>
            <a:r>
              <a:t> 지금까지의 모델 탐색은 전부 이산시간 계열이었습니다 — 경과 시간을 입력 피처로만 썼죠.</a:t>
            </a:r>
          </a:p>
          <a:p>
            <a:r>
              <a:t> 그런데 온도와 회전의 시간 발전은 물리적으로 완화 ODE입니다.</a:t>
            </a:r>
          </a:p>
          <a:p>
            <a:r>
              <a:t> 그래서 hidden state가 실제 경과 시간을 따라 발전하는 네 가지 —</a:t>
            </a:r>
          </a:p>
          <a:p>
            <a:r>
              <a:t> 지수감쇠 GRU, ODE-RNN, Neural CDE, 연속시간 SSM — 를</a:t>
            </a:r>
          </a:p>
          <a:p>
            <a:r>
              <a:t> 본 결과와 동일한 4-split paired 프로토콜, 사전 등록된 판정 규칙으로 통제 실험하고</a:t>
            </a:r>
          </a:p>
          <a:p>
            <a:r>
              <a:t> 있습니다. 그다음 후보는 불확실성을 주는 diffusion 기반 gap-filling과,</a:t>
            </a:r>
          </a:p>
          <a:p>
            <a:r>
              <a:t> 회전의 1순위 레버인 NBI 토크 신호 확보입니다."</a:t>
            </a:r>
          </a:p>
          <a:p>
            <a:endParaRPr/>
          </a:p>
          <a:p>
            <a:r>
              <a:t>※ 시간 부족 시 한 문장으로 스킵: "이산시간을 벗어난 연속시간 모델 4종을 같은</a:t>
            </a:r>
          </a:p>
          <a:p>
            <a:r>
              <a:t>   프로토콜로 검증 중입니다."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19:40–20:00  (20초, 시간 있을 때만)</a:t>
            </a:r>
          </a:p>
          <a:p>
            <a:endParaRPr/>
          </a:p>
          <a:p>
            <a:r>
              <a:t>"피드백로 진행한 재프레이밍 실험입니다 — 결측 행을 버리는 대신 전체 격자를</a:t>
            </a:r>
          </a:p>
          <a:p>
            <a:r>
              <a:t> causal LSTM에 넣고 loss에서만 마스킹합니다. 이온온도는 4개 seed 전부에서</a:t>
            </a:r>
          </a:p>
          <a:p>
            <a:r>
              <a:t> 최종 모델보다 좋아졌고 자체 PR4 게이트도 전부 통과했습니다.</a:t>
            </a:r>
          </a:p>
          <a:p>
            <a:r>
              <a:t> 회전은 나빠졌는데, 분리 실험으로 원인이 둘 다 확정됐습니다 — held 인공물과</a:t>
            </a:r>
          </a:p>
          <a:p>
            <a:r>
              <a:t> 회전 head의 빠른진단 차단(라우팅) 부재입니다. held를 빼고 학습하면 유의한</a:t>
            </a:r>
          </a:p>
          <a:p>
            <a:r>
              <a:t> 악화가 전부 사라지고, 남은 격차는 라우팅 이식으로 보완 중입니다."</a:t>
            </a:r>
          </a:p>
          <a:p>
            <a:endParaRPr/>
          </a:p>
          <a:p>
            <a:r>
              <a:t>※ 시간 부족 시: "결측을 버리지 않고 loss에서 마스킹하는 재프레이밍으로 Tᵢ는 이미</a:t>
            </a:r>
          </a:p>
          <a:p>
            <a:r>
              <a:t>   최종 모델을 능가했고, V_rot은 라우팅 이식 하나만 남았습니다."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19:40–20:00  (20초) + Q&amp;A</a:t>
            </a:r>
          </a:p>
          <a:p>
            <a:endParaRPr/>
          </a:p>
          <a:p>
            <a:r>
              <a:t>"정리하면, 항상 있는 빠른 진단으로 자주 비는 CES를 채우는 가상 센서를 만들었고,</a:t>
            </a:r>
          </a:p>
          <a:p>
            <a:r>
              <a:t> 미래까지 보는 보간이라는 일부러 어려운 기준선을 세워 검증했습니다.</a:t>
            </a:r>
          </a:p>
          <a:p>
            <a:r>
              <a:t> 이온온도는 통계적으로 유의하게 이겼고, 회전은 이기지 못했으며 그 이유가 물리적으로</a:t>
            </a:r>
          </a:p>
          <a:p>
            <a:r>
              <a:t> 설명됩니다. 후속 실험은 앞 슬라이드대로 진행 중입니다. 감사합니다."</a:t>
            </a:r>
          </a:p>
          <a:p>
            <a:endParaRPr/>
          </a:p>
          <a:p>
            <a:r>
              <a:t>── 예상 질문 대비 ──────────────────────────────</a:t>
            </a:r>
          </a:p>
          <a:p>
            <a:r>
              <a:t>Q. 왜 forecasting이 아니라 nowcasting인가?</a:t>
            </a:r>
          </a:p>
          <a:p>
            <a:r>
              <a:t> → 미래를 예보하는 게 아니라 이미 지나간 시점의 빈 값을 채우는 문제. 오프라인 물리 분석용.</a:t>
            </a:r>
          </a:p>
          <a:p>
            <a:endParaRPr/>
          </a:p>
          <a:p>
            <a:r>
              <a:t>Q. 진짜 결측 구간에서도 이만큼 잘하나?</a:t>
            </a:r>
          </a:p>
          <a:p>
            <a:r>
              <a:t> → 단정하지 않는다. 결측이 무작위가 아니므로(MNAR, 저 SNR·ELM·천이에서 drop-out)</a:t>
            </a:r>
          </a:p>
          <a:p>
            <a:r>
              <a:t>    관측 지점 성능은 낙관적 상한. 그래서 "추정한다"고만 말한다.</a:t>
            </a:r>
          </a:p>
          <a:p>
            <a:endParaRPr/>
          </a:p>
          <a:p>
            <a:r>
              <a:t>Q. 보간이 미래를 보는데 이기는 게 가능한가?</a:t>
            </a:r>
          </a:p>
          <a:p>
            <a:r>
              <a:t> → 가능하고, 그게 논지의 핵심. 빠른 진단이 시간 보간으로 얻을 수 없는 정보를 운반하기 때문.</a:t>
            </a:r>
          </a:p>
          <a:p>
            <a:r>
              <a:t>    특히 보간이 구조적으로 실패하는 급변 구간에서 이긴다.</a:t>
            </a:r>
          </a:p>
          <a:p>
            <a:endParaRPr/>
          </a:p>
          <a:p>
            <a:r>
              <a:t>Q. 모델 크기/과적합은?</a:t>
            </a:r>
          </a:p>
          <a:p>
            <a:r>
              <a:t> → 파라미터 0.20 M. capacity가 아니라 일반화가 관건이었고, 무리한 확대는 오히려 악화됐다.</a:t>
            </a:r>
          </a:p>
          <a:p>
            <a:endParaRPr/>
          </a:p>
          <a:p>
            <a:r>
              <a:t>Q. V_rot을 살리려면?</a:t>
            </a:r>
          </a:p>
          <a:p>
            <a:r>
              <a:t> → NBI 토크 신호 확보가 1순위. 원본 kHz Mirnov도 후보. 파생 특징 재가공은 이미 음성 확인.</a:t>
            </a:r>
          </a:p>
          <a:p>
            <a:endParaRPr/>
          </a:p>
          <a:p>
            <a:r>
              <a:t>Q. seed에 따라 결과가 흔들리지 않나?</a:t>
            </a:r>
          </a:p>
          <a:p>
            <a:r>
              <a:t> → CES_TI는 4개 독립 split 전부 PASS로 강건. CES_VT는 split seed에 따라 크게 요동하며,</a:t>
            </a:r>
          </a:p>
          <a:p>
            <a:r>
              <a:t>    이것 자체가 "현 규모에서 V_rot 단일 수치는 측정 불가"라는 근거.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E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2011680" cy="508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9CC0E8"/>
                </a:solidFill>
                <a:latin typeface="Malgun Gothic"/>
              </a:rPr>
              <a:t>원자핵공학과 대학원 내부 발표 · 20분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240280"/>
            <a:ext cx="1069848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KSTAR 다중 진단 기반 Multimodal 신경망을 활용한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CES 결측 구간 예측 (Gap-filling / Nowcasting)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5156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빠른 진단(BES · ECEI · Mirnov)과 과거 CES 이력으로 </a:t>
            </a:r>
            <a:r>
              <a:rPr sz="1600" b="1" i="0">
                <a:solidFill>
                  <a:srgbClr val="E8743B"/>
                </a:solidFill>
                <a:latin typeface="Malgun Gothic"/>
              </a:rPr>
              <a:t>이온온도 Tᵢ · 토로이달 회전 V_rot</a:t>
            </a:r>
            <a:r>
              <a:rPr sz="1600" b="0" i="0">
                <a:solidFill>
                  <a:srgbClr val="E8ECF1"/>
                </a:solidFill>
                <a:latin typeface="Malgun Gothic"/>
              </a:rPr>
              <a:t>를 복원하고,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미래까지 보는 오프라인 보간(interpolation)을 이기는가를 통계적으로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이승상  (Seungsang Lee)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A5B1"/>
                </a:solidFill>
                <a:latin typeface="Malgun Gothic"/>
              </a:rPr>
              <a:t>서울대학교 · 원자핵공학  |  KSTAR Charge Exchange Spectroscopy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4314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2700" b="1" i="0" dirty="0">
                <a:solidFill>
                  <a:srgbClr val="13335F"/>
                </a:solidFill>
                <a:latin typeface="Malgun Gothic"/>
              </a:rPr>
              <a:t>결론</a:t>
            </a:r>
            <a:endParaRPr sz="2700" b="1" i="0" dirty="0">
              <a:solidFill>
                <a:srgbClr val="13335F"/>
              </a:solidFill>
              <a:latin typeface="Malgun Gothi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89888"/>
            <a:ext cx="11155680" cy="120700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572768"/>
            <a:ext cx="822960" cy="82296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72768"/>
            <a:ext cx="822960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1536192"/>
            <a:ext cx="987552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3335F"/>
                </a:solidFill>
                <a:latin typeface="Malgun Gothic"/>
              </a:rPr>
              <a:t>빠른 진단은 Tᵢ 정보를 실제로 운반한다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1975104"/>
            <a:ext cx="9875520" cy="488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과거만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보는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causal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모델이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,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미래까지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보는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오프라인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보간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(PCHIP)을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CES_TI에서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통계적으로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유의하게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능가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endParaRPr lang="en-US" sz="1250" b="0" i="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50" dirty="0">
                <a:solidFill>
                  <a:srgbClr val="222B35"/>
                </a:solidFill>
                <a:latin typeface="Malgun Gothic"/>
              </a:rPr>
              <a:t>-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독립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test split 4개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모두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PASS (skill +0.19 ~ +0.28).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24912"/>
            <a:ext cx="11155680" cy="120700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8368" y="2907792"/>
            <a:ext cx="822960" cy="822960"/>
          </a:xfrm>
          <a:prstGeom prst="round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907792"/>
            <a:ext cx="822960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2871216"/>
            <a:ext cx="9875520" cy="28123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dirty="0" err="1">
                <a:solidFill>
                  <a:srgbClr val="13335F"/>
                </a:solidFill>
                <a:latin typeface="Malgun Gothic"/>
              </a:rPr>
              <a:t>V_rot</a:t>
            </a:r>
            <a:r>
              <a:rPr lang="ko-KR" altLang="en-US" sz="1700" b="1" i="0" dirty="0">
                <a:solidFill>
                  <a:srgbClr val="13335F"/>
                </a:solidFill>
                <a:latin typeface="Malgun Gothic"/>
              </a:rPr>
              <a:t>에서는 </a:t>
            </a:r>
            <a:r>
              <a:rPr lang="ko-KR" altLang="en-US" sz="1700" b="1" dirty="0">
                <a:solidFill>
                  <a:srgbClr val="13335F"/>
                </a:solidFill>
                <a:latin typeface="Malgun Gothic"/>
              </a:rPr>
              <a:t>통계적으로 무의미</a:t>
            </a:r>
            <a:r>
              <a:rPr lang="ko-KR" altLang="en-US" sz="1700" b="1" i="0" dirty="0">
                <a:solidFill>
                  <a:srgbClr val="13335F"/>
                </a:solidFill>
                <a:latin typeface="Malgun Gothic"/>
              </a:rPr>
              <a:t> </a:t>
            </a:r>
            <a:endParaRPr sz="1700" b="1" i="0" dirty="0">
              <a:solidFill>
                <a:srgbClr val="13335F"/>
              </a:solidFill>
              <a:latin typeface="Malgun Gothi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64208" y="3310128"/>
            <a:ext cx="9875520" cy="488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22B35"/>
                </a:solidFill>
                <a:latin typeface="Malgun Gothic"/>
              </a:rPr>
              <a:t>Tᵢ ↔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V_rot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비대칭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.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회전을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구동하는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NBI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토크가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데이터에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없고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Mirnov는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100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Hz에서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aliasing →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빠른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진단에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회전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정보가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거의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없다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. </a:t>
            </a:r>
            <a:endParaRPr lang="en-US" sz="1250" b="0" i="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물리로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예측되고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ablation으로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확인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59935"/>
            <a:ext cx="11155680" cy="120700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8" y="4242816"/>
            <a:ext cx="822960" cy="822960"/>
          </a:xfrm>
          <a:prstGeom prst="round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4242816"/>
            <a:ext cx="822960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4206240"/>
            <a:ext cx="987552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dirty="0" err="1">
                <a:solidFill>
                  <a:srgbClr val="13335F"/>
                </a:solidFill>
                <a:latin typeface="Malgun Gothic"/>
              </a:rPr>
              <a:t>모델의</a:t>
            </a:r>
            <a:r>
              <a:rPr sz="1700" b="1" i="0" dirty="0">
                <a:solidFill>
                  <a:srgbClr val="13335F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3335F"/>
                </a:solidFill>
                <a:latin typeface="Malgun Gothic"/>
              </a:rPr>
              <a:t>가치는</a:t>
            </a:r>
            <a:r>
              <a:rPr sz="1700" b="1" i="0" dirty="0">
                <a:solidFill>
                  <a:srgbClr val="13335F"/>
                </a:solidFill>
                <a:latin typeface="Malgun Gothic"/>
              </a:rPr>
              <a:t> '</a:t>
            </a:r>
            <a:r>
              <a:rPr sz="1700" b="1" i="0" dirty="0" err="1">
                <a:solidFill>
                  <a:srgbClr val="13335F"/>
                </a:solidFill>
                <a:latin typeface="Malgun Gothic"/>
              </a:rPr>
              <a:t>보간이</a:t>
            </a:r>
            <a:r>
              <a:rPr sz="1700" b="1" i="0" dirty="0">
                <a:solidFill>
                  <a:srgbClr val="13335F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3335F"/>
                </a:solidFill>
                <a:latin typeface="Malgun Gothic"/>
              </a:rPr>
              <a:t>약한</a:t>
            </a:r>
            <a:r>
              <a:rPr sz="1700" b="1" i="0" dirty="0">
                <a:solidFill>
                  <a:srgbClr val="13335F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3335F"/>
                </a:solidFill>
                <a:latin typeface="Malgun Gothic"/>
              </a:rPr>
              <a:t>곳'에</a:t>
            </a:r>
            <a:r>
              <a:rPr sz="1700" b="1" i="0" dirty="0">
                <a:solidFill>
                  <a:srgbClr val="13335F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3335F"/>
                </a:solidFill>
                <a:latin typeface="Malgun Gothic"/>
              </a:rPr>
              <a:t>집중된다</a:t>
            </a:r>
            <a:endParaRPr sz="1700" b="1" i="0" dirty="0">
              <a:solidFill>
                <a:srgbClr val="13335F"/>
              </a:solidFill>
              <a:latin typeface="Malgun Gothi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64208" y="4645151"/>
            <a:ext cx="987552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매끄러운 bulk 구간은 보간이 이미 거의 최적. 우위는 고변동(peak)·급변 구간에 몰려 있다 (Tᵢ peak skill +0.70, V_rot +0.44, 둘 다 PASS).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1. 배경 &amp;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CES는 왜, 얼마나 비는가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2471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22B35"/>
                </a:solidFill>
                <a:latin typeface="Malgun Gothic"/>
              </a:rPr>
              <a:t>CES는 pedestal 물리의 핵심량 Tᵢ · V_rot을 주지만 </a:t>
            </a:r>
            <a:r>
              <a:rPr sz="1450" b="1" i="0">
                <a:solidFill>
                  <a:srgbClr val="E8743B"/>
                </a:solidFill>
                <a:latin typeface="Malgun Gothic"/>
              </a:rPr>
              <a:t>광자 수집이 필요해 느리고 자주 빈다</a:t>
            </a:r>
            <a:r>
              <a:rPr sz="1450" b="0" i="0">
                <a:solidFill>
                  <a:srgbClr val="222B35"/>
                </a:solidFill>
                <a:latin typeface="Malgun Gothic"/>
              </a:rPr>
              <a:t>. 반면 빠른 진단은 같은 10 ms 격자에서 항상 조밀하다.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5A345E6-C0CB-78A7-6F5D-E00804BCAE2A}"/>
              </a:ext>
            </a:extLst>
          </p:cNvPr>
          <p:cNvGrpSpPr/>
          <p:nvPr/>
        </p:nvGrpSpPr>
        <p:grpSpPr>
          <a:xfrm>
            <a:off x="148754" y="1874519"/>
            <a:ext cx="5943600" cy="3182112"/>
            <a:chOff x="148754" y="1874519"/>
            <a:chExt cx="5943600" cy="3182112"/>
          </a:xfrm>
        </p:grpSpPr>
        <p:sp>
          <p:nvSpPr>
            <p:cNvPr id="11" name="Rounded Rectangle 10"/>
            <p:cNvSpPr/>
            <p:nvPr/>
          </p:nvSpPr>
          <p:spPr>
            <a:xfrm>
              <a:off x="148754" y="1874519"/>
              <a:ext cx="5943600" cy="3182112"/>
            </a:xfrm>
            <a:prstGeom prst="roundRect">
              <a:avLst/>
            </a:prstGeom>
            <a:solidFill>
              <a:srgbClr val="F4F7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77354" y="1993392"/>
              <a:ext cx="548640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500" b="1" i="0">
                  <a:solidFill>
                    <a:srgbClr val="13335F"/>
                  </a:solidFill>
                  <a:latin typeface="Malgun Gothic"/>
                </a:rPr>
                <a:t>진단 구성 (동일한 10 ms 격자)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77354" y="2450592"/>
              <a:ext cx="82296" cy="457200"/>
            </a:xfrm>
            <a:prstGeom prst="rect">
              <a:avLst/>
            </a:prstGeom>
            <a:solidFill>
              <a:srgbClr val="E874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0234" y="2468880"/>
              <a:ext cx="160020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350" b="1" i="0">
                  <a:solidFill>
                    <a:srgbClr val="E8743B"/>
                  </a:solidFill>
                  <a:latin typeface="Malgun Gothic"/>
                </a:rPr>
                <a:t>CES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133002" y="2487168"/>
              <a:ext cx="68580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150" b="0" i="0">
                  <a:solidFill>
                    <a:srgbClr val="9AA5B1"/>
                  </a:solidFill>
                  <a:latin typeface="Malgun Gothic"/>
                </a:rPr>
                <a:t>타겟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846234" y="2478024"/>
              <a:ext cx="310896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200" b="0" i="0">
                  <a:solidFill>
                    <a:srgbClr val="222B35"/>
                  </a:solidFill>
                  <a:latin typeface="Malgun Gothic"/>
                </a:rPr>
                <a:t>Tᵢ, V_rot — 느림 · 결측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77354" y="3035808"/>
              <a:ext cx="82296" cy="4572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60234" y="3054096"/>
              <a:ext cx="160020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350" b="1" i="0">
                  <a:solidFill>
                    <a:srgbClr val="2B6CB0"/>
                  </a:solidFill>
                  <a:latin typeface="Malgun Gothic"/>
                </a:rPr>
                <a:t>BES  9 ch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133002" y="3072384"/>
              <a:ext cx="68580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150" b="0" i="0">
                  <a:solidFill>
                    <a:srgbClr val="9AA5B1"/>
                  </a:solidFill>
                  <a:latin typeface="Malgun Gothic"/>
                </a:rPr>
                <a:t>입력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846234" y="3063240"/>
              <a:ext cx="310896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200" b="0" i="0">
                  <a:solidFill>
                    <a:srgbClr val="222B35"/>
                  </a:solidFill>
                  <a:latin typeface="Malgun Gothic"/>
                </a:rPr>
                <a:t>밀도요동 nₑ 공간구조 → Tᵢ 단서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77354" y="3621024"/>
              <a:ext cx="82296" cy="457200"/>
            </a:xfrm>
            <a:prstGeom prst="rect">
              <a:avLst/>
            </a:prstGeom>
            <a:solidFill>
              <a:srgbClr val="1B9E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60234" y="3639312"/>
              <a:ext cx="160020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350" b="1" i="0">
                  <a:solidFill>
                    <a:srgbClr val="1B9E8A"/>
                  </a:solidFill>
                  <a:latin typeface="Malgun Gothic"/>
                </a:rPr>
                <a:t>ECEI  4 ch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3002" y="3657600"/>
              <a:ext cx="68580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150" b="0" i="0">
                  <a:solidFill>
                    <a:srgbClr val="9AA5B1"/>
                  </a:solidFill>
                  <a:latin typeface="Malgun Gothic"/>
                </a:rPr>
                <a:t>입력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846234" y="3648456"/>
              <a:ext cx="310896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200" b="0" i="0">
                  <a:solidFill>
                    <a:srgbClr val="222B35"/>
                  </a:solidFill>
                  <a:latin typeface="Malgun Gothic"/>
                </a:rPr>
                <a:t>전자온도 Tₑ 2D → Tᵢ 단서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77354" y="4206240"/>
              <a:ext cx="82296" cy="457200"/>
            </a:xfrm>
            <a:prstGeom prst="rect">
              <a:avLst/>
            </a:prstGeom>
            <a:solidFill>
              <a:srgbClr val="5B66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60234" y="4224528"/>
              <a:ext cx="160020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350" b="1" i="0">
                  <a:solidFill>
                    <a:srgbClr val="5B6670"/>
                  </a:solidFill>
                  <a:latin typeface="Malgun Gothic"/>
                </a:rPr>
                <a:t>Mirnov  2 ch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133002" y="4242816"/>
              <a:ext cx="68580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150" b="0" i="0">
                  <a:solidFill>
                    <a:srgbClr val="9AA5B1"/>
                  </a:solidFill>
                  <a:latin typeface="Malgun Gothic"/>
                </a:rPr>
                <a:t>입력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846234" y="4233672"/>
              <a:ext cx="310896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200" b="0" i="0">
                  <a:solidFill>
                    <a:srgbClr val="222B35"/>
                  </a:solidFill>
                  <a:latin typeface="Malgun Gothic"/>
                </a:rPr>
                <a:t>자기요동 — lag-1 r=−0.01 (정보 소실)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77354" y="4672584"/>
              <a:ext cx="5486400" cy="32004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250" b="1" i="0">
                  <a:solidFill>
                    <a:srgbClr val="13335F"/>
                  </a:solidFill>
                  <a:latin typeface="Malgun Gothic"/>
                </a:rPr>
                <a:t>→ 빠른 진단은 항상 100% 측정된다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45DDC09-C118-2D24-AFCF-933E65BCAF5C}"/>
              </a:ext>
            </a:extLst>
          </p:cNvPr>
          <p:cNvGrpSpPr/>
          <p:nvPr/>
        </p:nvGrpSpPr>
        <p:grpSpPr>
          <a:xfrm>
            <a:off x="5577840" y="1888235"/>
            <a:ext cx="5029200" cy="3182112"/>
            <a:chOff x="6320954" y="1874519"/>
            <a:chExt cx="5029200" cy="3182112"/>
          </a:xfrm>
        </p:grpSpPr>
        <p:sp>
          <p:nvSpPr>
            <p:cNvPr id="30" name="Rounded Rectangle 29"/>
            <p:cNvSpPr/>
            <p:nvPr/>
          </p:nvSpPr>
          <p:spPr>
            <a:xfrm>
              <a:off x="6320954" y="1874519"/>
              <a:ext cx="5029200" cy="3182112"/>
            </a:xfrm>
            <a:prstGeom prst="roundRect">
              <a:avLst/>
            </a:prstGeom>
            <a:solidFill>
              <a:srgbClr val="1333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549554" y="1993392"/>
              <a:ext cx="457200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500" b="1" i="0">
                  <a:solidFill>
                    <a:srgbClr val="E8743B"/>
                  </a:solidFill>
                  <a:latin typeface="Malgun Gothic"/>
                </a:rPr>
                <a:t>결측 실태 (641 shot)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49554" y="2432304"/>
              <a:ext cx="228600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200" b="0" i="0">
                  <a:solidFill>
                    <a:srgbClr val="E8ECF1"/>
                  </a:solidFill>
                  <a:latin typeface="Malgun Gothic"/>
                </a:rPr>
                <a:t>CES_TI 완전결측(NaN)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549554" y="2715768"/>
              <a:ext cx="2286000" cy="50292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2800" b="1" i="0">
                  <a:solidFill>
                    <a:srgbClr val="9DE8CD"/>
                  </a:solidFill>
                  <a:latin typeface="Malgun Gothic"/>
                </a:rPr>
                <a:t>8.2 %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926994" y="2432304"/>
              <a:ext cx="2286000" cy="36576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200" b="0" i="0">
                  <a:solidFill>
                    <a:srgbClr val="E8ECF1"/>
                  </a:solidFill>
                  <a:latin typeface="Malgun Gothic"/>
                </a:rPr>
                <a:t>CES_VT 완전결측(NaN)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926994" y="2715768"/>
              <a:ext cx="2286000" cy="50292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6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2800" b="1" i="0">
                  <a:solidFill>
                    <a:srgbClr val="E8743B"/>
                  </a:solidFill>
                  <a:latin typeface="Malgun Gothic"/>
                </a:rPr>
                <a:t>23.9 %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6549554" y="3246120"/>
              <a:ext cx="4572000" cy="731520"/>
            </a:xfrm>
            <a:prstGeom prst="roundRect">
              <a:avLst/>
            </a:prstGeom>
            <a:solidFill>
              <a:srgbClr val="8E2B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732434" y="3319272"/>
              <a:ext cx="4251960" cy="46128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1" i="0" dirty="0">
                  <a:solidFill>
                    <a:srgbClr val="FFD5CE"/>
                  </a:solidFill>
                  <a:latin typeface="Malgun Gothic"/>
                </a:rPr>
                <a:t>+ held(</a:t>
              </a:r>
              <a:r>
                <a:rPr lang="ko-KR" altLang="en-US" sz="1250" b="1" i="0" dirty="0">
                  <a:solidFill>
                    <a:srgbClr val="FFD5CE"/>
                  </a:solidFill>
                  <a:latin typeface="Malgun Gothic"/>
                </a:rPr>
                <a:t>같은 값이 지속적으로 유지</a:t>
              </a:r>
              <a:r>
                <a:rPr sz="1250" b="1" i="0" dirty="0">
                  <a:solidFill>
                    <a:srgbClr val="FFD5CE"/>
                  </a:solidFill>
                  <a:latin typeface="Malgun Gothic"/>
                </a:rPr>
                <a:t>) </a:t>
              </a:r>
              <a:r>
                <a:rPr lang="en-US" sz="1250" b="1" i="0" dirty="0">
                  <a:solidFill>
                    <a:srgbClr val="FFD5CE"/>
                  </a:solidFill>
                  <a:latin typeface="Malgun Gothic"/>
                </a:rPr>
                <a:t>CES_VT </a:t>
              </a:r>
              <a:r>
                <a:rPr sz="1250" b="1" i="0" dirty="0">
                  <a:solidFill>
                    <a:srgbClr val="FFD5CE"/>
                  </a:solidFill>
                  <a:latin typeface="Malgun Gothic"/>
                </a:rPr>
                <a:t>41.1 %</a:t>
              </a:r>
            </a:p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i="0" dirty="0">
                  <a:solidFill>
                    <a:srgbClr val="FFFFFF"/>
                  </a:solidFill>
                  <a:latin typeface="Malgun Gothic"/>
                </a:rPr>
                <a:t>→ </a:t>
              </a:r>
              <a:r>
                <a:rPr sz="1400" b="1" i="0" dirty="0" err="1">
                  <a:solidFill>
                    <a:srgbClr val="FFFFFF"/>
                  </a:solidFill>
                  <a:latin typeface="Malgun Gothic"/>
                </a:rPr>
                <a:t>V_rot</a:t>
              </a:r>
              <a:r>
                <a:rPr sz="1400" b="1" i="0" dirty="0">
                  <a:solidFill>
                    <a:srgbClr val="FFFFFF"/>
                  </a:solidFill>
                  <a:latin typeface="Malgun Gothic"/>
                </a:rPr>
                <a:t> </a:t>
              </a:r>
              <a:r>
                <a:rPr sz="1400" b="1" i="0" dirty="0" err="1">
                  <a:solidFill>
                    <a:srgbClr val="FFFFFF"/>
                  </a:solidFill>
                  <a:latin typeface="Malgun Gothic"/>
                </a:rPr>
                <a:t>실질</a:t>
              </a:r>
              <a:r>
                <a:rPr sz="1400" b="1" i="0" dirty="0">
                  <a:solidFill>
                    <a:srgbClr val="FFFFFF"/>
                  </a:solidFill>
                  <a:latin typeface="Malgun Gothic"/>
                </a:rPr>
                <a:t> </a:t>
              </a:r>
              <a:r>
                <a:rPr sz="1400" b="1" i="0" dirty="0" err="1">
                  <a:solidFill>
                    <a:srgbClr val="FFFFFF"/>
                  </a:solidFill>
                  <a:latin typeface="Malgun Gothic"/>
                </a:rPr>
                <a:t>무정보</a:t>
              </a:r>
              <a:r>
                <a:rPr sz="1400" b="1" i="0" dirty="0">
                  <a:solidFill>
                    <a:srgbClr val="FFFFFF"/>
                  </a:solidFill>
                  <a:latin typeface="Malgun Gothic"/>
                </a:rPr>
                <a:t> 65.0 %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49554" y="4059936"/>
              <a:ext cx="4572000" cy="96012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250" b="0" i="0">
                  <a:solidFill>
                    <a:srgbClr val="FFFFFF"/>
                  </a:solidFill>
                  <a:latin typeface="Malgun Gothic"/>
                </a:rPr>
                <a:t>· 두 타겟이 서로 </a:t>
              </a:r>
              <a:r>
                <a:rPr sz="1250" b="1" i="0">
                  <a:solidFill>
                    <a:srgbClr val="E8743B"/>
                  </a:solidFill>
                  <a:latin typeface="Malgun Gothic"/>
                </a:rPr>
                <a:t>독립적으로</a:t>
              </a:r>
              <a:r>
                <a:rPr sz="1250" b="0" i="0">
                  <a:solidFill>
                    <a:srgbClr val="FFFFFF"/>
                  </a:solidFill>
                  <a:latin typeface="Malgun Gothic"/>
                </a:rPr>
                <a:t> 결측 → target별 처리 필요</a:t>
              </a: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250" b="0" i="0">
                  <a:solidFill>
                    <a:srgbClr val="FFFFFF"/>
                  </a:solidFill>
                  <a:latin typeface="Malgun Gothic"/>
                </a:rPr>
                <a:t>· 기존 대안 UFCES는 채널 제한 + 역산에 강한 물리 가정 필요</a:t>
              </a: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250" b="0" i="0">
                  <a:solidFill>
                    <a:srgbClr val="FFFFFF"/>
                  </a:solidFill>
                  <a:latin typeface="Malgun Gothic"/>
                </a:rPr>
                <a:t>· 데이터 기반 접근은 축대칭 수준만 가정</a:t>
              </a:r>
            </a:p>
          </p:txBody>
        </p:sp>
      </p:grpSp>
      <p:sp>
        <p:nvSpPr>
          <p:cNvPr id="39" name="Rounded Rectangle 38"/>
          <p:cNvSpPr/>
          <p:nvPr/>
        </p:nvSpPr>
        <p:spPr>
          <a:xfrm>
            <a:off x="502920" y="5212080"/>
            <a:ext cx="11201400" cy="960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2920" y="5212080"/>
            <a:ext cx="109728" cy="96012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321808"/>
            <a:ext cx="1078992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743B"/>
                </a:solidFill>
                <a:latin typeface="Malgun Gothic"/>
              </a:rPr>
              <a:t>핵심 비대칭 (미리보기)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B35"/>
                </a:solidFill>
                <a:latin typeface="Malgun Gothic"/>
              </a:rPr>
              <a:t>빠른 진단은 물리적으로 Tᵢ 정보는 운반하지만 V_rot 정보는 거의 운반하지 않는다 — 회전을 구동하는 NBI 토크가 데이터에 없고, Mirnov는 kHz dB/dt를 100 Hz로 순간샘플해 위상이 무작위화된다(lag-1 r = −0.01 vs BES +0.57). 이 가설이 결과에서 그대로 확인된다.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F108FED6-C5D7-A15A-857B-414227889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4353" y="1888235"/>
            <a:ext cx="1615123" cy="30632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1. 배경 &amp;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연구 질문 &amp; 핵심 아이디어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72768"/>
            <a:ext cx="1042416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743B"/>
                </a:solidFill>
                <a:latin typeface="Malgun Gothic"/>
              </a:rPr>
              <a:t>연구 질문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FFFFFF"/>
                </a:solidFill>
                <a:latin typeface="Malgun Gothic"/>
              </a:rPr>
              <a:t>CES가 결측된 10 ms 시점에서, 동시각 빠른 진단(BES·ECEI·MC) + 과거 CES 이력만으로 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Malgun Gothic"/>
              </a:rPr>
              <a:t>CES의 시간 보간(interpolation)이 복원할 수 없는 정보를 회복할 수 있는가?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799"/>
            <a:ext cx="3611880" cy="2611013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3126345"/>
            <a:ext cx="91440" cy="22402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" y="3081528"/>
            <a:ext cx="32461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6CB0"/>
                </a:solidFill>
                <a:latin typeface="Malgun Gothic"/>
              </a:rPr>
              <a:t>가상 센서 (Virtual Sensor)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3483864"/>
            <a:ext cx="3227832" cy="1600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빠른 진단으로부터 CES를 데이터 기반 추정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역산(inverse mapping) 가정 없이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결측·고장 시점을 메움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2971799"/>
            <a:ext cx="3611880" cy="2662147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79392" y="3126345"/>
            <a:ext cx="91440" cy="224028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17136" y="3081528"/>
            <a:ext cx="32461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9E8A"/>
                </a:solidFill>
                <a:latin typeface="Malgun Gothic"/>
              </a:rPr>
              <a:t>Gap-filling / Nowcasting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3483864"/>
            <a:ext cx="3227832" cy="206595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미래를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예보하는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forecasting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아님</a:t>
            </a:r>
            <a:endParaRPr sz="1250" b="0" i="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현재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시점의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빈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값을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채움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(nowcast)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초해상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(super-resolution)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과도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구분</a:t>
            </a:r>
            <a:endParaRPr lang="en-US" sz="1250" b="0" i="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endParaRPr lang="en-US" sz="125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ko-KR" altLang="en-US" sz="1250" b="0" i="0" dirty="0">
                <a:solidFill>
                  <a:srgbClr val="222B35"/>
                </a:solidFill>
                <a:latin typeface="Malgun Gothic"/>
              </a:rPr>
              <a:t>여기서 </a:t>
            </a:r>
            <a:r>
              <a:rPr lang="en-US" altLang="ko-KR" sz="1250" b="0" i="0" dirty="0">
                <a:solidFill>
                  <a:srgbClr val="222B35"/>
                </a:solidFill>
                <a:latin typeface="Malgun Gothic"/>
              </a:rPr>
              <a:t>nowcasting(</a:t>
            </a:r>
            <a:r>
              <a:rPr lang="ko-KR" altLang="en-US" sz="1250" b="0" i="0" dirty="0">
                <a:solidFill>
                  <a:srgbClr val="222B35"/>
                </a:solidFill>
                <a:latin typeface="Malgun Gothic"/>
              </a:rPr>
              <a:t>과거 </a:t>
            </a:r>
            <a:r>
              <a:rPr lang="en-US" altLang="ko-KR" sz="1250" b="0" i="0" dirty="0">
                <a:solidFill>
                  <a:srgbClr val="222B35"/>
                </a:solidFill>
                <a:latin typeface="Malgun Gothic"/>
              </a:rPr>
              <a:t>+ </a:t>
            </a:r>
            <a:r>
              <a:rPr lang="ko-KR" altLang="en-US" sz="1250" b="0" i="0" dirty="0">
                <a:solidFill>
                  <a:srgbClr val="222B35"/>
                </a:solidFill>
                <a:latin typeface="Malgun Gothic"/>
              </a:rPr>
              <a:t>현재 데이터로 현재 예측</a:t>
            </a:r>
            <a:r>
              <a:rPr lang="en-US" altLang="ko-KR" sz="1250" b="0" i="0" dirty="0">
                <a:solidFill>
                  <a:srgbClr val="222B35"/>
                </a:solidFill>
                <a:latin typeface="Malgun Gothic"/>
              </a:rPr>
              <a:t>) </a:t>
            </a:r>
            <a:r>
              <a:rPr lang="ko-KR" altLang="en-US" sz="1250" b="0" i="0" dirty="0">
                <a:solidFill>
                  <a:srgbClr val="222B35"/>
                </a:solidFill>
                <a:latin typeface="Malgun Gothic"/>
              </a:rPr>
              <a:t>하는 이유는 </a:t>
            </a:r>
            <a:r>
              <a:rPr lang="en-US" altLang="ko-KR" sz="1250" dirty="0">
                <a:solidFill>
                  <a:srgbClr val="222B35"/>
                </a:solidFill>
                <a:latin typeface="Malgun Gothic"/>
              </a:rPr>
              <a:t>CES</a:t>
            </a:r>
            <a:r>
              <a:rPr lang="ko-KR" altLang="en-US" sz="1250" dirty="0">
                <a:solidFill>
                  <a:srgbClr val="222B35"/>
                </a:solidFill>
                <a:latin typeface="Malgun Gothic"/>
              </a:rPr>
              <a:t>가 찍히기 바로 직전의 고해상도 데이터</a:t>
            </a:r>
            <a:r>
              <a:rPr lang="en-US" altLang="ko-KR" sz="1250" dirty="0">
                <a:solidFill>
                  <a:srgbClr val="222B35"/>
                </a:solidFill>
                <a:latin typeface="Malgun Gothic"/>
              </a:rPr>
              <a:t>(ECEI, BES, MC)</a:t>
            </a:r>
            <a:r>
              <a:rPr lang="ko-KR" altLang="en-US" sz="1250" dirty="0">
                <a:solidFill>
                  <a:srgbClr val="222B35"/>
                </a:solidFill>
                <a:latin typeface="Malgun Gothic"/>
              </a:rPr>
              <a:t> </a:t>
            </a:r>
            <a:r>
              <a:rPr lang="en-US" altLang="ko-KR" sz="1250" dirty="0">
                <a:solidFill>
                  <a:srgbClr val="222B35"/>
                </a:solidFill>
                <a:latin typeface="Malgun Gothic"/>
              </a:rPr>
              <a:t>+</a:t>
            </a:r>
            <a:r>
              <a:rPr lang="ko-KR" altLang="en-US"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lang="en-US" altLang="ko-KR" sz="1250" dirty="0">
                <a:solidFill>
                  <a:srgbClr val="222B35"/>
                </a:solidFill>
                <a:latin typeface="Malgun Gothic"/>
              </a:rPr>
              <a:t>CES </a:t>
            </a:r>
            <a:r>
              <a:rPr lang="ko-KR" altLang="en-US" sz="1250" dirty="0">
                <a:solidFill>
                  <a:srgbClr val="222B35"/>
                </a:solidFill>
                <a:latin typeface="Malgun Gothic"/>
              </a:rPr>
              <a:t>옛날 데이터 이용해서 </a:t>
            </a:r>
            <a:r>
              <a:rPr lang="en-US" altLang="ko-KR" sz="1250" dirty="0">
                <a:solidFill>
                  <a:srgbClr val="222B35"/>
                </a:solidFill>
                <a:latin typeface="Malgun Gothic"/>
              </a:rPr>
              <a:t>CES </a:t>
            </a:r>
            <a:r>
              <a:rPr lang="ko-KR" altLang="en-US" sz="1250" dirty="0">
                <a:solidFill>
                  <a:srgbClr val="222B35"/>
                </a:solidFill>
                <a:latin typeface="Malgun Gothic"/>
              </a:rPr>
              <a:t>현재 값 알아낼 수 있다고 생각했음</a:t>
            </a:r>
            <a:r>
              <a:rPr lang="en-US" altLang="ko-KR" sz="1250" dirty="0">
                <a:solidFill>
                  <a:srgbClr val="222B35"/>
                </a:solidFill>
                <a:latin typeface="Malgun Gothic"/>
              </a:rPr>
              <a:t> </a:t>
            </a:r>
            <a:endParaRPr sz="1250" b="0" i="0" dirty="0">
              <a:solidFill>
                <a:srgbClr val="222B35"/>
              </a:solidFill>
              <a:latin typeface="Malgun Gothi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55864" y="2971800"/>
            <a:ext cx="3611880" cy="266214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55864" y="3126345"/>
            <a:ext cx="91440" cy="224028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3608" y="3081528"/>
            <a:ext cx="32461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743B"/>
                </a:solidFill>
                <a:latin typeface="Malgun Gothic"/>
              </a:rPr>
              <a:t>정직한 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3483864"/>
            <a:ext cx="3227832" cy="1600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진짜 결측은 참값이 없음 → 직접검증 불가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관측된 CES를 가린 뒤 복원 정확도 측정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persistence·mean·보간과 target별 비교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52819"/>
            <a:ext cx="10881360" cy="53283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결론의</a:t>
            </a:r>
            <a:r>
              <a:rPr sz="1350" b="1" i="0" dirty="0">
                <a:solidFill>
                  <a:srgbClr val="13335F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성격</a:t>
            </a:r>
            <a:r>
              <a:rPr sz="1350" b="1" i="0" dirty="0">
                <a:solidFill>
                  <a:srgbClr val="13335F"/>
                </a:solidFill>
                <a:latin typeface="Malgun Gothic"/>
              </a:rPr>
              <a:t>: </a:t>
            </a:r>
            <a:r>
              <a:rPr sz="1350" b="0" i="0" dirty="0">
                <a:solidFill>
                  <a:srgbClr val="222B35"/>
                </a:solidFill>
                <a:latin typeface="Malgun Gothic"/>
              </a:rPr>
              <a:t>masking </a:t>
            </a:r>
            <a:r>
              <a:rPr sz="1350" b="0" i="0" dirty="0" err="1">
                <a:solidFill>
                  <a:srgbClr val="222B35"/>
                </a:solidFill>
                <a:latin typeface="Malgun Gothic"/>
              </a:rPr>
              <a:t>검증에서</a:t>
            </a:r>
            <a:r>
              <a:rPr sz="13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222B35"/>
                </a:solidFill>
                <a:latin typeface="Malgun Gothic"/>
              </a:rPr>
              <a:t>baseline을</a:t>
            </a:r>
            <a:r>
              <a:rPr sz="13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222B35"/>
                </a:solidFill>
                <a:latin typeface="Malgun Gothic"/>
              </a:rPr>
              <a:t>이기면</a:t>
            </a:r>
            <a:r>
              <a:rPr sz="13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222B35"/>
                </a:solidFill>
                <a:latin typeface="Malgun Gothic"/>
              </a:rPr>
              <a:t>결측</a:t>
            </a:r>
            <a:r>
              <a:rPr sz="13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222B35"/>
                </a:solidFill>
                <a:latin typeface="Malgun Gothic"/>
              </a:rPr>
              <a:t>구간에서도</a:t>
            </a:r>
            <a:r>
              <a:rPr sz="1350" b="0" i="0" dirty="0">
                <a:solidFill>
                  <a:srgbClr val="222B35"/>
                </a:solidFill>
                <a:latin typeface="Malgun Gothic"/>
              </a:rPr>
              <a:t> 잘 </a:t>
            </a:r>
            <a:r>
              <a:rPr sz="1350" b="0" i="0" dirty="0" err="1">
                <a:solidFill>
                  <a:srgbClr val="222B35"/>
                </a:solidFill>
                <a:latin typeface="Malgun Gothic"/>
              </a:rPr>
              <a:t>복원할</a:t>
            </a:r>
            <a:r>
              <a:rPr sz="13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222B35"/>
                </a:solidFill>
                <a:latin typeface="Malgun Gothic"/>
              </a:rPr>
              <a:t>것으로</a:t>
            </a:r>
            <a:r>
              <a:rPr sz="13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E8743B"/>
                </a:solidFill>
                <a:latin typeface="Malgun Gothic"/>
              </a:rPr>
              <a:t>추정</a:t>
            </a:r>
            <a:r>
              <a:rPr sz="1350" b="0" i="0" dirty="0" err="1">
                <a:solidFill>
                  <a:srgbClr val="222B35"/>
                </a:solidFill>
                <a:latin typeface="Malgun Gothic"/>
              </a:rPr>
              <a:t>한다</a:t>
            </a:r>
            <a:r>
              <a:rPr sz="1350" b="0" i="0" dirty="0">
                <a:solidFill>
                  <a:srgbClr val="222B35"/>
                </a:solidFill>
                <a:latin typeface="Malgun Gothic"/>
              </a:rPr>
              <a:t>. </a:t>
            </a:r>
            <a:endParaRPr lang="en-US" sz="1350" b="0" i="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0" i="0" dirty="0">
                <a:solidFill>
                  <a:srgbClr val="222B35"/>
                </a:solidFill>
                <a:latin typeface="Malgun Gothic"/>
              </a:rPr>
              <a:t>다만</a:t>
            </a:r>
            <a:r>
              <a:rPr lang="en-US" altLang="ko-KR" sz="1350" b="0" i="0" dirty="0">
                <a:solidFill>
                  <a:srgbClr val="222B35"/>
                </a:solidFill>
                <a:latin typeface="Malgun Gothic"/>
              </a:rPr>
              <a:t>, </a:t>
            </a:r>
            <a:r>
              <a:rPr sz="1350" b="0" i="0" dirty="0" err="1">
                <a:solidFill>
                  <a:srgbClr val="222B35"/>
                </a:solidFill>
                <a:latin typeface="Malgun Gothic"/>
              </a:rPr>
              <a:t>결측이</a:t>
            </a:r>
            <a:r>
              <a:rPr sz="13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222B35"/>
                </a:solidFill>
                <a:latin typeface="Malgun Gothic"/>
              </a:rPr>
              <a:t>무작위라는</a:t>
            </a:r>
            <a:r>
              <a:rPr sz="13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222B35"/>
                </a:solidFill>
                <a:latin typeface="Malgun Gothic"/>
              </a:rPr>
              <a:t>보장이</a:t>
            </a:r>
            <a:r>
              <a:rPr sz="13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222B35"/>
                </a:solidFill>
                <a:latin typeface="Malgun Gothic"/>
              </a:rPr>
              <a:t>없어</a:t>
            </a:r>
            <a:r>
              <a:rPr sz="1350" b="0" i="0" dirty="0">
                <a:solidFill>
                  <a:srgbClr val="222B35"/>
                </a:solidFill>
                <a:latin typeface="Malgun Gothic"/>
              </a:rPr>
              <a:t>(MNAR) </a:t>
            </a:r>
            <a:r>
              <a:rPr sz="1350" b="1" i="0" dirty="0" err="1">
                <a:solidFill>
                  <a:srgbClr val="222B35"/>
                </a:solidFill>
                <a:latin typeface="Malgun Gothic"/>
              </a:rPr>
              <a:t>결측</a:t>
            </a:r>
            <a:r>
              <a:rPr sz="1350" b="1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222B35"/>
                </a:solidFill>
                <a:latin typeface="Malgun Gothic"/>
              </a:rPr>
              <a:t>지점</a:t>
            </a:r>
            <a:r>
              <a:rPr sz="1350" b="1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222B35"/>
                </a:solidFill>
                <a:latin typeface="Malgun Gothic"/>
              </a:rPr>
              <a:t>정확도를</a:t>
            </a:r>
            <a:r>
              <a:rPr sz="1350" b="1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222B35"/>
                </a:solidFill>
                <a:latin typeface="Malgun Gothic"/>
              </a:rPr>
              <a:t>단정</a:t>
            </a:r>
            <a:r>
              <a:rPr lang="en-US" sz="1350" b="1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lang="ko-KR" altLang="en-US" sz="1350" b="1" i="0" dirty="0">
                <a:solidFill>
                  <a:srgbClr val="222B35"/>
                </a:solidFill>
                <a:latin typeface="Malgun Gothic"/>
              </a:rPr>
              <a:t>불가</a:t>
            </a:r>
            <a:r>
              <a:rPr lang="ko-KR" altLang="en-US" sz="1350" dirty="0">
                <a:solidFill>
                  <a:srgbClr val="222B35"/>
                </a:solidFill>
                <a:latin typeface="Malgun Gothic"/>
              </a:rPr>
              <a:t> 라는 한계를 지니고 있음</a:t>
            </a:r>
            <a:r>
              <a:rPr lang="en-US" altLang="ko-KR" sz="1350" dirty="0">
                <a:solidFill>
                  <a:srgbClr val="222B35"/>
                </a:solidFill>
                <a:latin typeface="Malgun Gothic"/>
              </a:rPr>
              <a:t>.</a:t>
            </a:r>
            <a:endParaRPr sz="1350" b="0" i="0" dirty="0">
              <a:solidFill>
                <a:srgbClr val="222B3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2. 접근법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의도적으로 어려운 평가 bar: 미래를 보는 보간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47120" cy="54707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dirty="0" err="1">
                <a:solidFill>
                  <a:srgbClr val="222B35"/>
                </a:solidFill>
                <a:latin typeface="Malgun Gothic"/>
              </a:rPr>
              <a:t>모델을</a:t>
            </a:r>
            <a:r>
              <a:rPr sz="1500" b="1" i="0" dirty="0">
                <a:solidFill>
                  <a:srgbClr val="13335F"/>
                </a:solidFill>
                <a:latin typeface="Malgun Gothic"/>
              </a:rPr>
              <a:t> CES-only </a:t>
            </a:r>
            <a:r>
              <a:rPr sz="1500" b="1" i="0" dirty="0" err="1">
                <a:solidFill>
                  <a:srgbClr val="13335F"/>
                </a:solidFill>
                <a:latin typeface="Malgun Gothic"/>
              </a:rPr>
              <a:t>보간</a:t>
            </a:r>
            <a:r>
              <a:rPr sz="1500" b="1" i="0" dirty="0">
                <a:solidFill>
                  <a:srgbClr val="13335F"/>
                </a:solidFill>
                <a:latin typeface="Malgun Gothic"/>
              </a:rPr>
              <a:t>(linear · PCHIP · local AR)</a:t>
            </a:r>
            <a:r>
              <a:rPr sz="1500" b="0" i="0" dirty="0">
                <a:solidFill>
                  <a:srgbClr val="222B35"/>
                </a:solidFill>
                <a:latin typeface="Malgun Gothic"/>
              </a:rPr>
              <a:t>과 </a:t>
            </a:r>
            <a:r>
              <a:rPr sz="1500" b="0" i="0" dirty="0" err="1">
                <a:solidFill>
                  <a:srgbClr val="222B35"/>
                </a:solidFill>
                <a:latin typeface="Malgun Gothic"/>
              </a:rPr>
              <a:t>비교한다</a:t>
            </a:r>
            <a:r>
              <a:rPr sz="1500" b="0" i="0" dirty="0">
                <a:solidFill>
                  <a:srgbClr val="222B35"/>
                </a:solidFill>
                <a:latin typeface="Malgun Gothic"/>
              </a:rPr>
              <a:t> </a:t>
            </a:r>
            <a:endParaRPr lang="en-US" sz="1500" b="0" i="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500" dirty="0">
                <a:solidFill>
                  <a:srgbClr val="222B35"/>
                </a:solidFill>
                <a:latin typeface="Malgun Gothic"/>
              </a:rPr>
              <a:t>-</a:t>
            </a:r>
            <a:r>
              <a:rPr sz="1500" b="0" i="0" dirty="0">
                <a:solidFill>
                  <a:srgbClr val="222B35"/>
                </a:solidFill>
                <a:latin typeface="Malgun Gothic"/>
              </a:rPr>
              <a:t> 이 </a:t>
            </a:r>
            <a:r>
              <a:rPr sz="1500" b="0" i="0" dirty="0" err="1">
                <a:solidFill>
                  <a:srgbClr val="222B35"/>
                </a:solidFill>
                <a:latin typeface="Malgun Gothic"/>
              </a:rPr>
              <a:t>보간들은</a:t>
            </a:r>
            <a:r>
              <a:rPr sz="15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500" b="0" i="0" dirty="0" err="1">
                <a:solidFill>
                  <a:srgbClr val="222B35"/>
                </a:solidFill>
                <a:latin typeface="Malgun Gothic"/>
              </a:rPr>
              <a:t>타겟</a:t>
            </a:r>
            <a:r>
              <a:rPr sz="15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500" b="0" i="0" dirty="0" err="1">
                <a:solidFill>
                  <a:srgbClr val="222B35"/>
                </a:solidFill>
                <a:latin typeface="Malgun Gothic"/>
              </a:rPr>
              <a:t>주변의</a:t>
            </a:r>
            <a:r>
              <a:rPr sz="15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500" b="0" i="0" dirty="0" err="1">
                <a:solidFill>
                  <a:srgbClr val="222B35"/>
                </a:solidFill>
                <a:latin typeface="Malgun Gothic"/>
              </a:rPr>
              <a:t>과거+미래</a:t>
            </a:r>
            <a:r>
              <a:rPr sz="15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500" b="0" i="0" dirty="0" err="1">
                <a:solidFill>
                  <a:srgbClr val="222B35"/>
                </a:solidFill>
                <a:latin typeface="Malgun Gothic"/>
              </a:rPr>
              <a:t>CES를</a:t>
            </a:r>
            <a:r>
              <a:rPr sz="15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500" b="0" i="0" dirty="0" err="1">
                <a:solidFill>
                  <a:srgbClr val="222B35"/>
                </a:solidFill>
                <a:latin typeface="Malgun Gothic"/>
              </a:rPr>
              <a:t>모두</a:t>
            </a:r>
            <a:r>
              <a:rPr sz="15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500" b="0" i="0" dirty="0" err="1">
                <a:solidFill>
                  <a:srgbClr val="222B35"/>
                </a:solidFill>
                <a:latin typeface="Malgun Gothic"/>
              </a:rPr>
              <a:t>사용한다</a:t>
            </a:r>
            <a:r>
              <a:rPr sz="1500" b="0" i="0" dirty="0">
                <a:solidFill>
                  <a:srgbClr val="222B35"/>
                </a:solidFill>
                <a:latin typeface="Malgun Gothic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5486400" cy="23317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965960"/>
            <a:ext cx="109728" cy="233172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121408"/>
            <a:ext cx="51206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8743B"/>
                </a:solidFill>
                <a:latin typeface="Malgun Gothic"/>
              </a:rPr>
              <a:t>우리 모델 (causal)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029200" cy="1645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타겟 시점의 빠른 진단 (BES·ECEI·MC)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과거 CES 이력 (window = 4)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C0392B"/>
                </a:solidFill>
                <a:latin typeface="Malgun Gothic"/>
              </a:rPr>
              <a:t>●  미래 CES는 전혀 보지 않음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65960"/>
            <a:ext cx="5486400" cy="23317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965960"/>
            <a:ext cx="109728" cy="23317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121408"/>
            <a:ext cx="5120640" cy="26609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 err="1">
                <a:solidFill>
                  <a:srgbClr val="2B6CB0"/>
                </a:solidFill>
                <a:latin typeface="Malgun Gothic"/>
              </a:rPr>
              <a:t>보간</a:t>
            </a:r>
            <a:r>
              <a:rPr sz="1600" b="1" i="0" dirty="0">
                <a:solidFill>
                  <a:srgbClr val="2B6CB0"/>
                </a:solidFill>
                <a:latin typeface="Malgun Gothic"/>
              </a:rPr>
              <a:t>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06040"/>
            <a:ext cx="5029200" cy="57150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 dirty="0">
                <a:solidFill>
                  <a:srgbClr val="13335F"/>
                </a:solidFill>
                <a:latin typeface="Malgun Gothic"/>
              </a:rPr>
              <a:t>●  </a:t>
            </a: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타겟</a:t>
            </a:r>
            <a:r>
              <a:rPr sz="1350" b="1" i="0" dirty="0">
                <a:solidFill>
                  <a:srgbClr val="13335F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양쪽의</a:t>
            </a:r>
            <a:r>
              <a:rPr sz="1350" b="1" i="0" dirty="0">
                <a:solidFill>
                  <a:srgbClr val="13335F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과거</a:t>
            </a:r>
            <a:r>
              <a:rPr sz="1350" b="1" i="0" dirty="0">
                <a:solidFill>
                  <a:srgbClr val="13335F"/>
                </a:solidFill>
                <a:latin typeface="Malgun Gothic"/>
              </a:rPr>
              <a:t> + </a:t>
            </a: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미래</a:t>
            </a:r>
            <a:r>
              <a:rPr sz="1350" b="1" i="0" dirty="0">
                <a:solidFill>
                  <a:srgbClr val="13335F"/>
                </a:solidFill>
                <a:latin typeface="Malgun Gothic"/>
              </a:rPr>
              <a:t> CES </a:t>
            </a: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이웃</a:t>
            </a:r>
            <a:r>
              <a:rPr sz="1350" b="1" i="0" dirty="0">
                <a:solidFill>
                  <a:srgbClr val="13335F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사용</a:t>
            </a:r>
            <a:endParaRPr sz="1350" b="1" i="0" dirty="0">
              <a:solidFill>
                <a:srgbClr val="13335F"/>
              </a:solidFill>
              <a:latin typeface="Malgun Gothic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 dirty="0">
                <a:solidFill>
                  <a:srgbClr val="13335F"/>
                </a:solidFill>
                <a:latin typeface="Malgun Gothic"/>
              </a:rPr>
              <a:t>●  PCHIP(</a:t>
            </a: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단조</a:t>
            </a:r>
            <a:r>
              <a:rPr sz="1350" b="1" i="0" dirty="0">
                <a:solidFill>
                  <a:srgbClr val="13335F"/>
                </a:solidFill>
                <a:latin typeface="Malgun Gothic"/>
              </a:rPr>
              <a:t> 3차) = pre-registered headline </a:t>
            </a:r>
            <a:r>
              <a:rPr sz="1350" b="1" i="0">
                <a:solidFill>
                  <a:srgbClr val="13335F"/>
                </a:solidFill>
                <a:latin typeface="Malgun Gothic"/>
              </a:rPr>
              <a:t>기준선</a:t>
            </a:r>
            <a:endParaRPr sz="1350" b="1" i="0" dirty="0">
              <a:solidFill>
                <a:srgbClr val="13335F"/>
              </a:solidFill>
              <a:latin typeface="Malgun Gothi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4572000"/>
            <a:ext cx="10881360" cy="141732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736592"/>
            <a:ext cx="1042416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solidFill>
                  <a:srgbClr val="E8743B"/>
                </a:solidFill>
                <a:latin typeface="Malgun Gothic"/>
              </a:rPr>
              <a:t>왜 이 </a:t>
            </a:r>
            <a:r>
              <a:rPr sz="1350" b="1" i="0" dirty="0" err="1">
                <a:solidFill>
                  <a:srgbClr val="E8743B"/>
                </a:solidFill>
                <a:latin typeface="Malgun Gothic"/>
              </a:rPr>
              <a:t>정보</a:t>
            </a:r>
            <a:r>
              <a:rPr sz="1350" b="1" i="0" dirty="0">
                <a:solidFill>
                  <a:srgbClr val="E8743B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E8743B"/>
                </a:solidFill>
                <a:latin typeface="Malgun Gothic"/>
              </a:rPr>
              <a:t>비대칭이</a:t>
            </a:r>
            <a:r>
              <a:rPr sz="1350" b="1" i="0" dirty="0">
                <a:solidFill>
                  <a:srgbClr val="E8743B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E8743B"/>
                </a:solidFill>
                <a:latin typeface="Malgun Gothic"/>
              </a:rPr>
              <a:t>핵심인가</a:t>
            </a:r>
            <a:endParaRPr sz="1350" b="1" i="0" dirty="0">
              <a:solidFill>
                <a:srgbClr val="E8743B"/>
              </a:solidFill>
              <a:latin typeface="Malgun Gothic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미래까지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보는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보간을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 causal(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과거만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보는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) 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모델이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이긴다면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, </a:t>
            </a:r>
            <a:endParaRPr lang="en-US" sz="1550" b="0" i="0" dirty="0">
              <a:solidFill>
                <a:srgbClr val="FFFFFF"/>
              </a:solidFill>
              <a:latin typeface="Malgun Gothic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그것은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빠른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진단이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시간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보간으로는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얻을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 수 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없는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 CES 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정보를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운반한다는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강력한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550" b="0" i="0" dirty="0" err="1">
                <a:solidFill>
                  <a:srgbClr val="FFFFFF"/>
                </a:solidFill>
                <a:latin typeface="Malgun Gothic"/>
              </a:rPr>
              <a:t>증거다</a:t>
            </a:r>
            <a:r>
              <a:rPr sz="1550" b="0" i="0" dirty="0">
                <a:solidFill>
                  <a:srgbClr val="FFFFFF"/>
                </a:solidFill>
                <a:latin typeface="Malgun Gothic"/>
              </a:rPr>
              <a:t>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 dirty="0" err="1">
                <a:solidFill>
                  <a:srgbClr val="E8ECF1"/>
                </a:solidFill>
                <a:latin typeface="Malgun Gothic"/>
              </a:rPr>
              <a:t>미래</a:t>
            </a:r>
            <a:r>
              <a:rPr sz="1350" b="0" i="1" dirty="0">
                <a:solidFill>
                  <a:srgbClr val="E8ECF1"/>
                </a:solidFill>
                <a:latin typeface="Malgun Gothic"/>
              </a:rPr>
              <a:t> </a:t>
            </a:r>
            <a:r>
              <a:rPr sz="1350" b="0" i="1" dirty="0" err="1">
                <a:solidFill>
                  <a:srgbClr val="E8ECF1"/>
                </a:solidFill>
                <a:latin typeface="Malgun Gothic"/>
              </a:rPr>
              <a:t>보간을</a:t>
            </a:r>
            <a:r>
              <a:rPr sz="1350" b="0" i="1" dirty="0">
                <a:solidFill>
                  <a:srgbClr val="E8ECF1"/>
                </a:solidFill>
                <a:latin typeface="Malgun Gothic"/>
              </a:rPr>
              <a:t> </a:t>
            </a:r>
            <a:r>
              <a:rPr sz="1350" b="0" i="1" dirty="0" err="1">
                <a:solidFill>
                  <a:srgbClr val="E8ECF1"/>
                </a:solidFill>
                <a:latin typeface="Malgun Gothic"/>
              </a:rPr>
              <a:t>이기는</a:t>
            </a:r>
            <a:r>
              <a:rPr sz="1350" b="0" i="1" dirty="0">
                <a:solidFill>
                  <a:srgbClr val="E8ECF1"/>
                </a:solidFill>
                <a:latin typeface="Malgun Gothic"/>
              </a:rPr>
              <a:t> </a:t>
            </a:r>
            <a:r>
              <a:rPr sz="1350" b="0" i="1" dirty="0" err="1">
                <a:solidFill>
                  <a:srgbClr val="E8ECF1"/>
                </a:solidFill>
                <a:latin typeface="Malgun Gothic"/>
              </a:rPr>
              <a:t>모델은</a:t>
            </a:r>
            <a:r>
              <a:rPr sz="1350" b="0" i="1" dirty="0">
                <a:solidFill>
                  <a:srgbClr val="E8ECF1"/>
                </a:solidFill>
                <a:latin typeface="Malgun Gothic"/>
              </a:rPr>
              <a:t> </a:t>
            </a:r>
            <a:r>
              <a:rPr sz="1350" b="0" i="1" dirty="0" err="1">
                <a:solidFill>
                  <a:srgbClr val="E8ECF1"/>
                </a:solidFill>
                <a:latin typeface="Malgun Gothic"/>
              </a:rPr>
              <a:t>자명히</a:t>
            </a:r>
            <a:r>
              <a:rPr sz="1350" b="0" i="1" dirty="0">
                <a:solidFill>
                  <a:srgbClr val="E8ECF1"/>
                </a:solidFill>
                <a:latin typeface="Malgun Gothic"/>
              </a:rPr>
              <a:t> </a:t>
            </a:r>
            <a:r>
              <a:rPr sz="1350" b="0" i="1" dirty="0" err="1">
                <a:solidFill>
                  <a:srgbClr val="E8ECF1"/>
                </a:solidFill>
                <a:latin typeface="Malgun Gothic"/>
              </a:rPr>
              <a:t>모든</a:t>
            </a:r>
            <a:r>
              <a:rPr sz="1350" b="0" i="1" dirty="0">
                <a:solidFill>
                  <a:srgbClr val="E8ECF1"/>
                </a:solidFill>
                <a:latin typeface="Malgun Gothic"/>
              </a:rPr>
              <a:t> causal baseline(</a:t>
            </a:r>
            <a:r>
              <a:rPr sz="1350" b="0" i="1" dirty="0" err="1">
                <a:solidFill>
                  <a:srgbClr val="E8ECF1"/>
                </a:solidFill>
                <a:latin typeface="Malgun Gothic"/>
              </a:rPr>
              <a:t>persistence·AR</a:t>
            </a:r>
            <a:r>
              <a:rPr sz="1350" b="0" i="1" dirty="0">
                <a:solidFill>
                  <a:srgbClr val="E8ECF1"/>
                </a:solidFill>
                <a:latin typeface="Malgun Gothic"/>
              </a:rPr>
              <a:t>)도 </a:t>
            </a:r>
            <a:r>
              <a:rPr sz="1350" b="0" i="1" dirty="0" err="1">
                <a:solidFill>
                  <a:srgbClr val="E8ECF1"/>
                </a:solidFill>
                <a:latin typeface="Malgun Gothic"/>
              </a:rPr>
              <a:t>이긴다</a:t>
            </a:r>
            <a:r>
              <a:rPr sz="1350" b="0" i="1" dirty="0">
                <a:solidFill>
                  <a:srgbClr val="E8ECF1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3. 데이터 &amp;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641 shot · No-Fake-Data · 누수 차단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5943600" cy="133998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 dirty="0">
                <a:solidFill>
                  <a:srgbClr val="13335F"/>
                </a:solidFill>
                <a:latin typeface="Malgun Gothic"/>
              </a:rPr>
              <a:t>●  샷 #30801–#32751, </a:t>
            </a: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하드웨어</a:t>
            </a:r>
            <a:r>
              <a:rPr sz="1350" b="1" i="0" dirty="0">
                <a:solidFill>
                  <a:srgbClr val="13335F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이력</a:t>
            </a:r>
            <a:r>
              <a:rPr sz="1350" b="1" i="0" dirty="0">
                <a:solidFill>
                  <a:srgbClr val="13335F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고려</a:t>
            </a:r>
            <a:r>
              <a:rPr sz="1350" b="1" i="0" dirty="0">
                <a:solidFill>
                  <a:srgbClr val="13335F"/>
                </a:solidFill>
                <a:latin typeface="Malgun Gothic"/>
              </a:rPr>
              <a:t> → 총 641 shot CSV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 dirty="0">
                <a:solidFill>
                  <a:srgbClr val="222B35"/>
                </a:solidFill>
                <a:latin typeface="Malgun Gothic"/>
              </a:rPr>
              <a:t>–  TEST: 34,644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샘플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 / 96 shot (Tᵢ 32,716 ·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V_rot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 27,437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관측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, held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포함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 — genuine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V_rot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 10,729)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 dirty="0">
                <a:solidFill>
                  <a:srgbClr val="13335F"/>
                </a:solidFill>
                <a:latin typeface="Malgun Gothic"/>
              </a:rPr>
              <a:t>●  </a:t>
            </a: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입력</a:t>
            </a:r>
            <a:r>
              <a:rPr sz="1350" b="1" i="0" dirty="0">
                <a:solidFill>
                  <a:srgbClr val="13335F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채널</a:t>
            </a:r>
            <a:r>
              <a:rPr sz="1350" b="1" i="0" dirty="0">
                <a:solidFill>
                  <a:srgbClr val="13335F"/>
                </a:solidFill>
                <a:latin typeface="Malgun Gothic"/>
              </a:rPr>
              <a:t>: BES 9 · ECEI 4 · </a:t>
            </a: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Mirnov</a:t>
            </a:r>
            <a:r>
              <a:rPr sz="1350" b="1" i="0" dirty="0">
                <a:solidFill>
                  <a:srgbClr val="13335F"/>
                </a:solidFill>
                <a:latin typeface="Malgun Gothic"/>
              </a:rPr>
              <a:t> 2 · time 4 · </a:t>
            </a:r>
            <a:r>
              <a:rPr sz="1350" b="1" i="0" dirty="0" err="1">
                <a:solidFill>
                  <a:srgbClr val="13335F"/>
                </a:solidFill>
                <a:latin typeface="Malgun Gothic"/>
              </a:rPr>
              <a:t>ces_history</a:t>
            </a:r>
            <a:r>
              <a:rPr sz="1350" b="1" i="0" dirty="0">
                <a:solidFill>
                  <a:srgbClr val="13335F"/>
                </a:solidFill>
                <a:latin typeface="Malgun Gothic"/>
              </a:rPr>
              <a:t> 4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 dirty="0">
                <a:solidFill>
                  <a:srgbClr val="222B35"/>
                </a:solidFill>
                <a:latin typeface="Malgun Gothic"/>
              </a:rPr>
              <a:t>– 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타겟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: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정규화된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 [CES_TI, CES_VT] 2-벡터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371600"/>
            <a:ext cx="5029200" cy="237744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샘플 1개의 구성 (window = 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938528"/>
            <a:ext cx="1965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onsolas"/>
              </a:rPr>
              <a:t>bes / ecei / mc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1938528"/>
            <a:ext cx="14173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743B"/>
                </a:solidFill>
                <a:latin typeface="Consolas"/>
              </a:rPr>
              <a:t>(4,9)(4,4)(4,2)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938528"/>
            <a:ext cx="1371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8ECF1"/>
                </a:solidFill>
                <a:latin typeface="Malgun Gothic"/>
              </a:rPr>
              <a:t>빠른 진단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377440"/>
            <a:ext cx="1965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onsolas"/>
              </a:rPr>
              <a:t>time_features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2377440"/>
            <a:ext cx="14173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743B"/>
                </a:solidFill>
                <a:latin typeface="Consolas"/>
              </a:rPr>
              <a:t>(4, 4)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377440"/>
            <a:ext cx="1371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8ECF1"/>
                </a:solidFill>
                <a:latin typeface="Malgun Gothic"/>
              </a:rPr>
              <a:t>시간 인코딩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816352"/>
            <a:ext cx="1965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onsolas"/>
              </a:rPr>
              <a:t>ces_history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2816352"/>
            <a:ext cx="14173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743B"/>
                </a:solidFill>
                <a:latin typeface="Consolas"/>
              </a:rPr>
              <a:t>(4, 4)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2816352"/>
            <a:ext cx="1371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8ECF1"/>
                </a:solidFill>
                <a:latin typeface="Malgun Gothic"/>
              </a:rPr>
              <a:t>이전 CES + flag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255264"/>
            <a:ext cx="1965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onsolas"/>
              </a:rPr>
              <a:t>target / mask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3255264"/>
            <a:ext cx="14173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743B"/>
                </a:solidFill>
                <a:latin typeface="Consolas"/>
              </a:rPr>
              <a:t>(2,) / (2,)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255264"/>
            <a:ext cx="1371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8ECF1"/>
                </a:solidFill>
                <a:latin typeface="Malgun Gothic"/>
              </a:rPr>
              <a:t>타겟 + 마스크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931920"/>
            <a:ext cx="3611880" cy="1965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3931920"/>
            <a:ext cx="91440" cy="196596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" y="4041648"/>
            <a:ext cx="32461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① No Fake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" y="4443984"/>
            <a:ext cx="3227832" cy="1325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보간으로 '가짜 라벨'을 만들지 않음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진단 입력이 온전하고 타겟 중 최소 하나가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관측된 시점만 샘플로 사용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3931920"/>
            <a:ext cx="3611880" cy="1965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79392" y="3931920"/>
            <a:ext cx="91440" cy="196596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17136" y="4041648"/>
            <a:ext cx="32461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6CB0"/>
                </a:solidFill>
                <a:latin typeface="Malgun Gothic"/>
              </a:rPr>
              <a:t>② per-target masked MSE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4443984"/>
            <a:ext cx="3227832" cy="43697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target_mask로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관측된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타겟만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손실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반영</a:t>
            </a:r>
            <a:endParaRPr sz="1150" b="0" i="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한쪽만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관측된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행도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 그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타겟은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학습에</a:t>
            </a:r>
            <a:r>
              <a:rPr sz="11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2B35"/>
                </a:solidFill>
                <a:latin typeface="Malgun Gothic"/>
              </a:rPr>
              <a:t>기여</a:t>
            </a:r>
            <a:endParaRPr sz="1150" b="0" i="0" dirty="0">
              <a:solidFill>
                <a:srgbClr val="222B35"/>
              </a:solidFill>
              <a:latin typeface="Malgun Gothic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055864" y="3931920"/>
            <a:ext cx="3611880" cy="1965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55864" y="3931920"/>
            <a:ext cx="91440" cy="196596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93608" y="4041648"/>
            <a:ext cx="32461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9E8A"/>
                </a:solidFill>
                <a:latin typeface="Malgun Gothic"/>
              </a:rPr>
              <a:t>③ 누수 차단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4443984"/>
            <a:ext cx="3227832" cy="1325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행이 아닌 shot 파일 단위 split (인접 행 상관)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정규화 통계는 train 파일에서만 추정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ces_history의 타겟 시점은 값·flag 완전 마스킹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016752"/>
            <a:ext cx="1124712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결측 제거로 시간 간격이 불규칙해지므로 </a:t>
            </a:r>
            <a:r>
              <a:rPr sz="1200" b="1" i="0">
                <a:solidFill>
                  <a:srgbClr val="13335F"/>
                </a:solidFill>
                <a:latin typeface="Malgun Gothic"/>
              </a:rPr>
              <a:t>연속성에 의존하는 LSTM 대신 1D CNN + 시간 인코딩</a:t>
            </a:r>
            <a:r>
              <a:rPr sz="1200" b="0" i="0">
                <a:solidFill>
                  <a:srgbClr val="222B35"/>
                </a:solidFill>
                <a:latin typeface="Malgun Gothic"/>
              </a:rPr>
              <a:t>을 사용한다.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3. 데이터 &amp;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Multimodal Late-Fusion + target별 routing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6</a:t>
            </a:r>
          </a:p>
        </p:txBody>
      </p:sp>
      <p:pic>
        <p:nvPicPr>
          <p:cNvPr id="10" name="Picture 9" descr="fig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373" y="1261872"/>
            <a:ext cx="8798494" cy="4709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969618"/>
            <a:ext cx="11247120" cy="46871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dirty="0" err="1">
                <a:solidFill>
                  <a:srgbClr val="13335F"/>
                </a:solidFill>
                <a:latin typeface="Malgun Gothic"/>
              </a:rPr>
              <a:t>물리</a:t>
            </a:r>
            <a:r>
              <a:rPr sz="1250" b="1" i="0" dirty="0">
                <a:solidFill>
                  <a:srgbClr val="13335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13335F"/>
                </a:solidFill>
                <a:latin typeface="Malgun Gothic"/>
              </a:rPr>
              <a:t>기반</a:t>
            </a:r>
            <a:r>
              <a:rPr sz="1250" b="1" i="0" dirty="0">
                <a:solidFill>
                  <a:srgbClr val="13335F"/>
                </a:solidFill>
                <a:latin typeface="Malgun Gothic"/>
              </a:rPr>
              <a:t> routing: 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Tᵢ =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빠른진단+이력+시간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/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V_rot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=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이력+시간만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. 총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파라미터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201,258개(≈0.20 M) </a:t>
            </a:r>
            <a:endParaRPr lang="en-US" sz="1250" b="0" i="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50" dirty="0">
                <a:solidFill>
                  <a:srgbClr val="222B35"/>
                </a:solidFill>
                <a:latin typeface="Malgun Gothic"/>
              </a:rPr>
              <a:t>-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capacity가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아니라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일반화가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관건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.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출력은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정규화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단위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,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역정규화는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평가에서만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3. 데이터 &amp;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학습 샘플을 어떻게 만들었나 — 블록 → 윈도 → 증강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486400" cy="21945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91440" cy="219456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1481328"/>
            <a:ext cx="5120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6CB0"/>
                </a:solidFill>
                <a:latin typeface="Malgun Gothic"/>
              </a:rPr>
              <a:t>① 연속 블록 분할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883664"/>
            <a:ext cx="5102352" cy="1554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time 간격 ≥ 0.5 s = 측정 세그먼트 경계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641/641 shot에 존재 (파일당 ~2개, 간극 중앙값 6.3 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모델 윈도·보간 기준선 모두 경계를 넘지 않음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→ 양쪽에 동일한 정보 경계 (공정 비교)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71600"/>
            <a:ext cx="5486400" cy="21945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91440" cy="219456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4" y="1481328"/>
            <a:ext cx="5120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9E8A"/>
                </a:solidFill>
                <a:latin typeface="Malgun Gothic"/>
              </a:rPr>
              <a:t>② 윈도 샘플 (W = 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883664"/>
            <a:ext cx="5102352" cy="1554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연속 4행, 마지막 행 = 맞혀야 할 타겟 시점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채택: 3개 진단 입력 완전 + Tᵢ/V_rot 중 ≥1개 관측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타겟 시점 이력은 값·관측 flag 모두 0으로 마스킹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→ 자기 정답을 절대 볼 수 없음 (누수 차단)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03320"/>
            <a:ext cx="5486400" cy="21945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703320"/>
            <a:ext cx="91440" cy="219456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" y="3813048"/>
            <a:ext cx="5120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③ Temporal subset 증강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4215384"/>
            <a:ext cx="5102352" cy="1554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타겟 이전 이력 행들의 부분집합을 전부 열거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같은 타겟을 '이력 2개·3개' 버전으로도 별도 학습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→ 배치가 다양한 이력 밀도·간격을 경험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→ 실전의 불규칙한 결측 패턴에 강건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21945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3703320"/>
            <a:ext cx="91440" cy="219456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9944" y="3813048"/>
            <a:ext cx="5120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9E5B"/>
                </a:solidFill>
                <a:latin typeface="Malgun Gothic"/>
              </a:rPr>
              <a:t>④ 규모 — 조합 폭발 제어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4215384"/>
            <a:ext cx="5102352" cy="1554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부분집합 열거는 조합 폭발 → 시드 고정 랜덤 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train 200,000 / val 40,000 샘플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split·캡을 CSV로 디스크에 고정(pin) → 완전 재현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재로딩 시 데이터와 불일치하면 예외 (조용한 drift 차단)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3. 데이터 &amp;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어떻게 학습시켰나 — 손실 · 최적화 · 아키텍처 선택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486400" cy="26974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91440" cy="269748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1481328"/>
            <a:ext cx="5120640" cy="23615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solidFill>
                  <a:srgbClr val="E8743B"/>
                </a:solidFill>
                <a:latin typeface="Malgun Gothic"/>
              </a:rPr>
              <a:t>손실</a:t>
            </a:r>
            <a:r>
              <a:rPr sz="1400" b="1" i="0" dirty="0">
                <a:solidFill>
                  <a:srgbClr val="E8743B"/>
                </a:solidFill>
                <a:latin typeface="Malgun Gothic"/>
              </a:rPr>
              <a:t> </a:t>
            </a:r>
            <a:r>
              <a:rPr sz="1400" b="1" i="0" dirty="0" err="1">
                <a:solidFill>
                  <a:srgbClr val="E8743B"/>
                </a:solidFill>
                <a:latin typeface="Malgun Gothic"/>
              </a:rPr>
              <a:t>함수</a:t>
            </a:r>
            <a:r>
              <a:rPr sz="1400" b="1" i="0" dirty="0">
                <a:solidFill>
                  <a:srgbClr val="E8743B"/>
                </a:solidFill>
                <a:latin typeface="Malgun Gothic"/>
              </a:rPr>
              <a:t> </a:t>
            </a:r>
            <a:r>
              <a:rPr lang="en-US" sz="1400" b="1" dirty="0">
                <a:solidFill>
                  <a:srgbClr val="E8743B"/>
                </a:solidFill>
                <a:latin typeface="Malgun Gothic"/>
              </a:rPr>
              <a:t>– </a:t>
            </a:r>
            <a:r>
              <a:rPr lang="ko-KR" altLang="en-US" sz="1400" b="1" dirty="0">
                <a:solidFill>
                  <a:srgbClr val="E8743B"/>
                </a:solidFill>
                <a:latin typeface="Malgun Gothic"/>
              </a:rPr>
              <a:t>물리적 페널티 고려</a:t>
            </a:r>
            <a:endParaRPr sz="1400" b="1" i="0" dirty="0">
              <a:solidFill>
                <a:srgbClr val="E8743B"/>
              </a:solidFill>
              <a:latin typeface="Malgun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1883664"/>
            <a:ext cx="5102352" cy="1661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>
                <a:solidFill>
                  <a:srgbClr val="222B35"/>
                </a:solidFill>
                <a:latin typeface="Malgun Gothic"/>
              </a:rPr>
              <a:t>L =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관측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타겟만의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MSE + 0.1 ×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ReLU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(z₀ −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ŷ_T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ᵢ)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>
                <a:solidFill>
                  <a:srgbClr val="222B35"/>
                </a:solidFill>
                <a:latin typeface="Malgun Gothic"/>
              </a:rPr>
              <a:t>Tᵢ·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V_rot은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독립적으로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결측</a:t>
            </a:r>
            <a:endParaRPr lang="en-US" sz="1200" b="0" i="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>
                <a:solidFill>
                  <a:srgbClr val="222B35"/>
                </a:solidFill>
                <a:latin typeface="Malgun Gothic"/>
              </a:rPr>
              <a:t>→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한쪽만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관측된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행도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그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타겟은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학습에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기여</a:t>
            </a:r>
            <a:endParaRPr lang="en-US" sz="1200" b="0" i="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endParaRPr sz="1200" b="0" i="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페널티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항 = '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이온온도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&lt; 0 keV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불가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'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물리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제약</a:t>
            </a:r>
            <a:endParaRPr sz="1200" b="0" i="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>
                <a:solidFill>
                  <a:srgbClr val="222B35"/>
                </a:solidFill>
                <a:latin typeface="Malgun Gothic"/>
              </a:rPr>
              <a:t>  (z₀ =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물리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0을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정규화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단위로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옮긴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값)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학습·출력은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정규화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단위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—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물리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단위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환산은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평가에서만</a:t>
            </a:r>
            <a:endParaRPr sz="1200" b="0" i="0" dirty="0">
              <a:solidFill>
                <a:srgbClr val="222B35"/>
              </a:solidFill>
              <a:latin typeface="Malgun Gothi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72200" y="1371600"/>
            <a:ext cx="5486400" cy="26974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91440" cy="269748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4" y="1481328"/>
            <a:ext cx="5120640" cy="23615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solidFill>
                  <a:srgbClr val="1B9E8A"/>
                </a:solidFill>
                <a:latin typeface="Malgun Gothic"/>
              </a:rPr>
              <a:t>최적화</a:t>
            </a:r>
            <a:endParaRPr sz="1400" b="1" i="0" dirty="0">
              <a:solidFill>
                <a:srgbClr val="1B9E8A"/>
              </a:solidFill>
              <a:latin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9944" y="1883664"/>
            <a:ext cx="5102352" cy="2057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AdamW — lr 10⁻³, weight decay 10⁻⁴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batch 512 · 10 epochs · 단일 GPU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LR 스케줄: val 손실이 2 에폭 정체하면 ×0.5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gradient clipping (max-norm 5.0)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split seed와 초기화 seed 분리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→ 결과가 초기화 운이 아님을 별도 점검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51960"/>
            <a:ext cx="11201400" cy="182880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407408"/>
            <a:ext cx="106984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743B"/>
                </a:solidFill>
                <a:latin typeface="Malgun Gothic"/>
              </a:rPr>
              <a:t>아키텍처 선택 — 40여 회의 keep/discard 통제 실험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64608"/>
            <a:ext cx="10698480" cy="111620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반복마다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구조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변경은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딱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하나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→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처음부터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재학습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→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증강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없는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검증셋에서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보간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대비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skill로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채점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. </a:t>
            </a:r>
            <a:endParaRPr lang="en-US" sz="1250" b="0" i="0" dirty="0">
              <a:solidFill>
                <a:srgbClr val="FFFFFF"/>
              </a:solidFill>
              <a:latin typeface="Malgun Gothic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최고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기록을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넘으면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채택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, 못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넘으면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직전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최고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모델로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복원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—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후퇴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위에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쌓지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않는다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.</a:t>
            </a:r>
            <a:endParaRPr lang="en-US" sz="1250" b="0" i="0" dirty="0">
              <a:solidFill>
                <a:srgbClr val="FFFFFF"/>
              </a:solidFill>
              <a:latin typeface="Malgun Gothic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endParaRPr sz="1250" b="0" i="0" dirty="0">
              <a:solidFill>
                <a:srgbClr val="FFFFFF"/>
              </a:solidFill>
              <a:latin typeface="Malgun Gothic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 err="1">
                <a:solidFill>
                  <a:srgbClr val="E8ECF1"/>
                </a:solidFill>
                <a:latin typeface="Malgun Gothic"/>
              </a:rPr>
              <a:t>채점</a:t>
            </a:r>
            <a:r>
              <a:rPr sz="1250" b="0" i="0" dirty="0">
                <a:solidFill>
                  <a:srgbClr val="E8ECF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E8ECF1"/>
                </a:solidFill>
                <a:latin typeface="Malgun Gothic"/>
              </a:rPr>
              <a:t>기준을</a:t>
            </a:r>
            <a:r>
              <a:rPr sz="1250" b="0" i="0" dirty="0">
                <a:solidFill>
                  <a:srgbClr val="E8ECF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E8ECF1"/>
                </a:solidFill>
                <a:latin typeface="Malgun Gothic"/>
              </a:rPr>
              <a:t>val</a:t>
            </a:r>
            <a:r>
              <a:rPr sz="1250" b="0" i="0" dirty="0">
                <a:solidFill>
                  <a:srgbClr val="E8ECF1"/>
                </a:solidFill>
                <a:latin typeface="Malgun Gothic"/>
              </a:rPr>
              <a:t> loss → </a:t>
            </a:r>
            <a:r>
              <a:rPr sz="1250" b="0" i="0" dirty="0" err="1">
                <a:solidFill>
                  <a:srgbClr val="E8ECF1"/>
                </a:solidFill>
                <a:latin typeface="Malgun Gothic"/>
              </a:rPr>
              <a:t>skill로</a:t>
            </a:r>
            <a:r>
              <a:rPr sz="1250" b="0" i="0" dirty="0">
                <a:solidFill>
                  <a:srgbClr val="E8ECF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E8ECF1"/>
                </a:solidFill>
                <a:latin typeface="Malgun Gothic"/>
              </a:rPr>
              <a:t>바꾼</a:t>
            </a:r>
            <a:r>
              <a:rPr sz="1250" b="0" i="0" dirty="0">
                <a:solidFill>
                  <a:srgbClr val="E8ECF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E8ECF1"/>
                </a:solidFill>
                <a:latin typeface="Malgun Gothic"/>
              </a:rPr>
              <a:t>것이</a:t>
            </a:r>
            <a:r>
              <a:rPr sz="1250" b="0" i="0" dirty="0">
                <a:solidFill>
                  <a:srgbClr val="E8ECF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E8ECF1"/>
                </a:solidFill>
                <a:latin typeface="Malgun Gothic"/>
              </a:rPr>
              <a:t>n.s</a:t>
            </a:r>
            <a:r>
              <a:rPr sz="1250" b="0" i="0" dirty="0">
                <a:solidFill>
                  <a:srgbClr val="E8ECF1"/>
                </a:solidFill>
                <a:latin typeface="Malgun Gothic"/>
              </a:rPr>
              <a:t>.(+0.088) → </a:t>
            </a:r>
            <a:r>
              <a:rPr sz="1250" b="0" i="0" dirty="0" err="1">
                <a:solidFill>
                  <a:srgbClr val="E8ECF1"/>
                </a:solidFill>
                <a:latin typeface="Malgun Gothic"/>
              </a:rPr>
              <a:t>유의</a:t>
            </a:r>
            <a:r>
              <a:rPr sz="1250" b="0" i="0" dirty="0">
                <a:solidFill>
                  <a:srgbClr val="E8ECF1"/>
                </a:solidFill>
                <a:latin typeface="Malgun Gothic"/>
              </a:rPr>
              <a:t>(+0.20~0.30) </a:t>
            </a:r>
            <a:r>
              <a:rPr sz="1250" b="0" i="0" dirty="0" err="1">
                <a:solidFill>
                  <a:srgbClr val="E8ECF1"/>
                </a:solidFill>
                <a:latin typeface="Malgun Gothic"/>
              </a:rPr>
              <a:t>진전의</a:t>
            </a:r>
            <a:r>
              <a:rPr sz="1250" b="0" i="0" dirty="0">
                <a:solidFill>
                  <a:srgbClr val="E8ECF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E8ECF1"/>
                </a:solidFill>
                <a:latin typeface="Malgun Gothic"/>
              </a:rPr>
              <a:t>핵심</a:t>
            </a:r>
            <a:r>
              <a:rPr sz="1250" b="0" i="0" dirty="0">
                <a:solidFill>
                  <a:srgbClr val="E8ECF1"/>
                </a:solidFill>
                <a:latin typeface="Malgun Gothic"/>
              </a:rPr>
              <a:t>. </a:t>
            </a:r>
            <a:r>
              <a:rPr sz="1250" b="0" i="0" dirty="0" err="1">
                <a:solidFill>
                  <a:srgbClr val="E8ECF1"/>
                </a:solidFill>
                <a:latin typeface="Malgun Gothic"/>
              </a:rPr>
              <a:t>TEST는</a:t>
            </a:r>
            <a:r>
              <a:rPr sz="1250" b="0" i="0" dirty="0">
                <a:solidFill>
                  <a:srgbClr val="E8ECF1"/>
                </a:solidFill>
                <a:latin typeface="Malgun Gothic"/>
              </a:rPr>
              <a:t> 이 40여 회 전 </a:t>
            </a:r>
            <a:r>
              <a:rPr sz="1250" b="0" i="0" dirty="0" err="1">
                <a:solidFill>
                  <a:srgbClr val="E8ECF1"/>
                </a:solidFill>
                <a:latin typeface="Malgun Gothic"/>
              </a:rPr>
              <a:t>과정에서</a:t>
            </a:r>
            <a:r>
              <a:rPr sz="1250" b="0" i="0" dirty="0">
                <a:solidFill>
                  <a:srgbClr val="E8ECF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E8ECF1"/>
                </a:solidFill>
                <a:latin typeface="Malgun Gothic"/>
              </a:rPr>
              <a:t>봉인</a:t>
            </a:r>
            <a:r>
              <a:rPr sz="1250" b="0" i="0" dirty="0">
                <a:solidFill>
                  <a:srgbClr val="E8ECF1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4. 평가 방법론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이 숫자를 믿어도 되는 이유 — 두 가지 장치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486400" cy="28346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91440" cy="28346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1481328"/>
            <a:ext cx="5120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6CB0"/>
                </a:solidFill>
                <a:latin typeface="Malgun Gothic"/>
              </a:rPr>
              <a:t>장치 ① 채점 규칙을 결과 보기 전에 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883664"/>
            <a:ext cx="5102352" cy="2194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test 96 shot은 모델을 만들기 전에 봉인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→ 선택이 끝날 때까지 한 번도 열지 않음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모델 선택은 전부 검증셋에서만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결과를 보기 전에 문서로 못박은 것들: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  · 비교 상대는 PCHIP 보간으로 확정 (사후 교체 금지)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  · 보간이 예측 못 하는 지점은 직전값으로 채점 (제외 금지)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  · '이겼다' = 95% 신뢰구간이 0을 제외할 때만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71600"/>
            <a:ext cx="5486400" cy="28346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91440" cy="28346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4" y="1481328"/>
            <a:ext cx="5120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743B"/>
                </a:solidFill>
                <a:latin typeface="Malgun Gothic"/>
              </a:rPr>
              <a:t>장치 ② 신뢰구간은 행이 아니라 방전 단위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883664"/>
            <a:ext cx="5102352" cy="2194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10 ms 간격의 인접 측정은 거의 복사본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→ 34,644행 ≠ 34,644개의 독립 증거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행을 독립으로 세면 신뢰구간이 너무 좁아져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  '유의하게 이겼다'가 너무 쉽게 나옴 (거짓 확신)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해법: 오차를 shot으로 묶어 96개 shot을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  통째로 복원추출 × 10,000회 (paired bootstrap)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→ '새로운 방전에서도 이길까?'에 답하는 CI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43400"/>
            <a:ext cx="6949440" cy="16916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26679" y="4343400"/>
            <a:ext cx="3977639" cy="169164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4480560"/>
            <a:ext cx="356616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743B"/>
                </a:solidFill>
                <a:latin typeface="Malgun Gothic"/>
              </a:rPr>
              <a:t>공정한 비교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algun Gothic"/>
              </a:rPr>
              <a:t>모델과 모든 기준선을 같은 샘플 · 같은 관측 마스크로 채점 — 누구도 유리한 표본을 받지 않음.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E8ECF1"/>
                </a:solidFill>
                <a:latin typeface="Malgun Gothic"/>
              </a:rPr>
              <a:t>유효 표본 = shot 수 (Tᵢ 96 · V_rot 91)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5E0C58-A432-79DB-4408-A13E633A81F5}"/>
              </a:ext>
            </a:extLst>
          </p:cNvPr>
          <p:cNvSpPr txBox="1"/>
          <p:nvPr/>
        </p:nvSpPr>
        <p:spPr>
          <a:xfrm>
            <a:off x="777240" y="4416552"/>
            <a:ext cx="6492240" cy="1554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solidFill>
                  <a:srgbClr val="13335F"/>
                </a:solidFill>
                <a:latin typeface="Malgun Gothic"/>
              </a:rPr>
              <a:t>Murphy (1988) skill score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dirty="0">
                <a:solidFill>
                  <a:srgbClr val="2B6CB0"/>
                </a:solidFill>
                <a:latin typeface="Consolas"/>
              </a:rPr>
              <a:t>skill = 1 − </a:t>
            </a:r>
            <a:r>
              <a:rPr sz="1800" b="1" i="0" dirty="0" err="1">
                <a:solidFill>
                  <a:srgbClr val="2B6CB0"/>
                </a:solidFill>
                <a:latin typeface="Consolas"/>
              </a:rPr>
              <a:t>MSE_model</a:t>
            </a:r>
            <a:r>
              <a:rPr sz="1800" b="1" i="0" dirty="0">
                <a:solidFill>
                  <a:srgbClr val="2B6CB0"/>
                </a:solidFill>
                <a:latin typeface="Consolas"/>
              </a:rPr>
              <a:t> / </a:t>
            </a:r>
            <a:r>
              <a:rPr sz="1800" b="1" i="0" dirty="0" err="1">
                <a:solidFill>
                  <a:srgbClr val="2B6CB0"/>
                </a:solidFill>
                <a:latin typeface="Consolas"/>
              </a:rPr>
              <a:t>MSE_baseline</a:t>
            </a:r>
            <a:endParaRPr sz="1800" b="1" i="0" dirty="0">
              <a:solidFill>
                <a:srgbClr val="2B6CB0"/>
              </a:solidFill>
              <a:latin typeface="Consolas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22B35"/>
                </a:solidFill>
                <a:latin typeface="Malgun Gothic"/>
              </a:rPr>
              <a:t>&gt; 0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이면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모델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우수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, = 0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이면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동률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.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모든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오차는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물리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단위로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역정규화하여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타겟별로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계산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4. 평가 방법론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선택 편향 차단 + shot 단위 부트스트랩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486400" cy="26974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91440" cy="26974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1481328"/>
            <a:ext cx="5120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6CB0"/>
                </a:solidFill>
                <a:latin typeface="Malgun Gothic"/>
              </a:rPr>
              <a:t>3-way split + 사전등록 (PR1–PR4)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883664"/>
            <a:ext cx="5102352" cy="2057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TEST는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아키텍처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탐색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시작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전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예약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—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선택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중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절대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열지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않음</a:t>
            </a:r>
            <a:endParaRPr sz="1200" b="0" i="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모델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선택은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val에서만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→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헤드라인에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winner's curse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없음</a:t>
            </a:r>
            <a:endParaRPr sz="1200" b="0" i="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>
                <a:solidFill>
                  <a:srgbClr val="222B35"/>
                </a:solidFill>
                <a:latin typeface="Malgun Gothic"/>
              </a:rPr>
              <a:t>PR1 headline baseline = PCHIP (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단조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3차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보간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>
                <a:solidFill>
                  <a:srgbClr val="222B35"/>
                </a:solidFill>
                <a:latin typeface="Malgun Gothic"/>
              </a:rPr>
              <a:t>PR2 future-neighbor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없으면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persistence로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평가</a:t>
            </a:r>
            <a:endParaRPr sz="1200" b="0" i="0" dirty="0">
              <a:solidFill>
                <a:srgbClr val="222B35"/>
              </a:solidFill>
              <a:latin typeface="Malgun Gothic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>
                <a:solidFill>
                  <a:srgbClr val="222B35"/>
                </a:solidFill>
                <a:latin typeface="Malgun Gothic"/>
              </a:rPr>
              <a:t>PR3 TEST floor: ≥15 shot &amp; ≥3,000 Tᵢ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샘플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(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충족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>
                <a:solidFill>
                  <a:srgbClr val="222B35"/>
                </a:solidFill>
                <a:latin typeface="Malgun Gothic"/>
              </a:rPr>
              <a:t>PR4 95%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CI가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0을 </a:t>
            </a:r>
            <a:r>
              <a:rPr sz="1200" b="0" i="0" dirty="0" err="1">
                <a:solidFill>
                  <a:srgbClr val="222B35"/>
                </a:solidFill>
                <a:latin typeface="Malgun Gothic"/>
              </a:rPr>
              <a:t>제외하면</a:t>
            </a:r>
            <a:r>
              <a:rPr sz="1200" b="0" i="0" dirty="0">
                <a:solidFill>
                  <a:srgbClr val="222B35"/>
                </a:solidFill>
                <a:latin typeface="Malgun Gothic"/>
              </a:rPr>
              <a:t> 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71600"/>
            <a:ext cx="5486400" cy="26974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91440" cy="269748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4" y="1481328"/>
            <a:ext cx="5120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743B"/>
                </a:solidFill>
                <a:latin typeface="Malgun Gothic"/>
              </a:rPr>
              <a:t>Shot-clustered paired bootstrap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883664"/>
            <a:ext cx="5102352" cy="2057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한 shot 안의 인접 CES 행은 강하게 상관됨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샘플을 독립으로 보면 불확실성을 크게 과소평가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per-sample paired error (SE_model − SE_pchip)를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shot 단위로 묶어 shot 전체를 복원추출 (B = 10,000)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→ CI가 within-shot 가짜 복제가 아닌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   진짜 shot-to-shot 일반화를 반영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51960"/>
            <a:ext cx="6949440" cy="17373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416552"/>
            <a:ext cx="6492240" cy="1554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solidFill>
                  <a:srgbClr val="13335F"/>
                </a:solidFill>
                <a:latin typeface="Malgun Gothic"/>
              </a:rPr>
              <a:t>Murphy (1988) skill score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dirty="0">
                <a:solidFill>
                  <a:srgbClr val="2B6CB0"/>
                </a:solidFill>
                <a:latin typeface="Consolas"/>
              </a:rPr>
              <a:t>skill = 1 − </a:t>
            </a:r>
            <a:r>
              <a:rPr sz="1800" b="1" i="0" dirty="0" err="1">
                <a:solidFill>
                  <a:srgbClr val="2B6CB0"/>
                </a:solidFill>
                <a:latin typeface="Consolas"/>
              </a:rPr>
              <a:t>MSE_model</a:t>
            </a:r>
            <a:r>
              <a:rPr sz="1800" b="1" i="0" dirty="0">
                <a:solidFill>
                  <a:srgbClr val="2B6CB0"/>
                </a:solidFill>
                <a:latin typeface="Consolas"/>
              </a:rPr>
              <a:t> / </a:t>
            </a:r>
            <a:r>
              <a:rPr sz="1800" b="1" i="0" dirty="0" err="1">
                <a:solidFill>
                  <a:srgbClr val="2B6CB0"/>
                </a:solidFill>
                <a:latin typeface="Consolas"/>
              </a:rPr>
              <a:t>MSE_baseline</a:t>
            </a:r>
            <a:endParaRPr sz="1800" b="1" i="0" dirty="0">
              <a:solidFill>
                <a:srgbClr val="2B6CB0"/>
              </a:solidFill>
              <a:latin typeface="Consolas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22B35"/>
                </a:solidFill>
                <a:latin typeface="Malgun Gothic"/>
              </a:rPr>
              <a:t>&gt; 0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이면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모델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우수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, = 0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이면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동률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.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모든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오차는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물리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단위로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역정규화하여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타겟별로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2B35"/>
                </a:solidFill>
                <a:latin typeface="Malgun Gothic"/>
              </a:rPr>
              <a:t>계산</a:t>
            </a:r>
            <a:r>
              <a:rPr sz="1250" b="0" i="0" dirty="0">
                <a:solidFill>
                  <a:srgbClr val="222B35"/>
                </a:solidFill>
                <a:latin typeface="Malgun Gothic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4251960"/>
            <a:ext cx="3977639" cy="173736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4416552"/>
            <a:ext cx="3566160" cy="1554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743B"/>
                </a:solidFill>
                <a:latin typeface="Malgun Gothic"/>
              </a:rPr>
              <a:t>공정성 보장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algun Gothic"/>
              </a:rPr>
              <a:t>모델과 모든 baseline을 동일한 (file, row) 샘플 집합 · 동일 per-target mask로 채점 — 어떤 arm도 thinning 되지 않음.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E8ECF1"/>
                </a:solidFill>
                <a:latin typeface="Malgun Gothic"/>
              </a:rPr>
              <a:t>검정력 한계: Tᵢ 96 · V_rot 91 shot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3291840" cy="1920240"/>
          </a:xfrm>
          <a:prstGeom prst="rect">
            <a:avLst/>
          </a:prstGeom>
          <a:solidFill>
            <a:srgbClr val="0E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2926080" cy="21945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E8743B"/>
                </a:solidFill>
                <a:latin typeface="Malgun Gothic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743200"/>
            <a:ext cx="38100" cy="14630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23360" y="2788920"/>
            <a:ext cx="768096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Malgun Gothic"/>
              </a:rPr>
              <a:t>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3703320"/>
            <a:ext cx="768096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causal 압도 · Tᵢ 보간 유의 · Tᵢ↔V_rot 비대칭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5. 결과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causal baseline을 큰 폭으로 압도 (강건한 결과)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10</a:t>
            </a:r>
          </a:p>
        </p:txBody>
      </p:sp>
      <p:pic>
        <p:nvPicPr>
          <p:cNvPr id="10" name="Picture 9" descr="fig_rmse_lad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64" y="1325880"/>
            <a:ext cx="10876912" cy="40233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5440680"/>
            <a:ext cx="10881360" cy="868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5156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두 타겟 모두 모델 RMSE가 사다리에서 최저. </a:t>
            </a:r>
            <a:r>
              <a:rPr sz="1350" b="0" i="0">
                <a:solidFill>
                  <a:srgbClr val="222B35"/>
                </a:solidFill>
                <a:latin typeface="Malgun Gothic"/>
              </a:rPr>
              <a:t>persistence·AR(causal) 대비 큰 마진으로 우수 — 온라인/실시간 환경에서 모델이 명확한 승자. 보간(PCHIP/Linear)보다도 point estimate는 앞섬.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AAB60CF-A329-2510-554F-3E2234A28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825" y="4122967"/>
            <a:ext cx="1885906" cy="4940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5. 결과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보간 대비 headline — 최종 모델, 4 seed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11</a:t>
            </a:r>
          </a:p>
        </p:txBody>
      </p:sp>
      <p:pic>
        <p:nvPicPr>
          <p:cNvPr id="10" name="Picture 9" descr="fig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537" y="1280160"/>
            <a:ext cx="9204166" cy="3566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5486400" cy="14173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4892040"/>
            <a:ext cx="91440" cy="14173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5001768"/>
            <a:ext cx="5120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E9E5B"/>
                </a:solidFill>
                <a:latin typeface="Malgun Gothic"/>
              </a:rPr>
              <a:t>CES_TI — PASS (강건)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5404104"/>
            <a:ext cx="5102352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4개 독립 test split(seed 42/1/7/123) 모두 CI &gt; 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skill_vs_pchip = +0.19 ~ +0.28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(1/7/123은 아키텍처 선택에 한 번도 안 쓰임)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892040"/>
            <a:ext cx="5486400" cy="14173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4892040"/>
            <a:ext cx="91440" cy="1417320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5001768"/>
            <a:ext cx="5120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B6670"/>
                </a:solidFill>
                <a:latin typeface="Malgun Gothic"/>
              </a:rPr>
              <a:t>CES_VT — n.s.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5404104"/>
            <a:ext cx="5102352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4 seed 모두 CI가 0을 포함 (유의하지 않음)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point estimate는 +지만 통계적 미지지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→ Tᵢ↔V_rot 비대칭 (다음 슬라이드)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5. 결과 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Tᵢ ↔ V_rot 비대칭 — 본 연구의 과학적 발견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12</a:t>
            </a:r>
          </a:p>
        </p:txBody>
      </p:sp>
      <p:pic>
        <p:nvPicPr>
          <p:cNvPr id="10" name="Picture 9" descr="fig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11408"/>
            <a:ext cx="6583680" cy="318382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69480" y="1417320"/>
            <a:ext cx="4434840" cy="45720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1572768"/>
            <a:ext cx="40233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물리적 해석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103120"/>
            <a:ext cx="4023360" cy="3840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E8743B"/>
                </a:solidFill>
                <a:latin typeface="Malgun Gothic"/>
              </a:rPr>
              <a:t>●  Tᵢ: 빠른 진단이 진짜 정보 운반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충돌 e–i 결합 (t_ei ∝ Tₑ^1.5/nₑ) → ECEI(Tₑ)+BES(nₑ)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fast-only도 persistence 능가 (+0.372)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B6CB0"/>
                </a:solidFill>
                <a:latin typeface="Malgun Gothic"/>
              </a:rPr>
              <a:t>●  V_rot: 정보는 거의 전적으로 과거 CES 이력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토로이달 회전은 미관측 NBI 토크가 주도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Mirnov 100 Hz 순간샘플 → kHz 모드 소실 (lag-1 r=−0.01)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0392B"/>
                </a:solidFill>
                <a:latin typeface="Malgun Gothic"/>
              </a:rPr>
              <a:t>–  fast-only V_rot = −0.64 (persistence보다 나쁨)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C0392B"/>
                </a:solidFill>
                <a:latin typeface="Malgun Gothic"/>
              </a:rPr>
              <a:t>●  ‘Tₑ가 NBI 가열을 대리한다’ 가설도 기각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shot간 Tₑ~Tᵢ r=+0.35 (p~1e−17) — 경로는 실재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그러나 Tₑ~V_rot r=+0.02 (p=0.58) — 전달 안 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●  V_rot의 비-승리는 실패가 아니라 발견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5. 결과 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모델의 우위는 '고변동(peak) 구간'에 집중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13</a:t>
            </a:r>
          </a:p>
        </p:txBody>
      </p:sp>
      <p:pic>
        <p:nvPicPr>
          <p:cNvPr id="10" name="Picture 9" descr="fig_p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2084"/>
            <a:ext cx="6400800" cy="293103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23760" y="1463040"/>
            <a:ext cx="4480560" cy="44348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360" y="1618488"/>
            <a:ext cx="41148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어디서 가치를 버는가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148840"/>
            <a:ext cx="4114800" cy="3657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peak = 입력 기반 고-국소활동 이웃 (타겟 행 제외)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pointwise 극값이 아니라 보수적 영역 proxy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B9E8A"/>
                </a:solidFill>
                <a:latin typeface="Malgun Gothic"/>
              </a:rPr>
              <a:t>●  Tᵢ: global +0.272 → peak +0.702 (PASS)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보간은 매끄러운 bulk에서 거의 최적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B9E8A"/>
                </a:solidFill>
                <a:latin typeface="Malgun Gothic"/>
              </a:rPr>
              <a:t>●  V_rot: global +0.131 → peak +0.438 (PASS)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global은 약하지만 peak에서는 통과 — 비대칭은 regional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Tᵢ ablation: peak에서 빠른진단 제거 시 큰 손해 (유의)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5. 결과 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급변 구간을 눈으로 — held-out shot #31815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14</a:t>
            </a:r>
          </a:p>
        </p:txBody>
      </p:sp>
      <p:pic>
        <p:nvPicPr>
          <p:cNvPr id="10" name="Picture 9" descr="fig_transient_318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65" y="1298448"/>
            <a:ext cx="6302869" cy="4937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0" y="1463040"/>
            <a:ext cx="4389120" cy="44805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1609344"/>
            <a:ext cx="3977639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한 shot에서 실제로 벌어지는 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121408"/>
            <a:ext cx="3977639" cy="3657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빠른 진단이 급변을 먼저 본다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BES 급락(빨간 점선)이 CES crash와 정렬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5B6670"/>
                </a:solidFill>
                <a:latin typeface="Malgun Gothic"/>
              </a:rPr>
              <a:t>●  PCHIP는 스파이크마다 overshoot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과거+미래를 다 보는 오프라인 보간인데도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8743B"/>
                </a:solidFill>
                <a:latin typeface="Malgun Gothic"/>
              </a:rPr>
              <a:t>●  Tᵢ: RMSE 210 vs PCHIP 263 → skill +0.36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peak 구간만 보면 Tᵢ skill +0.63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B6CB0"/>
                </a:solidFill>
                <a:latin typeface="Malgun Gothic"/>
              </a:rPr>
              <a:t>●  V_rot: +0.20 — 이 shot은 두 타겟 모두 승리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5B6670"/>
                </a:solidFill>
                <a:latin typeface="Malgun Gothic"/>
              </a:rPr>
              <a:t>●  단, 보간을 이기는 건 test 89 shot 중 43개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13335F"/>
                </a:solidFill>
                <a:latin typeface="Malgun Gothic"/>
              </a:rPr>
              <a:t>–  → 우위는 gap·peak 구간에 집중된다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Malgun Gothic"/>
              </a:rPr>
              <a:t>5. 결과 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정직성 점검: held/stuck CES_VT 감사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24712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22B35"/>
                </a:solidFill>
                <a:latin typeface="Malgun Gothic"/>
              </a:rPr>
              <a:t>후반 audit 결과 </a:t>
            </a:r>
            <a:r>
              <a:rPr sz="1450" b="1" i="0">
                <a:solidFill>
                  <a:srgbClr val="C0392B"/>
                </a:solidFill>
                <a:latin typeface="Malgun Gothic"/>
              </a:rPr>
              <a:t>관측된 CES_VT의 약 54%가 held/forward-fill</a:t>
            </a:r>
            <a:r>
              <a:rPr sz="1400" b="0" i="0">
                <a:solidFill>
                  <a:srgbClr val="222B35"/>
                </a:solidFill>
                <a:latin typeface="Malgun Gothic"/>
              </a:rPr>
              <a:t>이었다 — 직전 관측값과 bit-identical(같은 시간블록 내 최대 1214행 연속). V_rot의 native cadence가 행 cadence보다 느려 값이 carry-forward된 것으로, 진짜 측정이 아니다. CES_TI는 held 0.0%로 사실상 무관.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12848"/>
            <a:ext cx="5852160" cy="3291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641개 중 499 shot 파일이 영향받음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학습은 오염이 아님 — held 값을 마스킹해도 genuine 성능 향상 없음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–  → 학습은 유지, 평가만 genuine 측정값으로 재실행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2E9E5B"/>
                </a:solidFill>
                <a:latin typeface="Malgun Gothic"/>
              </a:rPr>
              <a:t>●  CES_TI는 genuine-only 평가에서도 4 seed 모두 PASS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C0392B"/>
                </a:solidFill>
                <a:latin typeface="Malgun Gothic"/>
              </a:rPr>
              <a:t>●  보고된 V_rot 물리 RMSE는 held 값 때문에 35~55% deflated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Tᵢ↔V_rot 비대칭 결론은 그대로 유지 (genuine에서 VT는 3/4 seed n.s.)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212848"/>
            <a:ext cx="5120640" cy="36118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2340864"/>
            <a:ext cx="47548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V_rot RMSE: 보고값 vs genuine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798064"/>
            <a:ext cx="11887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670"/>
                </a:solidFill>
                <a:latin typeface="Malgun Gothic"/>
              </a:rPr>
              <a:t>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798064"/>
            <a:ext cx="21031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670"/>
                </a:solidFill>
                <a:latin typeface="Malgun Gothic"/>
              </a:rPr>
              <a:t>보고(stuck 포함)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798064"/>
            <a:ext cx="1371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670"/>
                </a:solidFill>
                <a:latin typeface="Malgun Gothic"/>
              </a:rPr>
              <a:t>genuine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209544"/>
            <a:ext cx="11887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Consolas"/>
              </a:rPr>
              <a:t>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209544"/>
            <a:ext cx="21031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A5B1"/>
                </a:solidFill>
                <a:latin typeface="Consolas"/>
              </a:rPr>
              <a:t>22.5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3209544"/>
            <a:ext cx="1371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35.0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666744"/>
            <a:ext cx="11887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Consola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666744"/>
            <a:ext cx="21031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A5B1"/>
                </a:solidFill>
                <a:latin typeface="Consolas"/>
              </a:rPr>
              <a:t>24.7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3666744"/>
            <a:ext cx="1371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34.8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123944"/>
            <a:ext cx="11887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Consolas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123944"/>
            <a:ext cx="21031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A5B1"/>
                </a:solidFill>
                <a:latin typeface="Consolas"/>
              </a:rPr>
              <a:t>30.0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4123944"/>
            <a:ext cx="1371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43.5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581144"/>
            <a:ext cx="11887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Consolas"/>
              </a:rPr>
              <a:t>123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581144"/>
            <a:ext cx="21031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A5B1"/>
                </a:solidFill>
                <a:latin typeface="Consolas"/>
              </a:rPr>
              <a:t>32.9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4581144"/>
            <a:ext cx="1371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46.5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093207"/>
            <a:ext cx="466344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B6670"/>
                </a:solidFill>
                <a:latin typeface="Malgun Gothic"/>
              </a:rPr>
              <a:t>held 타겟은 baseline 오차가 ≈0이라 보고 RMSE를 끌어내린다. 숫자는 정정했고 결론은 바뀌지 않았다.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6.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정직한 결론 (4가지)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11155680" cy="10789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572768"/>
            <a:ext cx="768096" cy="768096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72768"/>
            <a:ext cx="768096" cy="7680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536192"/>
            <a:ext cx="99669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3335F"/>
                </a:solidFill>
                <a:latin typeface="Malgun Gothic"/>
              </a:rPr>
              <a:t>causal baseline을 결정적으로 압도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947672"/>
            <a:ext cx="996696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persistence·AR 대비 두 타겟 모두 큰 마진 (Tᵢ 372 vs 487/1006). 강건하고 방어 가능한 결과 — 온라인/실시간에서 명확한 승자.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24328"/>
            <a:ext cx="11155680" cy="10789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8368" y="2779776"/>
            <a:ext cx="768096" cy="768096"/>
          </a:xfrm>
          <a:prstGeom prst="round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779776"/>
            <a:ext cx="768096" cy="7680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743200"/>
            <a:ext cx="99669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3335F"/>
                </a:solidFill>
                <a:latin typeface="Malgun Gothic"/>
              </a:rPr>
              <a:t>CES_TI: 미래 보간도 유의하게 능가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154680"/>
            <a:ext cx="996696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최종 모델·4 seed에서 skill_vs_pchip +0.19~+0.28, shot-clustered 95% CI가 매번 0을 제외 (PASS). genuine-only 평가에서도 강건.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31336"/>
            <a:ext cx="11155680" cy="10789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8" y="3986784"/>
            <a:ext cx="768096" cy="768096"/>
          </a:xfrm>
          <a:prstGeom prst="round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986784"/>
            <a:ext cx="768096" cy="7680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950208"/>
            <a:ext cx="99669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3335F"/>
                </a:solidFill>
                <a:latin typeface="Malgun Gothic"/>
              </a:rPr>
              <a:t>CES_VT: 보간과 동률 (n.s.)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361688"/>
            <a:ext cx="996696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point estimate는 +지만 통계적으로 미지지. 검정력 한계(≈91 shot)와 heavy-tailed 오차가 구속. 과대주장하지 않음.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38344"/>
            <a:ext cx="11155680" cy="10789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8368" y="5193792"/>
            <a:ext cx="768096" cy="768096"/>
          </a:xfrm>
          <a:prstGeom prst="round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5193792"/>
            <a:ext cx="768096" cy="7680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157216"/>
            <a:ext cx="99669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3335F"/>
                </a:solidFill>
                <a:latin typeface="Malgun Gothic"/>
              </a:rPr>
              <a:t>Tᵢ ↔ V_rot 비대칭 = 과학적 기여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568696"/>
            <a:ext cx="996696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빠른 진단은 10 ms에서 Tᵢ 정보는 운반하나 V_rot 정보는 거의 없음 (NBI 토크 미관측 + Mirnov aliasing). 물리적으로 예측되고 ablation으로 확인됨.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6. 한계 &amp; 향후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무엇을 주장하지 않는가, 다음은 무엇인가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486400" cy="36576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109728" cy="3657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499616"/>
            <a:ext cx="50292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0392B"/>
                </a:solidFill>
                <a:latin typeface="Malgun Gothic"/>
              </a:rPr>
              <a:t>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5074920" cy="2926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검정력: test shot Tᵢ 96 · V_rot 91개뿐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모든 유의성 판정의 근본 구속조건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heavy-tailed 오차: 소수 방전이 분산을 지배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MNAR: 관측된 지점에서만 채점 → 낙관적 상한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진짜 결측 구간은 참값이 없어 직접 검증 불가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metric 비대칭: 보간은 full-shot 이웃, 모델은 window = 4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단일 아키텍처 · 단일 window — 민감도 미특성화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486400" cy="36576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109728" cy="365760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499616"/>
            <a:ext cx="50292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B9E8A"/>
                </a:solidFill>
                <a:latin typeface="Malgun Gothic"/>
              </a:rPr>
              <a:t>향후 연구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5074920" cy="2926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NBI 토크 신호 확보 — V_rot의 가장 확실한 레버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원본 kHz Mirnov 신호로 aliasing 우회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bracket-distance 층화: 가장 가까운 미래 anchor까지 거리</a:t>
            </a:r>
          </a:p>
          <a:p>
            <a:pPr lvl="1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보간이 가장 어려운 sub-population에서 powered win 발굴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더 많은 test shot · 다중 캠페인 → 검정력 직접 보강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peak-weighted loss, window 민감도 sweep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230368"/>
            <a:ext cx="112471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Malgun Gothic"/>
              </a:rPr>
              <a:t>검증된 음성 결과: </a:t>
            </a:r>
            <a:r>
              <a:rPr sz="1250" b="0" i="0">
                <a:solidFill>
                  <a:srgbClr val="222B35"/>
                </a:solidFill>
                <a:latin typeface="Malgun Gothic"/>
              </a:rPr>
              <a:t>Mirnov를 적분·PCHIP적분·|MC|·이동RMS로 재가공해도 학습 성능 개선 없음 (CES_TI 평균 −0.074, 4/4 음수). 재가공이 아니라 미관측 물리량 확보가 레버다.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7. 진행 중인 후속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연속시간 모델 4종 — 이산시간을 벗어난 첫 통제 실험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11247120" cy="530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지금까지의 탐색(46 iteration)은 전부 이산시간 계열 — Δt를 입력 피처로만 소비. </a:t>
            </a:r>
            <a:r>
              <a:rPr sz="1300" b="1" i="0">
                <a:solidFill>
                  <a:srgbClr val="13335F"/>
                </a:solidFill>
                <a:latin typeface="Malgun Gothic"/>
              </a:rPr>
              <a:t>타겟의 시간 발전은 물리적으로 완화 ODE(dL/dt = T_NBI - L/τφ)</a:t>
            </a:r>
            <a:r>
              <a:rPr sz="1300" b="0" i="0">
                <a:solidFill>
                  <a:srgbClr val="222B35"/>
                </a:solidFill>
                <a:latin typeface="Malgun Gothic"/>
              </a:rPr>
              <a:t> — hidden state가 실제 Δt를 따라 발전하는 4종을 검증 중.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28800"/>
            <a:ext cx="5486400" cy="157276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91440" cy="157276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1938528"/>
            <a:ext cx="5120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6CB0"/>
                </a:solidFill>
                <a:latin typeface="Malgun Gothic"/>
              </a:rPr>
              <a:t>① 지수감쇠 GRU  (GRU-D형, Che 2018)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340864"/>
            <a:ext cx="5102352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관측 사이에 hidden state를 e^(-γ·Δt)로 감쇠 (γ = 유닛별 학습 시상수)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‘평형 복귀’ 완화 prior의 최소 구현 — γ→0이면 기존 GRU로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퇴화하는 안전한 확장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5486400" cy="157276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91440" cy="1572768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1384" y="1938528"/>
            <a:ext cx="5120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9E8A"/>
                </a:solidFill>
                <a:latin typeface="Malgun Gothic"/>
              </a:rPr>
              <a:t>② ODE-RNN  (Rubanova 2019)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2340864"/>
            <a:ext cx="5102352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관측 사이 dh/dt = f(h)를 고정스텝 RK4로 적분, 관측 시점마다 GRU 갱신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상태 의존 · 비선형 완화(예: 온도 의존 감쇠율, 채널 간 결합)까지 표현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47872"/>
            <a:ext cx="5486400" cy="157276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547872"/>
            <a:ext cx="91440" cy="157276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3657600"/>
            <a:ext cx="5120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9E5B"/>
                </a:solidFill>
                <a:latin typeface="Malgun Gothic"/>
              </a:rPr>
              <a:t>③ Neural CDE  (Kidger 2020)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4059936"/>
            <a:ext cx="5102352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관측 궤적의 선형보간 경로 X를 control로 dh = f(h)·dX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‘관측만 따라간다’는 보간의 귀납 편향을 모델 내부로 흡수한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연속시간 인코더 — 본 연구의 bar와 가장 가까운 구조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547872"/>
            <a:ext cx="5486400" cy="157276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3547872"/>
            <a:ext cx="91440" cy="1572768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1384" y="3657600"/>
            <a:ext cx="5120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④ Δt-정확 대각 SSM  (S4D/Mamba형, Gu 2022)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4059936"/>
            <a:ext cx="5102352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학습된 시상수 은행(1–100 격자 스텝)을 실제 Δt로 정확 이산화(ZOH)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장·단기 완화 성분을 선형 필터로 분리 — 게이트 RNN과 상보적 메커니즘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03520"/>
            <a:ext cx="1124712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공통 프로토콜  </a:t>
            </a:r>
            <a:r>
              <a:rPr sz="1250" b="0" i="0">
                <a:solidFill>
                  <a:srgbClr val="222B35"/>
                </a:solidFill>
                <a:latin typeface="Malgun Gothic"/>
              </a:rPr>
              <a:t>최종 모델에서 이력 인코더만 교체(통제변수 1개) · 동일 4-split(42/1/7/123) paired shot-clustered bootstrap · 판정 규칙 사전 등록 후 실행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다음 후보  </a:t>
            </a:r>
            <a:r>
              <a:rPr sz="1250" b="0" i="0">
                <a:solidFill>
                  <a:srgbClr val="222B35"/>
                </a:solidFill>
                <a:latin typeface="Malgun Gothic"/>
              </a:rPr>
              <a:t>확률적 gap-filling(diffusion, CSDI형) — 결측 구간 불확실성 정량화 · NBI 토크 신호 확보 — V_rot의 1순위 레버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7. 진행 중인 후속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재프레이밍 실험: 전체 격자 LSTM + 결측은 loss에서만 마스킹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1124712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22B35"/>
                </a:solidFill>
                <a:latin typeface="Malgun Gothic"/>
              </a:rPr>
              <a:t>결측 행을 버리지 않고 전 행을 causal LSTM에 넣은 뒤 관측된 값에만 채점 — 4-seed paired vs 최종모델 iter009 (shot-clustered bootstrap).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11201400" cy="566928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029968"/>
            <a:ext cx="1088136" cy="4754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Malgun Gothic"/>
              </a:rPr>
              <a:t>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029968"/>
            <a:ext cx="4837176" cy="4754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Malgun Gothic"/>
              </a:rPr>
              <a:t>paired CES_TI (seq vs iter009)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029968"/>
            <a:ext cx="4837176" cy="4754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Malgun Gothic"/>
              </a:rPr>
              <a:t>paired CES_VT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06040"/>
            <a:ext cx="1088136" cy="6217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22B35"/>
                </a:solidFill>
                <a:latin typeface="Malgun Gothic"/>
              </a:rPr>
              <a:t>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606040"/>
            <a:ext cx="4837176" cy="6217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22B35"/>
                </a:solidFill>
                <a:latin typeface="Malgun Gothic"/>
              </a:rPr>
              <a:t>+0.078  [-0.010, +0.162]   n.s.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606040"/>
            <a:ext cx="4837176" cy="6217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0392B"/>
                </a:solidFill>
                <a:latin typeface="Malgun Gothic"/>
              </a:rPr>
              <a:t>-0.103  [-0.231, -0.021]   유의하게 나쁨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36595"/>
            <a:ext cx="1120140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11201400" cy="71323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319272"/>
            <a:ext cx="1088136" cy="6217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22B35"/>
                </a:solidFill>
                <a:latin typeface="Malgun Gothi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319272"/>
            <a:ext cx="4837176" cy="6217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22B35"/>
                </a:solidFill>
                <a:latin typeface="Malgun Gothic"/>
              </a:rPr>
              <a:t>+0.030  [-0.015, +0.086]   n.s.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319272"/>
            <a:ext cx="4837176" cy="6217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0392B"/>
                </a:solidFill>
                <a:latin typeface="Malgun Gothic"/>
              </a:rPr>
              <a:t>-0.048  [-0.106, -0.003]   유의하게 나쁨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49827"/>
            <a:ext cx="1120140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032504"/>
            <a:ext cx="1088136" cy="6217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22B35"/>
                </a:solidFill>
                <a:latin typeface="Malgun Gothic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032504"/>
            <a:ext cx="4837176" cy="6217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22B35"/>
                </a:solidFill>
                <a:latin typeface="Malgun Gothic"/>
              </a:rPr>
              <a:t>+0.011  [-0.038, +0.075]   n.s.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032504"/>
            <a:ext cx="4837176" cy="6217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22B35"/>
                </a:solidFill>
                <a:latin typeface="Malgun Gothic"/>
              </a:rPr>
              <a:t>-0.061  [-0.202, +0.051]   n.s.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663059"/>
            <a:ext cx="1120140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4672584"/>
            <a:ext cx="11201400" cy="71323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4745736"/>
            <a:ext cx="1088136" cy="6217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22B35"/>
                </a:solidFill>
                <a:latin typeface="Malgun Gothic"/>
              </a:rPr>
              <a:t>123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745736"/>
            <a:ext cx="4837176" cy="6217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9E5B"/>
                </a:solidFill>
                <a:latin typeface="Malgun Gothic"/>
              </a:rPr>
              <a:t>+0.049  [+0.012, +0.080]   유의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745736"/>
            <a:ext cx="4837176" cy="6217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22B35"/>
                </a:solidFill>
                <a:latin typeface="Malgun Gothic"/>
              </a:rPr>
              <a:t>+0.017  [-0.015, +0.035]   n.s.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376291"/>
            <a:ext cx="1120140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5532120"/>
            <a:ext cx="1124712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9E5B"/>
                </a:solidFill>
                <a:latin typeface="Malgun Gothic"/>
              </a:rPr>
              <a:t>Tᵢ: 4/4 seed 양수(평균 +0.042) · 자체 PR4 4/4 PASS</a:t>
            </a:r>
            <a:r>
              <a:rPr sz="1400" b="0" i="0">
                <a:solidFill>
                  <a:srgbClr val="5B6670"/>
                </a:solidFill>
                <a:latin typeface="Malgun Gothic"/>
              </a:rPr>
              <a:t>   |   </a:t>
            </a:r>
            <a:r>
              <a:rPr sz="1400" b="0" i="0">
                <a:solidFill>
                  <a:srgbClr val="222B35"/>
                </a:solidFill>
                <a:latin typeface="Malgun Gothic"/>
              </a:rPr>
              <a:t>V_rot: held 오염 + 라우팅 부재로 원인 확정 → seq v2(라우팅 이식 + held-free)로 보완 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2011680" cy="508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한 장 요약 — 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256032" cy="2560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2002536"/>
            <a:ext cx="100584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항상 있는 빠른 진단으로 자주 비는 CES를 채우는 데이터 기반 가상 센서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724912"/>
            <a:ext cx="256032" cy="2560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2624328"/>
            <a:ext cx="100584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미래까지 보는 오프라인 보간을 causal 모델로 이기는 — 의도적으로 어려운 bar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346704"/>
            <a:ext cx="256032" cy="256032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3246120"/>
            <a:ext cx="100584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CES_TI는 4 seed 모두 보간을 통계적으로 유의하게 능가 (shot-clustered CI)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968496"/>
            <a:ext cx="256032" cy="256032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3867912"/>
            <a:ext cx="100584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CES_VT는 동률(n.s.) — 빠른 진단에 회전 정보가 없다는 Tᵢ↔V_rot 비대칭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590288"/>
            <a:ext cx="256032" cy="2560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4489704"/>
            <a:ext cx="100584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모델의 가치는 고변동(peak)·급변 구간에 집중 · causal baseline은 압도적 능가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440680"/>
            <a:ext cx="10515600" cy="25400"/>
          </a:xfrm>
          <a:prstGeom prst="rect">
            <a:avLst/>
          </a:prstGeom>
          <a:solidFill>
            <a:srgbClr val="2A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algun Gothic"/>
              </a:rPr>
              <a:t>감사합니다.  </a:t>
            </a:r>
            <a:r>
              <a:rPr sz="2200" b="1" i="0">
                <a:solidFill>
                  <a:srgbClr val="E8743B"/>
                </a:solidFill>
                <a:latin typeface="Malgun Gothic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7519</Words>
  <Application>Microsoft Office PowerPoint</Application>
  <PresentationFormat>와이드스크린</PresentationFormat>
  <Paragraphs>772</Paragraphs>
  <Slides>23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lss</cp:lastModifiedBy>
  <cp:revision>4</cp:revision>
  <dcterms:created xsi:type="dcterms:W3CDTF">2013-01-27T09:14:16Z</dcterms:created>
  <dcterms:modified xsi:type="dcterms:W3CDTF">2026-07-30T05:02:20Z</dcterms:modified>
  <cp:category/>
</cp:coreProperties>
</file>