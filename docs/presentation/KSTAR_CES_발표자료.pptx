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E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2011680" cy="508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9CC0E8"/>
                </a:solidFill>
                <a:latin typeface="Malgun Gothic"/>
              </a:rPr>
              <a:t>학위논문 발표 · 약 60분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240280"/>
            <a:ext cx="1069848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KSTAR 다중 진단 기반 Multimodal 신경망을 활용한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CES 결측 구간 예측 (Gap-filling / Nowcasting)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빠른 진단(BES · ECEI · Mirnov)과 과거 CES 이력으로 </a:t>
            </a:r>
            <a:r>
              <a:rPr sz="1600" b="1" i="0">
                <a:solidFill>
                  <a:srgbClr val="E8743B"/>
                </a:solidFill>
                <a:latin typeface="Malgun Gothic"/>
              </a:rPr>
              <a:t>이온온도 Tᵢ · 토로이달 회전 V_rot</a:t>
            </a:r>
            <a:r>
              <a:rPr sz="1600" b="0" i="0">
                <a:solidFill>
                  <a:srgbClr val="E8ECF1"/>
                </a:solidFill>
                <a:latin typeface="Malgun Gothic"/>
              </a:rPr>
              <a:t>를 복원하고,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미래까지 보는 오프라인 보간(interpolation)을 이기는가를 통계적으로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이승상  (Seungsang Lee)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A5B1"/>
                </a:solidFill>
                <a:latin typeface="Malgun Gothic"/>
              </a:rPr>
              <a:t>서울대학교 · 원자핵공학  |  KSTAR Charge Exchange Spectroscopy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발표 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5212080" cy="10241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1563624"/>
            <a:ext cx="731520" cy="731520"/>
          </a:xfrm>
          <a:prstGeom prst="round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63624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563624"/>
            <a:ext cx="4114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3335F"/>
                </a:solidFill>
                <a:latin typeface="Malgun Gothic"/>
              </a:rPr>
              <a:t>연구 배경 &amp; 문제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98424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0"/>
                </a:solidFill>
                <a:latin typeface="Malgun Gothic"/>
              </a:rPr>
              <a:t>CES는 왜 자주 비는가 — 가상 센서의 필요성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06040"/>
            <a:ext cx="5212080" cy="10241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2752344"/>
            <a:ext cx="731520" cy="731520"/>
          </a:xfrm>
          <a:prstGeom prst="round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752344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752344"/>
            <a:ext cx="4114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3335F"/>
                </a:solidFill>
                <a:latin typeface="Malgun Gothic"/>
              </a:rPr>
              <a:t>접근법 — 의도적으로 어려운 평가 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17296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0"/>
                </a:solidFill>
                <a:latin typeface="Malgun Gothic"/>
              </a:rPr>
              <a:t>미래를 보는 오프라인 보간을 causal 모델로 이기기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94760"/>
            <a:ext cx="5212080" cy="10241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941064"/>
            <a:ext cx="731520" cy="731520"/>
          </a:xfrm>
          <a:prstGeom prst="round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41064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941064"/>
            <a:ext cx="4114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3335F"/>
                </a:solidFill>
                <a:latin typeface="Malgun Gothic"/>
              </a:rPr>
              <a:t>데이터 &amp; 전처리 파이프라인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36168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0"/>
                </a:solidFill>
                <a:latin typeface="Malgun Gothic"/>
              </a:rPr>
              <a:t>No-Fake-Data · per-target 마스킹 · 누수 방지 split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83480"/>
            <a:ext cx="5212080" cy="10241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9808" y="5129784"/>
            <a:ext cx="731520" cy="73152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129784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129784"/>
            <a:ext cx="4114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3335F"/>
                </a:solidFill>
                <a:latin typeface="Malgun Gothic"/>
              </a:rPr>
              <a:t>Multimodal 모델 아키텍처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55040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0"/>
                </a:solidFill>
                <a:latin typeface="Malgun Gothic"/>
              </a:rPr>
              <a:t>진단별 인코더 + 이력 인코더 + target별 head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1417320"/>
            <a:ext cx="5212080" cy="10241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64808" y="1563624"/>
            <a:ext cx="731520" cy="731520"/>
          </a:xfrm>
          <a:prstGeom prst="round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1563624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1563624"/>
            <a:ext cx="4114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3335F"/>
                </a:solidFill>
                <a:latin typeface="Malgun Gothic"/>
              </a:rPr>
              <a:t>평가 방법론 (통계적 엄밀성)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198424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0"/>
                </a:solidFill>
                <a:latin typeface="Malgun Gothic"/>
              </a:rPr>
              <a:t>3-way split · shot-clustered paired bootstrap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2606040"/>
            <a:ext cx="5212080" cy="10241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64808" y="2752344"/>
            <a:ext cx="731520" cy="731520"/>
          </a:xfrm>
          <a:prstGeom prst="round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2752344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752344"/>
            <a:ext cx="4114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3335F"/>
                </a:solidFill>
                <a:latin typeface="Malgun Gothic"/>
              </a:rPr>
              <a:t>결과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17296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0"/>
                </a:solidFill>
                <a:latin typeface="Malgun Gothic"/>
              </a:rPr>
              <a:t>causal 압도 · Tᵢ 보간 유의 · Tᵢ↔V_rot 비대칭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3794760"/>
            <a:ext cx="5212080" cy="10241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64808" y="3941064"/>
            <a:ext cx="731520" cy="731520"/>
          </a:xfrm>
          <a:prstGeom prst="round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8" y="3941064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941064"/>
            <a:ext cx="4114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3335F"/>
                </a:solidFill>
                <a:latin typeface="Malgun Gothic"/>
              </a:rPr>
              <a:t>AutoML 자율 연구 루프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436168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0"/>
                </a:solidFill>
                <a:latin typeface="Malgun Gothic"/>
              </a:rPr>
              <a:t>Claude 기반 keep/discard autoresearch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4983480"/>
            <a:ext cx="5212080" cy="10241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64808" y="5129784"/>
            <a:ext cx="731520" cy="731520"/>
          </a:xfrm>
          <a:prstGeom prst="round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64808" y="5129784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5129784"/>
            <a:ext cx="4114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3335F"/>
                </a:solidFill>
                <a:latin typeface="Malgun Gothic"/>
              </a:rPr>
              <a:t>결론 · 한계 · 향후 연구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55040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0"/>
                </a:solidFill>
                <a:latin typeface="Malgun Gothic"/>
              </a:rPr>
              <a:t>정직한 결론과 통계적 검정력 한계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3291840" cy="1920240"/>
          </a:xfrm>
          <a:prstGeom prst="rect">
            <a:avLst/>
          </a:prstGeom>
          <a:solidFill>
            <a:srgbClr val="0E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2926080" cy="2194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E8743B"/>
                </a:solidFill>
                <a:latin typeface="Malgun Gothic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743200"/>
            <a:ext cx="38100" cy="14630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788920"/>
            <a:ext cx="76809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Malgun Gothic"/>
              </a:rPr>
              <a:t>연구 배경 &amp; 문제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3703320"/>
            <a:ext cx="7680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CES는 왜 자주 비는가 — 가상 센서의 필요성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1. 연구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진단 장치: 무엇을 측정하나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2B35"/>
                </a:solidFill>
                <a:latin typeface="Malgun Gothic"/>
              </a:rPr>
              <a:t>KSTAR pedestal-top 플라즈마에서 </a:t>
            </a:r>
            <a:r>
              <a:rPr sz="1500" b="1" i="0">
                <a:solidFill>
                  <a:srgbClr val="E8743B"/>
                </a:solidFill>
                <a:latin typeface="Malgun Gothic"/>
              </a:rPr>
              <a:t>CES</a:t>
            </a:r>
            <a:r>
              <a:rPr sz="1500" b="0" i="0">
                <a:solidFill>
                  <a:srgbClr val="222B35"/>
                </a:solidFill>
                <a:latin typeface="Malgun Gothic"/>
              </a:rPr>
              <a:t>는 핵심 물리량을 주지만 느리고 자주 빈다. </a:t>
            </a:r>
            <a:r>
              <a:rPr sz="1500" b="1" i="0">
                <a:solidFill>
                  <a:srgbClr val="13335F"/>
                </a:solidFill>
                <a:latin typeface="Malgun Gothic"/>
              </a:rPr>
              <a:t>빠른 진단(BES·ECEI·MC)은 항상 조밀하게 측정된다.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2697480" cy="3200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011680"/>
            <a:ext cx="91440" cy="32004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2121408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743B"/>
                </a:solidFill>
                <a:latin typeface="Malgun Gothic"/>
              </a:rPr>
              <a:t>CES  (타겟)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523744"/>
            <a:ext cx="2313432" cy="2560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Charge Exchange Spectroscopy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Tᵢ (이온온도), V_rot (토로이달 회전)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광자 수집 필요 → 느림 · 자주 결측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→ 본 연구가 채우려는 대상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2011680"/>
            <a:ext cx="2697480" cy="3200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5848" y="2011680"/>
            <a:ext cx="91440" cy="32004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2121408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6CB0"/>
                </a:solidFill>
                <a:latin typeface="Malgun Gothic"/>
              </a:rPr>
              <a:t>BES  (9 ch)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523744"/>
            <a:ext cx="2313432" cy="2560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Beam Emission Spectroscopy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밀도요동 nₑ 의 공간 구조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10 ms 격자에서 항상 측정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→ Tᵢ 단서 (충돌 e–i 결합)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011680"/>
            <a:ext cx="2697480" cy="3200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8776" y="2011680"/>
            <a:ext cx="91440" cy="320040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121408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9E8A"/>
                </a:solidFill>
                <a:latin typeface="Malgun Gothic"/>
              </a:rPr>
              <a:t>ECEI  (4 ch)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23744"/>
            <a:ext cx="2313432" cy="2560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Electron Cyclotron Emission Imaging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전자온도 Tₑ 2D 영상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10 ms 격자에서 항상 측정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→ Tᵢ 단서 (Tₑ ↔ Tᵢ 결합)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1704" y="2011680"/>
            <a:ext cx="2697480" cy="3200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61704" y="2011680"/>
            <a:ext cx="91440" cy="3200400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9448" y="2121408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5B6670"/>
                </a:solidFill>
                <a:latin typeface="Malgun Gothic"/>
              </a:rPr>
              <a:t>Mirnov coil  (2 ch)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2523744"/>
            <a:ext cx="2313432" cy="2560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자기요동(MHD mode) 신호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10 ms(100 Hz)로 샘플 → kHz 모드 aliasing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회전 정보가 접혀(alias) 사라짐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→ V_rot 직접 정보 거의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4068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핵심 비대칭(미리보기): </a:t>
            </a:r>
            <a:r>
              <a:rPr sz="1400" b="0" i="0">
                <a:solidFill>
                  <a:srgbClr val="222B35"/>
                </a:solidFill>
                <a:latin typeface="Malgun Gothic"/>
              </a:rPr>
              <a:t>빠른 진단은 물리적으로 Tᵢ 정보는 운반하지만 V_rot 정보는 거의 운반하지 않는다 (NBI 토크 미관측 + Mirnov aliasing). 이 가설이 결과에서 그대로 확인된다.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1. 연구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문제: CES는 왜, 얼마나 비는가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5760720" cy="4206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●  CES는 충분한 신호대잡음비(SNR)를 위해 광자를 오래 수집해야 함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–  노출시간 · 신호품질 문제로 특정 시점 측정이 자주 누락됨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●  같은 10 ms 격자에서 Tᵢ ≈ 8%, V_rot ≈ 24% 결측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–  두 타겟은 서로 독립적으로 결측 → target별 처리 필요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●  빠른 진단(BES·ECEI·MC)은 같은 격자에서 100% 조밀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E8743B"/>
                </a:solidFill>
                <a:latin typeface="Malgun Gothic"/>
              </a:rPr>
              <a:t>–  "항상 있는 빠른 진단"으로 "자주 비는 CES"를 채운다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●  기존 대안 UFCES의 한계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–  제한된 파장 채널 + 측정값→Tᵢ/V_rot 역산에 강한 물리 가정 필요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417320"/>
            <a:ext cx="5212080" cy="22860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572768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3335F"/>
                </a:solidFill>
                <a:latin typeface="Malgun Gothic"/>
              </a:rPr>
              <a:t>Multimodal AI 도입의 강점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057400"/>
            <a:ext cx="48006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B9E8A"/>
                </a:solidFill>
                <a:latin typeface="Malgun Gothic"/>
              </a:rPr>
              <a:t>●  결측 시점의 Tᵢ·V_rot를 데이터 기반으로 추정 (gap-filling)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B9E8A"/>
                </a:solidFill>
                <a:latin typeface="Malgun Gothic"/>
              </a:rPr>
              <a:t>●  강한 역산 가정 불필요 — 축대칭(axisymmetry) 수준만 가정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B9E8A"/>
                </a:solidFill>
                <a:latin typeface="Malgun Gothic"/>
              </a:rPr>
              <a:t>●  끊김 없는 연속 CES 가용성 → pedestal 물리 분석에 활용</a:t>
            </a:r>
          </a:p>
        </p:txBody>
      </p:sp>
      <p:pic>
        <p:nvPicPr>
          <p:cNvPr id="14" name="Picture 13" descr="fig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071579"/>
            <a:ext cx="5486400" cy="19152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1. 연구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연구 질문 &amp; 핵심 아이디어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72768"/>
            <a:ext cx="1042416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743B"/>
                </a:solidFill>
                <a:latin typeface="Malgun Gothic"/>
              </a:rPr>
              <a:t>연구 질문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FFFFFF"/>
                </a:solidFill>
                <a:latin typeface="Malgun Gothic"/>
              </a:rPr>
              <a:t>CES가 결측된 10 ms 시점에서, 동시각 빠른 진단(BES·ECEI·MC) + 과거 CES 이력만으로 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Malgun Gothic"/>
              </a:rPr>
              <a:t>CES의 시간 보간(interpolation)이 복원할 수 없는 정보를 회복할 수 있는가?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3611880" cy="22402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71800"/>
            <a:ext cx="91440" cy="22402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3081528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6CB0"/>
                </a:solidFill>
                <a:latin typeface="Malgun Gothic"/>
              </a:rPr>
              <a:t>가상 센서 (Virtual Sensor)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3483864"/>
            <a:ext cx="3227832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빠른 진단으로부터 CES를 데이터 기반 추정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역산(inverse mapping) 가정 없이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결측·고장 시점을 메움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2971800"/>
            <a:ext cx="3611880" cy="22402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2971800"/>
            <a:ext cx="91440" cy="224028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3081528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9E8A"/>
                </a:solidFill>
                <a:latin typeface="Malgun Gothic"/>
              </a:rPr>
              <a:t>Gap-filling / Nowcasting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3483864"/>
            <a:ext cx="3227832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미래를 예보하는 forecasting 아님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현재 시점의 빈 값을 채움 (nowcast)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초해상(super-resolution)과도 구분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864" y="2971800"/>
            <a:ext cx="3611880" cy="22402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55864" y="2971800"/>
            <a:ext cx="91440" cy="224028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3081528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743B"/>
                </a:solidFill>
                <a:latin typeface="Malgun Gothic"/>
              </a:rPr>
              <a:t>정직한 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483864"/>
            <a:ext cx="3227832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진짜 결측은 참값이 없음 → 직접검증 불가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관측된 CES를 가린 뒤 복원 정확도 측정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persistence·mean·보간과 target별 비교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결론의 성격: </a:t>
            </a:r>
            <a:r>
              <a:rPr sz="1350" b="0" i="0">
                <a:solidFill>
                  <a:srgbClr val="222B35"/>
                </a:solidFill>
                <a:latin typeface="Malgun Gothic"/>
              </a:rPr>
              <a:t>masking 검증에서 baseline을 이기면 결측 구간에서도 잘 복원할 것으로 </a:t>
            </a:r>
            <a:r>
              <a:rPr sz="1350" b="1" i="0">
                <a:solidFill>
                  <a:srgbClr val="E8743B"/>
                </a:solidFill>
                <a:latin typeface="Malgun Gothic"/>
              </a:rPr>
              <a:t>추정</a:t>
            </a:r>
            <a:r>
              <a:rPr sz="1350" b="0" i="0">
                <a:solidFill>
                  <a:srgbClr val="222B35"/>
                </a:solidFill>
                <a:latin typeface="Malgun Gothic"/>
              </a:rPr>
              <a:t>한다. 결측이 무작위라는 보장이 없어(MNAR) 결측 지점 정확도를 단정하지 않는 — 정직한 추정.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3291840" cy="1920240"/>
          </a:xfrm>
          <a:prstGeom prst="rect">
            <a:avLst/>
          </a:prstGeom>
          <a:solidFill>
            <a:srgbClr val="0E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2926080" cy="2194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E8743B"/>
                </a:solidFill>
                <a:latin typeface="Malgun Gothic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743200"/>
            <a:ext cx="38100" cy="14630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788920"/>
            <a:ext cx="76809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Malgun Gothic"/>
              </a:rPr>
              <a:t>접근법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3703320"/>
            <a:ext cx="7680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의도적으로 어려운 평가 bar 설정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2. 접근법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의도적으로 어려운 평가 bar: 미래를 보는 보간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2B35"/>
                </a:solidFill>
                <a:latin typeface="Malgun Gothic"/>
              </a:rPr>
              <a:t>모델을 </a:t>
            </a:r>
            <a:r>
              <a:rPr sz="1500" b="1" i="0">
                <a:solidFill>
                  <a:srgbClr val="13335F"/>
                </a:solidFill>
                <a:latin typeface="Malgun Gothic"/>
              </a:rPr>
              <a:t>오프라인 CES-only 보간(linear · PCHIP · local AR)</a:t>
            </a:r>
            <a:r>
              <a:rPr sz="1500" b="0" i="0">
                <a:solidFill>
                  <a:srgbClr val="222B35"/>
                </a:solidFill>
                <a:latin typeface="Malgun Gothic"/>
              </a:rPr>
              <a:t>과 비교한다 — 이 보간들은 타겟 주변의 과거+미래 CES를 모두 사용한다.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5486400" cy="23317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109728" cy="233172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21408"/>
            <a:ext cx="5120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8743B"/>
                </a:solidFill>
                <a:latin typeface="Malgun Gothic"/>
              </a:rPr>
              <a:t>우리 모델 (causal)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0292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타겟 시점의 빠른 진단 (BES·ECEI·MC)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과거 CES 이력 (window = 4)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C0392B"/>
                </a:solidFill>
                <a:latin typeface="Malgun Gothic"/>
              </a:rPr>
              <a:t>●  미래 CES는 전혀 보지 않음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65960"/>
            <a:ext cx="5486400" cy="23317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965960"/>
            <a:ext cx="109728" cy="23317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21408"/>
            <a:ext cx="5120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6CB0"/>
                </a:solidFill>
                <a:latin typeface="Malgun Gothic"/>
              </a:rPr>
              <a:t>보간 baseline (오프라인)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06040"/>
            <a:ext cx="50292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타겟 양쪽의 과거 + 미래 CES 이웃 사용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PCHIP(단조 3차) = pre-registered headline 기준선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0.5 s 이상 gap은 보간 거부 → persistence 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72000"/>
            <a:ext cx="10881360" cy="141732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36592"/>
            <a:ext cx="104241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743B"/>
                </a:solidFill>
                <a:latin typeface="Malgun Gothic"/>
              </a:rPr>
              <a:t>왜 이 정보 비대칭이 핵심인가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Malgun Gothic"/>
              </a:rPr>
              <a:t>미래까지 보는 보간을 causal(과거만 보는) 모델이 이긴다면, 그것은 빠른 진단이 시간 보간으로는 얻을 수 없는 CES 정보를 운반한다는 강력한 증거다.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E8ECF1"/>
                </a:solidFill>
                <a:latin typeface="Malgun Gothic"/>
              </a:rPr>
              <a:t>미래 보간을 이기는 모델은 자명히 모든 causal baseline(persistence·AR)도 이긴다.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2. 접근법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검증 전략과 정직한 caveat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3611880" cy="27432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63040"/>
            <a:ext cx="91440" cy="27432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572768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6CB0"/>
                </a:solidFill>
                <a:latin typeface="Malgun Gothic"/>
              </a:rPr>
              <a:t>Masking 복원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975104"/>
            <a:ext cx="3227832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관측된 CES 값을 가린 뒤 모델이 복원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per-target RMSE/MAE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persistence 대비 skill, mean 대비 R²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ces_history에서 타겟 시점은 완전 마스킹(누수 방지)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463040"/>
            <a:ext cx="3611880" cy="27432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463040"/>
            <a:ext cx="91440" cy="274320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572768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9E8A"/>
                </a:solidFill>
                <a:latin typeface="Malgun Gothic"/>
              </a:rPr>
              <a:t>Observed-only 측정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1975104"/>
            <a:ext cx="3227832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관측된 CES 지점에서만 skill 측정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진짜 결측은 참값이 없어 직접 검증 불가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관측 지점이 결측 지점보다 쉬울 수 있음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463040"/>
            <a:ext cx="3611880" cy="27432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1463040"/>
            <a:ext cx="91440" cy="27432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572768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743B"/>
                </a:solidFill>
                <a:latin typeface="Malgun Gothic"/>
              </a:rPr>
              <a:t>MNAR — 낙관적 상한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1975104"/>
            <a:ext cx="3227832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CES 결측은 무작위 아님 (MNAR)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저 SNR · ELM · 천이에서 drop-out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→ observed-only skill = 낙관적 bound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결측 지점 정확도를 단정하지 않음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26280"/>
            <a:ext cx="108813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81728"/>
            <a:ext cx="1042416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Murphy(1988) skill 정의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B6CB0"/>
                </a:solidFill>
                <a:latin typeface="Consolas"/>
              </a:rPr>
              <a:t>skill_vs_pchip = 1 − MSE_model / MSE_pchip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&gt; 0 이면 모델이 보간보다 우수 · = 0 이면 동률. 모든 오차는 물리 단위로 역정규화하여 target별 계산.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3291840" cy="1920240"/>
          </a:xfrm>
          <a:prstGeom prst="rect">
            <a:avLst/>
          </a:prstGeom>
          <a:solidFill>
            <a:srgbClr val="0E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2926080" cy="2194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E8743B"/>
                </a:solidFill>
                <a:latin typeface="Malgun Gothic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743200"/>
            <a:ext cx="38100" cy="14630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788920"/>
            <a:ext cx="76809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Malgun Gothic"/>
              </a:rPr>
              <a:t>데이터 &amp; 파이프라인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3703320"/>
            <a:ext cx="7680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No-Fake-Data · 마스킹 · 누수 방지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3. 데이터 &amp;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데이터 구성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852160" cy="4389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●  플라즈마 상태 타겟: H-mode ELM suppression (RMP 인가)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–  ELM suppression 유지 중 Dα가 크게 튀는 구간 중심 ~100 ms로 절단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●  샷 번호: #24000 ~ #33000 우선 선정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–  하드웨어 이력 고려 (’17 MicroTCA, ’20 UFCES, ’23 W-divertor)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●  총 641개 shot CSV 파일 (저장소에는 미포함, gitignore)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–  진단 채널: BES 9 · ECEI 4 · Mirnov 2 · time 4 · ces_history 4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B35"/>
                </a:solidFill>
                <a:latin typeface="Malgun Gothic"/>
              </a:rPr>
              <a:t>–  타겟: CES_TI, CES_VT (정규화된 2-벡터)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17320"/>
            <a:ext cx="5120640" cy="448056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572768"/>
            <a:ext cx="4754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743B"/>
                </a:solidFill>
                <a:latin typeface="Malgun Gothic"/>
              </a:rPr>
              <a:t>샘플 1개의 구성 (window =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103120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103120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743B"/>
                </a:solidFill>
                <a:latin typeface="Consolas"/>
              </a:rPr>
              <a:t>(4, 9)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2103120"/>
            <a:ext cx="1920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CF1"/>
                </a:solidFill>
                <a:latin typeface="Malgun Gothic"/>
              </a:rPr>
              <a:t>밀도요동 공간구조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615184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ecei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615184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743B"/>
                </a:solidFill>
                <a:latin typeface="Consolas"/>
              </a:rPr>
              <a:t>(4, 4)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615184"/>
            <a:ext cx="1920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CF1"/>
                </a:solidFill>
                <a:latin typeface="Malgun Gothic"/>
              </a:rPr>
              <a:t>전자온도 2D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127248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mc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127248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743B"/>
                </a:solidFill>
                <a:latin typeface="Consolas"/>
              </a:rPr>
              <a:t>(4, 2)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3127248"/>
            <a:ext cx="1920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CF1"/>
                </a:solidFill>
                <a:latin typeface="Malgun Gothic"/>
              </a:rPr>
              <a:t>자기요동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639312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time_features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639312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743B"/>
                </a:solidFill>
                <a:latin typeface="Consolas"/>
              </a:rPr>
              <a:t>(4, 4)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3639312"/>
            <a:ext cx="1920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CF1"/>
                </a:solidFill>
                <a:latin typeface="Malgun Gothic"/>
              </a:rPr>
              <a:t>불규칙 시간 인코딩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151376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ces_history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151376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743B"/>
                </a:solidFill>
                <a:latin typeface="Consolas"/>
              </a:rPr>
              <a:t>(4, 4)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4151376"/>
            <a:ext cx="1920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CF1"/>
                </a:solidFill>
                <a:latin typeface="Malgun Gothic"/>
              </a:rPr>
              <a:t>이전 Tᵢ·V_rot + 관측 flag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663440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663440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743B"/>
                </a:solidFill>
                <a:latin typeface="Consolas"/>
              </a:rPr>
              <a:t>(2,)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4663440"/>
            <a:ext cx="1920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CF1"/>
                </a:solidFill>
                <a:latin typeface="Malgun Gothic"/>
              </a:rPr>
              <a:t>정규화 [Tᵢ, V_rot]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5175504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target_mask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175504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743B"/>
                </a:solidFill>
                <a:latin typeface="Consolas"/>
              </a:rPr>
              <a:t>(2,)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5175504"/>
            <a:ext cx="1920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CF1"/>
                </a:solidFill>
                <a:latin typeface="Malgun Gothic"/>
              </a:rPr>
              <a:t>관측된 타겟만 손실 반영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3. 데이터 &amp;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No-Fake-Data 원칙과 데이터 계약(contract)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486400" cy="21945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91440" cy="219456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5270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743B"/>
                </a:solidFill>
                <a:latin typeface="Malgun Gothic"/>
              </a:rPr>
              <a:t>① No Fake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929384"/>
            <a:ext cx="5102352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선형보간 등으로 '가짜 데이터'를 만들지 않음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진단 입력이 온전하고, 타겟 중 적어도 하나가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관측된 시점의 샘플만 사용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한쪽 타겟만 관측된 행도 버리지 않음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486400" cy="21945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91440" cy="219456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5270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6CB0"/>
                </a:solidFill>
                <a:latin typeface="Malgun Gothic"/>
              </a:rPr>
              <a:t>② per-target masked MSE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929384"/>
            <a:ext cx="5102352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각 샘플의 target_mask로 관측된 타겟만 손실 반영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결측 타겟은 참값 없이 마스킹되어 제외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기존 코드는 둘 다 관측해야만 사용 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라벨 행의 ≈28%를 조용히 버리던 문제 수정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5486400" cy="2103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94760"/>
            <a:ext cx="91440" cy="210312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90448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9E8A"/>
                </a:solidFill>
                <a:latin typeface="Malgun Gothic"/>
              </a:rPr>
              <a:t>③ 불규칙 시계열 대응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306824"/>
            <a:ext cx="5102352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결측 제거로 시간 간격이 불규칙해짐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연속성 의존 LSTM 대신 1D CNN 지역패턴 추출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time_features 4채널: lookback·delta·log1p×2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94760"/>
            <a:ext cx="5486400" cy="2103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794760"/>
            <a:ext cx="91440" cy="210312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90448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④ Late-Fusion Multimodal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4306824"/>
            <a:ext cx="5102352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섣불리 평균내어 공간특성 잃지 않음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진단별 전용 인코더 → 마지막에 융합(concat)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→ 두 정규화 CES 타겟 예측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3. 데이터 &amp;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누수 방지 split + 학습셋 전용 정규화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486400" cy="24688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91440" cy="24688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5270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6CB0"/>
                </a:solidFill>
                <a:latin typeface="Malgun Gothic"/>
              </a:rPr>
              <a:t>File-level split (행 누수 방지)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929384"/>
            <a:ext cx="5102352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행 단위가 아니라 CSV(shot) 파일 단위로 분할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인접 행 상관 때문에 행 단위 분할은 train/val 누수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고정 split을 디스크에 pin (fixed_*_split.csv)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재로딩 시 데이터 불일치하면 예외 발생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486400" cy="24688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91440" cy="246888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5270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9E8A"/>
                </a:solidFill>
                <a:latin typeface="Malgun Gothic"/>
              </a:rPr>
              <a:t>Train-file-only 정규화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929384"/>
            <a:ext cx="5102352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BES·ECEI·MC·타겟 per-channel z-score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통계는 학습 파일에서만 추정 (val/test 누수 차단)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타겟 통계는 NaN-aware (관측값만) — CES는 sparse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model.py 내부에서는 절대 역정규화하지 않음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11201400" cy="18288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5196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ces_history (batch, 4, 4) — 누수 차단의 핵심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1078992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●  4채널: 이전 정규화 Tᵢ · 이전 정규화 V_rot · Tᵢ 관측flag · V_rot 관측flag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–  Tᵢ·V_rot는 독립적으로 결측(≈8% / ≈24%) → 관측을 target별로 추적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C0392B"/>
                </a:solidFill>
                <a:latin typeface="Malgun Gothic"/>
              </a:rPr>
              <a:t>–  타겟 시점(target timestep)은 값·flag 모두 0으로 완전 마스킹 → 자기 정답 누수 차단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Malgun Gothic"/>
              </a:rPr>
              <a:t>3. 데이터 &amp;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데이터 품질 보정: held/stuck CES_VT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Malgun Gothic"/>
              </a:rPr>
              <a:t>후반 audit 발견: </a:t>
            </a:r>
            <a:r>
              <a:rPr sz="1500" b="1" i="0">
                <a:solidFill>
                  <a:srgbClr val="C0392B"/>
                </a:solidFill>
                <a:latin typeface="Malgun Gothic"/>
              </a:rPr>
              <a:t>관측된 CES_VT 값의 약 54%가 held/forward-fill</a:t>
            </a:r>
            <a:r>
              <a:rPr sz="1450" b="0" i="0">
                <a:solidFill>
                  <a:srgbClr val="222B35"/>
                </a:solidFill>
                <a:latin typeface="Malgun Gothic"/>
              </a:rPr>
              <a:t>(직전 관측값과 bit-identical, 같은 시간블록 내 최대 1214행 연속). V_rot의 native cadence가 행 cadence보다 느려 값이 carry-forward된 것 — 진짜 측정이 아님.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576072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2E9E5B"/>
                </a:solidFill>
                <a:latin typeface="Malgun Gothic"/>
              </a:rPr>
              <a:t>●  CES_TI는 사실상 영향 없음 (held 0.0%)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499 / 641 shot 파일이 영향받음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dataset이 이를 탐지·마스킹 가능 (CES_DROP_STUCK_TARGETS)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●  학습은 오염 아님 — held 값 마스킹해도 genuine 성능 향상 없음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13335F"/>
                </a:solidFill>
                <a:latin typeface="Malgun Gothic"/>
              </a:rPr>
              <a:t>–  → 학습은 유지(=0), 평가만 genuine 측정값으로(=1)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2E9E5B"/>
                </a:solidFill>
                <a:latin typeface="Malgun Gothic"/>
              </a:rPr>
              <a:t>●  CES_TI는 genuine-only 평가에서도 4 seed 모두 PASS (강건)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331720"/>
            <a:ext cx="5212080" cy="35661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46888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V_rot 물리 RMSE는 held 값에 의해 deflated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971800"/>
            <a:ext cx="1188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670"/>
                </a:solidFill>
                <a:latin typeface="Malgun Gothic"/>
              </a:rPr>
              <a:t>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97180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670"/>
                </a:solidFill>
                <a:latin typeface="Malgun Gothic"/>
              </a:rPr>
              <a:t>보고(stuck포함)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97180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670"/>
                </a:solidFill>
                <a:latin typeface="Malgun Gothic"/>
              </a:rPr>
              <a:t>genuine RMSE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383280"/>
            <a:ext cx="1188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Consolas"/>
              </a:rPr>
              <a:t>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38328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A5B1"/>
                </a:solidFill>
                <a:latin typeface="Consolas"/>
              </a:rPr>
              <a:t>22.4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38328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35.0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794760"/>
            <a:ext cx="1188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Consola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7947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A5B1"/>
                </a:solidFill>
                <a:latin typeface="Consolas"/>
              </a:rPr>
              <a:t>24.6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79476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34.6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206240"/>
            <a:ext cx="1188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Consolas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20624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A5B1"/>
                </a:solidFill>
                <a:latin typeface="Consolas"/>
              </a:rPr>
              <a:t>29.7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20624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43.2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617720"/>
            <a:ext cx="1188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B35"/>
                </a:solidFill>
                <a:latin typeface="Consolas"/>
              </a:rPr>
              <a:t>123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6177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A5B1"/>
                </a:solidFill>
                <a:latin typeface="Consolas"/>
              </a:rPr>
              <a:t>32.6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61772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46.2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074920"/>
            <a:ext cx="47548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B6670"/>
                </a:solidFill>
                <a:latin typeface="Malgun Gothic"/>
              </a:rPr>
              <a:t>held 타겟은 baseline 오차가 ≈0 → 보고 RMSE를 35~55% 끌어내림. 결론(Tᵢ↔V_rot 비대칭)은 그대로 유지.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3291840" cy="1920240"/>
          </a:xfrm>
          <a:prstGeom prst="rect">
            <a:avLst/>
          </a:prstGeom>
          <a:solidFill>
            <a:srgbClr val="0E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2926080" cy="2194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E8743B"/>
                </a:solidFill>
                <a:latin typeface="Malgun Gothic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743200"/>
            <a:ext cx="38100" cy="14630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788920"/>
            <a:ext cx="76809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Malgun Gothic"/>
              </a:rPr>
              <a:t>모델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3703320"/>
            <a:ext cx="7680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Multimodal Late-Fusion + target별 routing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4. 모델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Multimodal Late-Fusion + target별 routing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1828800" cy="713232"/>
          </a:xfrm>
          <a:prstGeom prst="round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0744"/>
            <a:ext cx="182880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BES (4×9)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밀도요동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0280"/>
            <a:ext cx="1828800" cy="713232"/>
          </a:xfrm>
          <a:prstGeom prst="round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95144"/>
            <a:ext cx="182880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ECEI (4×4)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전자온도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54680"/>
            <a:ext cx="1828800" cy="713232"/>
          </a:xfrm>
          <a:prstGeom prst="round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09544"/>
            <a:ext cx="182880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MC (4×2)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자기요동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69080"/>
            <a:ext cx="1828800" cy="713232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23944"/>
            <a:ext cx="182880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time (4×4)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불규칙시간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83480"/>
            <a:ext cx="1828800" cy="713232"/>
          </a:xfrm>
          <a:prstGeom prst="round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38344"/>
            <a:ext cx="182880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ces_history (4×4)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이전 CES + flag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1325880"/>
            <a:ext cx="2011680" cy="713232"/>
          </a:xfrm>
          <a:prstGeom prst="round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1380744"/>
            <a:ext cx="201168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BES Enc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time-aware CNN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31720" y="1682495"/>
            <a:ext cx="548640" cy="0"/>
          </a:xfrm>
          <a:prstGeom prst="line">
            <a:avLst/>
          </a:prstGeom>
          <a:ln w="254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80360" y="2240280"/>
            <a:ext cx="2011680" cy="713232"/>
          </a:xfrm>
          <a:prstGeom prst="round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2295144"/>
            <a:ext cx="201168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ECEI Enc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time-aware CNN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31720" y="2596896"/>
            <a:ext cx="548640" cy="0"/>
          </a:xfrm>
          <a:prstGeom prst="line">
            <a:avLst/>
          </a:prstGeom>
          <a:ln w="254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880360" y="3154680"/>
            <a:ext cx="2011680" cy="713232"/>
          </a:xfrm>
          <a:prstGeom prst="round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3209544"/>
            <a:ext cx="201168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MC Enc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time-aware CNN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31720" y="3511296"/>
            <a:ext cx="548640" cy="0"/>
          </a:xfrm>
          <a:prstGeom prst="line">
            <a:avLst/>
          </a:prstGeom>
          <a:ln w="254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80360" y="4069080"/>
            <a:ext cx="2011680" cy="713232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4123944"/>
            <a:ext cx="201168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Time Enc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1D CNN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31720" y="4425696"/>
            <a:ext cx="548640" cy="0"/>
          </a:xfrm>
          <a:prstGeom prst="line">
            <a:avLst/>
          </a:prstGeom>
          <a:ln w="254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880360" y="4983480"/>
            <a:ext cx="2011680" cy="713232"/>
          </a:xfrm>
          <a:prstGeom prst="round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5038344"/>
            <a:ext cx="201168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History Enc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Pre-LN Transformer
+ multi-head attn pool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331720" y="5340096"/>
            <a:ext cx="548640" cy="0"/>
          </a:xfrm>
          <a:prstGeom prst="line">
            <a:avLst/>
          </a:prstGeom>
          <a:ln w="25400">
            <a:solidFill>
              <a:srgbClr val="9AA5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532120" y="1554480"/>
            <a:ext cx="2286000" cy="1143000"/>
          </a:xfrm>
          <a:prstGeom prst="round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32120" y="1609344"/>
            <a:ext cx="228600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Tᵢ 융합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bes+ecei+mc
+time+hist_ti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32120" y="4160520"/>
            <a:ext cx="2286000" cy="1143000"/>
          </a:xfrm>
          <a:prstGeom prst="round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32120" y="4215383"/>
            <a:ext cx="228600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V_rot 융합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hist_vt + time
(빠른진단 제외)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892040" y="1682495"/>
            <a:ext cx="640080" cy="438913"/>
          </a:xfrm>
          <a:prstGeom prst="line">
            <a:avLst/>
          </a:prstGeom>
          <a:ln w="25400">
            <a:solidFill>
              <a:srgbClr val="CFB0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892040" y="2121408"/>
            <a:ext cx="640080" cy="475488"/>
          </a:xfrm>
          <a:prstGeom prst="line">
            <a:avLst/>
          </a:prstGeom>
          <a:ln w="25400">
            <a:solidFill>
              <a:srgbClr val="CFB0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892040" y="2121408"/>
            <a:ext cx="640080" cy="1389888"/>
          </a:xfrm>
          <a:prstGeom prst="line">
            <a:avLst/>
          </a:prstGeom>
          <a:ln w="25400">
            <a:solidFill>
              <a:srgbClr val="CFB0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892040" y="2121408"/>
            <a:ext cx="640080" cy="2304288"/>
          </a:xfrm>
          <a:prstGeom prst="line">
            <a:avLst/>
          </a:prstGeom>
          <a:ln w="25400">
            <a:solidFill>
              <a:srgbClr val="CFB0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892040" y="4727448"/>
            <a:ext cx="640080" cy="612648"/>
          </a:xfrm>
          <a:prstGeom prst="line">
            <a:avLst/>
          </a:prstGeom>
          <a:ln w="25400">
            <a:solidFill>
              <a:srgbClr val="E874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892040" y="2377440"/>
            <a:ext cx="640080" cy="2606040"/>
          </a:xfrm>
          <a:prstGeom prst="line">
            <a:avLst/>
          </a:prstGeom>
          <a:ln w="25400">
            <a:solidFill>
              <a:srgbClr val="E874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229600" y="1691640"/>
            <a:ext cx="1828800" cy="868680"/>
          </a:xfrm>
          <a:prstGeom prst="round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1746504"/>
            <a:ext cx="18288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Tᵢ 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preLN→MLP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4297680"/>
            <a:ext cx="1828800" cy="868680"/>
          </a:xfrm>
          <a:prstGeom prst="round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4352544"/>
            <a:ext cx="18288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V_rot 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preLN→MLP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818120" y="2121408"/>
            <a:ext cx="411480" cy="0"/>
          </a:xfrm>
          <a:prstGeom prst="line">
            <a:avLst/>
          </a:prstGeom>
          <a:ln w="25400">
            <a:solidFill>
              <a:srgbClr val="E874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818120" y="4727448"/>
            <a:ext cx="411480" cy="0"/>
          </a:xfrm>
          <a:prstGeom prst="line">
            <a:avLst/>
          </a:prstGeom>
          <a:ln w="25400">
            <a:solidFill>
              <a:srgbClr val="2B6C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10424160" y="2971800"/>
            <a:ext cx="1463040" cy="100584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24160" y="3026664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[Tᵢ, V_rot]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EAF0F7"/>
                </a:solidFill>
                <a:latin typeface="Malgun Gothic"/>
              </a:rPr>
              <a:t>정규화 (B,2)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058400" y="2121408"/>
            <a:ext cx="822960" cy="850392"/>
          </a:xfrm>
          <a:prstGeom prst="line">
            <a:avLst/>
          </a:prstGeom>
          <a:ln w="25400">
            <a:solidFill>
              <a:srgbClr val="1333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058400" y="3977639"/>
            <a:ext cx="822960" cy="749809"/>
          </a:xfrm>
          <a:prstGeom prst="line">
            <a:avLst/>
          </a:prstGeom>
          <a:ln w="25400">
            <a:solidFill>
              <a:srgbClr val="1333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2920" y="1078992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6670"/>
                </a:solidFill>
                <a:latin typeface="Malgun Gothic"/>
              </a:rPr>
              <a:t>입력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80360" y="1078992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6670"/>
                </a:solidFill>
                <a:latin typeface="Malgun Gothic"/>
              </a:rPr>
              <a:t>진단별 인코더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32120" y="1078992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6670"/>
                </a:solidFill>
                <a:latin typeface="Malgun Gothic"/>
              </a:rPr>
              <a:t>target별 융합(routing)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1078992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6670"/>
                </a:solidFill>
                <a:latin typeface="Malgun Gothic"/>
              </a:rPr>
              <a:t>예측 head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598932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물리 기반 routing: </a:t>
            </a:r>
            <a:r>
              <a:rPr sz="1250" b="0" i="0">
                <a:solidFill>
                  <a:srgbClr val="222B35"/>
                </a:solidFill>
                <a:latin typeface="Malgun Gothic"/>
              </a:rPr>
              <a:t>Tᵢ = 빠른진단+이력+시간 / V_rot = 이력+시간만. 전체 파라미터 &lt; 1,000,000 (capacity가 아니라 일반화가 관건).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4. 모델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핵심 설계 결정과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486400" cy="2103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91440" cy="21031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5270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6CB0"/>
                </a:solidFill>
                <a:latin typeface="Malgun Gothic"/>
              </a:rPr>
              <a:t>진단별 time-aware CNN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929384"/>
            <a:ext cx="5102352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각 진단 + 시간 + 이력을 함께 1D Conv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불규칙 시계열에 강건 (LSTM 회피)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공간 채널 구조 보존 후 융합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486400" cy="2103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91440" cy="210312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5270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743B"/>
                </a:solidFill>
                <a:latin typeface="Malgun Gothic"/>
              </a:rPr>
              <a:t>History 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929384"/>
            <a:ext cx="5102352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2-layer Pre-LayerNorm Transformer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학습된 positional embedding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self-attention이 masked 타겟을 양쪽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관측 이웃에 직접 attend (보간과 유사)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03320"/>
            <a:ext cx="5486400" cy="2103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03320"/>
            <a:ext cx="91440" cy="210312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8130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9E8A"/>
                </a:solidFill>
                <a:latin typeface="Malgun Gothic"/>
              </a:rPr>
              <a:t>Multi-head attention pooling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215384"/>
            <a:ext cx="5102352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가중 평균(center) + 가중 분산(std) 함께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std가 '고변동 구간'을 노출 → peak 구분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target별 관측-이웃 bias (init 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2103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703320"/>
            <a:ext cx="91440" cy="210312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8130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3335F"/>
                </a:solidFill>
                <a:latin typeface="Malgun Gothic"/>
              </a:rPr>
              <a:t>target별 head + pre-head LN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4215384"/>
            <a:ext cx="5102352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Tᵢ/V_rot 분리 head, 이종 융합특징 정규화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Pre-LN 경로를 융합단까지 확장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capacity가 아닌 일반화 lever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8076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설계 교훈 (탐색에서 확인): </a:t>
            </a:r>
            <a:r>
              <a:rPr sz="1200" b="0" i="0">
                <a:solidFill>
                  <a:srgbClr val="5B6670"/>
                </a:solidFill>
                <a:latin typeface="Malgun Gothic"/>
              </a:rPr>
              <a:t>Pre-LayerNorm(안정성) + attention pooling이 가장 신뢰성 있는 개선. 무리한 capacity 확대는 overfit으로 오히려 악화.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3291840" cy="1920240"/>
          </a:xfrm>
          <a:prstGeom prst="rect">
            <a:avLst/>
          </a:prstGeom>
          <a:solidFill>
            <a:srgbClr val="0E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2926080" cy="2194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E8743B"/>
                </a:solidFill>
                <a:latin typeface="Malgun Gothic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743200"/>
            <a:ext cx="38100" cy="14630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788920"/>
            <a:ext cx="76809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Malgun Gothic"/>
              </a:rPr>
              <a:t>평가 방법론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3703320"/>
            <a:ext cx="7680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통계적 엄밀성: split · 사전등록 · bootstrap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5. 평가 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선택 편향 없는 3-way split + 사전등록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486400" cy="26974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91440" cy="26974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5270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6CB0"/>
                </a:solidFill>
                <a:latin typeface="Malgun Gothic"/>
              </a:rPr>
              <a:t>3-way split (train/val/test)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929384"/>
            <a:ext cx="5102352" cy="2057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TEST는 AutoML 시작 전 예약, 탐색루프는 절대 안 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모델 선택은 val에서만 → 헤드라인은 winner's-curse 없음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TEST: 34,644 샘플 / 96 shot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관측 후 n: Tᵢ 32,716 · V_rot 27,437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486400" cy="26974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91440" cy="269748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5270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743B"/>
                </a:solidFill>
                <a:latin typeface="Malgun Gothic"/>
              </a:rPr>
              <a:t>사전등록 (PR1–PR4)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929384"/>
            <a:ext cx="5102352" cy="2057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PR1 best-interpolation 규칙: headline = PCHIP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PR2 평가 모집단: future-neighbor 없으면 persistence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PR3 TEST floor: ≥15 shot &amp; ≥3,000 Tᵢ 샘플 (충족)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PR4 부트스트랩 구성: 95% CI가 0 제외 = 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89120"/>
            <a:ext cx="10881360" cy="16002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공정성 보장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B35"/>
                </a:solidFill>
                <a:latin typeface="Malgun Gothic"/>
              </a:rPr>
              <a:t>모든 arm(모델+모든 baseline)을 동일한 (file, row) 샘플 집합 · 동일 per-target keep mask로 채점. 어떤 arm도 상대적으로 thinning 되지 않음.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Malgun Gothic"/>
              </a:rPr>
              <a:t>보간은 타겟 자신의 값(row_index)을 제외하고 이웃만 읽음(누수 없음), 0.5 s 이상 gap은 보간 거부.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5. 평가 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Shot-clustered paired bootstrap — 왜 shot이 단위인가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640080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●  한 방전(shot) 내 인접 CES 행은 강하게 상관됨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C0392B"/>
                </a:solidFill>
                <a:latin typeface="Malgun Gothic"/>
              </a:rPr>
              <a:t>–  개별 샘플을 독립으로 보면 불확실성을 크게 과소평가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●  PR4 검정: per-sample paired error (SE_model − SE_pchip)를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–  shot 단위로 묶고, shot 전체를 복원추출(B=10,000, seed 12345)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●  skill 95% CI가 모델에 유리한 방향으로 0을 제외 = PASS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●  → CI가 within-shot 가짜 복제가 아닌 진짜 shot-to-shot 일반화 반영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–  split-seed 변동은 2차 안정성 점검일 뿐, headline CI에 풀링하지 않음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463040"/>
            <a:ext cx="4526280" cy="411480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645920"/>
            <a:ext cx="4114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8743B"/>
                </a:solidFill>
                <a:latin typeface="Malgun Gothic"/>
              </a:rPr>
              <a:t>재현 단위 = 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40280"/>
            <a:ext cx="4114800" cy="3200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8ECF1"/>
                </a:solidFill>
                <a:latin typeface="Malgun Gothic"/>
              </a:rPr>
              <a:t>개별 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AA5B1"/>
                </a:solidFill>
                <a:latin typeface="Malgun Gothic"/>
              </a:rPr>
              <a:t>→ 자기상관, 가짜 복제 (X)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shot 전체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DE8CD"/>
                </a:solidFill>
                <a:latin typeface="Malgun Gothic"/>
              </a:rPr>
              <a:t>→ 독립 복제의 단위 (O)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Tᵢ ≈ 96 shot · V_rot ≈ 91 shot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E8ECF1"/>
                </a:solidFill>
                <a:latin typeface="Malgun Gothic"/>
              </a:rPr>
              <a:t>이 적은 shot 수가 모든 유의성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E8ECF1"/>
                </a:solidFill>
                <a:latin typeface="Malgun Gothic"/>
              </a:rPr>
              <a:t>판정의 구속 조건 (검정력 한계)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3291840" cy="1920240"/>
          </a:xfrm>
          <a:prstGeom prst="rect">
            <a:avLst/>
          </a:prstGeom>
          <a:solidFill>
            <a:srgbClr val="0E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2926080" cy="2194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E8743B"/>
                </a:solidFill>
                <a:latin typeface="Malgun Gothic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743200"/>
            <a:ext cx="38100" cy="14630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788920"/>
            <a:ext cx="76809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Malgun Gothic"/>
              </a:rPr>
              <a:t>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3703320"/>
            <a:ext cx="7680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causal 압도 · Tᵢ 보간 유의 · 비대칭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6. 결과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causal baseline을 큰 폭으로 압도 (강건한 결과)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15</a:t>
            </a:r>
          </a:p>
        </p:txBody>
      </p:sp>
      <p:pic>
        <p:nvPicPr>
          <p:cNvPr id="10" name="Picture 9" descr="fig_rms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64" y="1325880"/>
            <a:ext cx="10876912" cy="40233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5440680"/>
            <a:ext cx="10881360" cy="868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3335F"/>
                </a:solidFill>
                <a:latin typeface="Malgun Gothic"/>
              </a:rPr>
              <a:t>두 타겟 모두 모델 RMSE가 사다리에서 최저. </a:t>
            </a:r>
            <a:r>
              <a:rPr sz="1350" b="0" i="0">
                <a:solidFill>
                  <a:srgbClr val="222B35"/>
                </a:solidFill>
                <a:latin typeface="Malgun Gothic"/>
              </a:rPr>
              <a:t>persistence·AR(causal) 대비 큰 마진으로 우수 — 온라인/실시간 환경에서 모델이 명확한 승자. 보간(PCHIP/Linear)보다도 point estimate는 앞섬.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6. 결과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보간 대비 headline — 최종 모델, 4 seed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16</a:t>
            </a:r>
          </a:p>
        </p:txBody>
      </p:sp>
      <p:pic>
        <p:nvPicPr>
          <p:cNvPr id="10" name="Picture 9" descr="fig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7" y="1280160"/>
            <a:ext cx="9204166" cy="3566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5486400" cy="14173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892040"/>
            <a:ext cx="91440" cy="14173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500176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E9E5B"/>
                </a:solidFill>
                <a:latin typeface="Malgun Gothic"/>
              </a:rPr>
              <a:t>CES_TI — PASS (강건)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5404104"/>
            <a:ext cx="5102352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4개 독립 test split(seed 42/1/7/123) 모두 CI &gt; 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skill_vs_pchip = +0.20 ~ +0.30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(1/7/123은 아키텍처 선택에 한 번도 안 쓰임)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892040"/>
            <a:ext cx="5486400" cy="14173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892040"/>
            <a:ext cx="91440" cy="1417320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500176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B6670"/>
                </a:solidFill>
                <a:latin typeface="Malgun Gothic"/>
              </a:rPr>
              <a:t>CES_VT — n.s.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5404104"/>
            <a:ext cx="5102352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4 seed 모두 CI가 0을 포함 (유의하지 않음)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point estimate는 +지만 통계적 미지지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→ Tᵢ↔V_rot 비대칭 (다음 슬라이드)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6. 결과 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정직한 진전: n.s. → 통계적으로 유의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17</a:t>
            </a:r>
          </a:p>
        </p:txBody>
      </p:sp>
      <p:pic>
        <p:nvPicPr>
          <p:cNvPr id="10" name="Picture 9" descr="fig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65345"/>
            <a:ext cx="6583680" cy="27845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06640" y="1508760"/>
            <a:ext cx="4297680" cy="4389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664208"/>
            <a:ext cx="3931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무엇이 달라졌나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194560"/>
            <a:ext cx="393192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5B6670"/>
                </a:solidFill>
                <a:latin typeface="Malgun Gothic"/>
              </a:rPr>
              <a:t>●  기존 baseline(iter2)은 단일 split에서 +0.088, n.s.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●  AutoML 루프가 val skill_vs_pchip로 모델을 선택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–  → GRU 이력인코더 + target별 multi-head attention head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9E5B"/>
                </a:solidFill>
                <a:latin typeface="Malgun Gothic"/>
              </a:rPr>
              <a:t>●  최종(iter5): +0.20~+0.30, 4 seed 모두 PASS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E8743B"/>
                </a:solidFill>
                <a:latin typeface="Malgun Gothic"/>
              </a:rPr>
              <a:t>●  핵심: val loss가 아니라 clean skill로 선택한 것이 결정적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6. 결과 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Gap별 분석: 모델의 우위는 small-gap에 집중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B35"/>
                </a:solidFill>
                <a:latin typeface="Malgun Gothic"/>
              </a:rPr>
              <a:t>실데이터는 압도적으로 small-gap: Δt ≤ 15 ms가 Tᵢ 31,966/32,716 · V_rot 26,938/27,437 — 이 구간이 nowcasting이 실제로 필요한 곳.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11201400" cy="4572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Δt 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96596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n (Tᵢ)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skill Tᵢ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96596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n (V_rot)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965960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skill V_rot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23160"/>
            <a:ext cx="11201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6888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B35"/>
                </a:solidFill>
                <a:latin typeface="Malgun Gothic"/>
              </a:rPr>
              <a:t>(0, 15]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46888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Consolas"/>
              </a:rPr>
              <a:t>31,966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6888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5B"/>
                </a:solidFill>
                <a:latin typeface="Consolas"/>
              </a:rPr>
              <a:t>+0.080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46888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Consolas"/>
              </a:rPr>
              <a:t>26,938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468880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5B"/>
                </a:solidFill>
                <a:latin typeface="Consolas"/>
              </a:rPr>
              <a:t>+0.234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898648"/>
            <a:ext cx="112014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944368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B35"/>
                </a:solidFill>
                <a:latin typeface="Malgun Gothic"/>
              </a:rPr>
              <a:t>(15, 25]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944368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Consolas"/>
              </a:rPr>
              <a:t>520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944368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6670"/>
                </a:solidFill>
                <a:latin typeface="Consolas"/>
              </a:rPr>
              <a:t>+0.003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944368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Consolas"/>
              </a:rPr>
              <a:t>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944368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6670"/>
                </a:solidFill>
                <a:latin typeface="Consolas"/>
              </a:rPr>
              <a:t>+0.029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374136"/>
            <a:ext cx="11201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419856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B35"/>
                </a:solidFill>
                <a:latin typeface="Malgun Gothic"/>
              </a:rPr>
              <a:t>(25, 35]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419856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Consolas"/>
              </a:rPr>
              <a:t>140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419856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6670"/>
                </a:solidFill>
                <a:latin typeface="Consolas"/>
              </a:rPr>
              <a:t>+0.401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419856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Consolas"/>
              </a:rPr>
              <a:t>97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419856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6670"/>
                </a:solidFill>
                <a:latin typeface="Consolas"/>
              </a:rPr>
              <a:t>−0.123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849624"/>
            <a:ext cx="112014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895344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B35"/>
                </a:solidFill>
                <a:latin typeface="Malgun Gothic"/>
              </a:rPr>
              <a:t>(35, 55]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895344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Consolas"/>
              </a:rPr>
              <a:t>33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895344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6670"/>
                </a:solidFill>
                <a:latin typeface="Consolas"/>
              </a:rPr>
              <a:t>−0.823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895344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Consolas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895344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6670"/>
                </a:solidFill>
                <a:latin typeface="Consolas"/>
              </a:rPr>
              <a:t>+0.870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325112"/>
            <a:ext cx="11201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370831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B35"/>
                </a:solidFill>
                <a:latin typeface="Malgun Gothic"/>
              </a:rPr>
              <a:t>(105, ∞)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370831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Consolas"/>
              </a:rPr>
              <a:t>45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370831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−6.92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370831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Consolas"/>
              </a:rPr>
              <a:t>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370831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onsolas"/>
              </a:rPr>
              <a:t>−2783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074920"/>
            <a:ext cx="10881360" cy="10515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175504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읽는 법: </a:t>
            </a:r>
            <a:r>
              <a:rPr sz="1250" b="0" i="0">
                <a:solidFill>
                  <a:srgbClr val="222B35"/>
                </a:solidFill>
                <a:latin typeface="Malgun Gothic"/>
              </a:rPr>
              <a:t>잘 통제된(표본 충분한) 유일한 비교인 small-gap이 모델 우세. Δt가 커지면 표본 수십 개 미만 bin들이 부호를 뒤집고(미래 anchor를 가진 PCHIP이 압도), CI가 없으므로 과대해석 금물.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6. 결과 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Tᵢ ↔ V_rot 비대칭 — 본 연구의 과학적 발견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19</a:t>
            </a:r>
          </a:p>
        </p:txBody>
      </p:sp>
      <p:pic>
        <p:nvPicPr>
          <p:cNvPr id="10" name="Picture 9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11408"/>
            <a:ext cx="6583680" cy="318382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69480" y="1417320"/>
            <a:ext cx="4434840" cy="45720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572768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물리적 해석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103120"/>
            <a:ext cx="402336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8743B"/>
                </a:solidFill>
                <a:latin typeface="Malgun Gothic"/>
              </a:rPr>
              <a:t>●  Tᵢ: 빠른 진단이 진짜 정보 운반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충돌 e–i 결합 (t_ei ∝ Tₑ^1.5/nₑ) → ECEI(Tₑ)+BES(nₑ)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fast-only도 persistence 능가 (+0.162)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B6CB0"/>
                </a:solidFill>
                <a:latin typeface="Malgun Gothic"/>
              </a:rPr>
              <a:t>●  V_rot: 정보는 거의 전적으로 과거 CES 이력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토로이달 회전은 미관측 NBI 토크가 주도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Mirnov은 100 Hz로 aliasing → 회전 정보 소실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C0392B"/>
                </a:solidFill>
                <a:latin typeface="Malgun Gothic"/>
              </a:rPr>
              <a:t>–  fast-only V_rot = −3.31 (평균보다 나쁨)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V_rot의 비-승리는 실패가 아니라 발견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6. 결과 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모델의 우위는 '고변동(peak) 구간'에 집중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20</a:t>
            </a:r>
          </a:p>
        </p:txBody>
      </p:sp>
      <p:pic>
        <p:nvPicPr>
          <p:cNvPr id="10" name="Picture 9" descr="fig_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2084"/>
            <a:ext cx="6400800" cy="293103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23760" y="1463040"/>
            <a:ext cx="4480560" cy="4434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618488"/>
            <a:ext cx="4114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3335F"/>
                </a:solidFill>
                <a:latin typeface="Malgun Gothic"/>
              </a:rPr>
              <a:t>어디서 가치를 버는가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148840"/>
            <a:ext cx="411480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peak = 입력 기반 고-국소활동 이웃 (타겟 행 제외)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pointwise 극값이 아니라 보수적 영역 proxy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B9E8A"/>
                </a:solidFill>
                <a:latin typeface="Malgun Gothic"/>
              </a:rPr>
              <a:t>●  Tᵢ: global +0.515 → peak +0.855 (PASS)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보간은 매끄러운 bulk에서 거의 최적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B9E8A"/>
                </a:solidFill>
                <a:latin typeface="Malgun Gothic"/>
              </a:rPr>
              <a:t>●  V_rot: global +0.241 → peak +0.691 (PASS)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global은 약하지만 peak에서는 통과 — 비대칭은 regional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Tᵢ ablation: peak에서 빠른진단 제거 시 큰 손해 (유의)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3291840" cy="1920240"/>
          </a:xfrm>
          <a:prstGeom prst="rect">
            <a:avLst/>
          </a:prstGeom>
          <a:solidFill>
            <a:srgbClr val="0E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2926080" cy="2194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E8743B"/>
                </a:solidFill>
                <a:latin typeface="Malgun Gothic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743200"/>
            <a:ext cx="38100" cy="14630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788920"/>
            <a:ext cx="76809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Malgun Gothic"/>
              </a:rPr>
              <a:t>AutoML 자율 연구 루프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3703320"/>
            <a:ext cx="7680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Claude 기반 keep/discard autoresearch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7. AutoML 자율 연구 루프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Claude 기반 keep/discard autoresearch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B35"/>
                </a:solidFill>
                <a:latin typeface="Malgun Gothic"/>
              </a:rPr>
              <a:t>단일 모델 구현에 그치지 않고, </a:t>
            </a:r>
            <a:r>
              <a:rPr sz="1400" b="1" i="0">
                <a:solidFill>
                  <a:srgbClr val="E8743B"/>
                </a:solidFill>
                <a:latin typeface="Malgun Gothic"/>
              </a:rPr>
              <a:t>LLM이 연구자(Researcher) 역할</a:t>
            </a:r>
            <a:r>
              <a:rPr sz="1400" b="0" i="0">
                <a:solidFill>
                  <a:srgbClr val="222B35"/>
                </a:solidFill>
                <a:latin typeface="Malgun Gothic"/>
              </a:rPr>
              <a:t>을 맡아 model.py를 통제된 실험으로 개선 (Karpathy의 autoresearch에서 영감).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2057400" cy="1371600"/>
          </a:xfrm>
          <a:prstGeom prst="round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205740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① Evaluation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CF1F7"/>
                </a:solidFill>
                <a:latin typeface="Malgun Gothic"/>
              </a:rPr>
              <a:t>smoke→train→
clean evaluate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1920240"/>
            <a:ext cx="2057400" cy="1371600"/>
          </a:xfrm>
          <a:prstGeom prst="round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057400"/>
            <a:ext cx="205740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② Briefing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CF1F7"/>
                </a:solidFill>
                <a:latin typeface="Malgun Gothic"/>
              </a:rPr>
              <a:t>HANDOFF 갱신
plateau 감지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920240"/>
            <a:ext cx="2057400" cy="1371600"/>
          </a:xfrm>
          <a:prstGeom prst="round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057400"/>
            <a:ext cx="205740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③ Research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CF1F7"/>
                </a:solidFill>
                <a:latin typeface="Malgun Gothic"/>
              </a:rPr>
              <a:t>Claude가 1개
통제변수 제안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920240"/>
            <a:ext cx="2057400" cy="137160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2057400"/>
            <a:ext cx="205740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④ Keep/Discard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CF1F7"/>
                </a:solidFill>
                <a:latin typeface="Malgun Gothic"/>
              </a:rPr>
              <a:t>best 갱신 or
model.py 롤백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2606040"/>
            <a:ext cx="365759" cy="0"/>
          </a:xfrm>
          <a:prstGeom prst="line">
            <a:avLst/>
          </a:prstGeom>
          <a:ln w="31750">
            <a:solidFill>
              <a:srgbClr val="9AA5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20640" y="2606040"/>
            <a:ext cx="365760" cy="0"/>
          </a:xfrm>
          <a:prstGeom prst="line">
            <a:avLst/>
          </a:prstGeom>
          <a:ln w="31750">
            <a:solidFill>
              <a:srgbClr val="9AA5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43800" y="2606040"/>
            <a:ext cx="365760" cy="0"/>
          </a:xfrm>
          <a:prstGeom prst="line">
            <a:avLst/>
          </a:prstGeom>
          <a:ln w="31750">
            <a:solidFill>
              <a:srgbClr val="9AA5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49840" y="1920240"/>
            <a:ext cx="1554480" cy="1371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2057400"/>
            <a:ext cx="155448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⟳ 반복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algun Gothic"/>
              </a:rPr>
              <a:t>best 위에만
쌓임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611880"/>
            <a:ext cx="3611880" cy="23774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611880"/>
            <a:ext cx="91440" cy="23774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21608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743B"/>
                </a:solidFill>
                <a:latin typeface="Malgun Gothic"/>
              </a:rPr>
              <a:t>핵심 규칙: keep/discard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" y="4123944"/>
            <a:ext cx="3227832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고정 예산으로 학습 → clean non-aug val skill로 채점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best 갱신하면 KEEP, 아니면 DISCARD + 자동 롤백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→ 회귀(regression) 위에 절대 쌓지 않음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9392" y="3611880"/>
            <a:ext cx="3611880" cy="23774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9392" y="3611880"/>
            <a:ext cx="91440" cy="23774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3721608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B6CB0"/>
                </a:solidFill>
                <a:latin typeface="Malgun Gothic"/>
              </a:rPr>
              <a:t>Researcher = Claude (opus)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123944"/>
            <a:ext cx="3227832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program.md = 편집가능한 agent 'skill'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DATA_CONTRACT + PROJECT_KNOWLEDGE 주입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출력은 contract 보존한 raw model.py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55864" y="3611880"/>
            <a:ext cx="3611880" cy="23774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55864" y="3611880"/>
            <a:ext cx="91440" cy="237744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3721608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9E8A"/>
                </a:solidFill>
                <a:latin typeface="Malgun Gothic"/>
              </a:rPr>
              <a:t>선택 게이트 = clean skill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4123944"/>
            <a:ext cx="3227832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augmented val loss 아님 (신뢰 불가)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clean mean skill_vs_pchip이 게이트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test split은 선택에 절대 미사용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3291840" cy="1920240"/>
          </a:xfrm>
          <a:prstGeom prst="rect">
            <a:avLst/>
          </a:prstGeom>
          <a:solidFill>
            <a:srgbClr val="0E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2926080" cy="2194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E8743B"/>
                </a:solidFill>
                <a:latin typeface="Malgun Gothic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743200"/>
            <a:ext cx="38100" cy="14630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788920"/>
            <a:ext cx="76809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Malgun Gothic"/>
              </a:rPr>
              <a:t>결론 · 한계 · 향후 연구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3703320"/>
            <a:ext cx="7680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정직한 결론과 다음 단계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8.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정직한 결론 (4가지)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1155680" cy="10789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572768"/>
            <a:ext cx="768096" cy="768096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2768"/>
            <a:ext cx="768096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536192"/>
            <a:ext cx="99669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3335F"/>
                </a:solidFill>
                <a:latin typeface="Malgun Gothic"/>
              </a:rPr>
              <a:t>causal baseline을 결정적으로 압도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947672"/>
            <a:ext cx="99669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persistence·AR 대비 두 타겟 모두 큰 마진 (Tᵢ 369 vs 487/1006). 강건하고 방어 가능한 결과 — 온라인/실시간에서 명확한 승자.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24328"/>
            <a:ext cx="11155680" cy="10789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779776"/>
            <a:ext cx="768096" cy="768096"/>
          </a:xfrm>
          <a:prstGeom prst="round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779776"/>
            <a:ext cx="768096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743200"/>
            <a:ext cx="99669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3335F"/>
                </a:solidFill>
                <a:latin typeface="Malgun Gothic"/>
              </a:rPr>
              <a:t>CES_TI: 미래 보간도 유의하게 능가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154680"/>
            <a:ext cx="99669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최종 모델·4 seed에서 skill_vs_pchip +0.20~+0.30, shot-clustered 95% CI가 매번 0을 제외 (PASS). genuine-only 평가에서도 강건.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31336"/>
            <a:ext cx="11155680" cy="10789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986784"/>
            <a:ext cx="768096" cy="768096"/>
          </a:xfrm>
          <a:prstGeom prst="round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986784"/>
            <a:ext cx="768096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950208"/>
            <a:ext cx="99669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3335F"/>
                </a:solidFill>
                <a:latin typeface="Malgun Gothic"/>
              </a:rPr>
              <a:t>CES_VT: 보간과 동률 (n.s.)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361688"/>
            <a:ext cx="99669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point estimate는 +지만 통계적으로 미지지. 검정력 한계(≈91 shot)와 heavy-tailed 오차가 구속. 과대주장하지 않음.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38344"/>
            <a:ext cx="11155680" cy="10789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193792"/>
            <a:ext cx="768096" cy="768096"/>
          </a:xfrm>
          <a:prstGeom prst="round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193792"/>
            <a:ext cx="768096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157216"/>
            <a:ext cx="99669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3335F"/>
                </a:solidFill>
                <a:latin typeface="Malgun Gothic"/>
              </a:rPr>
              <a:t>Tᵢ ↔ V_rot 비대칭 = 과학적 기여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568696"/>
            <a:ext cx="99669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B35"/>
                </a:solidFill>
                <a:latin typeface="Malgun Gothic"/>
              </a:rPr>
              <a:t>빠른 진단은 10 ms에서 Tᵢ 정보는 운반하나 V_rot 정보는 거의 없음 (NBI 토크 미관측 + Mirnov aliasing). 물리적으로 예측되고 ablation으로 확인됨.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8. 한계 &amp; 향후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한계와 다음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486400" cy="44805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109728" cy="4480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72768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Malgun Gothic"/>
              </a:rPr>
              <a:t>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07492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통계적 검정력: test shot ≈ 96(Tᵢ)/91(V_rot) — 모든 유의성의 구속조건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heavy-tailed 오차: 소수 방전이 부트스트랩 분산을 지배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MNAR 낙관적 상한: 관측 지점에서만 측정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metric 비대칭: 보간은 full-shot 이웃, 모델은 window=4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단일 아키텍처·단일 window(4): 민감도 미특성화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큰 Δt bin은 표본 수십 개·CI 없음 → 비신뢰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486400" cy="44805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109728" cy="448056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72768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B9E8A"/>
                </a:solidFill>
                <a:latin typeface="Malgun Gothic"/>
              </a:rPr>
              <a:t>향후 연구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507492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bracket-distance 층화: 가장 가까운 미래 anchor까지의 거리로 분석</a:t>
            </a:r>
          </a:p>
          <a:p>
            <a:pPr algn="l" lv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–  보간이 가장 어려운 sub-population에서 powered한 유의 win 발굴 기대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더 많은 test shot / 다중 캠페인 → 검정력 직접 보강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peak-weighted loss: 고변동 샘플 upweight (이연된 실험)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window 크기·아키텍처 민감도 체계적 sweep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3335F"/>
                </a:solidFill>
                <a:latin typeface="Malgun Gothic"/>
              </a:rPr>
              <a:t>●  V_rot 보강: 이력을 더 효과적으로 활용하는 구조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2011680" cy="508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한 장 요약 — 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965960"/>
            <a:ext cx="256032" cy="2560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883664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Malgun Gothic"/>
              </a:rPr>
              <a:t>항상 있는 빠른 진단으로 자주 비는 CES를 채우는 데이터 기반 가상 센서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532888"/>
            <a:ext cx="256032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450592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Malgun Gothic"/>
              </a:rPr>
              <a:t>미래까지 보는 오프라인 보간을 causal 모델로 이기는 의도적으로 어려운 bar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099816"/>
            <a:ext cx="256032" cy="256032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017520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Malgun Gothic"/>
              </a:rPr>
              <a:t>CES_TI는 4 seed 모두 보간을 통계적으로 유의하게 능가 (shot-clustered CI)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666744"/>
            <a:ext cx="256032" cy="256032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584448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Malgun Gothic"/>
              </a:rPr>
              <a:t>CES_VT는 동률(n.s.) — 빠른 진단에 회전 정보가 없다는 Tᵢ↔V_rot 비대칭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233672"/>
            <a:ext cx="256032" cy="2560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151376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Malgun Gothic"/>
              </a:rPr>
              <a:t>모델의 가치는 고변동(peak) 구간에 집중 · causal baseline은 압도적으로 능가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800600"/>
            <a:ext cx="256032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18304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Malgun Gothic"/>
              </a:rPr>
              <a:t>Claude 기반 keep/discard autoresearch로 n.s. → 유의로 개선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623560"/>
            <a:ext cx="10515600" cy="25400"/>
          </a:xfrm>
          <a:prstGeom prst="rect">
            <a:avLst/>
          </a:prstGeom>
          <a:solidFill>
            <a:srgbClr val="2A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감사합니다.  </a:t>
            </a:r>
            <a:r>
              <a:rPr sz="2000" b="1" i="0">
                <a:solidFill>
                  <a:srgbClr val="E8743B"/>
                </a:solidFill>
                <a:latin typeface="Malgun Gothic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