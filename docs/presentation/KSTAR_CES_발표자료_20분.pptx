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00:00–00:30  (30초)</a:t>
            </a:r>
          </a:p>
          <a:p/>
          <a:p>
            <a:r>
              <a:t>본 발표는 KSTAR의 빠른 진단으로 CES 결측 구간을 채우는 연구를 20분간 보고한다.</a:t>
            </a:r>
          </a:p>
          <a:p/>
          <a:p>
            <a:r>
              <a:t>핵심 한 문장을 먼저 제시한다: 느리고 자주 비는 CES를 항상 측정되는 빠른 진단으로 채울 수 있는지,</a:t>
            </a:r>
          </a:p>
          <a:p>
            <a:r>
              <a:t>그리고 미래까지 읽는 오프라인 보간을 인과 모델이 이길 수 있는지를 통계적으로 검증하였다.</a:t>
            </a:r>
          </a:p>
          <a:p/>
          <a:p>
            <a:r>
              <a:t>용어: forecasting(예보)이 아니라 nowcasting(현재 시점의 결측 채우기)이다.</a:t>
            </a:r>
          </a:p>
          <a:p>
            <a:r>
              <a:t>재실험(B.1–B.5)과 B.9 이후의 확정 프로토콜 수치이며, 옛 W=4 발표 수치는 전부 폐기되었다.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00:30–01:15  (45초)</a:t>
            </a:r>
          </a:p>
          <a:p/>
          <a:p>
            <a:r>
              <a:t>이 슬라이드가 발표 전체의 요약이며, 결론을 먼저 제시한 뒤 근거로 들어간다.</a:t>
            </a:r>
          </a:p>
          <a:p/>
          <a:p>
            <a:r>
              <a:t>첫째, 빠른 진단은 이온온도 정보를 실제로 운반한다. 과거만 읽는 모델이 미래까지 읽는 오프라인</a:t>
            </a:r>
          </a:p>
          <a:p>
            <a:r>
              <a:t>보간을 Tᵢ에서 유의하게 능가하였고, 데이터 처리 방식을 둘로 나눈 검증(스파이크 컷/포함)에서</a:t>
            </a:r>
          </a:p>
          <a:p>
            <a:r>
              <a:t>양쪽 4개 분할 전부 통과하였다.</a:t>
            </a:r>
          </a:p>
          <a:p>
            <a:r>
              <a:t>둘째, 회전 속도는 전역적으로 동률이다. 이는 실패가 아니라 물리적으로 예측된 비대칭이며,</a:t>
            </a:r>
          </a:p>
          <a:p>
            <a:r>
              <a:t>승패 방전 분석이 그 메커니즘(구동 변수의 부재)을 지목한다.</a:t>
            </a:r>
          </a:p>
          <a:p>
            <a:r>
              <a:t>셋째, 약 50 ms의 연속 문맥이 우위를 전형적으로 만들고, 아키텍처는 비용으로 정해지며,</a:t>
            </a:r>
          </a:p>
          <a:p>
            <a:r>
              <a:t>성능 상한은 모델이 아니라 데이터에 있다.</a:t>
            </a:r>
          </a:p>
          <a:p/>
          <a:p>
            <a:r>
              <a:t>시간이 부족하면 이 슬라이드를 30초로 줄이고 결론에서 회수한다.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01:15–02:10  (55초)</a:t>
            </a:r>
          </a:p>
          <a:p/>
          <a:p>
            <a:r>
              <a:t>CES는 이온온도와 토로이달 회전이라는 페데스탈 물리의 두 핵심량을 제공한다. 그러나 충분한</a:t>
            </a:r>
          </a:p>
          <a:p>
            <a:r>
              <a:t>신호대잡음비를 얻기 위해 광자를 오래 적분해야 하므로 느리고 자주 결측된다. 같은 10 ms 격자에서</a:t>
            </a:r>
          </a:p>
          <a:p>
            <a:r>
              <a:t>Tᵢ는 8.2%, 회전은 23.9%가 값 자체가 비어 있다. 회전은 여기에 더해, 값이 채워진 행 중 54%가</a:t>
            </a:r>
          </a:p>
          <a:p>
            <a:r>
              <a:t>직전 값을 복사한 held 값이며 독립 측정이 아니다. NaN과 held를 합치면 회전은 전체 행의 65%가</a:t>
            </a:r>
          </a:p>
          <a:p>
            <a:r>
              <a:t>실질적으로 정보가 없다. Tᵢ의 held는 226,991행 중 1행으로 사실상 0%이다. 두 타깃은 서로</a:t>
            </a:r>
          </a:p>
          <a:p>
            <a:r>
              <a:t>독립적으로 결측된다.</a:t>
            </a:r>
          </a:p>
          <a:p/>
          <a:p>
            <a:r>
              <a:t>반면 BES, ECEI, Mirnov 같은 빠른 진단은 같은 격자에서 100% 측정된다. 따라서 연구 질문은</a:t>
            </a:r>
          </a:p>
          <a:p>
            <a:r>
              <a:t>항상 존재하는 입력으로 자주 비는 타깃을 채울 수 있는가, 정확히는 CES 자신의 시간 보간이</a:t>
            </a:r>
          </a:p>
          <a:p>
            <a:r>
              <a:t>복원할 수 없는 정보를 회복할 수 있는가이다.</a:t>
            </a:r>
          </a:p>
          <a:p/>
          <a:p>
            <a:r>
              <a:t>물리적 연결(질문 대비): ECEI(Tₑ)와 BES(nₑ)는 충돌 e–i 결합을 통해 Tᵢ와 연결된다. 회전은</a:t>
            </a:r>
          </a:p>
          <a:p>
            <a:r>
              <a:t>주로 NBI 토크가 구동하며 그 토크가 데이터에 없다. MNAR은 결과 ④에서 정량화된다.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02:10–02:45  (35초)</a:t>
            </a:r>
          </a:p>
          <a:p/>
          <a:p>
            <a:r>
              <a:t>결측을 비율이 아니라 전수 집계로 제시한다(641 shot, 247,207행 전부).</a:t>
            </a:r>
          </a:p>
          <a:p/>
          <a:p>
            <a:r>
              <a:t>위 두 줄이 핵심이다. 값이 비어 있는 NaN은 Tᵢ 8.2%, 회전 23.9%이다. 그 아래, 직전 관측값과</a:t>
            </a:r>
          </a:p>
          <a:p>
            <a:r>
              <a:t>비트 단위로 동일한 held 행이 회전에서 41.1%이며 최대 1,214행이 연속으로 같은 값이다. 회전 진단의</a:t>
            </a:r>
          </a:p>
          <a:p>
            <a:r>
              <a:t>실제 측정 주기가 행 주기보다 느려 값이 carry-forward된 것이며 독립 측정이 아니다. 둘을 합치면</a:t>
            </a:r>
          </a:p>
          <a:p>
            <a:r>
              <a:t>회전은 65%가 실질 무정보이고 실제 정보가 있는 행은 35%이다. Tᵢ는 held가 226,991행 중 1행이다.</a:t>
            </a:r>
          </a:p>
          <a:p/>
          <a:p>
            <a:r>
              <a:t>held 행은 persistence나 보간이 오차 0에 가깝게 맞히는 행이므로, 확정 프로토콜에서는 학습 타깃,</a:t>
            </a:r>
          </a:p>
          <a:p>
            <a:r>
              <a:t>이력 입력, 정규화 통계, 모든 기준선의 보간 앵커에서 전부 제거하고 실제 측정만 채점하였다.</a:t>
            </a:r>
          </a:p>
          <a:p/>
          <a:p>
            <a:r>
              <a:t>이 슬라이드는 데이터 감사의 신뢰를 확보하는 지점이다. 발견하여 고쳤다는 사실을 명확히 전달한다.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02:45–03:25  (40초)</a:t>
            </a:r>
          </a:p>
          <a:p/>
          <a:p>
            <a:r>
              <a:t>두 번째 감사이다. 관측 Tᵢ의 p99가 2,089 eV인 반면 최댓값은 14,984 eV이다. 이 먼 꼬리는</a:t>
            </a:r>
          </a:p>
          <a:p>
            <a:r>
              <a:t>플라즈마가 아니라 실패한 스펙트럼 피팅이다. 3 keV를 넘는 행은 1,197행(0.53%)이며 85%가 단일</a:t>
            </a:r>
          </a:p>
          <a:p>
            <a:r>
              <a:t>행이고 정점이 이웃 평균의 13배이다. 어떤 방법으로도 예측되지 않으며 보간의 앵커를 오염시킨다.</a:t>
            </a:r>
          </a:p>
          <a:p/>
          <a:p>
            <a:r>
              <a:t>제거하면 어려운 행을 없앴다는 비판을 받고, 유지하면 스파이크 앵커가 오프라인 기준선에 핸디캡을</a:t>
            </a:r>
          </a:p>
          <a:p>
            <a:r>
              <a:t>준다. 어느 쪽도 안전하지 않으므로 두 대응을 모두 공동 1차 모집단(컷과 포함)으로 사전등록하였다.</a:t>
            </a:r>
          </a:p>
          <a:p>
            <a:r>
              <a:t>규칙은 하나이다: 무조건부 주장은 두 모집단 모두에서 성립할 때만 한다. 문턱 민감도도 검사하였으며</a:t>
            </a:r>
          </a:p>
          <a:p>
            <a:r>
              <a:t>2.5·3·4 keV에서 결과가 같았다.</a:t>
            </a:r>
          </a:p>
          <a:p/>
          <a:p>
            <a:r>
              <a:t>질문 대비: 값 컷은 일방향 프록시이다. 하향 dip 4,965행은 손대지 않았고 상향 이상치의 19%만</a:t>
            </a:r>
          </a:p>
          <a:p>
            <a:r>
              <a:t>제거된다. 회전 스파이크는 컷하지 않고 SSE 비중을 병기한다.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03:25–04:30  (65초)  ★ 이 발표에서 가장 중요한 슬라이드</a:t>
            </a:r>
          </a:p>
          <a:p/>
          <a:p>
            <a:r>
              <a:t>평가 기준선의 설정이 이 연구의 핵심이다. 흔한 방식은 persistence(직전 값 유지)와의 비교이나</a:t>
            </a:r>
          </a:p>
          <a:p>
            <a:r>
              <a:t>이는 너무 쉬운 상대이므로, 의도적으로 훨씬 어려운 상대인 CES-only 오프라인 보간(선형·PCHIP·</a:t>
            </a:r>
          </a:p>
          <a:p>
            <a:r>
              <a:t>국소 AR·GP)을 선택하였다.</a:t>
            </a:r>
          </a:p>
          <a:p/>
          <a:p>
            <a:r>
              <a:t>정보 비대칭에 주목한다. 오른쪽의 보간은 맞히려는 시점의 과거와 미래 CES를 모두 읽는다. 반면</a:t>
            </a:r>
          </a:p>
          <a:p>
            <a:r>
              <a:t>본 모델은 그 시점까지의 빠른 진단과 세그먼트 과거 이력만 읽고 미래는 전혀 읽지 않는다. 엄격히</a:t>
            </a:r>
          </a:p>
          <a:p>
            <a:r>
              <a:t>인과적이다. 따라서 미래를 읽는 보간을 과거만 읽는 모델이 이긴다면, 빠른 진단이 시간 보간으로는</a:t>
            </a:r>
          </a:p>
          <a:p>
            <a:r>
              <a:t>얻을 수 없는 CES 정보를 실제로 운반한다는 강한 증거가 된다.</a:t>
            </a:r>
          </a:p>
          <a:p/>
          <a:p>
            <a:r>
              <a:t>이번 개정에서 팔을 하나 더 넣었다. 인과 GP는 같은 GP를 과거 이웃 16개로 제한한 것이며, 실제로</a:t>
            </a:r>
          </a:p>
          <a:p>
            <a:r>
              <a:t>배치할 수 있는 방법 중 가장 강한 경쟁자이다. ‘배치 가능한 모든 인과 방법을 이긴다’는 주장은</a:t>
            </a:r>
          </a:p>
          <a:p>
            <a:r>
              <a:t>persistence가 아니라 이 인과 GP로 판정한다.</a:t>
            </a:r>
          </a:p>
          <a:p/>
          <a:p>
            <a:r>
              <a:t>청중이 ‘왜 굳이 불리하게 설계하는가’를 물을 수 있으므로 마지막 두 문장을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04:30–05:15  (45초)</a:t>
            </a:r>
          </a:p>
          <a:p/>
          <a:p>
            <a:r>
              <a:t>데이터는 641개 방전, 10 ms 격자의 247,207행이다. 파일 하나는 대개 3초 길이의 측정 세그먼트</a:t>
            </a:r>
          </a:p>
          <a:p>
            <a:r>
              <a:t>하나이며, 모델도 보간도 그 경계를 넘지 않아 정보 조건이 양쪽에 동일하게 맞추어졌다.</a:t>
            </a:r>
          </a:p>
          <a:p/>
          <a:p>
            <a:r>
              <a:t>데이터 계약은 네 가지이다. 첫째, 가짜 라벨을 만들지 않았다. 결측을 보간으로 메워 학습에 쓰면</a:t>
            </a:r>
          </a:p>
          <a:p>
            <a:r>
              <a:t>‘보간을 이기는가’라는 질문 자체가 무의미해진다. 둘째, 두 타깃이 독립적으로 결측되므로 손실을</a:t>
            </a:r>
          </a:p>
          <a:p>
            <a:r>
              <a:t>타깃별로 마스킹하였다. 이를 하지 않으면 한쪽만 관측된 행(라벨의 약 28%)이 버려진다. 셋째,</a:t>
            </a:r>
          </a:p>
          <a:p>
            <a:r>
              <a:t>누수를 세 곳에서 막았다: shot 파일 단위 분할, 학습 파일 전용 정규화, 타깃 시점의 값과 관측</a:t>
            </a:r>
          </a:p>
          <a:p>
            <a:r>
              <a:t>플래그의 완전 마스킹이다. 넷째, held 값을 지도 타깃·이력 입력·정규화 통계·모든 기준선의</a:t>
            </a:r>
          </a:p>
          <a:p>
            <a:r>
              <a:t>보간 앵커에서 전부 제거하였다. 그 대가로 회전 채점 행의 40~44%에서 보간이 persistence로</a:t>
            </a:r>
          </a:p>
          <a:p>
            <a:r>
              <a:t>후퇴하며, 이 폴백률은 사전등록에 따라 보고된다.</a:t>
            </a:r>
          </a:p>
          <a:p/>
          <a:p>
            <a:r>
              <a:t>질문 대비: TEST는 아키텍처 탐색 전에 예약되었고 선택 중에는 열리지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05:15–05:55  (40초)</a:t>
            </a:r>
          </a:p>
          <a:p/>
          <a:p>
            <a:r>
              <a:t>학습 예제를 만드는 방식은 두 가지이며, 이 대조가 결과 ③의 핵심이다.</a:t>
            </a:r>
          </a:p>
          <a:p/>
          <a:p>
            <a:r>
              <a:t>윈도 프레이밍은 맞히려는 시점 앞 두 행을 잘라 텐서로 만든다. 옛 주 모델의 방식이며 현재는</a:t>
            </a:r>
          </a:p>
          <a:p>
            <a:r>
              <a:t>대조군이다. 전체격자 시퀀스는 세그먼트 안에서 입력이 온전한 행을 라벨 유무와 무관하게 전부</a:t>
            </a:r>
          </a:p>
          <a:p>
            <a:r>
              <a:t>맥락으로 유지하고, 희소성은 loss 마스킹으로 처리한다.</a:t>
            </a:r>
          </a:p>
          <a:p/>
          <a:p>
            <a:r>
              <a:t>결정적 차이는 도달 범위이다. 윈도는 과거 관측 W-1개만 읽고 시퀀스는 세그먼트 전체를 읽는다.</a:t>
            </a:r>
          </a:p>
          <a:p>
            <a:r>
              <a:t>시퀀스에서는 W가 더 이상 하이퍼파라미터가 아니다. 이 도달 범위가 실제로 얼마나 필요한지는</a:t>
            </a:r>
          </a:p>
          <a:p>
            <a:r>
              <a:t>결과 ⑨에서 측정된다.</a:t>
            </a:r>
          </a:p>
          <a:p/>
          <a:p>
            <a:r>
              <a:t>질문 대비: 윈도의 시간 특징 4채널(lookback·간격·각 log1p)은 불규칙한 관측 간격을 명시적으로</a:t>
            </a:r>
          </a:p>
          <a:p>
            <a:r>
              <a:t>노출하기 위한 것이다. 과거 값의 신뢰도는 10 ms 전인지 200 ms 전인지에 의존한다.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05:55–06:50  (55초)</a:t>
            </a:r>
          </a:p>
          <a:p/>
          <a:p>
            <a:r>
              <a:t>주 모델은 22채널 격자 시퀀스 위의 독립적인 인과 LSTM 두 개이다.</a:t>
            </a:r>
          </a:p>
          <a:p/>
          <a:p>
            <a:r>
              <a:t>Tᵢ 분기는 2층 160으로 전체 상태(빠른 진단, 두 타깃의 이월값, 신선도, 시간 간격)를 읽는다.</a:t>
            </a:r>
          </a:p>
          <a:p>
            <a:r>
              <a:t>V_rot 분기는 1층 64이며 빠른 진단이 아닌 7채널만 읽는다. 라우팅을 head가 아니라 인코더에서</a:t>
            </a:r>
          </a:p>
          <a:p>
            <a:r>
              <a:t>하였다. 순환 상태를 공유하면 head를 어떻게 배선해도 빠른 진단 정보가 회전 쪽으로 누출된다.</a:t>
            </a:r>
          </a:p>
          <a:p>
            <a:r>
              <a:t>분기 자체를 분리하였으므로 빠른 채널 15개를 전부 섭동해도 회전 출력이 비트 단위로 동일하며,</a:t>
            </a:r>
          </a:p>
          <a:p>
            <a:r>
              <a:t>이것이 뒤의 비대칭 결론을 구조적으로 보증한다.</a:t>
            </a:r>
          </a:p>
          <a:p/>
          <a:p>
            <a:r>
              <a:t>희소성은 loss가 처리한다(세그먼트의 라벨 있는 모든 행에 대한 타깃별 masked MSE). 전체</a:t>
            </a:r>
          </a:p>
          <a:p>
            <a:r>
              <a:t>357,570 파라미터이며 AdamW와 조기 종료로 14~25 에폭에서 학습이 끝난다.</a:t>
            </a:r>
          </a:p>
          <a:p/>
          <a:p>
            <a:r>
              <a:t>질문 대비: 라벨 없는 행을 남기는 이유는 빠른 진단이 그 행에서도 조밀하게 관측되기 때문이며,</a:t>
            </a:r>
          </a:p>
          <a:p>
            <a:r>
              <a:t>버리면 인과 문맥이 끊긴다.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06:50–07:20  (30초)</a:t>
            </a:r>
          </a:p>
          <a:p/>
          <a:p>
            <a:r>
              <a:t>짝지은 대조군은 옛 주 모델이다. 진단별 시간 인지 1D CNN, 양방향 GRU 이력 인코더, 그 위의 관측</a:t>
            </a:r>
          </a:p>
          <a:p>
            <a:r>
              <a:t>마스킹 attention pooling으로 구성된 201,258 파라미터 모델이다. attention은 해당 타깃이 실제</a:t>
            </a:r>
          </a:p>
          <a:p>
            <a:r>
              <a:t>관측된 행에만 질량을 허용하며, 보간의 귀납 편향을 파라미터 0개로 이식한 것이다. 약 40회의</a:t>
            </a:r>
          </a:p>
          <a:p>
            <a:r>
              <a:t>keep/discard 통제 실험의 산물이다.</a:t>
            </a:r>
          </a:p>
          <a:p/>
          <a:p>
            <a:r>
              <a:t>현재 역할은 셋이다: 백본 관문의 비교 대상, 절제 실험의 무대, 캠페인 붕괴의 재현자이다. 데이터</a:t>
            </a:r>
          </a:p>
          <a:p>
            <a:r>
              <a:t>계약·held 처리·분할·채점 모집단이 백본과 동일하므로 행 단위로 짝지어 비교된다.</a:t>
            </a:r>
          </a:p>
          <a:p/>
          <a:p>
            <a:r>
              <a:t>시간이 부족하면 ‘옛 주 모델이 현재는 대조군’이라는 사실만 전달한다.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07:20–08:05  (45초)  ★ 통계 질문이 나오는 구간</a:t>
            </a:r>
          </a:p>
          <a:p/>
          <a:p>
            <a:r>
              <a:t>결과에 앞서 수치의 신뢰 근거를 제시한다.</a:t>
            </a:r>
          </a:p>
          <a:p/>
          <a:p>
            <a:r>
              <a:t>왼쪽은 TEST 동결이다. test 방전은 아키텍처 탐색 전에 분리되었고 선택이 끝날 때까지 열리지</a:t>
            </a:r>
          </a:p>
          <a:p>
            <a:r>
              <a:t>않았다. 모델 선택은 전부 val에서 이루어졌으므로 headline 수치에 winner's curse가 없다.</a:t>
            </a:r>
          </a:p>
          <a:p/>
          <a:p>
            <a:r>
              <a:t>오른쪽은 사전등록이다. 비교 상대는 PCHIP으로 확정하고, 보간이 예측하지 못하는 지점은</a:t>
            </a:r>
          </a:p>
          <a:p>
            <a:r>
              <a:t>persistence로 채점하되 폴백률을 보고하며, test 최소 규모를 두고, 신뢰구간이 0을 제외할 때만</a:t>
            </a:r>
          </a:p>
          <a:p>
            <a:r>
              <a:t>‘이겼다’고 판정한다. 이번 개정에서 held-free, W=2, 파일당 500, 두 모집단, TEST 채점 전</a:t>
            </a:r>
          </a:p>
          <a:p>
            <a:r>
              <a:t>결정 규칙 커밋이 추가되었다.</a:t>
            </a:r>
          </a:p>
          <a:p/>
          <a:p>
            <a:r>
              <a:t>아래는 기준선 사다리이다. 위 세 개가 인과, 아래 두 개가 미래를 읽는 오프라인이며 인과 GP가</a:t>
            </a:r>
          </a:p>
          <a:p>
            <a:r>
              <a:t>배치 가능한 최강 상대이다.</a:t>
            </a:r>
          </a:p>
          <a:p/>
          <a:p>
            <a:r>
              <a:t>예상 질문 ‘왜 PCHIP인가’: 단조성을 보존하여 overshoot이 적은 보수적이고 강한 기준선이며,</a:t>
            </a:r>
          </a:p>
          <a:p>
            <a:r>
              <a:t>타깃 양쪽의 과거와 미래를 모두 읽는다. 즉 모델에 불리하게 설계된 기준선이다.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08:05–08:50  (45초)</a:t>
            </a:r>
          </a:p>
          <a:p/>
          <a:p>
            <a:r>
              <a:t>신뢰구간은 행이 아니라 방전 단위로 계산하였다. 한 방전 안의 10 ms 간격 측정들은 거의 복사본이므로,</a:t>
            </a:r>
          </a:p>
          <a:p>
            <a:r>
              <a:t>이를 수만 개의 독립 증거로 세면 확신이 과장된다. 따라서 짝지은 오차를 shot으로 묶고 shot을 통째로</a:t>
            </a:r>
          </a:p>
          <a:p>
            <a:r>
              <a:t>10,000회 재추출하였다. 모델에 불리한 계산이지만 ‘새로운 방전에서도 이기는가’에 답하는 방식이며,</a:t>
            </a:r>
          </a:p>
          <a:p>
            <a:r>
              <a:t>검정력의 상한은 샘플 수가 아니라 방전 수(Tᵢ 96, 회전 60~66)이다.</a:t>
            </a:r>
          </a:p>
          <a:p/>
          <a:p>
            <a:r>
              <a:t>두 모집단: Tᵢ 관측값의 0.53%가 3 keV를 넘으며 이는 플라즈마가 아니라 실패한 스펙트럼 피팅이다.</a:t>
            </a:r>
          </a:p>
          <a:p>
            <a:r>
              <a:t>제거하면 어려운 행을 없앴다는 비판을, 유지하면 스파이크가 보간 앵커를 오염시킨다는 비판을 받으므로</a:t>
            </a:r>
          </a:p>
          <a:p>
            <a:r>
              <a:t>둘 다 공동 1차로 사전등록하였고, 무조건부 주장은 양쪽에서 성립할 때만 한다.</a:t>
            </a:r>
          </a:p>
          <a:p/>
          <a:p>
            <a:r>
              <a:t>모델 선택: 백본을 바꾸는 관문의 네 조건을 먼저 고정한 뒤 충족시켰고, 이후 유일한 아키텍처 후보는</a:t>
            </a:r>
          </a:p>
          <a:p>
            <a:r>
              <a:t>4개 분할 전부 양수였음에도 유의가 1개뿐이어서 승격하지 않았다. val에서는 2/2 유의였다는 점이</a:t>
            </a:r>
          </a:p>
          <a:p>
            <a:r>
              <a:t>승격 기준을 TEST에 두는 이유이다.</a:t>
            </a:r>
          </a:p>
          <a:p/>
          <a:p>
            <a:r>
              <a:t>시간이 부족하면 아래 밴드(모델 선택)를 한 줄로 요약한다.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08:50–09:25  (35초)</a:t>
            </a:r>
          </a:p>
          <a:p/>
          <a:p>
            <a:r>
              <a:t>가장 단순한 결과인 RMSE 사다리이며 낮을수록 좋다.</a:t>
            </a:r>
          </a:p>
          <a:p/>
          <a:p>
            <a:r>
              <a:t>두 타깃 모두 백본이 최저 오차이다. persistence나 국소 AR 같은 인과 기준선은 큰 마진으로</a:t>
            </a:r>
          </a:p>
          <a:p>
            <a:r>
              <a:t>이기고, 배치 가능한 최강 상대인 인과 GP보다도 Tᵢ 4%, 회전 18% 낮다. 미래까지 읽는 오프라인</a:t>
            </a:r>
          </a:p>
          <a:p>
            <a:r>
              <a:t>GP와는 153.8 대 157.8로 동률이며, 이것이 오프라인 주장의 상한이고 함께 보고한다.</a:t>
            </a:r>
          </a:p>
          <a:p/>
          <a:p>
            <a:r>
              <a:t>포함 모집단에서는 스파이크 때문에 Tᵢ RMSE가 두 배 이상 커지지만 순서는 유지된다.</a:t>
            </a:r>
          </a:p>
          <a:p/>
          <a:p>
            <a:r>
              <a:t>다음 슬라이드로의 연결: 점추정이 앞선다는 것만으로 이겼다고 하지 않으며 신뢰구간을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09:25–10:30  (65초)  ★ headline 결과</a:t>
            </a:r>
          </a:p>
          <a:p/>
          <a:p>
            <a:r>
              <a:t>forest plot이며 가로축이 PCHIP 대비 skill이다. 점이 추정치, 가로 막대가 shot 군집 95%</a:t>
            </a:r>
          </a:p>
          <a:p>
            <a:r>
              <a:t>신뢰구간이며, 막대가 0선을 넘지 않으면 통계적으로 유의하게 이긴 것이다.</a:t>
            </a:r>
          </a:p>
          <a:p/>
          <a:p>
            <a:r>
              <a:t>Tᵢ는 4개의 독립 분할 전부에서 신뢰구간이 0을 제외한다. 컷 모집단 +0.17~+0.26, 포함 모집단</a:t>
            </a:r>
          </a:p>
          <a:p>
            <a:r>
              <a:t>+0.23~+0.32로 4/4와 4/4이다. 데이터 처리 방식에 무관하게 성립하므로 무조건부 주장이다.</a:t>
            </a:r>
          </a:p>
          <a:p>
            <a:r>
              <a:t>8개 셀 전부에서 인과 GP와 persistence도 이긴다.</a:t>
            </a:r>
          </a:p>
          <a:p/>
          <a:p>
            <a:r>
              <a:t>회전은 다르다. 점추정은 8개 셀 전부 양수이나 유의는 컷 1개, 포함 2개뿐이다. 4개 중 1~2개는</a:t>
            </a:r>
          </a:p>
          <a:p>
            <a:r>
              <a:t>잡음이 만들 수 있는 수준이므로 ‘이겼다’고 쓰지 않고 동률로 보고한다.</a:t>
            </a:r>
          </a:p>
          <a:p/>
          <a:p>
            <a:r>
              <a:t>포함 모집단의 수치가 더 높아 보이는 것은 모델이 더 잘해서가 아니라 스파이크가 보간 앵커를</a:t>
            </a:r>
          </a:p>
          <a:p>
            <a:r>
              <a:t>오염시켜 모든 arm이 좋아 보이기 때문이며, 그 성분은 결과 ⑥에서 분해된다.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10:30–11:15  (45초)</a:t>
            </a:r>
          </a:p>
          <a:p/>
          <a:p>
            <a:r>
              <a:t>주 모델을 바꾼 근거인 백본 관문이다.</a:t>
            </a:r>
          </a:p>
          <a:p/>
          <a:p>
            <a:r>
              <a:t>조건 네 개를 먼저 고정하였다: 4개 분할 전부 부호 유지, 통합 신뢰구간이 0 제외, 예산 균등화에서도</a:t>
            </a:r>
          </a:p>
          <a:p>
            <a:r>
              <a:t>부호 유지, 회전에 손해 없음. 분할 4개 × 초기화 4개, 총 16회 학습하여 각 run을 자기 분할의 윈도</a:t>
            </a:r>
          </a:p>
          <a:p>
            <a:r>
              <a:t>대조군과 짝지었다. Tᵢ는 16/16 양수, 13개 유의이며 통합 +0.081, 신뢰구간 [+0.067, +0.096]이다.</a:t>
            </a:r>
          </a:p>
          <a:p>
            <a:r>
              <a:t>학습 예산을 고정해도 4개 분할 부호가 유지되고 회전의 유의한 열세는 없다.</a:t>
            </a:r>
          </a:p>
          <a:p/>
          <a:p>
            <a:r>
              <a:t>의미: 윈도 대조군은 인과 GP와 동률(1/4)인 반면 시퀀스 백본은 4/4와 4/4이다. 세그먼트 과거</a:t>
            </a:r>
          </a:p>
          <a:p>
            <a:r>
              <a:t>전체로의 도달 범위가 최강 배치 기준선을 이기게 하였고, 학습 비용은 윈도 조립과 조합 증강이 없어</a:t>
            </a:r>
          </a:p>
          <a:p>
            <a:r>
              <a:t>1/10이다. 그 도달 범위 중 실제로 필요한 양은 결과 ⑨에서 측정된다.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11:15–12:20  (65초)  ★ 배치 주장을 가르는 슬라이드</a:t>
            </a:r>
          </a:p>
          <a:p/>
          <a:p>
            <a:r>
              <a:t>관측된 지점에서만 채점하면 낙관적이다. 결측은 어려운 순간에 집중되기 때문이다. 따라서 결측 행의</a:t>
            </a:r>
          </a:p>
          <a:p>
            <a:r>
              <a:t>층 분포로 채점 지점을 재가중하였다(왼쪽). 온라인 시스템이 실제로 경쟁하는 persistence 대비로는</a:t>
            </a:r>
          </a:p>
          <a:p>
            <a:r>
              <a:t>두 모집단 4개 분할 전부 생존하였다. 오프라인 보간 대비로는 점추정은 유지되지만 컷 모집단에서</a:t>
            </a:r>
          </a:p>
          <a:p>
            <a:r>
              <a:t>2개 분할의 신뢰구간이 0을 지나므로 모집단 조건부로 기술한다. 재가중의 도달 범위는 Tᵢ가 결측의</a:t>
            </a:r>
          </a:p>
          <a:p>
            <a:r>
              <a:t>54~68%인 반면 회전은 4~6%뿐이므로 재가중 회전은 결론을 내지 않는다.</a:t>
            </a:r>
          </a:p>
          <a:p/>
          <a:p>
            <a:r>
              <a:t>오른쪽은 시간 분할이다. 방전 번호로 잘라 과거로 학습하고 미래를 채점하였다. 옛 윈도 모델은</a:t>
            </a:r>
          </a:p>
          <a:p>
            <a:r>
              <a:t>오프라인 우위를 완전히 잃었으나(컷 2/4, 포함 0/4) 시퀀스 백본은 4/4와 4/4로 생존하였다.</a:t>
            </a:r>
          </a:p>
          <a:p>
            <a:r>
              <a:t>원인은 측정되었다: 빠른 진단의 드리프트가 1.22σ인 반면 타깃은 0.115σ이다. 학습 파일 전용</a:t>
            </a:r>
          </a:p>
          <a:p>
            <a:r>
              <a:t>정규화가 무작위 분할에서는 옳지만 캠페인 이동에서 깨지며, 백본은 정의상 shot별 표준화를 하므로</a:t>
            </a:r>
          </a:p>
          <a:p>
            <a:r>
              <a:t>이 함정을 피한다.</a:t>
            </a:r>
          </a:p>
          <a:p/>
          <a:p>
            <a:r>
              <a:t>주의(먼저 말할 것): 캠페인은 한 시간 블록 위의 초기화 4개이며 분할 4개가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12:20–13:15  (55초)  ★ 과학적 발견</a:t>
            </a:r>
          </a:p>
          <a:p/>
          <a:p>
            <a:r>
              <a:t>비대칭의 원인을 절제로 확인하였다. 평가 시점에 modality를 지우는 실험이다.</a:t>
            </a:r>
          </a:p>
          <a:p/>
          <a:p>
            <a:r>
              <a:t>공통점: 이력을 지우면 두 타깃 모두 무너진다(-1에서 -4까지).</a:t>
            </a:r>
          </a:p>
          <a:p/>
          <a:p>
            <a:r>
              <a:t>차이는 빠른 진단이다. Tᵢ는 컷 모집단에서 빠른 채널을 0으로 두면 보간 아래로 떨어진다(-0.125).</a:t>
            </a:r>
          </a:p>
          <a:p>
            <a:r>
              <a:t>즉 보간을 이기는 마진 자체가 빠른 진단이 운반한 정보이다. 물리적으로 ECEI의 Tₑ와 BES의 nₑ가</a:t>
            </a:r>
          </a:p>
          <a:p>
            <a:r>
              <a:t>충돌 e–i 결합으로 Tᵢ와 연결된다.</a:t>
            </a:r>
          </a:p>
          <a:p/>
          <a:p>
            <a:r>
              <a:t>회전은 정반대이다. 빠른 채널을 전부 0으로 두어도 8개 셀 전부에서 출력이 비트 단위로 동일하다.</a:t>
            </a:r>
          </a:p>
          <a:p>
            <a:r>
              <a:t>회전 정보는 100% CES 이력에서 온다. 이유는 둘이다: 회전을 구동하는 NBI 토크가 데이터에 없고,</a:t>
            </a:r>
          </a:p>
          <a:p>
            <a:r>
              <a:t>Mirnov는 kHz dB/dt를 100 Hz로 순간샘플하여 위상이 무작위이다(lag-1 자기상관 BES +0.568,</a:t>
            </a:r>
          </a:p>
          <a:p>
            <a:r>
              <a:t>Mirnov -0.009).</a:t>
            </a:r>
          </a:p>
          <a:p/>
          <a:p>
            <a:r>
              <a:t>포함 모집단에서는 이력만 쓰는 모델도 PCHIP을 +0.15~+0.23 이기므로 그 마진에 스파이크 강건성</a:t>
            </a:r>
          </a:p>
          <a:p>
            <a:r>
              <a:t>성분이 섞여 있으며, 빠른 진단의 기여를 분리하려면 컷 모집단을 보아야 한다. 두 모집단을 함께</a:t>
            </a:r>
          </a:p>
          <a:p>
            <a:r>
              <a:t>보고하는 이유이다.</a:t>
            </a:r>
          </a:p>
          <a:p/>
          <a:p>
            <a:r>
              <a:t>질문 대비: ‘Tₑ가 NBI 가열을 대리하니 회전 정보도 담기지 않는가’는 검정되었다. Tₑ~Tᵢ는</a:t>
            </a:r>
          </a:p>
          <a:p>
            <a:r>
              <a:t>r = +0.353(p = 3e-17)로 경로가 실재하지만 Tₑ~V_rot는 r = +0.024(p = 0.58)이다. power와</a:t>
            </a:r>
          </a:p>
          <a:p>
            <a:r>
              <a:t>torque가 다르기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13:15–14:00  (45초)</a:t>
            </a:r>
          </a:p>
          <a:p/>
          <a:p>
            <a:r>
              <a:t>모델을 더 키우면 되는가라는 질문을 두 실험으로 닫았다.</a:t>
            </a:r>
          </a:p>
          <a:p/>
          <a:p>
            <a:r>
              <a:t>왼쪽은 복잡도 사다리이다. b3k8은 persistence 예측에 유계 latent 8개의 선형 보정을 더한</a:t>
            </a:r>
          </a:p>
          <a:p>
            <a:r>
              <a:t>21,498 파라미터 모델인데, 컷 모집단에서 357k 백본과 동급이다(짝지은 차이 평균 +0.002, 신뢰구간</a:t>
            </a:r>
          </a:p>
          <a:p>
            <a:r>
              <a:t>전부 0 포함). 즉 컷 조건에서 백본의 Tᵢ skill 전부가 숫자 8개로 압축된다. probe 결과 latent은</a:t>
            </a:r>
          </a:p>
          <a:p>
            <a:r>
              <a:t>직전 Tᵢ와 ECEI의 Tₑ를 담는다. 포함 모집단에서는 -0.194로 백본에 지는데, 유계 보정으로는</a:t>
            </a:r>
          </a:p>
          <a:p>
            <a:r>
              <a:t>스파이크 앵커를 살리지 못하기 때문이다(1% 미만의 행이 모든 arm SSE의 70~83%).</a:t>
            </a:r>
          </a:p>
          <a:p/>
          <a:p>
            <a:r>
              <a:t>오른쪽은 크기 축이다. Tᵢ 인코더 폭을 24에서 260까지(34k에서 879k 파라미터, 26배) 키워도</a:t>
            </a:r>
          </a:p>
          <a:p>
            <a:r>
              <a:t>skill이 +0.230에서 +0.236 사이에서 평평하다. 남은 분산은 모델 크기가 아니라 분할 분산이다.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14:00–14:40  (40초)</a:t>
            </a:r>
          </a:p>
          <a:p/>
          <a:p>
            <a:r>
              <a:t>모델이 이득을 얻는 위치를 peak 분석으로 확인하였다.</a:t>
            </a:r>
          </a:p>
          <a:p/>
          <a:p>
            <a:r>
              <a:t>peak는 예측값이 아니라 입력 기준으로 정의한다: 타깃 행을 제외한 이웃에서 국소 활동도가 높은</a:t>
            </a:r>
          </a:p>
          <a:p>
            <a:r>
              <a:t>구간이며, 정답을 읽지 않는 보수적 정의이다.</a:t>
            </a:r>
          </a:p>
          <a:p/>
          <a:p>
            <a:r>
              <a:t>Tᵢ는 peak 구간에서 컷 +0.45~+0.61, 포함 +0.62~+0.72로 8개 셀 전부 PASS이며 본류에서는</a:t>
            </a:r>
          </a:p>
          <a:p>
            <a:r>
              <a:t>+0.09~+0.20이다. 회전은 전역 동률이지만 peak 구간에서 +0.54~+0.79이고 persistence 대비</a:t>
            </a:r>
          </a:p>
          <a:p>
            <a:r>
              <a:t>8/8 PASS이며 본류는 0에 가깝다.</a:t>
            </a:r>
          </a:p>
          <a:p/>
          <a:p>
            <a:r>
              <a:t>해석: 매끄러운 본류에서는 보간이 이미 거의 최적이라 이길 여지가 없고, 급변 구간에서는 보간이</a:t>
            </a:r>
          </a:p>
          <a:p>
            <a:r>
              <a:t>구조적으로 실패하여 빠른 진단이 가치를 갖는다. 회전의 열세도 전역적이 아니라 지역적이다.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14:40–15:15  (35초)</a:t>
            </a:r>
          </a:p>
          <a:p/>
          <a:p>
            <a:r>
              <a:t>held-out TEST shot #31815의 사례이다.</a:t>
            </a:r>
          </a:p>
          <a:p/>
          <a:p>
            <a:r>
              <a:t>위가 이온온도이다. 검은 점이 실측, 파란 선이 모델, 회색이 PCHIP이다. 빨간 점선은 BES가</a:t>
            </a:r>
          </a:p>
          <a:p>
            <a:r>
              <a:t>급락한 시점이며 CES crash와 정렬되어 있다. 빠른 진단이 급변을 먼저 관측한다. PCHIP은 미래까지</a:t>
            </a:r>
          </a:p>
          <a:p>
            <a:r>
              <a:t>읽고도 스파이크마다 overshoot한다. 이 shot에서 Tᵢ RMSE는 199.2 대 262.3으로 skill +0.42이며</a:t>
            </a:r>
          </a:p>
          <a:p>
            <a:r>
              <a:t>실측점 395개 기준이다. 회전도 이 shot에서는 +0.21로 이기며, 관측이 끊기면 이력만으로 완만히</a:t>
            </a:r>
          </a:p>
          <a:p>
            <a:r>
              <a:t>감쇠한다.</a:t>
            </a:r>
          </a:p>
          <a:p/>
          <a:p>
            <a:r>
              <a:t>이런 shot이 전부는 아니다. 우위는 고르게 퍼져 있지 않고 간극과 급변 구간에 집중되며, 앞의 peak</a:t>
            </a:r>
          </a:p>
          <a:p>
            <a:r>
              <a:t>분석과 같은 그림이다. 어떤 방전에서 이기는가는 결과 ⑨에서 정량화된다.</a:t>
            </a:r>
          </a:p>
          <a:p/>
          <a:p>
            <a:r>
              <a:t>시간이 부족하면 이 슬라이드는 생략해도 논지가 성립한다.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15:15–16:45  (90초)  ★ 2026-08-16 이후 추가된 결과</a:t>
            </a:r>
          </a:p>
          <a:p/>
          <a:p>
            <a:r>
              <a:t>백본이 세그먼트 전체를 읽는 것이 정당한가라는 질문에서 출발하여 세 축을 측정하였다.</a:t>
            </a:r>
          </a:p>
          <a:p/>
          <a:p>
            <a:r>
              <a:t>문맥. seq_v2를 2·3·4·5·6·7·10·15·31·63 스텝의 도달 범위에서 각각 학습하고 채점하였다.</a:t>
            </a:r>
          </a:p>
          <a:p>
            <a:r>
              <a:t>사전등록 규칙(전체 대비 결손 0.02 미만, 유의 결손 1/4 이하)은 50 ms를 반환한다. 301개 방전을</a:t>
            </a:r>
          </a:p>
          <a:p>
            <a:r>
              <a:t>통합하면 모델은 20 ms에서도 인과 GP를 이기지만 승리 방전 비율은 0.52이며, 70 ms에서 0.66으로</a:t>
            </a:r>
          </a:p>
          <a:p>
            <a:r>
              <a:t>평평해진다. 즉 문맥이 사는 것은 평균이 아니라 전형성이다. 동결 백본의 상태를 절단한 첫 사다리의</a:t>
            </a:r>
          </a:p>
          <a:p>
            <a:r>
              <a:t>결손 중 87%는 학습되지 않은 cold start였다.</a:t>
            </a:r>
          </a:p>
          <a:p/>
          <a:p>
            <a:r>
              <a:t>계열. 같은 문맥에서 순환·확장 합성곱·attention은 0.023 이내로 동률이므로 skill로는 구분되지</a:t>
            </a:r>
          </a:p>
          <a:p>
            <a:r>
              <a:t>않는다. 지연은 파라미터가 아니라 디스패치 연산자 수에 비례하며(연산자당 2~3 µs), 순환은 도달</a:t>
            </a:r>
          </a:p>
          <a:p>
            <a:r>
              <a:t>범위에 O(1), 합성곱은 O(log R), attention은 상수가 4.3배이다. 10 ms 예산은 구속 조건이 아니다.</a:t>
            </a:r>
          </a:p>
          <a:p/>
          <a:p>
            <a:r>
              <a:t>승패 방전. Tᵢ는 방전의 70%에서 이기고 V_rot는 48%에서 이긴다. 승패를 예측하는 유일한</a:t>
            </a:r>
          </a:p>
          <a:p>
            <a:r>
              <a:t>변수는 방전 내 타깃의 산포이며, 조용한 방전에서는 GP가 이미 최적이다. 변동이 큰 방전에서도</a:t>
            </a:r>
          </a:p>
          <a:p>
            <a:r>
              <a:t>V_rot는 55%만 이기므로, 잔차는 회전의 구동 변수가 데이터에 없다는 결론과 일치한다.</a:t>
            </a:r>
          </a:p>
          <a:p/>
          <a:p>
            <a:r>
              <a:t>질문 대비: 1 ms 판정은 5세션 p99 산포 21.84배로 인해 사전등록 규칙이 보류하였다.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16:45–17:55  (70초)</a:t>
            </a:r>
          </a:p>
          <a:p/>
          <a:p>
            <a:r>
              <a:t>결론은 다섯 가지이다.</a:t>
            </a:r>
          </a:p>
          <a:p/>
          <a:p>
            <a:r>
              <a:t>하나. Tᵢ는 미래를 읽는 보간을 두 모집단 모두에서 유의하게 능가하였다. 4개 독립 분할 전부이며,</a:t>
            </a:r>
          </a:p>
          <a:p>
            <a:r>
              <a:t>배치 가능한 최강 인과 방법인 인과 GP는 8개 셀 전부에서 이겼다. 상한도 함께 보고한다: 최강</a:t>
            </a:r>
          </a:p>
          <a:p>
            <a:r>
              <a:t>오프라인 평활기와는 동률이다.</a:t>
            </a:r>
          </a:p>
          <a:p/>
          <a:p>
            <a:r>
              <a:t>둘. 배치 주장은 두 스트레스를 모두 견뎠다. 실제 결측 지점으로 재가중해도 인과 방법 대비 8/8,</a:t>
            </a:r>
          </a:p>
          <a:p>
            <a:r>
              <a:t>캠페인 경계를 넘어서도 4/4와 4/4이다. 대체된 윈도 대조군은 오프라인 우위를 잃었고 그 원인은</a:t>
            </a:r>
          </a:p>
          <a:p>
            <a:r>
              <a:t>드리프트로 측정되었다.</a:t>
            </a:r>
          </a:p>
          <a:p/>
          <a:p>
            <a:r>
              <a:t>셋. 약 50 ms의 연속 인과 문맥이 우위를 전형적으로 만들며, 세 계열은 같은 문맥에서 동률이므로</a:t>
            </a:r>
          </a:p>
          <a:p>
            <a:r>
              <a:t>아키텍처는 비용(연산자 수)으로 선택한다.</a:t>
            </a:r>
          </a:p>
          <a:p/>
          <a:p>
            <a:r>
              <a:t>넷. 회전은 전역 동률이며, 우위는 회전이 실제로 변하는 방전에 집중된다. 이는 검정력 문제가 아니라</a:t>
            </a:r>
          </a:p>
          <a:p>
            <a:r>
              <a:t>구동 변수의 부재이다.</a:t>
            </a:r>
          </a:p>
          <a:p/>
          <a:p>
            <a:r>
              <a:t>다섯. 상한은 추정기가 아니라 정보에 있다. 21,498 파라미터가 컷에서 백본과 같고 폭은 평평하며</a:t>
            </a:r>
          </a:p>
          <a:p>
            <a:r>
              <a:t>1,808 파라미터 합성곱도 인과 GP를 4/4로 이긴다. 따라서 다음 단계는 더 큰 모델이 아니라 데이터이다.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17:55–18:50  (55초)</a:t>
            </a:r>
          </a:p>
          <a:p/>
          <a:p>
            <a:r>
              <a:t>한계를 먼저 명시한다. 가장 큰 제약은 검정력이며, test 방전이 Tᵢ 96개, 회전 60~66개로 모든</a:t>
            </a:r>
          </a:p>
          <a:p>
            <a:r>
              <a:t>유의성 판정을 구속한다. 채점은 관측 지점에서 이루어지므로 낙관적 상한이고, 재가중이 닿는 범위도</a:t>
            </a:r>
          </a:p>
          <a:p>
            <a:r>
              <a:t>Tᵢ 54~68%, 회전 4~6%뿐이다. 오프라인 주장의 상한도 명시한다: 가장 강한 오프라인 평활기인</a:t>
            </a:r>
          </a:p>
          <a:p>
            <a:r>
              <a:t>GP와는 동률이다. 통합 재채점은 방법의 기대 skill을 추정하며 단일 체크포인트의 배치 주장이 아니다.</a:t>
            </a:r>
          </a:p>
          <a:p/>
          <a:p>
            <a:r>
              <a:t>향후 과제는 전부 데이터 쪽이다. 원칙은 ‘음성 결과는 그것을 뒤집을 측정을 지목할 때만 결론이</a:t>
            </a:r>
          </a:p>
          <a:p>
            <a:r>
              <a:t>된다’이며 셋을 지목하였다. CES 피팅 품질 메타데이터를 받으면 값 컷을 품질 컷으로 바꿔 두 모집단을</a:t>
            </a:r>
          </a:p>
          <a:p>
            <a:r>
              <a:t>하나로 합칠 수 있다. 원본 kHz Mirnov에서 모드 회전 주파수를 뽑는 것이 회전의 최상위 레버이며,</a:t>
            </a:r>
          </a:p>
          <a:p>
            <a:r>
              <a:t>그 검정의 무대인 B.6 shot 집합은 동결되어 있고 예측(변동 방전에서 먼저 개선)도 기록되어 있다.</a:t>
            </a:r>
          </a:p>
          <a:p>
            <a:r>
              <a:t>NBI 토크 채널은 모델링이 아니라 데이터 획득 과제이다. 크기·문맥·계열 축은 이미 닫혔다.</a:t>
            </a:r>
          </a:p>
          <a:p/>
          <a:p>
            <a:r>
              <a:t>질문 대비: Mirnov 파생 특징 재가공(적분·|MC|·이동 RMS)은 이미 시도되어 개선이 없었다.</a:t>
            </a:r>
          </a:p>
          <a:p>
            <a:r>
              <a:t>이미 잃은 정보는 하류에서 복구되지 않으므로 전처리(원본 kHz)로 올라가야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18:50–19:20  (30초) + Q&amp;A</a:t>
            </a:r>
          </a:p>
          <a:p/>
          <a:p>
            <a:r>
              <a:t>요약: 항상 존재하는 빠른 진단으로 자주 비는 CES를 채우는 엄격히 인과적인 가상 센서를 구축하였고,</a:t>
            </a:r>
          </a:p>
          <a:p>
            <a:r>
              <a:t>미래까지 읽는 보간이라는 의도적으로 어려운 기준선으로 검증하였다. 이온온도는 두 모집단 모두에서</a:t>
            </a:r>
          </a:p>
          <a:p>
            <a:r>
              <a:t>유의하게 이겼고 두 스트레스를 견뎠으며, 약 50 ms의 문맥이 우위를 전형적으로 만든다. 회전은 전역</a:t>
            </a:r>
          </a:p>
          <a:p>
            <a:r>
              <a:t>동률이며 그 이유가 물리와 승패 방전 분석으로 설명된다.</a:t>
            </a:r>
          </a:p>
          <a:p/>
          <a:p>
            <a:r>
              <a:t>── 예상 질문 대비 ──────────────────────────────</a:t>
            </a:r>
          </a:p>
          <a:p>
            <a:r>
              <a:t>Q. 왜 forecasting이 아니라 nowcasting인가?</a:t>
            </a:r>
          </a:p>
          <a:p>
            <a:r>
              <a:t> → 미래를 예보하는 것이 아니라 이미 지난 시점의 빈 값을 채우는 문제이며, 오프라인 물리 분석용이다.</a:t>
            </a:r>
          </a:p>
          <a:p/>
          <a:p>
            <a:r>
              <a:t>Q. 진짜 결측 구간에서도 이만큼 복원되는가?</a:t>
            </a:r>
          </a:p>
          <a:p>
            <a:r>
              <a:t> → 단정하지 않는다. MNAR이므로 관측점 성능은 낙관적 상한이며, 결측 분포로 재가중하면 인과 대비는</a:t>
            </a:r>
          </a:p>
          <a:p>
            <a:r>
              <a:t>    8/8 생존, 오프라인 대비는 모집단 조건부(컷 2/4·포함 4/4)이다.</a:t>
            </a:r>
          </a:p>
          <a:p/>
          <a:p>
            <a:r>
              <a:t>Q. 보간이 미래를 읽는데 이기는 것이 가능한가?</a:t>
            </a:r>
          </a:p>
          <a:p>
            <a:r>
              <a:t> → 가능하며 그것이 논지의 핵심이다. 빠른 진단이 시간 보간으로 얻을 수 없는 정보를 운반하며,</a:t>
            </a:r>
          </a:p>
          <a:p>
            <a:r>
              <a:t>    보간이 구조적으로 실패하는 급변 구간에서 이긴다.</a:t>
            </a:r>
          </a:p>
          <a:p/>
          <a:p>
            <a:r>
              <a:t>Q. 왜 LSTM인가? 합성곱이나 attention이 더 낫지 않은가?</a:t>
            </a:r>
          </a:p>
          <a:p>
            <a:r>
              <a:t> → 같은 문맥에서 세 계열은 0.023 이내로 동률이다(B.9). 선택은 비용으로 하며, 순환은 도달 범위에</a:t>
            </a:r>
          </a:p>
          <a:p>
            <a:r>
              <a:t>    O(1), 합성곱은 O(log R), attention은 상수가 4.3배이다. 10k 파라미터 아래에서는 합성곱이 낫다.</a:t>
            </a:r>
          </a:p>
          <a:p/>
          <a:p>
            <a:r>
              <a:t>Q. 얼마나 긴 문맥이 필요한가?</a:t>
            </a:r>
          </a:p>
          <a:p>
            <a:r>
              <a:t> → 약 50 ms에서 포화한다. 20 ms에서도 인과 GP를 이기지만 승리 방전 비율이 0.52이며 70 ms에서</a:t>
            </a:r>
          </a:p>
          <a:p>
            <a:r>
              <a:t>    0.66으로 평평해진다. 무한 문맥은 필요하지 않다.</a:t>
            </a:r>
          </a:p>
          <a:p/>
          <a:p>
            <a:r>
              <a:t>Q. V_rot을 살리려면?</a:t>
            </a:r>
          </a:p>
          <a:p>
            <a:r>
              <a:t> → NBI 토크 채널 확보가 1순위, 원본 kHz Mirnov(모드 회전 주파수)가 그다음이다. B.6 shot 집합이</a:t>
            </a:r>
          </a:p>
          <a:p>
            <a:r>
              <a:t>    동결되어 있고, 변동 방전에서 먼저 개선되어야 한다는 예측이 기록되어 있다.</a:t>
            </a:r>
          </a:p>
          <a:p/>
          <a:p>
            <a:r>
              <a:t>Q. 실시간에 쓸 수 있는가?</a:t>
            </a:r>
          </a:p>
          <a:p>
            <a:r>
              <a:t> → 상태 유지 1-step이 CPU 유휴 세션에서 중앙값 1.05 ms / p99 1.61 ms이며, 10 ms 예산은 어느</a:t>
            </a:r>
          </a:p>
          <a:p>
            <a:r>
              <a:t>    arm에도 구속 조건이 아니다. 절댓값은 기계 종속이므로 연산자 수와 순서를 주장한다.</a:t>
            </a:r>
          </a:p>
          <a:p/>
          <a:p>
            <a:r>
              <a:t>Q. seed에 따라 흔들리지 않는가?</a:t>
            </a:r>
          </a:p>
          <a:p>
            <a:r>
              <a:t> → Tᵢ는 4개 독립 분할 × 두 모집단 전부 PASS로 강건하다. V_rot은 방전 단위 승률이 0.48로 소수</a:t>
            </a:r>
          </a:p>
          <a:p>
            <a:r>
              <a:t>    방전에 집중되며, 이것이 ‘현 규모에서 V_rot 단일 수치는 shot-general이 아니다’라는 근거이다.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원자핵공학과 대학원 내부 발표 · 20분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결론을 먼저 제시한다 — 세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1115568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73352"/>
            <a:ext cx="822960" cy="82296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73352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499616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3335F"/>
                </a:solidFill>
                <a:latin typeface="Malgun Gothic"/>
              </a:rPr>
              <a:t>빠른 진단은 Tᵢ 정보를 실제로 운반한다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1920240"/>
            <a:ext cx="98755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과거만 읽는 인과 모델이 미래까지 읽는 오프라인 보간(PCHIP)을 Tᵢ에서 유의하게 능가하였다.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컷 +0.17~+0.26, 포함 +0.23~+0.32로 두 모집단 × 4개 독립 분할 전부 PASS(4/4 + 4/4)였다.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배치 가능한 최강 인과 기준선(인과 GP)도 8개 셀 전부에서 이겼고, 두 스트레스를 생존하였다.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99232"/>
            <a:ext cx="1115568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300984"/>
            <a:ext cx="822960" cy="82296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0098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127248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3335F"/>
                </a:solidFill>
                <a:latin typeface="Malgun Gothic"/>
              </a:rPr>
              <a:t>V_rot는 전역 동률이며, 그 원인은 물리적으로 설명된다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547872"/>
            <a:ext cx="98755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PR4 통과는 컷 1/4, 포함 2/4로 잡음 수준이므로 회전의 승리를 주장하지 않는다.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빠른 채널을 전부 0으로 두어도 출력이 bit-identical이므로 회전 정보는 입력에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우위는 회전이 실제로 변하는 방전에 집중되며(승률 34% → 55%), 구동 변수 NBI 토크가 미관측이다.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26864"/>
            <a:ext cx="1115568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928616"/>
            <a:ext cx="822960" cy="82296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928616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754880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3335F"/>
                </a:solidFill>
                <a:latin typeface="Malgun Gothic"/>
              </a:rPr>
              <a:t>문맥이 우위를 전형적으로 만들고, 비용이 아키텍처를 정하며, 상한은 정보에 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5175504"/>
            <a:ext cx="98755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연속 인과 문맥 약 50 ms에서 skill이 포화하고 승리 방전 비율이 0.52에서 0.66으로 올랐다.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순환·확장 합성곱·attention은 같은 문맥에서 0.023 이내로 동률이므로 비용(연산자 수)으로 선택한다.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21,498 파라미터 모델이 백본과 동급(컷)이고 폭 26배 스윕이 평평하므로, 남은 레버는 데이터이다.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CES 결측의 원인과 규모, 그리고 이를 채울 입력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CES는 페데스탈 물리의 핵심량 Tᵢ · V_rot를 제공하지만 </a:t>
            </a:r>
            <a:r>
              <a:rPr sz="1400" b="1" i="0">
                <a:solidFill>
                  <a:srgbClr val="E8743B"/>
                </a:solidFill>
                <a:latin typeface="Malgun Gothic"/>
              </a:rPr>
              <a:t>광자 적분이 필요하여 느리고 자주 결측된다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. 빠른 진단은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548640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10512"/>
            <a:ext cx="91440" cy="30632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202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진단 구성 — 같은 10 ms 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22576"/>
            <a:ext cx="5102352" cy="2423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CES(타깃)는 Tᵢ · V_rot를 제공하며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 9 ch는 밀도요동 nₑ의 공간 구조를 제공하여 Tᵢ의 단서가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ECEI 4 ch는 전자온도 Tₑ의 2D 영상을 제공하여 Tᵢ의 단서가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경로는 충돌 e–i 결합이다.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Mirnov 2 ch는 kHz dB/dt를 100 Hz로 데시메이트한 신호이며,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lag-1 자기상관이 -0.009(BES +0.568)로 이 격자에서 백색잡음이다.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격자에서 100% 측정된다.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10512"/>
            <a:ext cx="4160520" cy="3063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결측 실태 (641 방전 · 247,207행)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CES_TI 완전결측(NaN)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9DE8CD"/>
                </a:solidFill>
                <a:latin typeface="Malgun Gothic"/>
              </a:rPr>
              <a:t>8.2 %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CES_VT 완전결측(NaN)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E8743B"/>
                </a:solidFill>
                <a:latin typeface="Malgun Gothic"/>
              </a:rPr>
              <a:t>23.9 %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145536"/>
            <a:ext cx="3703320" cy="713232"/>
          </a:xfrm>
          <a:prstGeom prst="roundRect">
            <a:avLst/>
          </a:prstGeom>
          <a:solidFill>
            <a:srgbClr val="8E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3218688"/>
            <a:ext cx="34290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5CE"/>
                </a:solidFill>
                <a:latin typeface="Malgun Gothic"/>
              </a:rPr>
              <a:t>held(직전값 복사) CES_VT 41.1 %가 더해진다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Malgun Gothic"/>
              </a:rPr>
              <a:t>V_rot 실질 무정보 비율은 65.0 %이다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50208"/>
            <a:ext cx="37033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· 두 타깃은 </a:t>
            </a:r>
            <a:r>
              <a:rPr sz="1100" b="1" i="0">
                <a:solidFill>
                  <a:srgbClr val="E8743B"/>
                </a:solidFill>
                <a:latin typeface="Malgun Gothic"/>
              </a:rPr>
              <a:t>독립적으로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 결측된다(타깃별 처리).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· 결측은 저 SNR · ELM · 천이에 집중된다.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  MNAR이므로 관측점 skill은 낙관적 상한이다.</a:t>
            </a:r>
          </a:p>
        </p:txBody>
      </p:sp>
      <p:pic>
        <p:nvPicPr>
          <p:cNvPr id="24" name="Picture 23" descr="fig_raw_csv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472" y="1819656"/>
            <a:ext cx="1591016" cy="30175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502920" y="4983480"/>
            <a:ext cx="11201400" cy="129844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84064"/>
            <a:ext cx="1069848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CES가 결측된 10 ms 시점에서, 동시각 빠른 진단과 과거 CES 이력만으로 CES 자체의 시간 보간이 복원할 수 없는 정보를 회복할 수 있는가를 묻는다.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핵심 비대칭의 예고: 빠른 진단은 Tᵢ 정보는 운반하지만 V_rot 정보는 거의 운반하지 않는다고 예측되었고, 결과에서 확인되었다.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계약: No-Fake-Data · held 전면 제거 · 누수 삼중 차단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641 방전(shot 30801–32751), 10 ms 격자, 247,207행이다. 세그먼트는 0.5 s 이상의 간극에서 분리되고 전형적 파일은 주 세그먼트 1개(중앙값 301행 ≈ 3.0 s)이며, 모델 입력도 보간도 이 경계를 넘지 않는다.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TEST(seed 42, 컷)는 Tᵢ 32,589행 / 96 방전, V_rot 10,463행 / 60 방전이며 선택이 끝날 때까지 봉인되었다.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가짜 라벨 금지 (No Fake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011680"/>
            <a:ext cx="91440" cy="20116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91440" cy="20116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160520"/>
            <a:ext cx="91440" cy="20116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V_rot의 54%는 계측기 유지값이다(499/641 파일).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통계·보간 앵커에서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대가는 PR2 폴백률 Tᵢ 0.3–0.4%, V_rot 40–44%이다.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 · 두 모집단 규칙 · 모델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9436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한 방전 안의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95% CI가 0을 제외하면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이 CI는 ‘새로운 방전에서도 이기는가’에 답한다.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유효 표본은 방전 수(Tᵢ ≈96 · V_rot 60–66)이며 검정력의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27432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81328"/>
            <a:ext cx="457200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Murphy (1988) skill score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skill = 1 - MSE_model / MSE_baseline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0보다 크면 모델이 우수하고 0이면 동률이다. 오차는 물리 단위로 역정규화하여 타깃별로 계산한다.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761488"/>
            <a:ext cx="452628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889504"/>
            <a:ext cx="45720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두 공동 1차 모집단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컷은 Tᵢ &gt; 3 keV(피팅 실패)를 결측 처리한 모집단, 포함은 컷 없음이다. 전 arm에 동일 적용한다.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07408"/>
            <a:ext cx="10698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모델 선택 프로토콜 — 규칙을 수치보다 먼저 기록하였다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1069848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백본 관문은 4조건(4 분할 부호 유지 · 통합 CI 0 제외 · 예산 균등화 · V_rot 손실 없음)을 먼저 고정하고 그다음 충족 여부를 판정하였다.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유일한 아키텍처 후보(seq_v2 + 관측마스킹 인과 attention)는 4/4 양수(+0.009/+0.013/+0.033/+0.020)였으나 유의 1/4로 승격되지 않았다.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val에서는 2/2 유의였으며, 이것이 승격 bar를 TEST에 두는 이유이다. 스윕 위에서 백본을 재선정하는 것은 구성상 금지된다.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스윕의 판정 규칙도 TEST 채점 전에 문서화되었고, TEST는 결정마다 한 번만 채점되었다.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⑥에서 분해한다.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5.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2종: 실제 결측점 재가중(MNAR)과 캠페인(시간) 분할을 모두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관측점 skill은 낙관적 상한이고 무작위 분할은 시간 이동을 검사하지 않는다. 배치 주장을 가르는 두 스트레스를 사전에 정해 두고 통과 여부를 측정하였다.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8308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실제 결측점으로 재가중 (MNAR)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층은 Δt(15/25/45 ms) × 입력만의 활동 flag이며,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행의 층 분포로 채점 지점을 재가중하였다.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도달: 결측 Tᵢ의 54–68%가 in-domain이고 V_rot은 4–6%이다.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따라서 재가중 V_rot은 결론을 내지 않는다(결측 질량의 1/20).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vs persistence: 컷 4/4 · 포함 4/4 (+0.28~+0.44)이다.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vs PCHIP: 컷 2/4 · 포함 4/4 (점추정 +0.14~+0.28)이다.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캠페인(시간) 분할 — shot 번호로 자른다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train 416 (30801–31991) / val 128 (32002–32310)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97 (32312–32751)이며 초기화 seed 4개이다.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대조군은 컷 2/4 · 포함 0/4 · 인과 GP 0/4로 붕괴하였다.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 컷은 +0.187/+0.174/+0.181/+0.177로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 포함은 +0.173/+0.202/+0.198/+0.184로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원인은 측정되었다: 드리프트 BES 1.22σ·ECEI 0.53σ vs 타깃 0.115σ.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370832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34840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4434840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4434840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2803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482803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82803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4769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57216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230368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(MNAR)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230368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230368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550027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632704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5632704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5632704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952363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6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진술: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실제 결측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⑦과 일관된다.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문맥·구조·비용: 약 50 ms의 문맥이 우위를 전형적으로 만들고, 계열은 비용으로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5793"/>
            <a:ext cx="5669280" cy="46184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261872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61872"/>
            <a:ext cx="91440" cy="16276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37160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① 문맥 — 포화 50 ms, 문맥이 사는 것은 전형성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773936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각 도달 범위에서 학습한 seq_v2의 전체 대비 결손은 50 ms부터 0.02 아래이다.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301 방전 통합에서 20 ms도 인과 GP를 이기나(+0.057) 승률은 0.52이며,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70 ms에서 0.66으로 평평해진다. 문맥 10배당 skill은 +0.050이다.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절단 사다리 결손의 87%는 cold start였다.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962656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962656"/>
            <a:ext cx="91440" cy="16276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3072384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② 계열 — 같은 문맥에서 동률, 비용은 연산자 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474720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순환·확장 합성곱·attention은 같은 문맥의 LSTM과 0.023 이내로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지연은 t ≈ N_ops × 2–3 µs이다. 순환 111 ops(O(1)), 합성곱 +48 ops/층,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attention 473 ops이다. 10 ms 예산은 어느 arm에도 구속 조건이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1,808 파라미터 tcn2k도 인과 GP를 4/4로 이긴다.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663440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663440"/>
            <a:ext cx="91440" cy="16276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47731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③ 승패 방전 — 타깃이 움직이는 방전에서 이긴다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5175504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단위 승률은 Tᵢ 0.695, V_rot 0.481이며, V_rot는 상위 5개 방전을 빼면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 분할 전부 0 이하이다. 11개 공변량 중 ‘방전 내 타깃 산포’만 승패를 예측하였다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(Tᵢ ρ +0.401, V_rot +0.281). 변동 큰 3분위에서도 Tᵢ 85%, V_rot 55%이며,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잔차는 구동 변수(NBI 토크)의 부재를 가리킨다.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동급(+0.002)이고 폭 34k→879k는 평평하며, 1,808 파라미터 tcn2k도 인과 GP를 4/4로 이긴다. 남은 셋은 CES 피팅 품질 메타데이터, 원본 kHz Mirnov, NBI 토크 채널이다.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한계 &amp; 향후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무엇을 인정하고, 다음에 무엇을 측정하는가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35661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38528"/>
            <a:ext cx="507492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 도달은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 위 초기화 4개이며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skill이며 단일 체크포인트의 주장이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단일 장치 · conformal은 marginal · 승패 공변량 분석은 탐색적이다.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3566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38528"/>
            <a:ext cx="507492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① CES 피팅 품질 메타데이터(χ² ·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Tₑ~Tᵢ r = +0.353 vs Tₑ~V_rot r = +0.024이므로 power ≠ torque이다.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크기·문맥·계열 축은 닫혔다: 21k = 백본(컷), 폭 26배 평평, 계열 동률.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84064"/>
            <a:ext cx="11201400" cy="859536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9848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결정 기록 (2026-08-16 · 08-21 · 08-24)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① 두 모집단 공동 1차 유지 ② V_rot 프로토콜 불변(재학습 없음, anchored 비교엔 SSE 비중 병기) ③ B.6 μs shot 집합 동결(test 4 / pool 6 / companion 2) ④ 양자 가지는 하드웨어 검증 후 음성으로 종결.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