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00:00–00:30  (30초)</a:t>
            </a:r>
          </a:p>
          <a:p/>
          <a:p>
            <a:r>
              <a:t>"안녕하십니까, 이승상입니다. 오늘은 KSTAR의 빠른 진단들로 CES 결측 구간을 채우는</a:t>
            </a:r>
          </a:p>
          <a:p>
            <a:r>
              <a:t>연구를 20분간 말씀드리겠습니다."</a:t>
            </a:r>
          </a:p>
          <a:p/>
          <a:p>
            <a:r>
              <a:t>핵심 한 문장(여기서 미리 던지기):</a:t>
            </a:r>
          </a:p>
          <a:p>
            <a:r>
              <a:t>  "느리고 자주 비는 CES를, 항상 측정되는 빠른 진단으로 채울 수 있는지 —</a:t>
            </a:r>
          </a:p>
          <a:p>
            <a:r>
              <a:t>   그것도 미래까지 보는 오프라인 보간을 이길 수 있는지 통계적으로 검증했습니다."</a:t>
            </a:r>
          </a:p>
          <a:p/>
          <a:p>
            <a:r>
              <a:t>※ 용어 정리를 여기서 한 번: forecasting(예보)이 아니라 nowcasting(현재 시점 결측 채우기).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00:30–01:30  (60초)</a:t>
            </a:r>
          </a:p>
          <a:p/>
          <a:p>
            <a:r>
              <a:t>이 슬라이드가 발표 전체의 요약입니다. 여기서 결론을 먼저 다 말하고 들어갑니다.</a:t>
            </a:r>
          </a:p>
          <a:p/>
          <a:p>
            <a:r>
              <a:t>"결론부터 말씀드리면 세 가지입니다.</a:t>
            </a:r>
          </a:p>
          <a:p>
            <a:r>
              <a:t> (1) 빠른 진단은 이온온도 정보를 실제로 운반합니다. 과거만 보는 저희 모델이,</a:t>
            </a:r>
          </a:p>
          <a:p>
            <a:r>
              <a:t>     미래까지 다 보는 오프라인 보간을 Tᵢ에서 통계적으로 유의하게 이겼습니다.</a:t>
            </a:r>
          </a:p>
          <a:p>
            <a:r>
              <a:t> (2) 반면 회전 속도에서는 이기지 못했습니다. 이건 실패가 아니라 물리적으로 예측된</a:t>
            </a:r>
          </a:p>
          <a:p>
            <a:r>
              <a:t>     비대칭이고, 저는 이걸 이 연구의 과학적 발견이라고 봅니다.</a:t>
            </a:r>
          </a:p>
          <a:p>
            <a:r>
              <a:t> (3) 모델의 가치는 전 구간에 고르게 있는 게 아니라, 보간이 약한 급변 구간에 몰려 있습니다."</a:t>
            </a:r>
          </a:p>
          <a:p/>
          <a:p>
            <a:r>
              <a:t>※ 시간이 밀리면 이 슬라이드는 30초로 줄이고 뒤에서 회수.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01:30–02:50  (80초)</a:t>
            </a:r>
          </a:p>
          <a:p/>
          <a:p>
            <a:r>
              <a:t>"CES는 이온온도와 토로이달 회전이라는, pedestal 물리에서 가장 중요한 두 양을 줍니다.</a:t>
            </a:r>
          </a:p>
          <a:p>
            <a:r>
              <a:t> 그런데 충분한 신호대잡음비를 얻으려면 광자를 오래 모아야 해서 느리고, 자주 빕니다.</a:t>
            </a:r>
          </a:p>
          <a:p>
            <a:r>
              <a:t> 같은 10 ms 격자에서 Tᵢ는 8.2%, 회전은 23.9%가 값 자체가 비어 있습니다.</a:t>
            </a:r>
          </a:p>
          <a:p>
            <a:r>
              <a:t> 그런데 회전은 여기서 끝이 아닙니다. 값이 채워져 있는 행 중에서도 54%가 직전 값을</a:t>
            </a:r>
          </a:p>
          <a:p>
            <a:r>
              <a:t> 그대로 복사한 held 값입니다 — 진짜 측정이 아닙니다. NaN과 held를 합치면 회전은</a:t>
            </a:r>
          </a:p>
          <a:p>
            <a:r>
              <a:t> 전체 행의 65%가 실질적으로 정보가 없습니다. Tᵢ는 held가 641 shot 전체에서 단 1행,</a:t>
            </a:r>
          </a:p>
          <a:p>
            <a:r>
              <a:t> 사실상 0%입니다. 이 비대칭이 뒤에서 결과로 그대로 나타납니다.</a:t>
            </a:r>
          </a:p>
          <a:p>
            <a:r>
              <a:t> 그리고 이 둘은 서로 독립적으로 빕니다 — 한쪽만 관측된 행이 많다는 뜻입니다.</a:t>
            </a:r>
          </a:p>
          <a:p/>
          <a:p>
            <a:r>
              <a:t> 반대로 BES, ECEI, Mirnov 같은 빠른 진단은 같은 격자에서 100% 다 있습니다.</a:t>
            </a:r>
          </a:p>
          <a:p>
            <a:r>
              <a:t> 그래서 질문은 자연스럽습니다: '항상 있는 것'으로 '자주 비는 것'을 채울 수 있는가."</a:t>
            </a:r>
          </a:p>
          <a:p/>
          <a:p>
            <a:r>
              <a:t>물리적 연결고리 (질문 대비):</a:t>
            </a:r>
          </a:p>
          <a:p>
            <a:r>
              <a:t>  · ECEI(Tₑ) + BES(nₑ) → 충돌 e–i 결합 τ_ei ∝ Tₑ^1.5/nₑ 을 통해 Tᵢ와 물리적으로 연결</a:t>
            </a:r>
          </a:p>
          <a:p>
            <a:r>
              <a:t>  · 회전은 주로 NBI 토크가 구동 → 그 토크가 데이터에 없음 = 근본적 정보 부재</a:t>
            </a:r>
          </a:p>
          <a:p/>
          <a:p>
            <a:r>
              <a:t>아래 밴드(비대칭 미리보기)를 짚으면서 "이 예측이 뒤에서 그대로 확인됩니다"로 넘어갈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02:50–04:00  (70초)</a:t>
            </a:r>
          </a:p>
          <a:p/>
          <a:p>
            <a:r>
              <a:t>"그래서 연구 질문은 이렇습니다. CES가 비어 있는 10 ms 시점에서, 같은 시각의 빠른 진단과</a:t>
            </a:r>
          </a:p>
          <a:p>
            <a:r>
              <a:t> 과거 CES 이력만으로, 시간 보간이 복원할 수 없는 정보를 회복할 수 있는가.</a:t>
            </a:r>
          </a:p>
          <a:p/>
          <a:p>
            <a:r>
              <a:t> 세 가지를 짚고 넘어가겠습니다.</a:t>
            </a:r>
          </a:p>
          <a:p>
            <a:r>
              <a:t> 첫째, 이건 가상 센서입니다. 물리 역산 가정 없이 데이터로 추정합니다.</a:t>
            </a:r>
          </a:p>
          <a:p>
            <a:r>
              <a:t> 둘째, forecasting이 아니라 nowcasting입니다. 미래를 예보하는 게 아니라 지금 비어 있는</a:t>
            </a:r>
          </a:p>
          <a:p>
            <a:r>
              <a:t> 값을 채웁니다. 초해상과도 다릅니다.</a:t>
            </a:r>
          </a:p>
          <a:p>
            <a:r>
              <a:t> 셋째, 검증 방식입니다. 진짜 결측 지점은 참값이 없어서 직접 검증이 불가능합니다.</a:t>
            </a:r>
          </a:p>
          <a:p>
            <a:r>
              <a:t> 그래서 관측된 CES를 일부러 가린 뒤 얼마나 복원하는지로 채점합니다.</a:t>
            </a:r>
          </a:p>
          <a:p/>
          <a:p>
            <a:r>
              <a:t> 다만 결측이 무작위라는 보장이 없어서 — 저 SNR이나 급변 구간에서 잘 빠지니까요 —</a:t>
            </a:r>
          </a:p>
          <a:p>
            <a:r>
              <a:t> 결측 지점의 정확도를 단정하지 않고 '추정한다'고만 말씀드립니다."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04:00–05:45  (105초)  ★ 이 발표에서 가장 중요한 슬라이드</a:t>
            </a:r>
          </a:p>
          <a:p/>
          <a:p>
            <a:r>
              <a:t>"평가 기준선을 어떻게 잡았는지가 이 연구의 핵심입니다.</a:t>
            </a:r>
          </a:p>
          <a:p/>
          <a:p>
            <a:r>
              <a:t> 흔한 방식은 persistence, 즉 직전 값 유지와 비교하는 겁니다. 그건 너무 쉽습니다.</a:t>
            </a:r>
          </a:p>
          <a:p>
            <a:r>
              <a:t> 저는 일부러 훨씬 어려운 상대를 골랐습니다 — CES만 쓰는 오프라인 보간,</a:t>
            </a:r>
          </a:p>
          <a:p>
            <a:r>
              <a:t> 구체적으로 linear, PCHIP, local AR입니다.</a:t>
            </a:r>
          </a:p>
          <a:p/>
          <a:p>
            <a:r>
              <a:t> 여기서 정보 비대칭을 보십시오. 오른쪽 보간은 맞히려는 시점의 앞뒤, 즉 과거와 미래</a:t>
            </a:r>
          </a:p>
          <a:p>
            <a:r>
              <a:t> CES를 모두 씁니다. 반면 저희 모델은 그 시점의 빠른 진단과 과거 이력 4스텝만 쓰고</a:t>
            </a:r>
          </a:p>
          <a:p>
            <a:r>
              <a:t> 미래는 전혀 보지 않습니다. causal입니다.</a:t>
            </a:r>
          </a:p>
          <a:p/>
          <a:p>
            <a:r>
              <a:t> 그래서 만약 미래를 보는 보간을 과거만 보는 모델이 이긴다면, 그건 '운이 좋아서'가</a:t>
            </a:r>
          </a:p>
          <a:p>
            <a:r>
              <a:t> 아닙니다. 빠른 진단이 시간 보간으로는 절대 얻을 수 없는 CES 정보를 실제로 운반한다는</a:t>
            </a:r>
          </a:p>
          <a:p>
            <a:r>
              <a:t> 강력한 증거가 됩니다. 그리고 미래 보간을 이기는 모델은 persistence 같은 causal</a:t>
            </a:r>
          </a:p>
          <a:p>
            <a:r>
              <a:t> 기준선은 자명하게 이깁니다."</a:t>
            </a:r>
          </a:p>
          <a:p/>
          <a:p>
            <a:r>
              <a:t>※ 여기서 청중이 "왜 굳이 불리하게?"라고 생각할 수 있으니 마지막 문장을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05:45–07:00  (75초)</a:t>
            </a:r>
          </a:p>
          <a:p/>
          <a:p>
            <a:r>
              <a:t>"데이터 수집 계획은 RMP로 ELM을 억제한 H-mode 구간을 노렸고, 실제 파일은</a:t>
            </a:r>
          </a:p>
          <a:p>
            <a:r>
              <a:t> shot당 30초 구간 CSV 641개입니다(#30801–#32751).</a:t>
            </a:r>
          </a:p>
          <a:p>
            <a:r>
              <a:t> test는 96 shot, 3만 3천여 샘플입니다(genuine 기준).</a:t>
            </a:r>
          </a:p>
          <a:p/>
          <a:p>
            <a:r>
              <a:t> 전처리에서 세 가지를 특히 신경 썼습니다.</a:t>
            </a:r>
          </a:p>
          <a:p>
            <a:r>
              <a:t> 첫째, 가짜 데이터를 만들지 않았습니다. 결측을 보간으로 메워서 학습에 쓰면</a:t>
            </a:r>
          </a:p>
          <a:p>
            <a:r>
              <a:t> '보간을 이기는가'라는 질문 자체가 무의미해집니다.</a:t>
            </a:r>
          </a:p>
          <a:p>
            <a:r>
              <a:t> 둘째, 두 타겟이 독립적으로 비기 때문에 손실을 타겟별로 마스킹했습니다.</a:t>
            </a:r>
          </a:p>
          <a:p>
            <a:r>
              <a:t> 이걸 안 하면 한쪽만 관측된 행 — 라벨의 약 28% — 을 통째로 버리게 됩니다.</a:t>
            </a:r>
          </a:p>
          <a:p>
            <a:r>
              <a:t> 셋째, 누수 차단입니다. 인접 행은 강하게 상관되므로 행 단위가 아니라 shot 파일 단위로</a:t>
            </a:r>
          </a:p>
          <a:p>
            <a:r>
              <a:t> 나눴고, 정규화 통계도 train 파일에서만 뽑았습니다.</a:t>
            </a:r>
          </a:p>
          <a:p>
            <a:r>
              <a:t> 특히 이력 텐서에서 '지금 맞히려는 시점'은 값과 관측 flag를 모두 0으로 지웠습니다 —</a:t>
            </a:r>
          </a:p>
          <a:p>
            <a:r>
              <a:t> 안 그러면 정답을 그대로 보게 됩니다."</a:t>
            </a:r>
          </a:p>
          <a:p/>
          <a:p>
            <a:r>
              <a:t>※ 질문 대비: window=4는 직전 4스텝. 시간 간격이 불규칙하므로 lookback/delta와 그 log1p를</a:t>
            </a:r>
          </a:p>
          <a:p>
            <a:r>
              <a:t>   4채널 time feature로 명시적으로 넣어 준다.</a:t>
            </a:r>
          </a:p>
          <a:p>
            <a:r>
              <a:t>※ 질문 대비: V_rot '관측' 27,437은 held(직전값 유지 반복) 포함 집계 — bit-identical 반복을</a:t>
            </a:r>
          </a:p>
          <a:p>
            <a:r>
              <a:t>   제거한 genuine V_rot은 10,729행. Tᵢ의 held는 1행뿐이라 사실상 전부 genuine.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07:00–08:30  (90초)</a:t>
            </a:r>
          </a:p>
          <a:p/>
          <a:p>
            <a:r>
              <a:t>"모델은 late-fusion multimodal 구조입니다.</a:t>
            </a:r>
          </a:p>
          <a:p/>
          <a:p>
            <a:r>
              <a:t> 왼쪽부터, 진단별로 전용 인코더를 둡니다. 섣불리 평균 내면 공간 채널 구조가 사라지기</a:t>
            </a:r>
          </a:p>
          <a:p>
            <a:r>
              <a:t> 때문에, BES·ECEI·Mirnov를 각각 시간 정보와 함께 1D convolution으로 인코딩하고</a:t>
            </a:r>
          </a:p>
          <a:p>
            <a:r>
              <a:t> 마지막에 합칩니다.</a:t>
            </a:r>
          </a:p>
          <a:p/>
          <a:p>
            <a:r>
              <a:t> 가운데가 이력 인코더입니다. 양방향 GRU를 씁니다. 여기가 재미있는 부분인데,</a:t>
            </a:r>
          </a:p>
          <a:p>
            <a:r>
              <a:t> 맞히려는 시점이 window 한가운데에서 마스킹되어 있기 때문에, 양방향 GRU가</a:t>
            </a:r>
          </a:p>
          <a:p>
            <a:r>
              <a:t> 앞뒤 관측 이웃을 모두 취합하게 됩니다. 즉 구조적으로 '학습된 보간'처럼 동작합니다.</a:t>
            </a:r>
          </a:p>
          <a:p/>
          <a:p>
            <a:r>
              <a:t> 그 위에 관측 마스크 attention pooling을 얹었습니다. 타겟별로 독립적인 multi-head</a:t>
            </a:r>
          </a:p>
          <a:p>
            <a:r>
              <a:t> additive attention인데, 관측 flag가 1인 행에만 softmax를 허용합니다.</a:t>
            </a:r>
          </a:p>
          <a:p>
            <a:r>
              <a:t> '관측된 것만 본다'는 보간의 귀납 편향을 명시적으로 주입한 겁니다.</a:t>
            </a:r>
          </a:p>
          <a:p/>
          <a:p>
            <a:r>
              <a:t> 마지막으로 타겟별 head가 갈라지는데, 물리 기반 routing이 들어갑니다.</a:t>
            </a:r>
          </a:p>
          <a:p>
            <a:r>
              <a:t> Tᵢ head는 빠른 진단 + 이력 + 시간을 다 받고, V_rot head는 이력과 시간만 받습니다.</a:t>
            </a:r>
          </a:p>
          <a:p>
            <a:r>
              <a:t> 전체 파라미터는 20만 개로 작습니다 — capacity가 아니라 일반화가 관건이었습니다."</a:t>
            </a:r>
          </a:p>
          <a:p/>
          <a:p>
            <a:r>
              <a:t>※ 질문 대비: LSTM 대신 CNN을 쓴 이유는 결측 제거로 시간축이 불규칙해졌기 때문.</a:t>
            </a:r>
          </a:p>
          <a:p>
            <a:r>
              <a:t>※ 질문 대비: 아키텍처 선택 게이트를 val loss가 아니라 clean skill로 바꾼 게 결정적이었다</a:t>
            </a:r>
          </a:p>
          <a:p>
            <a:r>
              <a:t>   (증강된 val loss는 쉬운 구간이 복제돼 '평활한 예측'을 보상 → 보간이 이미 잘하는 영역).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08:30–09:30  (60초)</a:t>
            </a:r>
          </a:p>
          <a:p/>
          <a:p>
            <a:r>
              <a:t>"모델에 들어가는 샘플이 어떻게 만들어지는지부터 보겠습니다.</a:t>
            </a:r>
          </a:p>
          <a:p/>
          <a:p>
            <a:r>
              <a:t> 각 shot 파일은 0.5초 이상 간격으로 끊어진 측정 세그먼트 두세 개로 이루어져</a:t>
            </a:r>
          </a:p>
          <a:p>
            <a:r>
              <a:t> 있습니다. 윈도는 세그먼트 안에서만 만들고, 보간 기준선에도 똑같은 경계를</a:t>
            </a:r>
          </a:p>
          <a:p>
            <a:r>
              <a:t> 적용했습니다. 정보 조건을 양쪽에 동일하게 맞춘 겁니다.</a:t>
            </a:r>
          </a:p>
          <a:p/>
          <a:p>
            <a:r>
              <a:t> 샘플 하나는 연속 4행이고 마지막 행이 맞혀야 할 시점입니다. 이 시점의 CES</a:t>
            </a:r>
          </a:p>
          <a:p>
            <a:r>
              <a:t> 이력은 값과 관측 플래그를 모두 0으로 지워서, 모델이 자기 정답을 볼 수 있는</a:t>
            </a:r>
          </a:p>
          <a:p>
            <a:r>
              <a:t> 경로를 원천 차단했습니다.</a:t>
            </a:r>
          </a:p>
          <a:p/>
          <a:p>
            <a:r>
              <a:t> 그리고 증강입니다. 실전에서는 직전 이력이 2개일 수도 4개일 수도 있으니, 같은</a:t>
            </a:r>
          </a:p>
          <a:p>
            <a:r>
              <a:t> 타겟을 이력 부분집합 버전으로도 만들어 학습시켰습니다. 조합이 폭발하기 때문에</a:t>
            </a:r>
          </a:p>
          <a:p>
            <a:r>
              <a:t> 시드 고정 캡으로 train 20만, val 4만 샘플을 쓰고, split은 디스크에 고정해서</a:t>
            </a:r>
          </a:p>
          <a:p>
            <a:r>
              <a:t> 완전히 재현 가능합니다."</a:t>
            </a:r>
          </a:p>
          <a:p/>
          <a:p>
            <a:r>
              <a:t>※ 질문 대비: 증강은 train에만 영향 — 평가·채점은 증강 없는 원본 샘플로만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09:30–10:30  (60초)</a:t>
            </a:r>
          </a:p>
          <a:p/>
          <a:p>
            <a:r>
              <a:t>"학습 자체는 평범합니다.</a:t>
            </a:r>
          </a:p>
          <a:p/>
          <a:p>
            <a:r>
              <a:t> 손실은 관측된 타겟만 반영하는 마스킹 MSE입니다. 두 타겟이 독립적으로 비기</a:t>
            </a:r>
          </a:p>
          <a:p>
            <a:r>
              <a:t> 때문에, 한쪽만 관측된 행도 그 타겟은 학습에 씁니다. 여기에 이온온도가 0 아래로</a:t>
            </a:r>
          </a:p>
          <a:p>
            <a:r>
              <a:t> 내려가지 못하게 하는 물리 페널티를 하나 더했습니다.</a:t>
            </a:r>
          </a:p>
          <a:p>
            <a:r>
              <a:t> 최적화는 AdamW, 배치 512, 10 에폭 — 특별한 트릭이 없습니다.</a:t>
            </a:r>
          </a:p>
          <a:p/>
          <a:p>
            <a:r>
              <a:t> 중요한 건 아키텍처를 고른 절차입니다. 한 번에 구조를 하나만 바꿔서 처음부터</a:t>
            </a:r>
          </a:p>
          <a:p>
            <a:r>
              <a:t> 다시 학습하고, 증강 없는 검증셋에서 보간 대비 skill로 채점했습니다. 최고 기록을</a:t>
            </a:r>
          </a:p>
          <a:p>
            <a:r>
              <a:t> 넘으면 채택하고, 못 넘으면 직전 최고 모델로 되돌렸습니다. 이걸 40여 번 반복했고,</a:t>
            </a:r>
          </a:p>
          <a:p>
            <a:r>
              <a:t> 그 사이 test 세트는 한 번도 열지 않았습니다. 최종 모델은 그렇게 살아남은</a:t>
            </a:r>
          </a:p>
          <a:p>
            <a:r>
              <a:t> GRU 이력 인코더 + 타겟별 attention 구조, 파라미터 20만 개입니다."</a:t>
            </a:r>
          </a:p>
          <a:p/>
          <a:p>
            <a:r>
              <a:t>※ 질문 대비: z₀ = 물리 0 keV를 정규화 단위로 옮긴 값. 페널티 가중 0.1은 고정(튜닝 안 함).</a:t>
            </a:r>
          </a:p>
          <a:p>
            <a:r>
              <a:t>※ 질문 대비: '증강 val loss로 고르면 안 되나?' → 쉬운 구간이 복제돼 평활한 예측을</a:t>
            </a:r>
          </a:p>
          <a:p>
            <a:r>
              <a:t>   보상한다(보간이 이미 잘하는 영역). 그래서 채점은 증강 없는 skill로만 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10:30–12:00  (90초)  ★ 통계 질문이 나오는 슬라이드 — 여기서 신뢰를 확보</a:t>
            </a:r>
          </a:p>
          <a:p/>
          <a:p>
            <a:r>
              <a:t>"결과를 보여드리기 전에, 이 숫자를 믿어도 되는 이유를 먼저 말씀드리겠습니다.</a:t>
            </a:r>
          </a:p>
          <a:p>
            <a:r>
              <a:t> 장치는 두 가지입니다.</a:t>
            </a:r>
          </a:p>
          <a:p/>
          <a:p>
            <a:r>
              <a:t> 첫째, 채점 규칙을 결과 보기 전에 고정했습니다. test 96개 방전은 모델을 만들기</a:t>
            </a:r>
          </a:p>
          <a:p>
            <a:r>
              <a:t> 전에 떼어놓고 선택이 끝날 때까지 한 번도 열지 않았습니다. 그리고 어떤 보간과</a:t>
            </a:r>
          </a:p>
          <a:p>
            <a:r>
              <a:t> 비교할지, 보간이 예측 못 하는 지점은 어떻게 채점할지, '이겼다'를 뭐라고 정의할지를</a:t>
            </a:r>
          </a:p>
          <a:p>
            <a:r>
              <a:t> 전부 미리 문서로 못박았습니다. 잘 나온 숫자를 사후에 고를 수 있는 길을 다 막은 겁니다.</a:t>
            </a:r>
          </a:p>
          <a:p/>
          <a:p>
            <a:r>
              <a:t> 둘째, 신뢰구간을 행이 아니라 방전 단위로 계산했습니다. 한 방전 안의 10 ms 간격</a:t>
            </a:r>
          </a:p>
          <a:p>
            <a:r>
              <a:t> 측정들은 거의 복사본입니다. 그걸 3만 4천 개의 독립 증거처럼 세면 확신이</a:t>
            </a:r>
          </a:p>
          <a:p>
            <a:r>
              <a:t> 과장됩니다. 그래서 96개 방전을 통째로 재추출하는 bootstrap을 만 번 돌렸습니다.</a:t>
            </a:r>
          </a:p>
          <a:p>
            <a:r>
              <a:t> 우리에게 불리한 계산이지만, '새로운 방전에서도 이길까'라는 진짜 질문에 답하는</a:t>
            </a:r>
          </a:p>
          <a:p>
            <a:r>
              <a:t> 방식입니다.</a:t>
            </a:r>
          </a:p>
          <a:p/>
          <a:p>
            <a:r>
              <a:t> 점수는 1 빼기 오차 비율입니다. 0보다 크면 보간보다 정확하다는 뜻이고,</a:t>
            </a:r>
          </a:p>
          <a:p>
            <a:r>
              <a:t> 신뢰구간이 0을 제외할 때만 이겼다고 인정합니다."</a:t>
            </a:r>
          </a:p>
          <a:p/>
          <a:p>
            <a:r>
              <a:t>※ 예상 질문 "왜 PCHIP인가?" → 단조성을 보존해 overshoot이 적은 보수적(=강한) 기준선.</a:t>
            </a:r>
          </a:p>
          <a:p>
            <a:r>
              <a:t>   게다가 타겟 양쪽의 과거+미래를 다 본다. 즉 우리에게 불리하게 설계된 기준선.</a:t>
            </a:r>
          </a:p>
          <a:p>
            <a:r>
              <a:t>※ 예상 질문 "최소 표본 조건은?" → test 최소 15 shot·관측 3,000행 이상을 사전 조건으로</a:t>
            </a:r>
          </a:p>
          <a:p>
            <a:r>
              <a:t>   걸었고 실제 96 shot·3만 행 이상으로 충족.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12:00–12:40  (40초)  — 앞 슬라이드의 '장치 두 가지'를 기계적으로 어떻게 구현했는지</a:t>
            </a:r>
          </a:p>
          <a:p/>
          <a:p>
            <a:r>
              <a:t>"앞에서 말씀드린 두 장치를 구체적으로 어떻게 구현했는지만 짚고 넘어가겠습니다.</a:t>
            </a:r>
          </a:p>
          <a:p/>
          <a:p>
            <a:r>
              <a:t> 왼쪽이 사전등록입니다. 3-way split에서 TEST는 아키텍처 탐색을 시작하기 전에</a:t>
            </a:r>
          </a:p>
          <a:p>
            <a:r>
              <a:t> 떼어놨고, 모델 선택은 전부 val에서만 했습니다. 그래서 헤드라인 숫자에</a:t>
            </a:r>
          </a:p>
          <a:p>
            <a:r>
              <a:t> winner's curse가 없습니다. PR1부터 PR4까지가 결과를 보기 전에 못박은 규칙입니다.</a:t>
            </a:r>
          </a:p>
          <a:p/>
          <a:p>
            <a:r>
              <a:t> 오른쪽이 부트스트랩입니다. 핵심은 오차를 행이 아니라 shot 단위로 묶어서</a:t>
            </a:r>
          </a:p>
          <a:p>
            <a:r>
              <a:t> shot 통째로 복원추출한다는 겁니다. 그래야 신뢰구간이 '같은 방전 안의 복제'가 아니라</a:t>
            </a:r>
          </a:p>
          <a:p>
            <a:r>
              <a:t> '새로운 방전으로의 일반화'를 반영합니다.</a:t>
            </a:r>
          </a:p>
          <a:p/>
          <a:p>
            <a:r>
              <a:t> 점수는 Murphy skill score이고, 모든 arm을 동일한 샘플 집합과 동일한 마스크로</a:t>
            </a:r>
          </a:p>
          <a:p>
            <a:r>
              <a:t> 채점하기 때문에 어느 쪽도 유리한 표본을 받지 않습니다."</a:t>
            </a:r>
          </a:p>
          <a:p/>
          <a:p>
            <a:r>
              <a:t>※ 시간이 밀리면 이 슬라이드는 통째로 스킵 가능 — 앞 슬라이드가 이미 요지를 담고 있음.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12:00–12:45  (45초)</a:t>
            </a:r>
          </a:p>
          <a:p/>
          <a:p>
            <a:r>
              <a:t>"먼저 가장 강건한 결과입니다. RMSE 사다리인데, 낮을수록 좋습니다.</a:t>
            </a:r>
          </a:p>
          <a:p/>
          <a:p>
            <a:r>
              <a:t> 두 타겟 모두 저희 모델이 사다리 맨 아래, 즉 오차가 가장 작습니다.</a:t>
            </a:r>
          </a:p>
          <a:p>
            <a:r>
              <a:t> persistence나 local AR 같은 causal 기준선은 큰 마진으로 이깁니다.</a:t>
            </a:r>
          </a:p>
          <a:p>
            <a:r>
              <a:t> 이건 논쟁의 여지가 없는 결과이고, 실시간이나 온라인 상황 — 미래 값을 애초에 쓸 수</a:t>
            </a:r>
          </a:p>
          <a:p>
            <a:r>
              <a:t> 없는 상황 — 에서는 모델이 명확한 승자라는 뜻입니다.</a:t>
            </a:r>
          </a:p>
          <a:p/>
          <a:p>
            <a:r>
              <a:t> 보간과 비교해도 point estimate로는 앞섭니다. 다만 point estimate가 앞선다고 해서</a:t>
            </a:r>
          </a:p>
          <a:p>
            <a:r>
              <a:t> '유의하게 이겼다'고 말하면 안 됩니다. 그래서 다음 슬라이드에서 신뢰구간을 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12:45–14:15  (90초)  ★ 헤드라인 결과</a:t>
            </a:r>
          </a:p>
          <a:p/>
          <a:p>
            <a:r>
              <a:t>"이게 헤드라인 결과입니다. forest plot이고, 가로축이 PCHIP 보간 대비 skill입니다.</a:t>
            </a:r>
          </a:p>
          <a:p>
            <a:r>
              <a:t> 점이 추정치, 가로 막대가 shot-clustered 95% 신뢰구간입니다.</a:t>
            </a:r>
          </a:p>
          <a:p>
            <a:r>
              <a:t> 막대가 0선을 넘지 않으면 통계적으로 유의하게 이긴 겁니다.</a:t>
            </a:r>
          </a:p>
          <a:p/>
          <a:p>
            <a:r>
              <a:t> 위쪽 CES_TI를 보시면, 4개의 독립적인 test split — seed 42, 1, 7, 123 — 전부에서</a:t>
            </a:r>
          </a:p>
          <a:p>
            <a:r>
              <a:t> 신뢰구간이 0을 제외합니다. genuine 기준 skill은 +0.18에서 +0.28이고,</a:t>
            </a:r>
          </a:p>
          <a:p>
            <a:r>
              <a:t> held 포함 모집단에서도 4개 모두 PASS라 데이터 처리 방식에 불변입니다.</a:t>
            </a:r>
          </a:p>
          <a:p>
            <a:r>
              <a:t> 특히 seed 1, 7, 123은 아키텍처 선택 과정에서 단 한 번도 쓰지 않은 split입니다.</a:t>
            </a:r>
          </a:p>
          <a:p>
            <a:r>
              <a:t> 즉 우연히 잘 맞은 split을 고른 게 아닙니다.</a:t>
            </a:r>
          </a:p>
          <a:p/>
          <a:p>
            <a:r>
              <a:t> 아래쪽 CES_VT는 다릅니다. PASS는 seed 1 하나뿐인데, 4개 중 1개 유의는 잡음이</a:t>
            </a:r>
          </a:p>
          <a:p>
            <a:r>
              <a:t> 만들어낼 수 있는 수준입니다. 추정치는 전부 양수지만 저는 이걸 '이겼다'고 쓰지 않고</a:t>
            </a:r>
          </a:p>
          <a:p>
            <a:r>
              <a:t> 동률로 보고합니다. 이 차이가 왜 생기는지가 다음 슬라이드입니다."</a:t>
            </a:r>
          </a:p>
          <a:p/>
          <a:p>
            <a:r>
              <a:t>※ 질문 대비: "왜 4개 seed인가?" → split seed에 따른 안정성 점검. 단, headline CI에</a:t>
            </a:r>
          </a:p>
          <a:p>
            <a:r>
              <a:t>   풀링하지 않고 각각 독립적으로 판정한다(PR4).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14:15–15:35  (80초)  ★ 과학적 발견</a:t>
            </a:r>
          </a:p>
          <a:p/>
          <a:p>
            <a:r>
              <a:t>"이 비대칭이 왜 생기는지를 ablation으로 확인했습니다. 왼쪽 그림입니다.</a:t>
            </a:r>
          </a:p>
          <a:p/>
          <a:p>
            <a:r>
              <a:t> Tᵢ부터 보시면, 빠른 진단만 주고 CES 이력을 완전히 뺀 fast-only 모델도</a:t>
            </a:r>
          </a:p>
          <a:p>
            <a:r>
              <a:t> persistence를 +0.372로 이깁니다. 즉 빠른 진단 자체가 이온온도 정보를 진짜로</a:t>
            </a:r>
          </a:p>
          <a:p>
            <a:r>
              <a:t> 운반한다는 뜻입니다. 물리적으로도 자연스럽습니다 — 충돌 e-i 결합을 통해</a:t>
            </a:r>
          </a:p>
          <a:p>
            <a:r>
              <a:t> ECEI가 주는 Tₑ와 BES가 주는 nₑ가 Tᵢ와 연결되니까요.</a:t>
            </a:r>
          </a:p>
          <a:p/>
          <a:p>
            <a:r>
              <a:t> 회전은 정반대입니다. fast-only V_rot은 −0.64입니다. persistence보다 나쁩니다.</a:t>
            </a:r>
          </a:p>
          <a:p>
            <a:r>
              <a:t> 회전 정보는 거의 전적으로 과거 CES 이력에서 옵니다.</a:t>
            </a:r>
          </a:p>
          <a:p>
            <a:r>
              <a:t> 이유는 두 가지입니다. 첫째, 토로이달 회전을 구동하는 건 주로 NBI 토크인데</a:t>
            </a:r>
          </a:p>
          <a:p>
            <a:r>
              <a:t> 그 신호가 데이터에 없습니다. 둘째, Mirnov는 kHz로 진동하는 dB/dt를 100 Hz로</a:t>
            </a:r>
          </a:p>
          <a:p>
            <a:r>
              <a:t> 순간샘플한 것이라 샘플마다 위상이 무작위가 됩니다. 실제로 같은 격자에서 BES와</a:t>
            </a:r>
          </a:p>
          <a:p>
            <a:r>
              <a:t> ECEI는 lag-1 자기상관이 +0.57인데 Mirnov만 -0.01, 즉 백색잡음입니다.</a:t>
            </a:r>
          </a:p>
          <a:p>
            <a:r>
              <a:t> MHD 모드 정보가 모델에 닿기 전에 이미 소실된 겁니다.</a:t>
            </a:r>
          </a:p>
          <a:p/>
          <a:p>
            <a:r>
              <a:t> ※ 질문 대비: "Tₑ가 NBI 가열을 대리하니 회전 정보도 담기지 않나?" — 검정했습니다.</a:t>
            </a:r>
          </a:p>
          <a:p>
            <a:r>
              <a:t> shot 간 Tₑ~Tᵢ는 r=+0.35 (p~1e-17)로 경로가 실재하지만, Tₑ~V_rot은 r=+0.02 (p=0.58)로</a:t>
            </a:r>
          </a:p>
          <a:p>
            <a:r>
              <a:t> 전달되지 않습니다. power와 torque가 다르기 때문입니다.</a:t>
            </a:r>
          </a:p>
          <a:p/>
          <a:p>
            <a:r>
              <a:t> 그래서 저는 V_rot에서 이기지 못한 걸 실패로 보지 않습니다.</a:t>
            </a:r>
          </a:p>
          <a:p>
            <a:r>
              <a:t> 물리적으로 예측되고 데이터로 확인된 발견입니다."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15:35–16:25  (50초)</a:t>
            </a:r>
          </a:p>
          <a:p/>
          <a:p>
            <a:r>
              <a:t>"그럼 모델은 어디서 이득을 버는가. peak 분석입니다.</a:t>
            </a:r>
          </a:p>
          <a:p/>
          <a:p>
            <a:r>
              <a:t> 여기서 peak은 예측값이 아니라 입력 기준으로 정의합니다 — 타겟 행을 제외한 이웃에서</a:t>
            </a:r>
          </a:p>
          <a:p>
            <a:r>
              <a:t> 국소 활동도가 높은 구간입니다. 정답을 엿보지 않는 보수적인 정의입니다.</a:t>
            </a:r>
          </a:p>
          <a:p/>
          <a:p>
            <a:r>
              <a:t> CES_TI는 전체 +0.272에서 peak 구간 +0.702로 뜁니다.</a:t>
            </a:r>
          </a:p>
          <a:p>
            <a:r>
              <a:t> CES_VT도 전체로는 +0.131로 약하지만 peak에서는 +0.438이고, 둘 다 PASS입니다.</a:t>
            </a:r>
          </a:p>
          <a:p/>
          <a:p>
            <a:r>
              <a:t> 해석은 명확합니다. 매끄러운 bulk 구간에서는 보간이 이미 거의 최적입니다.</a:t>
            </a:r>
          </a:p>
          <a:p>
            <a:r>
              <a:t> 거기서는 이길 여지가 별로 없습니다. 반대로 급변 구간에서는 보간이 구조적으로</a:t>
            </a:r>
          </a:p>
          <a:p>
            <a:r>
              <a:t> 실패하고, 바로 거기서 빠른 진단이 값어치를 합니다.</a:t>
            </a:r>
          </a:p>
          <a:p>
            <a:r>
              <a:t> 즉 V_rot의 열세도 전역적인 게 아니라 국소적입니다."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16:25–17:05  (40초)</a:t>
            </a:r>
          </a:p>
          <a:p/>
          <a:p>
            <a:r>
              <a:t>"통계만 보면 감이 잘 안 오니, 실제 held-out shot 하나를 보여드리겠습니다. #31815입니다.</a:t>
            </a:r>
          </a:p>
          <a:p/>
          <a:p>
            <a:r>
              <a:t> 위가 이온온도입니다. 검은 점이 실측, 파란 선이 저희 모델, 회색이 PCHIP 보간입니다.</a:t>
            </a:r>
          </a:p>
          <a:p>
            <a:r>
              <a:t> 빨간 점선은 BES가 급락한 시점입니다. 보시면 빠른 진단의 급락이 CES crash와 정렬되어</a:t>
            </a:r>
          </a:p>
          <a:p>
            <a:r>
              <a:t> 있습니다 — 빠른 진단이 급변을 먼저 봅니다.</a:t>
            </a:r>
          </a:p>
          <a:p>
            <a:r>
              <a:t> PCHIP은 스파이크마다 overshoot합니다. 미래까지 다 보고도 그렇습니다.</a:t>
            </a:r>
          </a:p>
          <a:p>
            <a:r>
              <a:t> 이 shot에서 Tᵢ RMSE는 210 대 263, skill로 +0.36이고 peak 구간만 보면 +0.63입니다.</a:t>
            </a:r>
          </a:p>
          <a:p/>
          <a:p>
            <a:r>
              <a:t> 다만 정직하게 말씀드리면, 이런 shot이 전부는 아닙니다. test 89개 shot 중 43개에서</a:t>
            </a:r>
          </a:p>
          <a:p>
            <a:r>
              <a:t> 보간을 이깁니다. 즉 우위는 고르게 퍼져 있는 게 아니라 급변 구간에 집중되어 있습니다 —</a:t>
            </a:r>
          </a:p>
          <a:p>
            <a:r>
              <a:t> 이건 앞의 peak 분석과 정확히 일치하는 그림입니다."</a:t>
            </a:r>
          </a:p>
          <a:p/>
          <a:p>
            <a:r>
              <a:t>※ 시간이 밀리면 이 슬라이드를 30초로 압축하거나 건너뛸 것 (결과 ④까지로도 논지는 성립).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17:05–17:45  (40초)</a:t>
            </a:r>
          </a:p>
          <a:p/>
          <a:p>
            <a:r>
              <a:t>"연구 후반에 데이터 감사를 하다가 하나 발견한 게 있어서 정직하게 공유드립니다.</a:t>
            </a:r>
          </a:p>
          <a:p/>
          <a:p>
            <a:r>
              <a:t> 관측된 것으로 표시된 CES_VT 값의 약 54%가 실은 직전 값의 forward-fill이었습니다.</a:t>
            </a:r>
          </a:p>
          <a:p>
            <a:r>
              <a:t> 직전 관측값과 비트 단위로 동일하고, 심한 경우 1214행이 연속으로 같은 값입니다.</a:t>
            </a:r>
          </a:p>
          <a:p>
            <a:r>
              <a:t> 회전 진단의 실제 cadence가 행 cadence보다 느려서 값이 carry-forward된 것으로 보입니다.</a:t>
            </a:r>
          </a:p>
          <a:p>
            <a:r>
              <a:t> CES_TI는 이 현상이 0%라 무관합니다.</a:t>
            </a:r>
          </a:p>
          <a:p/>
          <a:p>
            <a:r>
              <a:t> 두 가지를 확인했습니다. 첫째, 평가가 영향을 받습니다. held 값은 baseline 오차가</a:t>
            </a:r>
          </a:p>
          <a:p>
            <a:r>
              <a:t> 거의 0이라 보고 RMSE를 35~55% 끌어내립니다. 표의 오른쪽이 진짜 값입니다.</a:t>
            </a:r>
          </a:p>
          <a:p>
            <a:r>
              <a:t> 둘째, 학습도 오염됩니다. 처음엔 단일 seed A/B로 '무해하다'고 봤는데, 4-seed paired</a:t>
            </a:r>
          </a:p>
          <a:p>
            <a:r>
              <a:t> 재학습이 이를 뒤집었습니다 — held를 학습에서도 빼면 V_rot이 4개 분할 전부에서</a:t>
            </a:r>
          </a:p>
          <a:p>
            <a:r>
              <a:t> 좋아집니다. forward-fill이 '이력 복사가 최적'이라고 모델을 가르치고 있던 겁니다.</a:t>
            </a:r>
          </a:p>
          <a:p/>
          <a:p>
            <a:r>
              <a:t> 그래서 지금 규약은 학습·평가 모두 held 제거이고, Tᵢ는 여전히 4개 seed 모두 PASS,</a:t>
            </a:r>
          </a:p>
          <a:p>
            <a:r>
              <a:t> 비대칭 결론도 그대로입니다."</a:t>
            </a:r>
          </a:p>
          <a:p/>
          <a:p>
            <a:r>
              <a:t>※ 이 슬라이드는 내부 발표에서 신뢰를 크게 얻는 지점. 방어적으로 말하지 말고</a:t>
            </a:r>
          </a:p>
          <a:p>
            <a:r>
              <a:t>   "찾아서 고쳤고 결론은 견뎠다"는 톤으로.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17:05–17:45  (40초)  ★ "왜 window가 4인가" 피드백에 대한 답</a:t>
            </a:r>
          </a:p>
          <a:p/>
          <a:p>
            <a:r>
              <a:t>"발표 때 받은 지적 중 하나가 'window를 4로 쓴 근거가 뭐냐'였습니다.</a:t>
            </a:r>
          </a:p>
          <a:p>
            <a:r>
              <a:t> 솔직히 처음에는 경험적으로 놓은 값이었습니다. 그래서 곡선으로 답을 만들었습니다.</a:t>
            </a:r>
          </a:p>
          <a:p/>
          <a:p>
            <a:r>
              <a:t> W를 2, 3, 4, 6, 8로 바꿔가며 seed 4개씩, 그리고 history를 아예 없앤 조건까지</a:t>
            </a:r>
          </a:p>
          <a:p>
            <a:r>
              <a:t> 총 24번을 독립적으로 학습·평가했습니다. 모델은 발표한 것 그대로 고정하고 W만 바꿨습니다.</a:t>
            </a:r>
          </a:p>
          <a:p>
            <a:r>
              <a:t> held 값은 학습·평가 양쪽에서 전부 제외했습니다.</a:t>
            </a:r>
          </a:p>
          <a:p/>
          <a:p>
            <a:r>
              <a:t> 세 가지가 보입니다.</a:t>
            </a:r>
          </a:p>
          <a:p>
            <a:r>
              <a:t> 첫째, 왼쪽 끝 — 과거 CES를 아예 빼면 이온온도가 보간보다 나빠지고(−0.026)</a:t>
            </a:r>
          </a:p>
          <a:p>
            <a:r>
              <a:t> 회전은 보간의 1.8배 오차가 납니다. 빠른 진단만으로는 보간 수준에도 못 미칩니다.</a:t>
            </a:r>
          </a:p>
          <a:p/>
          <a:p>
            <a:r>
              <a:t> 둘째, 과거 관측 딱 하나가 전부를 만듭니다. W=2에서 이온온도 +0.238, 회전 +0.206으로</a:t>
            </a:r>
          </a:p>
          <a:p>
            <a:r>
              <a:t> 두 타겟 모두 최대치에 올라서고, 그 뒤로는 평탄합니다. 구간 간 차이보다 seed 산포가</a:t>
            </a:r>
          </a:p>
          <a:p>
            <a:r>
              <a:t> 더 크니까요. 그러니까 W=4는 필연이 아니고, 두 타겟 모두 W=2·3보다 낮습니다.</a:t>
            </a:r>
          </a:p>
          <a:p/>
          <a:p>
            <a:r>
              <a:t> 셋째, 그럼에도 window를 넓힐 이유가 하나 있는데 정확도가 아니라 커버리지입니다.</a:t>
            </a:r>
          </a:p>
          <a:p>
            <a:r>
              <a:t> 채점하려면 윈도 안에 관측이 하나는 있어야 하는데, W=2는 직전 행에 그 타겟이 없으면</a:t>
            </a:r>
          </a:p>
          <a:p>
            <a:r>
              <a:t> 예측 자체를 못 냅니다. 긴 gap 샘플을 W=8은 4배에서 10배 더 많이 커버합니다."</a:t>
            </a:r>
          </a:p>
          <a:p/>
          <a:p>
            <a:r>
              <a:t>※ 질문 대비: "왜 W=1이 없나?" → dataset이 window≥2를 요구. history-0는 W=4에서</a:t>
            </a:r>
          </a:p>
          <a:p>
            <a:r>
              <a:t>   history 채널만 0으로 만든 ablation이고, 학습부터 그렇게 했다(평가만 가린 게 아님).</a:t>
            </a:r>
          </a:p>
          <a:p>
            <a:r>
              <a:t>※ 질문 대비: "표본이 W마다 다르지 않나?" → 평가 표본은 W=2→8에서 1.8%만 감소하고</a:t>
            </a:r>
          </a:p>
          <a:p>
            <a:r>
              <a:t>   test shot 96개는 동일. shot별 샘플 상한(500)으로 긴 shot 지배도 차단.</a:t>
            </a:r>
          </a:p>
          <a:p>
            <a:r>
              <a:t>※ 질문 대비: "held를 남긴 채로 하면?" → 실제로 먼저 그렇게 돌렸고 'V_rot은 긴 window가</a:t>
            </a:r>
          </a:p>
          <a:p>
            <a:r>
              <a:t>   필요하다'는 결과가 나왔다. held 제거 이득이 window가 짧을수록 크기 때문에(+0.088→+0.006)</a:t>
            </a:r>
          </a:p>
          <a:p>
            <a:r>
              <a:t>   생긴 착시였다 — held가 긴 window를 돕는 게 아니라 짧은 window를 벌하고 있었다.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17:45–18:50  (65초)</a:t>
            </a:r>
          </a:p>
          <a:p/>
          <a:p>
            <a:r>
              <a:t>"결론 네 가지입니다.</a:t>
            </a:r>
          </a:p>
          <a:p/>
          <a:p>
            <a:r>
              <a:t> 하나, CES_TI는 미래까지 보는 오프라인 보간을 통계적으로 유의하게 능가합니다.</a:t>
            </a:r>
          </a:p>
          <a:p>
            <a:r>
              <a:t> 4개 독립 split 전부, held 포함/제외 두 평가 모집단 모두에서요.</a:t>
            </a:r>
          </a:p>
          <a:p>
            <a:r>
              <a:t> 둘, 배치에 관한 주장은 더 좁게 합니다. 진짜 결측 지점으로 재가중해도, 캠페인을</a:t>
            </a:r>
          </a:p>
          <a:p>
            <a:r>
              <a:t> 시간으로 갈라도 살아남는 것은 인과 기준선 대비 우위뿐입니다 — +0.29와 +0.22.</a:t>
            </a:r>
          </a:p>
          <a:p>
            <a:r>
              <a:t> 온라인 가상 센서가 실제로 경쟁하는 상대는 persistence이고, 그 비교에서 이깁니다.</a:t>
            </a:r>
          </a:p>
          <a:p>
            <a:r>
              <a:t> 셋, CES_VT는 보간과 동률입니다. 다만 인과 대안은 캠페인 분할에서도 4개 전부</a:t>
            </a:r>
          </a:p>
          <a:p>
            <a:r>
              <a:t> 유의하게 이깁니다 — 실패한 타겟이 아니라 의미 있는 비교가 인과뿐인 타겟입니다.</a:t>
            </a:r>
          </a:p>
          <a:p>
            <a:r>
              <a:t> 넷, 그 Tᵢ와 V_rot의 비대칭이 이 연구의 과학적 기여입니다.</a:t>
            </a:r>
          </a:p>
          <a:p>
            <a:r>
              <a:t> 빠른 진단은 10 ms 격자에서 이온온도 정보는 운반하지만 회전 정보는 거의 운반하지</a:t>
            </a:r>
          </a:p>
          <a:p>
            <a:r>
              <a:t> 않는다 — 물리로 예측하고 ablation으로 확인했습니다."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18:50–19:20  (30초)  — 빠르게 읽되 첫 항목은 반드시 언급</a:t>
            </a:r>
          </a:p>
          <a:p/>
          <a:p>
            <a:r>
              <a:t>"한계를 분명히 말씀드리면, 가장 큰 제약은 검정력입니다. test shot이 90여 개뿐이고,</a:t>
            </a:r>
          </a:p>
          <a:p>
            <a:r>
              <a:t> 이게 모든 유의성 판정을 구속합니다. 그리고 채점은 관측된 지점에서만 하므로</a:t>
            </a:r>
          </a:p>
          <a:p>
            <a:r>
              <a:t> 이 수치는 낙관적 상한입니다 — 진짜 결측 구간은 참값이 없으니까요.</a:t>
            </a:r>
          </a:p>
          <a:p/>
          <a:p>
            <a:r>
              <a:t> 향후 가장 확실한 레버는 NBI 토크 신호를 데이터에 넣는 것입니다.</a:t>
            </a:r>
          </a:p>
          <a:p>
            <a:r>
              <a:t> 참고로 Mirnov를 여러 방식으로 재가공해서 회전 정보를 살려보려는 시도는 이미 했고,</a:t>
            </a:r>
          </a:p>
          <a:p>
            <a:r>
              <a:t> 4개 seed 전부에서 성능이 오히려 떨어졌습니다. 재가공이 아니라 미관측 물리량을</a:t>
            </a:r>
          </a:p>
          <a:p>
            <a:r>
              <a:t> 확보하는 게 답이라는 뜻입니다."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19:40–20:00  (20초, 시간 있을 때만)</a:t>
            </a:r>
          </a:p>
          <a:p/>
          <a:p>
            <a:r>
              <a:t>"피드백로 진행한 재프레이밍 실험입니다 — 결측 행을 버리는 대신 전체 격자를</a:t>
            </a:r>
          </a:p>
          <a:p>
            <a:r>
              <a:t> causal LSTM에 넣고 loss에서만 마스킹합니다. 이온온도는 4개 seed 전부에서</a:t>
            </a:r>
          </a:p>
          <a:p>
            <a:r>
              <a:t> 최종 모델보다 좋아졌고 자체 PR4 게이트도 전부 통과했습니다.</a:t>
            </a:r>
          </a:p>
          <a:p>
            <a:r>
              <a:t> 회전은 나빠졌는데, 분리 실험으로 원인이 둘 다 확정됐습니다 — held 인공물과</a:t>
            </a:r>
          </a:p>
          <a:p>
            <a:r>
              <a:t> 회전 head의 빠른진단 차단(라우팅) 부재입니다. 그 둘을 모두 넣은 seq v2에서</a:t>
            </a:r>
          </a:p>
          <a:p>
            <a:r>
              <a:t> 유의 열세가 4개 seed 전부에서 사라졌고, 이온온도는 4개 split 전부에서 최고입니다.</a:t>
            </a:r>
          </a:p>
          <a:p>
            <a:r>
              <a:t> 학습 비용은 1/10입니다."</a:t>
            </a:r>
          </a:p>
          <a:p/>
          <a:p>
            <a:r>
              <a:t>※ 시간 부족 시: "결측을 버리지 않고 loss에서 마스킹하는 재프레이밍으로 Tᵢ는 최종</a:t>
            </a:r>
          </a:p>
          <a:p>
            <a:r>
              <a:t>   모델을 4/4에서 능가했고, 회전 격차도 라우팅을 인코더에서 차단해 닫혔습니다."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19:40–20:00  (20초) + Q&amp;A</a:t>
            </a:r>
          </a:p>
          <a:p/>
          <a:p>
            <a:r>
              <a:t>"정리하면, 항상 있는 빠른 진단으로 자주 비는 CES를 채우는 가상 센서를 만들었고,</a:t>
            </a:r>
          </a:p>
          <a:p>
            <a:r>
              <a:t> 미래까지 보는 보간이라는 일부러 어려운 기준선을 세워 검증했습니다.</a:t>
            </a:r>
          </a:p>
          <a:p>
            <a:r>
              <a:t> 이온온도는 통계적으로 유의하게 이겼고, 회전은 이기지 못했으며 그 이유가 물리적으로</a:t>
            </a:r>
          </a:p>
          <a:p>
            <a:r>
              <a:t> 설명됩니다. 후속 실험은 앞 슬라이드대로 진행 중입니다. 감사합니다."</a:t>
            </a:r>
          </a:p>
          <a:p/>
          <a:p>
            <a:r>
              <a:t>── 예상 질문 대비 ──────────────────────────────</a:t>
            </a:r>
          </a:p>
          <a:p>
            <a:r>
              <a:t>Q. 왜 forecasting이 아니라 nowcasting인가?</a:t>
            </a:r>
          </a:p>
          <a:p>
            <a:r>
              <a:t> → 미래를 예보하는 게 아니라 이미 지나간 시점의 빈 값을 채우는 문제. 오프라인 물리 분석용.</a:t>
            </a:r>
          </a:p>
          <a:p/>
          <a:p>
            <a:r>
              <a:t>Q. 진짜 결측 구간에서도 이만큼 잘하나?</a:t>
            </a:r>
          </a:p>
          <a:p>
            <a:r>
              <a:t> → 단정하지 않는다. 결측이 무작위가 아니므로(MNAR, 저 SNR·ELM·천이에서 drop-out)</a:t>
            </a:r>
          </a:p>
          <a:p>
            <a:r>
              <a:t>    관측 지점 성능은 낙관적 상한. 그래서 "추정한다"고만 말한다.</a:t>
            </a:r>
          </a:p>
          <a:p/>
          <a:p>
            <a:r>
              <a:t>Q. 보간이 미래를 보는데 이기는 게 가능한가?</a:t>
            </a:r>
          </a:p>
          <a:p>
            <a:r>
              <a:t> → 가능하고, 그게 논지의 핵심. 빠른 진단이 시간 보간으로 얻을 수 없는 정보를 운반하기 때문.</a:t>
            </a:r>
          </a:p>
          <a:p>
            <a:r>
              <a:t>    특히 보간이 구조적으로 실패하는 급변 구간에서 이긴다.</a:t>
            </a:r>
          </a:p>
          <a:p/>
          <a:p>
            <a:r>
              <a:t>Q. 모델 크기/과적합은?</a:t>
            </a:r>
          </a:p>
          <a:p>
            <a:r>
              <a:t> → 파라미터 0.20 M. capacity가 아니라 일반화가 관건이었고, 무리한 확대는 오히려 악화됐다.</a:t>
            </a:r>
          </a:p>
          <a:p/>
          <a:p>
            <a:r>
              <a:t>Q. V_rot을 살리려면?</a:t>
            </a:r>
          </a:p>
          <a:p>
            <a:r>
              <a:t> → NBI 토크 신호 확보가 1순위. 원본 kHz Mirnov도 후보. 파생 특징 재가공은 이미 음성 확인.</a:t>
            </a:r>
          </a:p>
          <a:p/>
          <a:p>
            <a:r>
              <a:t>Q. seed에 따라 결과가 흔들리지 않나?</a:t>
            </a:r>
          </a:p>
          <a:p>
            <a:r>
              <a:t> → CES_TI는 4개 독립 split 전부 PASS로 강건. CES_VT는 split seed에 따라 크게 요동하며,</a:t>
            </a:r>
          </a:p>
          <a:p>
            <a:r>
              <a:t>    이것 자체가 "현 규모에서 V_rot 단일 수치는 측정 불가"라는 근거.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5544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9CC0E8"/>
                </a:solidFill>
                <a:latin typeface="Malgun Gothic"/>
              </a:rPr>
              <a:t>원자핵공학과 대학원 내부 발표 · 20분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4028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KSTAR 다중 진단 기반 Multimodal 신경망을 활용한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CES 결측 구간 예측 (Gap-filling / Nowcasting)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빠른 진단(BES · ECEI · Mirnov)과 과거 CES 이력으로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이온온도 Tᵢ · 토로이달 회전 V_rot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를 복원하고,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미래까지 보는 오프라인 보간(interpolation)을 이기는가를 통계적으로 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KSTAR Charge Exchange Spectroscopy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결론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72768"/>
            <a:ext cx="1115568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810512"/>
            <a:ext cx="822960" cy="822960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810512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1737360"/>
            <a:ext cx="9875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3335F"/>
                </a:solidFill>
                <a:latin typeface="Malgun Gothic"/>
              </a:rPr>
              <a:t>빠른 진단은 Tᵢ 정보를 실제로 운반한다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2194560"/>
            <a:ext cx="987552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과거만 보는 causal 모델이, 미래까지 보는 오프라인 보간(PCHIP)을 CES_TI에서 통계적으로 유의하게 능가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- 독립 test split 4개 모두 PASS (genuine skill +0.18 ~ +0.28; held 포함 평가에서도 4/4).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35808"/>
            <a:ext cx="1115568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3273552"/>
            <a:ext cx="822960" cy="82296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73552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3200400"/>
            <a:ext cx="9875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3335F"/>
                </a:solidFill>
                <a:latin typeface="Malgun Gothic"/>
              </a:rPr>
              <a:t>V_rot에서는 통계적으로 무의미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657600"/>
            <a:ext cx="987552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Tᵢ ↔ V_rot 비대칭. 회전을 구동하는 NBI 토크가 데이터에 없고 Mirnov는 100 Hz에서 aliasing → 빠른 진단에 회전 정보가 거의 없다.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물리로 예측되고 ablation으로 확인.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498848"/>
            <a:ext cx="1115568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4736592"/>
            <a:ext cx="822960" cy="82296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736592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4663440"/>
            <a:ext cx="9875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3335F"/>
                </a:solidFill>
                <a:latin typeface="Malgun Gothic"/>
              </a:rPr>
              <a:t>모델의 가치는 '보간이 약한 곳'에 집중된다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4208" y="5120640"/>
            <a:ext cx="987552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매끄러운 bulk 구간은 보간이 이미 거의 최적. 우위는 고변동(peak)·급변 구간에 몰려 있다 (Tᵢ peak skill +0.70, V_rot +0.44, 둘 다 PASS).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배경 &amp;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CES는 왜, 얼마나 비는가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11247120" cy="6217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22B35"/>
                </a:solidFill>
                <a:latin typeface="Malgun Gothic"/>
              </a:rPr>
              <a:t>CES는 pedestal 물리의 핵심량 Tᵢ · V_rot을 주지만 </a:t>
            </a:r>
            <a:r>
              <a:rPr sz="1450" b="1" i="0">
                <a:solidFill>
                  <a:srgbClr val="E8743B"/>
                </a:solidFill>
                <a:latin typeface="Malgun Gothic"/>
              </a:rPr>
              <a:t>광자 수집이 필요해 느리고 자주 빈다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. 반면 빠른 진단은 같은 10 ms 격자에서 항상 조밀하다.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" y="1874519"/>
            <a:ext cx="5943600" cy="31821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" y="1993392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진단 구성 (동일한 10 ms 격자)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4" y="2450592"/>
            <a:ext cx="82296" cy="4572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784" y="2468880"/>
            <a:ext cx="1600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0552" y="2487168"/>
            <a:ext cx="685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타겟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3784" y="2478024"/>
            <a:ext cx="3108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Tᵢ, V_rot — 느림 · 결측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4" y="3035808"/>
            <a:ext cx="82296" cy="4572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" y="3054096"/>
            <a:ext cx="1600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B6CB0"/>
                </a:solidFill>
                <a:latin typeface="Malgun Gothic"/>
              </a:rPr>
              <a:t>BES  9 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0552" y="3072384"/>
            <a:ext cx="685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입력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43784" y="3063240"/>
            <a:ext cx="3108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밀도요동 nₑ 공간구조 → Tᵢ 단서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" y="3621024"/>
            <a:ext cx="82296" cy="4572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" y="3639312"/>
            <a:ext cx="1600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ECEI  4 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30552" y="3657600"/>
            <a:ext cx="685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입력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43784" y="3648456"/>
            <a:ext cx="3108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전자온도 Tₑ 2D → Tᵢ 단서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4904" y="4206240"/>
            <a:ext cx="82296" cy="4572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7784" y="4224528"/>
            <a:ext cx="1600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5B6670"/>
                </a:solidFill>
                <a:latin typeface="Malgun Gothic"/>
              </a:rPr>
              <a:t>Mirnov  2 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30552" y="4242816"/>
            <a:ext cx="685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입력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3784" y="4233672"/>
            <a:ext cx="3108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자기요동 — lag-1 r=−0.01 (정보 소실)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" y="4672584"/>
            <a:ext cx="5486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→ 빠른 진단은 항상 100% 측정된다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0" y="1874519"/>
            <a:ext cx="5029200" cy="3182112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1993392"/>
            <a:ext cx="4572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결측 실태 (641 shot)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6440" y="2432304"/>
            <a:ext cx="2286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CES_TI 완전결측(NaN)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06440" y="2715768"/>
            <a:ext cx="22860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9DE8CD"/>
                </a:solidFill>
                <a:latin typeface="Malgun Gothic"/>
              </a:rPr>
              <a:t>8.2 %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79" y="2432304"/>
            <a:ext cx="2286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CES_VT 완전결측(NaN)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79" y="2715768"/>
            <a:ext cx="22860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E8743B"/>
                </a:solidFill>
                <a:latin typeface="Malgun Gothic"/>
              </a:rPr>
              <a:t>23.9 %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06440" y="3246120"/>
            <a:ext cx="4572000" cy="731520"/>
          </a:xfrm>
          <a:prstGeom prst="roundRect">
            <a:avLst/>
          </a:prstGeom>
          <a:solidFill>
            <a:srgbClr val="8E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89320" y="3319272"/>
            <a:ext cx="4251960" cy="6217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D5CE"/>
                </a:solidFill>
                <a:latin typeface="Malgun Gothic"/>
              </a:rPr>
              <a:t>+ held(같은 값이 지속적으로 유지) CES_VT 41.1 %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→ V_rot 실질 무정보 65.0 %</a:t>
            </a:r>
          </a:p>
        </p:txBody>
      </p:sp>
      <p:pic>
        <p:nvPicPr>
          <p:cNvPr id="38" name="Picture 37" descr="fig_raw_csv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8995" y="1883664"/>
            <a:ext cx="1615122" cy="306324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806440" y="4059936"/>
            <a:ext cx="45720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· 두 타겟이 서로 </a:t>
            </a:r>
            <a:r>
              <a:rPr sz="1250" b="1" i="0">
                <a:solidFill>
                  <a:srgbClr val="E8743B"/>
                </a:solidFill>
                <a:latin typeface="Malgun Gothic"/>
              </a:rPr>
              <a:t>독립적으로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 결측 → target별 처리 필요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· 기존 대안 UFCES는 채널 제한 + 역산에 강한 물리 가정 필요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· 데이터 기반 접근은 축대칭 수준만 가정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212080"/>
            <a:ext cx="11201400" cy="960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5212080"/>
            <a:ext cx="109728" cy="960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5321808"/>
            <a:ext cx="107899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핵심 비대칭 (미리보기)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Malgun Gothic"/>
              </a:rPr>
              <a:t>빠른 진단은 물리적으로 Tᵢ 정보는 운반하지만 V_rot 정보는 거의 운반하지 않는다 — 회전을 구동하는 NBI 토크가 데이터에 없고, Mirnov는 kHz dB/dt를 100 Hz로 순간샘플해 위상이 무작위화된다(lag-1 r = −0.01 vs BES +0.57). 이 가설이 결과에서 그대로 확인된다.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배경 &amp;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연구 질문 &amp; 핵심 아이디어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17320"/>
            <a:ext cx="10881360" cy="12801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72768"/>
            <a:ext cx="1042416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연구 질문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FFFFFF"/>
                </a:solidFill>
                <a:latin typeface="Malgun Gothic"/>
              </a:rPr>
              <a:t>CES가 결측된 10 ms 시점에서, 동시각 빠른 진단(BES·ECEI·MC) + 과거 CES 이력만으로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Malgun Gothic"/>
              </a:rPr>
              <a:t>CES의 시간 보간(interpolation)이 복원할 수 없는 정보를 회복할 수 있는가?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3611880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971800"/>
            <a:ext cx="91440" cy="22402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08152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가상 센서 (Virtual Sensor)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3483864"/>
            <a:ext cx="3227832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빠른 진단으로부터 CES를 데이터 기반 추정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역산(inverse mapping) 가정 없이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결측·고장 시점을 메움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2971800"/>
            <a:ext cx="3611880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9392" y="2971800"/>
            <a:ext cx="91440" cy="2240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7136" y="308152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Gap-filling / Nowcasting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3483864"/>
            <a:ext cx="3227832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미래를 예보하는 forecasting 아님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현재 시점의 빈 값을 채움 (nowcast)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초해상(super-resolution)과도 구분</a:t>
            </a:r>
          </a:p>
          <a:p>
            <a:r>
              <a:rPr sz="1100">
                <a:solidFill>
                  <a:srgbClr val="222B35"/>
                </a:solidFill>
              </a:rPr>
              <a:t>여기서 nowcasting(과거 + 현재 데이터로 현재 예측) 하는 이유는 CES가 찍히기 바로 직전의 고해상도 데이터(ECEI, BES, MC) + CES 옛날 데이터 이용해서 CES 현재 값 알아낼 수 있다고 생각했음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2971800"/>
            <a:ext cx="3611880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5864" y="2971800"/>
            <a:ext cx="91440" cy="22402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8" y="308152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정직한 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3483864"/>
            <a:ext cx="3227832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없음 → 직접검증 불가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CES를 가린 뒤 복원 정확도 측정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persistence·mean·보간과 target별 비교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결론의 성격: masking 검증에서 baseline을 이기면 결측 구간에서도 잘 복원할 것으로 추정한다.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/>
            </a:r>
            <a:r>
              <a:rPr sz="1350" b="1" i="0">
                <a:solidFill>
                  <a:srgbClr val="E8743B"/>
                </a:solidFill>
                <a:latin typeface="Malgun Gothic"/>
              </a:rPr>
              <a:t/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r>
              <a:rPr sz="1250">
                <a:solidFill>
                  <a:srgbClr val="222B35"/>
                </a:solidFill>
              </a:rPr>
              <a:t>다만, 결측이 무작위라는 보장이 없어(MNAR) 결측 지점 정확도를 단정 불가 라는 한계를 지니고 있음.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의도적으로 어려운 평가 bar: 미래를 보는 보간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모델을 CES-only 보간(linear · PCHIP · local AR)과 비교한다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/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6596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09728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12140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우리 모델 (causal)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0604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타겟 시점의 빠른 진단 (BES·ECEI·MC)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과거 CES 이력 (window = 4)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미래 CES는 전혀 보지 않음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6596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965960"/>
            <a:ext cx="109728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12140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B6CB0"/>
                </a:solidFill>
                <a:latin typeface="Malgun Gothic"/>
              </a:rPr>
              <a:t>보간 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60604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타겟 양쪽의 과거 + 미래 CES 이웃 사용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PCHIP(단조 3차) = pre-registered headline 기준선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572000"/>
            <a:ext cx="10881360" cy="141732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663440"/>
            <a:ext cx="10424160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왜 이 정보 비대칭이 핵심인가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 i="0">
                <a:solidFill>
                  <a:srgbClr val="FFFFFF"/>
                </a:solidFill>
                <a:latin typeface="Malgun Gothic"/>
              </a:rPr>
              <a:t>미래까지 보는 보간을 causal(과거만 보는) 모델이 이긴다면, 그것은 빠른 진단이 시간 보간으로는 얻을 수 없는 CES 정보를 운반한다는 강력한 증거다.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1">
                <a:solidFill>
                  <a:srgbClr val="E8ECF1"/>
                </a:solidFill>
                <a:latin typeface="Malgun Gothic"/>
              </a:rPr>
              <a:t>미래 보간을 이기는 모델은 자명히 모든 causal baseline(persistence·AR)도 이긴다.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641 shot · No-Fake-Data · 누수 차단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5943600" cy="2377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샷 #30801–#32751, 하드웨어 이력 고려 → 총 641 shot CSV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TEST(genuine, seed 42): 33,693 샘플 / 96 shot — Tᵢ 32,787 · V_rot 10,729 (held 포함 27,437은 민감도)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입력 채널: BES 9 · ECEI 4 · Mirnov 2 · time 4 · ces_history 4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타겟: 정규화된 [CES_TI, CES_VT] 2-벡터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371600"/>
            <a:ext cx="5029200" cy="23774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481328"/>
            <a:ext cx="4572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샘플 1개의 구성 (window =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938528"/>
            <a:ext cx="1965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onsolas"/>
              </a:rPr>
              <a:t>bes / ecei / mc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96528" y="1938528"/>
            <a:ext cx="1417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(4,9)(4,4)(4,2)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938528"/>
            <a:ext cx="1371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8ECF1"/>
                </a:solidFill>
                <a:latin typeface="Malgun Gothic"/>
              </a:rPr>
              <a:t>빠른 진단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377440"/>
            <a:ext cx="1965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onsolas"/>
              </a:rPr>
              <a:t>time_features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6528" y="2377440"/>
            <a:ext cx="1417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(4, 4)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2377440"/>
            <a:ext cx="1371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8ECF1"/>
                </a:solidFill>
                <a:latin typeface="Malgun Gothic"/>
              </a:rPr>
              <a:t>시간 인코딩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816352"/>
            <a:ext cx="1965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onsolas"/>
              </a:rPr>
              <a:t>ces_history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2816352"/>
            <a:ext cx="1417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(4, 4)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2816352"/>
            <a:ext cx="1371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8ECF1"/>
                </a:solidFill>
                <a:latin typeface="Malgun Gothic"/>
              </a:rPr>
              <a:t>이전 CES + flag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3255264"/>
            <a:ext cx="1965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onsolas"/>
              </a:rPr>
              <a:t>target / mask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3255264"/>
            <a:ext cx="1417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(2,) / (2,)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3255264"/>
            <a:ext cx="1371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8ECF1"/>
                </a:solidFill>
                <a:latin typeface="Malgun Gothic"/>
              </a:rPr>
              <a:t>타겟 + 마스크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93192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93192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" y="404164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① No Fake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" y="444398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보간으로 '가짜 라벨'을 만들지 않음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진단 입력이 온전하고 타겟 중 최소 하나가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관측된 시점만 샘플로 사용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9392" y="393192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9392" y="3931920"/>
            <a:ext cx="91440" cy="1965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7136" y="404164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② per-target masked MSE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17136" y="444398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target_mask로 관측된 타겟만 손실 반영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한쪽만 관측된 행도 그 타겟은 학습에 기여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55864" y="393192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55864" y="3931920"/>
            <a:ext cx="91440" cy="19659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404164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③ 누수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8" y="444398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행이 아닌 shot 파일 단위 split (인접 행 상관)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정규화 통계는 train 파일에서만 추정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ces_history의 타겟 시점은 값·flag 완전 마스킹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016752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결측 제거로 시간 간격이 불규칙해지므로 </a:t>
            </a:r>
            <a:r>
              <a:rPr sz="1200" b="1" i="0">
                <a:solidFill>
                  <a:srgbClr val="13335F"/>
                </a:solidFill>
                <a:latin typeface="Malgun Gothic"/>
              </a:rPr>
              <a:t>연속성에 의존하는 LSTM 대신 1D CNN + 시간 인코딩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을 사용한다.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Multimodal Late-Fusion + target별 routing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pic>
        <p:nvPicPr>
          <p:cNvPr id="10" name="Picture 9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373" y="1261872"/>
            <a:ext cx="8798494" cy="4709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물리 기반 routing: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 = 빠른진단+이력+시간 / V_rot = 이력+시간만. 총 파라미터 201,258개(≈0.20 M) — capacity가 아니라 일반화가 관건. 출력은 정규화 단위, 역정규화는 평가에서만.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샘플을 어떻게 만들었나 — 블록 → 윈도 → 증강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945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① 연속 블록 분할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time 간격 ≥ 0.5 s = 측정 세그먼트 경계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641/641 shot에 존재 (파일당 ~2개, 간극 중앙값 6.3 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 윈도·보간 기준선 모두 경계를 넘지 않음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→ 양쪽에 동일한 정보 경계 (공정 비교)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945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② 윈도 샘플 (W = 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연속 4행, 마지막 행 = 맞혀야 할 타겟 시점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채택: 3개 진단 입력 완전 + Tᵢ/V_rot 중 ≥1개 관측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타겟 시점 이력은 값·관측 flag 모두 0으로 마스킹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→ 자기 정답을 절대 볼 수 없음 (누수 차단)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03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91440" cy="21945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813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③ Temporal subset 증강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215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타겟 이전 이력 행들의 부분집합을 전부 열거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같은 타겟을 '이력 2개·3개' 버전으로도 별도 학습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→ 배치가 다양한 이력 밀도·간격을 경험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→ 실전의 불규칙한 결측 패턴에 강건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03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03320"/>
            <a:ext cx="91440" cy="21945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813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④ 규모 — 조합 폭발 제어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215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부분집합 열거는 조합 폭발 → 시드 고정 랜덤 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train 200,000 / val 40,000 샘플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split·캡을 CSV로 디스크에 고정(pin) → 완전 재현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재로딩 시 데이터와 불일치하면 예외 (조용한 drift 차단)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어떻게 학습시켰나 — 손실 · 최적화 · 아키텍처 선택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6974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6974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손실 함수 – 물리적 페널티 고려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L = 관측 타겟만의 MSE + 0.1 × ReLU(z₀ − ŷ_Tᵢ)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Tᵢ·V_rot은 독립적으로 결측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→ 한쪽만 관측된 행도 그 타겟은 학습에 기여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페널티 항 = '이온온도 &lt; 0 keV 불가' 물리 제약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(z₀ = 물리 0을 정규화 단위로 옮긴 값)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학습·출력은 정규화 단위 — 물리 단위 환산은 평가에서만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6974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6974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최적화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AdamW — lr 10⁻³, weight decay 10⁻⁴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batch 512 · 10 epochs · 단일 GPU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LR 스케줄: val 손실이 2 에폭 정체하면 ×0.5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gradient clipping (max-norm 5.0)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split seed와 초기화 seed 분리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→ 결과가 초기화 운이 아님을 별도 점검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251960"/>
            <a:ext cx="11201400" cy="18288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07408"/>
            <a:ext cx="10698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아키텍처 선택 — 40여 회의 keep/discard 통제 실험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64608"/>
            <a:ext cx="1069848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반복마다 구조 변경은 딱 하나 → 처음부터 재학습 → 증강 없는 검증셋에서 보간 대비 skill로 채점. 최고 기록을 넘으면 채택, 못 넘으면 직전 최고 모델로 복원 — 후퇴 위에 쌓지 않는다.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8ECF1"/>
                </a:solidFill>
                <a:latin typeface="Malgun Gothic"/>
              </a:rPr>
              <a:t>채점 기준을 val loss → skill로 바꾼 것이 n.s.(+0.088) → 유의(+0.20~0.30) 진전의 핵심. TEST는 이 40여 회 전 과정에서 봉인.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이 숫자를 믿어도 되는 이유 — 두 가지 장치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834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83464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장치 ① 채점 규칙을 결과 보기 전에 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2194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 96 shot은 모델을 만들기 전에 봉인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→ 선택이 끝날 때까지 한 번도 열지 않음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 선택은 전부 검증셋에서만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결과를 보기 전에 문서로 못박은 것들: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· 비교 상대는 PCHIP 보간으로 확정 (사후 교체 금지)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· 보간이 예측 못 하는 지점은 직전값으로 채점 (제외 금지)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· '이겼다' = 95% 신뢰구간이 0을 제외할 때만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834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8346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장치 ② 신뢰구간은 행이 아니라 방전 단위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2194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10 ms 간격의 인접 측정은 거의 복사본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→ 34,644행 ≠ 34,644개의 독립 증거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행을 독립으로 세면 신뢰구간이 너무 좁아져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'유의하게 이겼다'가 너무 쉽게 나옴 (거짓 확신)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해법: 오차를 shot으로 묶어 96개 shot을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통째로 복원추출 × 10,000회 (paired bootstrap)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→ '새로운 방전에서도 이길까?'에 답하는 CI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43400"/>
            <a:ext cx="6949440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80560"/>
            <a:ext cx="649224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Murphy (1988) skill score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B6CB0"/>
                </a:solidFill>
                <a:latin typeface="Malgun Gothic"/>
              </a:rPr>
              <a:t>skill = 1 − MSE_model / MSE_baseline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&gt; 0 이면 모델 우수, = 0 이면 동률. 모든 오차는 물리 단위로 역정규화하여 타겟별로 계산.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26679" y="4343400"/>
            <a:ext cx="3977639" cy="16916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79" y="4480560"/>
            <a:ext cx="356616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공정한 비교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algun Gothic"/>
              </a:rPr>
              <a:t>모델과 모든 기준선을 같은 샘플 · 같은 관측 마스크로 채점 — 누구도 유리한 표본을 받지 않음.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E8ECF1"/>
                </a:solidFill>
                <a:latin typeface="Malgun Gothic"/>
              </a:rPr>
              <a:t>유효 표본 = shot 수 (Tᵢ 96 · V_rot 91)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선택 편향 차단 + shot 단위 부트스트랩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8803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8803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3-way split + 사전등록 (PR1–PR4)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2240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TEST는 아키텍처 탐색 시작 전 예약 — 선택 중 절대 열지 않음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 선택은 val에서만 → 헤드라인에 winner's curse 없음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PR1 headline baseline = PCHIP (단조 3차 보간)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PR2 future-neighbor 없으면 persistence로 평가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PR3 TEST floor: ≥15 shot &amp; ≥3,000 Tᵢ 샘플 (충족)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PR4 95% CI가 0을 제외하면 PASS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8803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8803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Shot-clustered paired bootstrap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2240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 shot 안의 인접 CES 행은 강하게 상관됨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샘플을 독립으로 보면 불확실성을 크게 과소평가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per-sample paired error (SE_model − SE_pchip)를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shot 단위로 묶어 shot 전체를 복원추출 (B = 10,000)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→ CI가 within-shot 가짜 복제가 아닌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진짜 shot-to-shot 일반화를 반영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89120"/>
            <a:ext cx="6949440" cy="1645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526280"/>
            <a:ext cx="6492240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Murphy (1988) skill score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B6CB0"/>
                </a:solidFill>
                <a:latin typeface="Malgun Gothic"/>
              </a:rPr>
              <a:t>skill = 1 − MSE_model / MSE_baseline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&gt; 0 이면 모델 우수, = 0 이면 동률. 모든 오차는 물리 단위로 역정규화하여 타겟별로 계산.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26679" y="4389120"/>
            <a:ext cx="3977639" cy="164592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79" y="4526280"/>
            <a:ext cx="3566160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공정성 보장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algun Gothic"/>
              </a:rPr>
              <a:t>모델과 모든 baseline을 동일한 (file, row) 샘플 집합 · 동일 per-target mask로 채점 — 어떤 arm도 thinning 되지 않음.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E8ECF1"/>
                </a:solidFill>
                <a:latin typeface="Malgun Gothic"/>
              </a:rPr>
              <a:t>검정력 한계: Tᵢ 96 · V_rot 91 shot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causal 압도 · Tᵢ 보간 유의 · Tᵢ↔V_rot 비대칭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causal baseline을 큰 폭으로 압도 (강건한 결과)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pic>
        <p:nvPicPr>
          <p:cNvPr id="10" name="Picture 9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164" y="1325880"/>
            <a:ext cx="10876912" cy="40233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440680"/>
            <a:ext cx="10881360" cy="868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5156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두 타겟 모두 모델 RMSE가 사다리에서 최저. 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persistence·AR(causal) 대비 큰 마진으로 우수 — 온라인/실시간 환경에서 모델이 명확한 승자. 보간(PCHIP/Linear)보다도 point estimate는 앞섬.</a:t>
            </a:r>
          </a:p>
        </p:txBody>
      </p:sp>
      <p:pic>
        <p:nvPicPr>
          <p:cNvPr id="13" name="Picture 12" descr="fig_ar_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1808" y="4124111"/>
            <a:ext cx="1883664" cy="49344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보간 대비 headline — 최종 모델, 4 seed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pic>
        <p:nvPicPr>
          <p:cNvPr id="10" name="Picture 9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730" y="1280160"/>
            <a:ext cx="9163779" cy="35661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4828032"/>
            <a:ext cx="5486400" cy="15361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828032"/>
            <a:ext cx="91440" cy="153619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93776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CES_TI — PASS (강건)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5340096"/>
            <a:ext cx="5102352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4개 독립 split 모두 CI &gt; 0 (1/7/123은 선택 밖 복제)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genuine +0.18 ~ +0.28 · held 포함 평가에서도 4/4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사후 GP 팔(최강 오프라인, PCHIP에 4/4 승)과는 동률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 사전등록 headline 유지 · 인과(배치) 주장 무영향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828032"/>
            <a:ext cx="5486400" cy="15361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828032"/>
            <a:ext cx="91440" cy="153619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493776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5B6670"/>
                </a:solidFill>
                <a:latin typeface="Malgun Gothic"/>
              </a:rPr>
              <a:t>CES_VT — 동률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5340096"/>
            <a:ext cx="5102352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PASS는 seed 1 하나뿐 (1/4 = 잡음이 낼 수 있는 수준)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point estimate는 4 seed 모두 +지만 승리 주장 안 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→ Tᵢ↔V_rot 비대칭 (다음 슬라이드)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비대칭 — 본 연구의 과학적 발견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pic>
        <p:nvPicPr>
          <p:cNvPr id="10" name="Picture 9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11408"/>
            <a:ext cx="6583680" cy="318382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69480" y="1417320"/>
            <a:ext cx="4434840" cy="4572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157276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물리적 해석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103120"/>
            <a:ext cx="402336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Tᵢ: 빠른 진단이 진짜 정보 운반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충돌 e–i 결합 (t_ei ∝ Tₑ^1.5/nₑ) → ECEI(Tₑ)+BES(nₑ)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fast-only도 persistence 능가 (+0.372)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V_rot: 정보는 거의 전적으로 과거 CES 이력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토로이달 회전은 미관측 NBI 토크가 주도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Mirnov 100 Hz 순간샘플 → kHz 모드 소실 (lag-1 r=−0.01)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0392B"/>
                </a:solidFill>
                <a:latin typeface="Malgun Gothic"/>
              </a:rPr>
              <a:t>–  fast-only V_rot = −0.64 (persistence보다 나쁨)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●  ‘Tₑ가 NBI 가열을 대리한다’ 가설도 기각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shot간 Tₑ~Tᵢ r=+0.35 (p~1e−17) — 경로는 실재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그러나 Tₑ~V_rot r=+0.02 (p=0.58) — 전달 안 됨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V_rot의 비-승리는 실패가 아니라 발견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모델의 우위는 '고변동(peak) 구간'에 집중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2084"/>
            <a:ext cx="6400800" cy="293103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23760" y="1463040"/>
            <a:ext cx="448056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1618488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어디서 가치를 버는가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2148840"/>
            <a:ext cx="411480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peak = 입력 기반 고-국소활동 이웃 (타겟 행 제외)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pointwise 극값이 아니라 보수적 영역 proxy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Tᵢ: global +0.272 → peak +0.702 (PASS)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보간은 매끄러운 bulk에서 거의 최적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V_rot: global +0.131 → peak +0.438 (PASS)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global은 약하지만 peak에서는 통과 — 비대칭은 regional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Tᵢ ablation: peak에서 빠른진단 제거 시 큰 손해 (유의)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급변 구간을 눈으로 — held-out shot #31815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pic>
        <p:nvPicPr>
          <p:cNvPr id="10" name="Picture 9" descr="fig_transient_318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465" y="1298448"/>
            <a:ext cx="6302869" cy="49377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0" y="1463040"/>
            <a:ext cx="4389120" cy="4480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609344"/>
            <a:ext cx="3977639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한 shot에서 실제로 벌어지는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121408"/>
            <a:ext cx="3977639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빠른 진단이 급변을 먼저 본다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BES 급락(빨간 점선)이 CES crash와 정렬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●  PCHIP는 스파이크마다 overshoot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과거+미래를 다 보는 오프라인 보간인데도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●  Tᵢ: RMSE 210 vs PCHIP 263 → skill +0.36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peak 구간만 보면 Tᵢ skill +0.63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●  V_rot: +0.20 — 이 shot은 두 타겟 모두 승리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●  단, 보간을 이기는 건 test 89 shot 중 43개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→ 우위는 gap·peak 구간에 집중된다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5. 결과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정직성 점검: held/stuck CES_VT 감사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471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22B35"/>
                </a:solidFill>
                <a:latin typeface="Malgun Gothic"/>
              </a:rPr>
              <a:t>후반 audit 결과 </a:t>
            </a:r>
            <a:r>
              <a:rPr sz="1450" b="1" i="0">
                <a:solidFill>
                  <a:srgbClr val="C0392B"/>
                </a:solidFill>
                <a:latin typeface="Malgun Gothic"/>
              </a:rPr>
              <a:t>관측된 CES_VT의 약 54%가 held/forward-fill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이었다 — 직전 관측값과 bit-identical(같은 시간블록 내 최대 1214행 연속). V_rot의 native cadence가 행 cadence보다 느려 값이 carry-forward된 것으로, 진짜 측정이 아니다. CES_TI는 held 0.0%로 사실상 무관.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12848"/>
            <a:ext cx="585216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641개 중 499 shot 파일이 영향받음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평가: held 전 구간 채점 제외 — genuine-only가 headline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●  학습도 오염 — 초기 '무해' 판정(단일 seed)을 4-seed paired가 뒤집음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→ held 제거 학습이 V_rot 4/4 개선 (평균 +0.039, 3/4 유의)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→ 현행 규약: 학습·평가 모두 제거 (CES_DROP_STUCK_TARGETS=1)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●  CES_TI는 genuine-only 평가에서도 4 seed 모두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Tᵢ↔V_rot 비대칭 결론은 그대로 유지 (genuine에서 VT는 3/4 seed n.s.)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2212848"/>
            <a:ext cx="5120640" cy="3611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2340864"/>
            <a:ext cx="47548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V_rot RMSE: 보고값 vs genuine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798064"/>
            <a:ext cx="1188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seed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798064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보고(stuck 포함)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2798064"/>
            <a:ext cx="1371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genuine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209544"/>
            <a:ext cx="1188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209544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Consolas"/>
              </a:rPr>
              <a:t>22.5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209544"/>
            <a:ext cx="1371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35.0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3666744"/>
            <a:ext cx="1188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666744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Consolas"/>
              </a:rPr>
              <a:t>24.7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3666744"/>
            <a:ext cx="1371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34.8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4123944"/>
            <a:ext cx="1188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123944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Consolas"/>
              </a:rPr>
              <a:t>30.0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4123944"/>
            <a:ext cx="1371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43.5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4581144"/>
            <a:ext cx="1188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4581144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Consolas"/>
              </a:rPr>
              <a:t>32.9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4581144"/>
            <a:ext cx="1371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46.5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5093207"/>
            <a:ext cx="46634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5B6670"/>
                </a:solidFill>
                <a:latin typeface="Malgun Gothic"/>
              </a:rPr>
              <a:t>held 타겟은 baseline 오차가 ≈0이라 보고 RMSE를 끌어내린다. 숫자는 정정했고 결론은 바뀌지 않았다.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5. 결과 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window 민감도 sweep — 'W=4여야 하는가'에 답하다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W ∈ {2,3,4,6,8} × seed 4개 + history-0 = </a:t>
            </a:r>
            <a:r>
              <a:rPr sz="1300" b="1" i="0">
                <a:solidFill>
                  <a:srgbClr val="13335F"/>
                </a:solidFill>
                <a:latin typeface="Malgun Gothic"/>
              </a:rPr>
              <a:t>독립 run 24회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. 발표 모델(iter009) 고정, W만 변화 — 매 run 자체의 held-out TEST skill_vs_pchip. held 제거 학습·평가, seed별 test shot 96개는 모든 W에서 동일(검증됨).</a:t>
            </a:r>
          </a:p>
        </p:txBody>
      </p:sp>
      <p:pic>
        <p:nvPicPr>
          <p:cNvPr id="11" name="Picture 10" descr="fig_window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4395"/>
            <a:ext cx="7086600" cy="284699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635240" y="1810512"/>
            <a:ext cx="4069080" cy="3794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938528"/>
            <a:ext cx="3657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곡선이 말하는 세 가지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432304"/>
            <a:ext cx="3657600" cy="3108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●  history가 없으면 무너진다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−0.026 (보간에 짐) · V_rot −0.78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→ 빠른 진단만으론 보간에 못 미친다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과거 관측 1개가 전부를 만든다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W=2에서 Tᵢ +0.238 · V_rot +0.206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두 타겟 모두 이후 평탄 (추세 없음)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구간 폭 &lt; seed 산포 0.07~0.16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W&gt;2의 근거는 skill 아닌 커버리지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긴 gap 샘플 채점 수 4~10배 (V_rot)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8756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결론 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W=4는 근거 없이 쓰던 기본값이었고 두 타겟 모두 W=2/3보다 낮다 → 이 곡선으로 W=2를 선택. </a:t>
            </a:r>
            <a:r>
              <a:rPr sz="1250" b="0" i="1">
                <a:solidFill>
                  <a:srgbClr val="5B6670"/>
                </a:solidFill>
                <a:latin typeface="Malgun Gothic"/>
              </a:rPr>
              <a:t>1차 실험의 'V_rot은 긴 window가 필요하다'는 held 오염이 짧은 window를 벌해서 생긴 착시였다.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정직한 결론 (4가지)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1115568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572768"/>
            <a:ext cx="768096" cy="768096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2768"/>
            <a:ext cx="768096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536192"/>
            <a:ext cx="9966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3335F"/>
                </a:solidFill>
                <a:latin typeface="Malgun Gothic"/>
              </a:rPr>
              <a:t>CES_TI: 미래 보간도 유의하게 능가 (관측 모집단 headline)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1947672"/>
            <a:ext cx="99669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genuine skill_vs_pchip +0.18~+0.28, 4개 독립 분할 모두 shot-clustered 95% CI가 0 제외. held 포함/제외 두 평가 모집단 모두에서 생존, 비인접 영역(Δt&gt;15 ms)까지 포함.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24328"/>
            <a:ext cx="1115568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2779776"/>
            <a:ext cx="768096" cy="768096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779776"/>
            <a:ext cx="768096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743200"/>
            <a:ext cx="9966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3335F"/>
                </a:solidFill>
                <a:latin typeface="Malgun Gothic"/>
              </a:rPr>
              <a:t>배치 주장은 인과 우위 — 스트레스 테스트 2종을 생존하는 유일한 주장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154680"/>
            <a:ext cx="99669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 재가중(+0.29, 4/4)과 캠페인 시간 분할(+0.22; V_rot 4/4)을 통과. 오프라인 보간 대비 우위는 어느 쪽도 통과 못함(1/4, 0/4) — 온라인 가상 센서의 경쟁 상대는 persistence다.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831336"/>
            <a:ext cx="1115568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986784"/>
            <a:ext cx="768096" cy="768096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986784"/>
            <a:ext cx="768096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50208"/>
            <a:ext cx="9966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3335F"/>
                </a:solidFill>
                <a:latin typeface="Malgun Gothic"/>
              </a:rPr>
              <a:t>CES_VT: 보간과 동률 (PASS 1/4 = 잡음 수준)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361688"/>
            <a:ext cx="99669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point estimate는 4 seed 모두 +지만 승리 주장 안 함. 단 인과 대안은 캠페인 분할에서도 4/4 유의하게 이김 — 회전은 실패한 타겟이 아니라 의미 있는 비교가 인과뿐인 타겟.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38344"/>
            <a:ext cx="1115568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5193792"/>
            <a:ext cx="768096" cy="768096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193792"/>
            <a:ext cx="768096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157216"/>
            <a:ext cx="9966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3335F"/>
                </a:solidFill>
                <a:latin typeface="Malgun Gothic"/>
              </a:rPr>
              <a:t>Tᵢ ↔ V_rot 비대칭 = 과학적 기여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568696"/>
            <a:ext cx="99669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빠른 진단은 10 ms에서 Tᵢ 정보는 운반하나(fast-only +0.37) V_rot 정보는 거의 없음(fast-only −0.64; NBI 토크 미관측 + Mirnov aliasing 실측). 물리로 예측되고 ablation으로 확인됨.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한계 &amp; 향후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무엇을 주장하지 않는가, 다음은 무엇인가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3657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09728" cy="36576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C0392B"/>
                </a:solidFill>
                <a:latin typeface="Malgun Gothic"/>
              </a:rPr>
              <a:t>한계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011680"/>
            <a:ext cx="507492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검정력: test shot Tᵢ 96 · V_rot 61개(genuine)뿐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모든 유의성 판정의 근본 구속조건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MNAR: 관측 지점 채점은 낙관 상한 → 재가중으로 정량화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인과 우위만 결측 지점에서 생존 (+0.29, 4/4)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캠페인 시간 분할: 오프라인 보간 우위 소멸(0/4) — 원인 측정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커버리지: W=4에서 결측 Tᵢ 54.1% · V_rot 4.8%만 도메인 내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metric 비대칭: 보간은 full-shot 이웃, 모델은 window =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3657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109728" cy="36576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B9E8A"/>
                </a:solidFill>
                <a:latin typeface="Malgun Gothic"/>
              </a:rPr>
              <a:t>향후 연구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011680"/>
            <a:ext cx="507492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① 이력 reach 확장 (슬롯 유지·span 확대) — 커버리지 직접 개선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② 원본 kHz Mirnov window 특징 — V_rot 최대 레버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100 Hz 무필터 데시메이션이 파괴한 정보의 상류 복원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③ NBI 토크 신호 확보 — 회전의 원인 변수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④ 고속 진단 shot별 표준화 — 캠페인 전이 수리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더 많은 test shot · 다중 캠페인 → 검정력 직접 보강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230368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검증된 음성 결과: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Mirnov를 적분·PCHIP적분·|MC|·이동RMS로 재가공해도 학습 성능 개선 없음 (CES_TI 평균 −0.074, 4/4 음수). 재가공이 아니라 미관측 물리량 확보가 레버다.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7. 진행 중인 후속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재프레이밍 실험: 전체 격자 LSTM + 결측은 loss에서만 마스킹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결측 행을 버리지 않고 전 행을 causal LSTM에 넣은 뒤 관측된 값에만 채점 — 4-seed paired vs 최종모델 iter009 (shot-clustered bootstrap).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47088"/>
            <a:ext cx="11201400" cy="47548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938528"/>
            <a:ext cx="12801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seed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938528"/>
            <a:ext cx="4480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paired CES_TI (seq vs iter009)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1938528"/>
            <a:ext cx="4480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paired CES_VT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50592"/>
            <a:ext cx="11201400" cy="6583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615184"/>
            <a:ext cx="1280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2615184"/>
            <a:ext cx="4480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Consolas"/>
              </a:rPr>
              <a:t>+0.078  [-0.010, +0.162]  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n.s.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615184"/>
            <a:ext cx="4480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C0392B"/>
                </a:solidFill>
                <a:latin typeface="Consolas"/>
              </a:rPr>
              <a:t>-0.103  [-0.231, -0.021]   </a:t>
            </a:r>
            <a:r>
              <a:rPr sz="1300" b="1" i="0">
                <a:solidFill>
                  <a:srgbClr val="C0392B"/>
                </a:solidFill>
                <a:latin typeface="Malgun Gothic"/>
              </a:rPr>
              <a:t>유의하게 나쁨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00400"/>
            <a:ext cx="11201400" cy="6583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364992"/>
            <a:ext cx="1280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364992"/>
            <a:ext cx="4480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Consolas"/>
              </a:rPr>
              <a:t>+0.030  [-0.015, +0.086]  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n.s.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3364992"/>
            <a:ext cx="4480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C0392B"/>
                </a:solidFill>
                <a:latin typeface="Consolas"/>
              </a:rPr>
              <a:t>-0.048  [-0.106, -0.003]   </a:t>
            </a:r>
            <a:r>
              <a:rPr sz="1300" b="1" i="0">
                <a:solidFill>
                  <a:srgbClr val="C0392B"/>
                </a:solidFill>
                <a:latin typeface="Malgun Gothic"/>
              </a:rPr>
              <a:t>유의하게 나쁨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950208"/>
            <a:ext cx="11201400" cy="6583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114800"/>
            <a:ext cx="1280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0280" y="4114800"/>
            <a:ext cx="4480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Consolas"/>
              </a:rPr>
              <a:t>+0.011  [-0.038, +0.075]  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n.s.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4114800"/>
            <a:ext cx="4480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Consolas"/>
              </a:rPr>
              <a:t>-0.061  [-0.202, +0.051]  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n.s.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700016"/>
            <a:ext cx="11201400" cy="6583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864608"/>
            <a:ext cx="1280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123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80" y="4864608"/>
            <a:ext cx="4480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Consolas"/>
              </a:rPr>
              <a:t>+0.049  [+0.012, +0.080]   </a:t>
            </a:r>
            <a:r>
              <a:rPr sz="1300" b="1" i="0">
                <a:solidFill>
                  <a:srgbClr val="2E9E5B"/>
                </a:solidFill>
                <a:latin typeface="Malgun Gothic"/>
              </a:rPr>
              <a:t>유의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4864608"/>
            <a:ext cx="4480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222B35"/>
                </a:solidFill>
                <a:latin typeface="Consolas"/>
              </a:rPr>
              <a:t>+0.017  [-0.015, +0.035]  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n.s.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870448"/>
            <a:ext cx="11201400" cy="4754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943600"/>
            <a:ext cx="107899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Tᵢ: 4/4 seed 양수(평균 +0.042) · 자체 PR4 4/4 PASS</a:t>
            </a:r>
            <a:r>
              <a:rPr sz="1300" b="0" i="0">
                <a:solidFill>
                  <a:srgbClr val="5B6670"/>
                </a:solidFill>
                <a:latin typeface="Malgun Gothic"/>
              </a:rPr>
              <a:t>   |  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V_rot 격차는 §8t seq v2에서 해소 — 라우팅을 인코더에서 차단 + held-free + shot별 표준화 → 유의 열세 4/4 → 0/4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한 장 요약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03120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2002536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항상 있는 빠른 진단으로 자주 비는 CES를 채우는 데이터 기반 가상 센서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724912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24328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미래까지 보는 오프라인 보간을 causal 모델로 이기는 — 의도적으로 어려운 bar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346704"/>
            <a:ext cx="256032" cy="2560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4612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CES_TI는 4 seed 모두 보간을 통계적으로 유의하게 능가 (shot-clustered CI)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968496"/>
            <a:ext cx="256032" cy="2560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67912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CES_VT는 동률(n.s.) — 빠른 진단에 회전 정보가 없다는 Tᵢ↔V_rot 비대칭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590288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89704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Malgun Gothic"/>
              </a:rPr>
              <a:t>모델의 가치는 고변동(peak)·급변 구간에 집중 · causal baseline은 압도적 능가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440680"/>
            <a:ext cx="10515600" cy="254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Malgun Gothic"/>
              </a:rPr>
              <a:t>감사합니다.  </a:t>
            </a:r>
            <a:r>
              <a:rPr sz="2200" b="1" i="0">
                <a:solidFill>
                  <a:srgbClr val="E8743B"/>
                </a:solidFill>
                <a:latin typeface="Malgun Gothic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