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00:00–00:30  (30초)</a:t>
            </a:r>
          </a:p>
          <a:p/>
          <a:p>
            <a:r>
              <a:t>"안녕하십니까, 이승상입니다. KSTAR의 빠른 진단으로 CES 결측 구간을 채우는 연구를</a:t>
            </a:r>
          </a:p>
          <a:p>
            <a:r>
              <a:t> 20분간 말씀드리겠습니다."</a:t>
            </a:r>
          </a:p>
          <a:p/>
          <a:p>
            <a:r>
              <a:t>핵심 한 문장(여기서 미리 던지기):</a:t>
            </a:r>
          </a:p>
          <a:p>
            <a:r>
              <a:t>  "느리고 자주 비는 CES를, 항상 측정되는 빠른 진단으로 채울 수 있는지 —</a:t>
            </a:r>
          </a:p>
          <a:p>
            <a:r>
              <a:t>   그것도 미래까지 보는 오프라인 보간을 이길 수 있는지 통계적으로 검증했습니다."</a:t>
            </a:r>
          </a:p>
          <a:p/>
          <a:p>
            <a:r>
              <a:t>※ 용어: forecasting(예보)이 아니라 nowcasting(현재 시점 결측 채우기).</a:t>
            </a:r>
          </a:p>
          <a:p>
            <a:r>
              <a:t>※ 재실험(B.1–B.5) 후 확정 프로토콜 기준 수치다. 옛 W=4 발표 수치는 전부 폐기.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00:30–01:20  (50초)</a:t>
            </a:r>
          </a:p>
          <a:p/>
          <a:p>
            <a:r>
              <a:t>이 슬라이드가 발표 전체의 요약입니다. 결론을 먼저 다 말하고 들어갑니다.</a:t>
            </a:r>
          </a:p>
          <a:p/>
          <a:p>
            <a:r>
              <a:t>"결론부터 말씀드리면 세 가지입니다.</a:t>
            </a:r>
          </a:p>
          <a:p>
            <a:r>
              <a:t> (1) 빠른 진단은 이온온도 정보를 실제로 운반합니다. 과거만 보는 저희 모델이,</a:t>
            </a:r>
          </a:p>
          <a:p>
            <a:r>
              <a:t>     미래까지 다 보는 오프라인 보간을 Tᵢ에서 유의하게 이겼습니다. 데이터 처리</a:t>
            </a:r>
          </a:p>
          <a:p>
            <a:r>
              <a:t>     방식을 둘로 나눠 검증했는데(스파이크 컷/포함), 양쪽 4개 분할 전부 통과입니다.</a:t>
            </a:r>
          </a:p>
          <a:p>
            <a:r>
              <a:t> (2) 회전 속도는 전역적으로 동률입니다. 실패가 아니라 물리적으로 예측된 비대칭이고,</a:t>
            </a:r>
          </a:p>
          <a:p>
            <a:r>
              <a:t>     저는 이걸 이 연구의 과학적 발견으로 봅니다.</a:t>
            </a:r>
          </a:p>
          <a:p>
            <a:r>
              <a:t> (3) 그리고 성능 상한을 정하는 건 모델이 아니라 데이터입니다. 2만 파라미터 모델이</a:t>
            </a:r>
          </a:p>
          <a:p>
            <a:r>
              <a:t>     35만 파라미터 백본과 같고, 폭을 26배 키워도 평평합니다."</a:t>
            </a:r>
          </a:p>
          <a:p/>
          <a:p>
            <a:r>
              <a:t>※ 시간이 밀리면 이 슬라이드를 30초로 줄이고 뒤에서 회수.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01:20–02:20  (60초)</a:t>
            </a:r>
          </a:p>
          <a:p/>
          <a:p>
            <a:r>
              <a:t>"CES는 이온온도와 토로이달 회전이라는, pedestal 물리에서 가장 중요한 두 양을 줍니다.</a:t>
            </a:r>
          </a:p>
          <a:p>
            <a:r>
              <a:t> 그런데 충분한 신호대잡음비를 얻으려면 광자를 오래 모아야 해서 느리고, 자주 빕니다.</a:t>
            </a:r>
          </a:p>
          <a:p>
            <a:r>
              <a:t> 같은 10 ms 격자에서 Tᵢ는 8.2%, 회전은 23.9%가 값 자체가 비어 있습니다.</a:t>
            </a:r>
          </a:p>
          <a:p>
            <a:r>
              <a:t> 회전은 여기서 끝이 아닙니다. 값이 채워진 행 중에서도 54%가 직전 값을 그대로 복사한</a:t>
            </a:r>
          </a:p>
          <a:p>
            <a:r>
              <a:t> held 값입니다 — 진짜 측정이 아닙니다. NaN과 held를 합치면 회전은 전체 행의 65%가</a:t>
            </a:r>
          </a:p>
          <a:p>
            <a:r>
              <a:t> 실질적으로 정보가 없습니다. Tᵢ의 held는 22만 6천 행 중 단 1행, 사실상 0%입니다.</a:t>
            </a:r>
          </a:p>
          <a:p>
            <a:r>
              <a:t> 그리고 두 타겟은 서로 독립적으로 빕니다 — 한쪽만 관측된 행이 많다는 뜻입니다.</a:t>
            </a:r>
          </a:p>
          <a:p/>
          <a:p>
            <a:r>
              <a:t> 반대로 BES, ECEI, Mirnov 같은 빠른 진단은 같은 격자에서 100% 다 있습니다.</a:t>
            </a:r>
          </a:p>
          <a:p>
            <a:r>
              <a:t> 그래서 질문은 자연스럽습니다: 항상 있는 것으로 자주 비는 것을 채울 수 있는가.</a:t>
            </a:r>
          </a:p>
          <a:p>
            <a:r>
              <a:t> 정확히는, CES 자신의 시간 보간이 복원할 수 없는 정보를 회복할 수 있는가입니다."</a:t>
            </a:r>
          </a:p>
          <a:p/>
          <a:p>
            <a:r>
              <a:t>물리적 연결고리 (질문 대비):</a:t>
            </a:r>
          </a:p>
          <a:p>
            <a:r>
              <a:t>  · ECEI(Tₑ) + BES(nₑ) → 충돌 e–i 결합을 통해 Tᵢ와 물리적으로 연결</a:t>
            </a:r>
          </a:p>
          <a:p>
            <a:r>
              <a:t>  · 회전은 주로 NBI 토크가 구동 → 그 토크가 데이터에 없음 = 근본적 정보 부재</a:t>
            </a:r>
          </a:p>
          <a:p>
            <a:r>
              <a:t>※ 결측이 무작위가 아니라는 점(MNAR)은 여기서 한 번 심어두고, 결과 ④에서 정량화한다.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02:20–03:00  (40초)</a:t>
            </a:r>
          </a:p>
          <a:p/>
          <a:p>
            <a:r>
              <a:t>"결측을 퍼센트가 아니라 전수 집계로 보여드립니다. 641 shot, 24만 7천 행 전부입니다.</a:t>
            </a:r>
          </a:p>
          <a:p/>
          <a:p>
            <a:r>
              <a:t> 위 두 줄이 핵심입니다. 값이 비어 있는 NaN은 Tᵢ 8.2%, 회전 23.9%입니다.</a:t>
            </a:r>
          </a:p>
          <a:p>
            <a:r>
              <a:t> 그런데 그 아래, 직전 관측값과 비트 단위로 똑같은 held 행이 회전은 41.1%입니다.</a:t>
            </a:r>
          </a:p>
          <a:p>
            <a:r>
              <a:t> 심하면 1,214행이 연속으로 같은 값입니다. 회전 진단의 실제 측정 주기가 행 주기보다</a:t>
            </a:r>
          </a:p>
          <a:p>
            <a:r>
              <a:t> 느려서 값이 carry-forward된 겁니다 — 독립적인 측정이 아닙니다.</a:t>
            </a:r>
          </a:p>
          <a:p>
            <a:r>
              <a:t> 둘을 합치면 회전은 65%가 실질 무정보이고, 진짜 정보가 있는 행은 35%뿐입니다.</a:t>
            </a:r>
          </a:p>
          <a:p>
            <a:r>
              <a:t> Tᵢ는 held가 22만 6,991행 중 1행이라 사실상 무관합니다.</a:t>
            </a:r>
          </a:p>
          <a:p/>
          <a:p>
            <a:r>
              <a:t> 왜 중요하냐면, held 행은 persistence나 보간이 오차 거의 0으로 맞히는 '공짜 정답'입니다.</a:t>
            </a:r>
          </a:p>
          <a:p>
            <a:r>
              <a:t> 그래서 확정 프로토콜에서는 학습 타겟에서도, 이력 입력에서도, 정규화 통계에서도,</a:t>
            </a:r>
          </a:p>
          <a:p>
            <a:r>
              <a:t> 모든 기준선의 보간 앵커에서도 전부 뺐습니다. 진짜 측정만 채점합니다."</a:t>
            </a:r>
          </a:p>
          <a:p/>
          <a:p>
            <a:r>
              <a:t>※ 이 슬라이드는 신뢰를 크게 얻는 지점 — 방어적으로 말하지 말고 "찾아서 고쳤다"는 톤으로.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03:00–03:45  (45초)</a:t>
            </a:r>
          </a:p>
          <a:p/>
          <a:p>
            <a:r>
              <a:t>"두 번째 감사입니다. 관측된 Tᵢ의 p99가 2,089 eV인데 최댓값은 14,984 eV입니다.</a:t>
            </a:r>
          </a:p>
          <a:p>
            <a:r>
              <a:t> 이 먼 꼬리는 플라즈마가 아니라 실패한 스펙트럼 피팅입니다. 3 keV를 넘는 행이</a:t>
            </a:r>
          </a:p>
          <a:p>
            <a:r>
              <a:t> 1,197행, 0.53%인데, 85%가 단일 행이고 정점이 이웃 평균의 13배입니다.</a:t>
            </a:r>
          </a:p>
          <a:p>
            <a:r>
              <a:t> 어떤 방법으로도 예측할 수 없고, 보간의 앵커를 오염시킵니다.</a:t>
            </a:r>
          </a:p>
          <a:p/>
          <a:p>
            <a:r>
              <a:t> 여기서 정직한 문제가 생깁니다. 빼면 '어려운 행을 없앴다'는 비판을 받고,</a:t>
            </a:r>
          </a:p>
          <a:p>
            <a:r>
              <a:t> 두면 스파이크 앵커가 오프라인 기준선에 핸디캡을 줍니다. 어느 쪽도 안전하지 않습니다.</a:t>
            </a:r>
          </a:p>
          <a:p>
            <a:r>
              <a:t> 그래서 두 대응을 모두 공동 1차 모집단으로 사전등록했습니다 — 컷과 포함.</a:t>
            </a:r>
          </a:p>
          <a:p>
            <a:r>
              <a:t> 규칙은 하나입니다: 무조건부 주장은 두 모집단 모두에서 성립할 때만 한다.</a:t>
            </a:r>
          </a:p>
          <a:p>
            <a:r>
              <a:t> 문턱이 자의적이라는 지적도 검사했는데, 2.5·3·4 keV 전부 결과가 같습니다."</a:t>
            </a:r>
          </a:p>
          <a:p/>
          <a:p>
            <a:r>
              <a:t>※ 질문 대비: 값 컷은 일방향 프록시다 — 하향 dip 4,965행은 손대지 않았고, 상향 이상치의</a:t>
            </a:r>
          </a:p>
          <a:p>
            <a:r>
              <a:t>   19%만 제거된다. 회전 스파이크는 컷하지 않고 SSE 비중을 병기한다.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03:45–05:00  (75초)  ★ 이 발표에서 가장 중요한 슬라이드</a:t>
            </a:r>
          </a:p>
          <a:p/>
          <a:p>
            <a:r>
              <a:t>"평가 기준선을 어떻게 잡았는지가 이 연구의 핵심입니다.</a:t>
            </a:r>
          </a:p>
          <a:p/>
          <a:p>
            <a:r>
              <a:t> 흔한 방식은 persistence, 즉 직전 값 유지와 비교하는 겁니다. 그건 너무 쉽습니다.</a:t>
            </a:r>
          </a:p>
          <a:p>
            <a:r>
              <a:t> 그래서 일부러 훨씬 어려운 상대를 골랐습니다 — CES만 쓰는 오프라인 보간,</a:t>
            </a:r>
          </a:p>
          <a:p>
            <a:r>
              <a:t> 선형·PCHIP·국소 AR·GP입니다.</a:t>
            </a:r>
          </a:p>
          <a:p/>
          <a:p>
            <a:r>
              <a:t> 여기서 정보 비대칭을 보십시오. 오른쪽 보간은 맞히려는 시점의 과거와 미래 CES를</a:t>
            </a:r>
          </a:p>
          <a:p>
            <a:r>
              <a:t> 모두 씁니다. 반면 저희 모델은 그 시점까지의 빠른 진단과 세그먼트 과거 이력만 쓰고</a:t>
            </a:r>
          </a:p>
          <a:p>
            <a:r>
              <a:t> 미래는 전혀 보지 않습니다. 엄격히 causal입니다.</a:t>
            </a:r>
          </a:p>
          <a:p>
            <a:r>
              <a:t> 그래서 미래를 보는 보간을 과거만 보는 모델이 이긴다면, 그건 운이 아니라 빠른 진단이</a:t>
            </a:r>
          </a:p>
          <a:p>
            <a:r>
              <a:t> 시간 보간으로는 얻을 수 없는 CES 정보를 실제로 운반한다는 강력한 증거가 됩니다.</a:t>
            </a:r>
          </a:p>
          <a:p/>
          <a:p>
            <a:r>
              <a:t> 이번 개정에서 팔을 하나 더 넣었습니다 — 인과 GP입니다. 같은 GP를 과거 이웃 16개로만</a:t>
            </a:r>
          </a:p>
          <a:p>
            <a:r>
              <a:t> 제한한 건데, 실제로 배치할 수 있는 방법 중 가장 강한 경쟁자입니다. persistence는</a:t>
            </a:r>
          </a:p>
          <a:p>
            <a:r>
              <a:t> 이기기 쉬우니까, '배치 가능한 모든 인과 방법을 이긴다'는 주장을 persistence가 아니라</a:t>
            </a:r>
          </a:p>
          <a:p>
            <a:r>
              <a:t> 이 인과 GP로 판정합니다."</a:t>
            </a:r>
          </a:p>
          <a:p/>
          <a:p>
            <a:r>
              <a:t>※ 청중이 "왜 굳이 불리하게?"라고 생각할 수 있으니 마지막 두 문장을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05:00–05:50  (50초)</a:t>
            </a:r>
          </a:p>
          <a:p/>
          <a:p>
            <a:r>
              <a:t>"데이터는 641개 방전, 10 ms 격자로 24만 7천 행입니다. 파일 하나는 대개 3초짜리</a:t>
            </a:r>
          </a:p>
          <a:p>
            <a:r>
              <a:t> 측정 세그먼트 하나이고, 모델도 보간도 그 경계를 넘지 않습니다 — 정보 조건을</a:t>
            </a:r>
          </a:p>
          <a:p>
            <a:r>
              <a:t> 양쪽에 똑같이 맞춘 겁니다.</a:t>
            </a:r>
          </a:p>
          <a:p/>
          <a:p>
            <a:r>
              <a:t> 데이터 계약은 네 가지입니다.</a:t>
            </a:r>
          </a:p>
          <a:p>
            <a:r>
              <a:t> 첫째, 가짜 라벨을 만들지 않았습니다. 결측을 보간으로 메워 학습에 쓰면</a:t>
            </a:r>
          </a:p>
          <a:p>
            <a:r>
              <a:t> '보간을 이기는가'라는 질문 자체가 무의미해집니다.</a:t>
            </a:r>
          </a:p>
          <a:p>
            <a:r>
              <a:t> 둘째, 두 타겟이 독립적으로 비기 때문에 손실을 타겟별로 마스킹했습니다.</a:t>
            </a:r>
          </a:p>
          <a:p>
            <a:r>
              <a:t> 이걸 안 하면 한쪽만 관측된 행 — 라벨의 약 28% — 을 통째로 버리게 됩니다.</a:t>
            </a:r>
          </a:p>
          <a:p>
            <a:r>
              <a:t> 셋째, 누수를 세 곳에서 막았습니다. 행이 아니라 shot 파일 단위 분할, 학습 파일</a:t>
            </a:r>
          </a:p>
          <a:p>
            <a:r>
              <a:t> 전용 정규화, 그리고 맞히려는 시점의 값과 관측 플래그를 입력에서 완전히 지우는 것.</a:t>
            </a:r>
          </a:p>
          <a:p>
            <a:r>
              <a:t> 넷째, held 값을 전부 뺐습니다. 지도 타겟에서도, 이력 입력에서도, 정규화 통계에서도,</a:t>
            </a:r>
          </a:p>
          <a:p>
            <a:r>
              <a:t> 그리고 모든 기준선의 보간 앵커에서도요. 대가가 있습니다 — 회전의 채점 행 40~44%는</a:t>
            </a:r>
          </a:p>
          <a:p>
            <a:r>
              <a:t> 미래 이웃이 없어서 보간이 persistence로 후퇴합니다. 그 폴백률까지 사전등록으로</a:t>
            </a:r>
          </a:p>
          <a:p>
            <a:r>
              <a:t> 보고하게 해뒀습니다."</a:t>
            </a:r>
          </a:p>
          <a:p/>
          <a:p>
            <a:r>
              <a:t>※ 질문 대비: TEST는 아키텍처 탐색 시작 전에 예약했고 선택 중엔 열지 않았다.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05:50–06:35  (45초)</a:t>
            </a:r>
          </a:p>
          <a:p/>
          <a:p>
            <a:r>
              <a:t>"학습 예제를 만드는 방식이 두 가지입니다. 이 대조가 결과 ③의 핵심입니다.</a:t>
            </a:r>
          </a:p>
          <a:p/>
          <a:p>
            <a:r>
              <a:t> 하나는 윈도 프레이밍입니다. 맞히려는 시점 앞 두 행을 잘라서 텐서로 만듭니다.</a:t>
            </a:r>
          </a:p>
          <a:p>
            <a:r>
              <a:t> 이게 옛 주 모델의 방식이고 지금은 대조군입니다.</a:t>
            </a:r>
          </a:p>
          <a:p>
            <a:r>
              <a:t> 다른 하나는 전체 격자 시퀀스입니다. 세그먼트 안에서 입력이 온전한 행은 라벨이</a:t>
            </a:r>
          </a:p>
          <a:p>
            <a:r>
              <a:t> 없어도 전부 맥락으로 유지하고, 희소성은 loss 마스킹으로 처리합니다.</a:t>
            </a:r>
          </a:p>
          <a:p/>
          <a:p>
            <a:r>
              <a:t> 결정적 차이는 도달거리입니다. 윈도는 과거 관측 W-1개만 보고, 시퀀스는 세그먼트</a:t>
            </a:r>
          </a:p>
          <a:p>
            <a:r>
              <a:t> 전체를 봅니다. 그리고 시퀀스에서는 W가 더 이상 하이퍼파라미터가 아닙니다."</a:t>
            </a:r>
          </a:p>
          <a:p/>
          <a:p>
            <a:r>
              <a:t>※ 질문 대비: 윈도의 시간 특징 4채널(lookback·간격·각 log1p)은 불규칙한 관측 간격을</a:t>
            </a:r>
          </a:p>
          <a:p>
            <a:r>
              <a:t>   명시적으로 노출하기 위한 것. 과거 값의 신뢰도는 10 ms 전인지 200 ms 전인지에 달렸다.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06:35–07:35  (60초)</a:t>
            </a:r>
          </a:p>
          <a:p/>
          <a:p>
            <a:r>
              <a:t>"주 모델입니다. 22채널 격자 시퀀스 위에 독립적인 인과 LSTM 두 개를 얹었습니다.</a:t>
            </a:r>
          </a:p>
          <a:p/>
          <a:p>
            <a:r>
              <a:t> 위쪽 Tᵢ 분기는 2층 160으로 전체 상태를 다 읽습니다 — 빠른 진단, 두 타겟의 이월값,</a:t>
            </a:r>
          </a:p>
          <a:p>
            <a:r>
              <a:t> 신선도, 시간 간격까지요.</a:t>
            </a:r>
          </a:p>
          <a:p>
            <a:r>
              <a:t> 아래쪽 V_rot 분기는 1층 64이고, 빠른 진단이 아닌 7채널만 읽습니다.</a:t>
            </a:r>
          </a:p>
          <a:p>
            <a:r>
              <a:t> 여기가 중요합니다. 라우팅을 head가 아니라 인코더에서 했습니다. 순환 상태를 공유하면</a:t>
            </a:r>
          </a:p>
          <a:p>
            <a:r>
              <a:t> head를 어떻게 배선해도 빠른 진단 정보가 회전 쪽으로 샙니다. 분기 자체를 분리했기</a:t>
            </a:r>
          </a:p>
          <a:p>
            <a:r>
              <a:t> 때문에, 빠른 채널 15개를 전부 섭동해도 회전 출력이 비트 단위로 동일합니다.</a:t>
            </a:r>
          </a:p>
          <a:p>
            <a:r>
              <a:t> 이게 뒤에서 나오는 비대칭 결론을 구조적으로 보증합니다.</a:t>
            </a:r>
          </a:p>
          <a:p/>
          <a:p>
            <a:r>
              <a:t> 희소성은 loss가 처리합니다 — 세그먼트의 라벨 있는 모든 행에 대한 타겟별 masked MSE.</a:t>
            </a:r>
          </a:p>
          <a:p>
            <a:r>
              <a:t> 전체 35만 7천 파라미터이고, 학습은 AdamW에 조기 종료로 14~25 에폭에서 끝납니다."</a:t>
            </a:r>
          </a:p>
          <a:p/>
          <a:p>
            <a:r>
              <a:t>※ 질문 대비: 라벨 없는 행을 왜 남기나? → 빠른 진단은 그 행에서도 조밀하게 관측된다.</a:t>
            </a:r>
          </a:p>
          <a:p>
            <a:r>
              <a:t>   버리면 인과 문맥이 끊긴다.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07:35–08:10  (35초)</a:t>
            </a:r>
          </a:p>
          <a:p/>
          <a:p>
            <a:r>
              <a:t>"짝지은 대조군이 옛 주 모델입니다. 진단별 시간 인지 1D CNN에 양방향 GRU 이력</a:t>
            </a:r>
          </a:p>
          <a:p>
            <a:r>
              <a:t> 인코더, 그 위에 관측 마스킹 attention pooling을 얹은 20만 파라미터 모델입니다.</a:t>
            </a:r>
          </a:p>
          <a:p>
            <a:r>
              <a:t> attention이 해당 타겟이 실제 관측된 행에만 질량을 허용합니다 — 보간의 귀납 편향을</a:t>
            </a:r>
          </a:p>
          <a:p>
            <a:r>
              <a:t> 파라미터 0개로 이식한 겁니다. 이 구조는 40여 회 keep/discard 통제 실험의 산물입니다.</a:t>
            </a:r>
          </a:p>
          <a:p/>
          <a:p>
            <a:r>
              <a:t> 지금 이 모델의 역할은 셋입니다. 백본 관문의 비교 대상, 절제 실험의 무대,</a:t>
            </a:r>
          </a:p>
          <a:p>
            <a:r>
              <a:t> 그리고 캠페인 붕괴의 재현자입니다. 데이터 계약·held 처리·분할·채점 모집단이</a:t>
            </a:r>
          </a:p>
          <a:p>
            <a:r>
              <a:t> 백본과 완전히 같아서 행 단위로 짝지어 비교할 수 있습니다."</a:t>
            </a:r>
          </a:p>
          <a:p/>
          <a:p>
            <a:r>
              <a:t>※ 시간이 밀리면 30초로 줄이고 "옛 주 모델이 지금은 대조군"만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08:10–09:00  (50초)  ★ 통계 질문이 나오는 구간 — 여기서 신뢰를 확보</a:t>
            </a:r>
          </a:p>
          <a:p/>
          <a:p>
            <a:r>
              <a:t>"결과를 보여드리기 전에, 이 숫자를 믿어도 되는 이유를 말씀드립니다.</a:t>
            </a:r>
          </a:p>
          <a:p/>
          <a:p>
            <a:r>
              <a:t> 왼쪽이 TEST 동결입니다. test 방전은 아키텍처 탐색을 시작하기 전에 떼어놓고</a:t>
            </a:r>
          </a:p>
          <a:p>
            <a:r>
              <a:t> 선택이 끝날 때까지 한 번도 열지 않았습니다. 모델 선택은 전부 val에서만 했습니다.</a:t>
            </a:r>
          </a:p>
          <a:p>
            <a:r>
              <a:t> 그래서 헤드라인 숫자에 winner's curse가 없습니다.</a:t>
            </a:r>
          </a:p>
          <a:p/>
          <a:p>
            <a:r>
              <a:t> 오른쪽이 사전등록입니다. 결과를 보기 전에 문서로 못박은 것들입니다.</a:t>
            </a:r>
          </a:p>
          <a:p>
            <a:r>
              <a:t> 비교 상대는 PCHIP으로 확정, 보간이 예측 못 하는 지점은 persistence로 채점하되</a:t>
            </a:r>
          </a:p>
          <a:p>
            <a:r>
              <a:t> 폴백률을 반드시 보고, test 최소 규모, 그리고 '이겼다'는 신뢰구간이 0을 제외할 때만.</a:t>
            </a:r>
          </a:p>
          <a:p>
            <a:r>
              <a:t> 여기에 이번 개정에서 held-free, W=2, 파일당 500, 두 모집단, TEST 채점 전 결정 규칙</a:t>
            </a:r>
          </a:p>
          <a:p>
            <a:r>
              <a:t> 커밋이 추가됐습니다.</a:t>
            </a:r>
          </a:p>
          <a:p/>
          <a:p>
            <a:r>
              <a:t> 아래가 기준선 사다리입니다. 위 세 개가 인과, 아래 세 개가 미래를 보는 오프라인입니다.</a:t>
            </a:r>
          </a:p>
          <a:p>
            <a:r>
              <a:t> 인과 GP가 배치 가능한 최강 상대입니다."</a:t>
            </a:r>
          </a:p>
          <a:p/>
          <a:p>
            <a:r>
              <a:t>※ 예상 질문 "왜 PCHIP인가?" → 단조성을 보존해 overshoot이 적은 보수적(=강한) 기준선이고,</a:t>
            </a:r>
          </a:p>
          <a:p>
            <a:r>
              <a:t>   타겟 양쪽의 과거+미래를 다 본다. 즉 우리에게 불리하게 설계된 기준선.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09:00–09:50  (50초)</a:t>
            </a:r>
          </a:p>
          <a:p/>
          <a:p>
            <a:r>
              <a:t>"신뢰구간을 행이 아니라 방전 단위로 계산했습니다. 한 방전 안의 10 ms 간격 측정들은</a:t>
            </a:r>
          </a:p>
          <a:p>
            <a:r>
              <a:t> 거의 복사본입니다. 그걸 3만 개의 독립 증거처럼 세면 확신이 과장됩니다. 그래서</a:t>
            </a:r>
          </a:p>
          <a:p>
            <a:r>
              <a:t> 짝지은 오차를 shot으로 묶고, shot을 통째로 만 번 재추출했습니다. 우리에게 불리한</a:t>
            </a:r>
          </a:p>
          <a:p>
            <a:r>
              <a:t> 계산이지만 '새로운 방전에서도 이길까'라는 진짜 질문에 답하는 방식입니다.</a:t>
            </a:r>
          </a:p>
          <a:p>
            <a:r>
              <a:t> 그래서 검정력의 상한은 샘플 수가 아니라 방전 수입니다 — Tᵢ 96개, 회전 60~66개.</a:t>
            </a:r>
          </a:p>
          <a:p/>
          <a:p>
            <a:r>
              <a:t> 오른쪽 아래가 두 모집단입니다. Tᵢ 관측값의 0.53%가 3 keV를 넘는데, 이건 플라즈마가</a:t>
            </a:r>
          </a:p>
          <a:p>
            <a:r>
              <a:t> 아니라 실패한 스펙트럼 피팅입니다. 빼면 '어려운 행을 없앴다', 두면 '스파이크가</a:t>
            </a:r>
          </a:p>
          <a:p>
            <a:r>
              <a:t> 보간 앵커를 오염시킨다' — 어느 쪽도 비판을 피할 수 없어서 둘 다 공동 1차로 사전등록했고,</a:t>
            </a:r>
          </a:p>
          <a:p>
            <a:r>
              <a:t> 무조건부 주장은 양쪽에서 성립할 때만 합니다.</a:t>
            </a:r>
          </a:p>
          <a:p/>
          <a:p>
            <a:r>
              <a:t> 아래는 모델 선택입니다. 백본을 바꾸는 관문의 네 조건을 먼저 못박고 그다음 충족시켰고,</a:t>
            </a:r>
          </a:p>
          <a:p>
            <a:r>
              <a:t> 그 뒤 유일한 아키텍처 후보는 4개 분할 전부 양수였는데도 유의가 1개뿐이라 승격하지</a:t>
            </a:r>
          </a:p>
          <a:p>
            <a:r>
              <a:t> 않았습니다. val에서는 2/2 유의였다는 게, 승격 기준을 TEST에 두는 이유입니다."</a:t>
            </a:r>
          </a:p>
          <a:p/>
          <a:p>
            <a:r>
              <a:t>※ 시간이 밀리면 아래 밴드(모델 선택)만 한 줄로 요약하고 넘어갈 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09:50–10:30  (40초)</a:t>
            </a:r>
          </a:p>
          <a:p/>
          <a:p>
            <a:r>
              <a:t>"먼저 가장 단순한 결과입니다. RMSE 사다리이고, 낮을수록 좋습니다.</a:t>
            </a:r>
          </a:p>
          <a:p/>
          <a:p>
            <a:r>
              <a:t> 두 타겟 모두 백본이 맨 아래, 즉 오차가 가장 작습니다. persistence나 국소 AR 같은</a:t>
            </a:r>
          </a:p>
          <a:p>
            <a:r>
              <a:t> 인과 기준선은 큰 마진으로 이깁니다. 그리고 배치 가능한 최강 상대인 인과 GP보다도</a:t>
            </a:r>
          </a:p>
          <a:p>
            <a:r>
              <a:t> Tᵢ는 4%, 회전은 18% 낮습니다.</a:t>
            </a:r>
          </a:p>
          <a:p>
            <a:r>
              <a:t> 미래까지 보는 오프라인 GP와는 153.8 대 157.8로 사실상 동률입니다 — 이게 오프라인</a:t>
            </a:r>
          </a:p>
          <a:p>
            <a:r>
              <a:t> 주장의 상한이고, 저희는 이걸 숨기지 않고 같이 보고합니다.</a:t>
            </a:r>
          </a:p>
          <a:p/>
          <a:p>
            <a:r>
              <a:t> 포함 모집단에서는 스파이크 때문에 Tᵢ RMSE가 두 배 이상 커지지만 순서는 그대로입니다."</a:t>
            </a:r>
          </a:p>
          <a:p/>
          <a:p>
            <a:r>
              <a:t>※ 다음 슬라이드로 넘기는 말: "point estimate가 앞선다고 이겼다고 말하면 안 됩니다.</a:t>
            </a:r>
          </a:p>
          <a:p>
            <a:r>
              <a:t>   그래서 신뢰구간을 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10:30–11:40  (70초)  ★ 헤드라인 결과</a:t>
            </a:r>
          </a:p>
          <a:p/>
          <a:p>
            <a:r>
              <a:t>"이게 헤드라인입니다. forest plot이고 가로축이 PCHIP 대비 skill입니다.</a:t>
            </a:r>
          </a:p>
          <a:p>
            <a:r>
              <a:t> 점이 추정치, 가로 막대가 shot 군집 95% 신뢰구간입니다. 막대가 0선을 넘지 않으면</a:t>
            </a:r>
          </a:p>
          <a:p>
            <a:r>
              <a:t> 통계적으로 유의하게 이긴 겁니다.</a:t>
            </a:r>
          </a:p>
          <a:p/>
          <a:p>
            <a:r>
              <a:t> 위쪽 Tᵢ를 보시면, 4개의 독립 분할 전부에서 신뢰구간이 0을 제외합니다.</a:t>
            </a:r>
          </a:p>
          <a:p>
            <a:r>
              <a:t> 컷 모집단에서 +0.17에서 +0.26, 포함 모집단에서 +0.23에서 +0.32 — 4/4에 4/4입니다.</a:t>
            </a:r>
          </a:p>
          <a:p>
            <a:r>
              <a:t> 데이터 처리 방식에 관계없이 성립한다는 뜻이고, 그래서 이건 무조건부 주장입니다.</a:t>
            </a:r>
          </a:p>
          <a:p>
            <a:r>
              <a:t> 8개 셀 전부에서 인과 GP와 persistence도 이깁니다.</a:t>
            </a:r>
          </a:p>
          <a:p/>
          <a:p>
            <a:r>
              <a:t> 아래쪽 회전은 다릅니다. 점추정은 8개 셀 전부 양수지만, 유의는 컷 1개, 포함 2개뿐입니다.</a:t>
            </a:r>
          </a:p>
          <a:p>
            <a:r>
              <a:t> 4개 중 1~2개는 잡음이 만들 수 있는 수준이라 저는 이걸 '이겼다'고 쓰지 않고 동률로</a:t>
            </a:r>
          </a:p>
          <a:p>
            <a:r>
              <a:t> 보고합니다.</a:t>
            </a:r>
          </a:p>
          <a:p/>
          <a:p>
            <a:r>
              <a:t> 한 가지 더 정직하게 말씀드리면, 포함 모집단 수치가 더 높아 보이는 건 모델이 더 잘해서가</a:t>
            </a:r>
          </a:p>
          <a:p>
            <a:r>
              <a:t> 아니라 스파이크가 보간 앵커를 오염시켜 모든 arm이 좋아 보이기 때문입니다.</a:t>
            </a:r>
          </a:p>
          <a:p>
            <a:r>
              <a:t> 그 성분을 결과 ⑥에서 분해합니다."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11:40–12:30  (50초)</a:t>
            </a:r>
          </a:p>
          <a:p/>
          <a:p>
            <a:r>
              <a:t>"주 모델을 왜 바꿨는지가 이 슬라이드입니다. 백본 관문입니다.</a:t>
            </a:r>
          </a:p>
          <a:p/>
          <a:p>
            <a:r>
              <a:t> 조건 네 개를 먼저 못박았습니다 — 4개 분할 전부 부호 유지, 통합 신뢰구간이 0 제외,</a:t>
            </a:r>
          </a:p>
          <a:p>
            <a:r>
              <a:t> 예산을 균등하게 맞춰도 부호 유지, 그리고 회전에 손해가 없을 것.</a:t>
            </a:r>
          </a:p>
          <a:p>
            <a:r>
              <a:t> 분할 4개 × 초기화 4개, 총 16번 학습해서 각 run을 자기 분할의 윈도 대조군과 짝지었습니다.</a:t>
            </a:r>
          </a:p>
          <a:p>
            <a:r>
              <a:t> Tᵢ는 16/16 전부 양수, 13개가 유의합니다. 통합하면 +0.081이고 신뢰구간이 +0.067에서</a:t>
            </a:r>
          </a:p>
          <a:p>
            <a:r>
              <a:t> +0.096입니다. 학습 예산을 고정해도 4개 분할 부호가 유지되고, 회전은 유의한 열세가</a:t>
            </a:r>
          </a:p>
          <a:p>
            <a:r>
              <a:t> 하나도 없습니다.</a:t>
            </a:r>
          </a:p>
          <a:p/>
          <a:p>
            <a:r>
              <a:t> 무엇을 산 건가. 윈도 대조군은 인과 GP와 동률(1/4)인데 시퀀스 백본은 4/4에 4/4입니다.</a:t>
            </a:r>
          </a:p>
          <a:p>
            <a:r>
              <a:t> 세그먼트 과거 전체로의 도달거리가 최강 배치 기준선을 이기게 만든 겁니다.</a:t>
            </a:r>
          </a:p>
          <a:p>
            <a:r>
              <a:t> 그리고 비용은 오히려 음수입니다 — 윈도 조립과 조합 증강이 없어서 학습비가 1/10입니다."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12:30–13:40  (70초)  ★ 배치 주장을 가르는 슬라이드</a:t>
            </a:r>
          </a:p>
          <a:p/>
          <a:p>
            <a:r>
              <a:t>"관측된 지점에서만 채점하면 낙관적입니다 — 결측은 하필 어려운 순간에 몰리니까요.</a:t>
            </a:r>
          </a:p>
          <a:p>
            <a:r>
              <a:t> 그래서 결측 행의 층 분포로 채점 지점을 재가중했습니다. 왼쪽입니다.</a:t>
            </a:r>
          </a:p>
          <a:p>
            <a:r>
              <a:t> 온라인 시스템이 실제로 경쟁하는 상대인 persistence 대비로는 두 모집단 4개 분할 전부</a:t>
            </a:r>
          </a:p>
          <a:p>
            <a:r>
              <a:t> 살아남습니다. 오프라인 보간 대비로는 점추정은 유지되지만 컷 모집단에서 2개 분할의</a:t>
            </a:r>
          </a:p>
          <a:p>
            <a:r>
              <a:t> 신뢰구간이 0을 지납니다 — 그래서 모집단 조건부라고 정직하게 씁니다.</a:t>
            </a:r>
          </a:p>
          <a:p>
            <a:r>
              <a:t> 한 가지 한계는 명확히 말씀드립니다. 재가중이 도달하는 범위가 Tᵢ는 결측의 54~68%인데</a:t>
            </a:r>
          </a:p>
          <a:p>
            <a:r>
              <a:t> 회전은 4~6%뿐입니다. 그래서 재가중 회전은 결론을 내지 않습니다.</a:t>
            </a:r>
          </a:p>
          <a:p/>
          <a:p>
            <a:r>
              <a:t> 오른쪽은 시간 분할입니다. 방전 번호로 잘라서 과거로 학습하고 미래를 맞힙니다.</a:t>
            </a:r>
          </a:p>
          <a:p>
            <a:r>
              <a:t> 옛 윈도 모델은 여기서 오프라인 우위를 완전히 잃었습니다 — 컷 2/4, 포함 0/4.</a:t>
            </a:r>
          </a:p>
          <a:p>
            <a:r>
              <a:t> 그런데 시퀀스 백본은 4/4에 4/4로 버팁니다. 원인은 추측이 아니라 측정했습니다:</a:t>
            </a:r>
          </a:p>
          <a:p>
            <a:r>
              <a:t> 빠른 진단의 드리프트가 1.22σ인데 타겟은 0.115σ입니다. 학습 파일 전용 정규화가</a:t>
            </a:r>
          </a:p>
          <a:p>
            <a:r>
              <a:t> 무작위 분할에선 옳지만 캠페인 이동에서 깨지는 겁니다. 백본은 정의상 shot별</a:t>
            </a:r>
          </a:p>
          <a:p>
            <a:r>
              <a:t> 표준화를 하기 때문에 그 함정을 피합니다."</a:t>
            </a:r>
          </a:p>
          <a:p/>
          <a:p>
            <a:r>
              <a:t>※ 남는 주의(먼저 말할 것): 캠페인은 한 시간 블록 위의 초기화 4개이지 분할 4개가 아니다.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13:40–14:40  (60초)  ★ 과학적 발견</a:t>
            </a:r>
          </a:p>
          <a:p/>
          <a:p>
            <a:r>
              <a:t>"비대칭이 왜 생기는지를 절제로 확인했습니다. 평가 시점에 modality를 지우는 실험입니다.</a:t>
            </a:r>
          </a:p>
          <a:p/>
          <a:p>
            <a:r>
              <a:t> 먼저 공통점. 이력을 지우면 두 타겟 모두 무너집니다 — -1에서 -4까지 갑니다.</a:t>
            </a:r>
          </a:p>
          <a:p/>
          <a:p>
            <a:r>
              <a:t> 차이는 빠른 진단입니다. Tᵢ는 컷 모집단에서 빠른 채널을 0으로 만들면 보간 아래로</a:t>
            </a:r>
          </a:p>
          <a:p>
            <a:r>
              <a:t> 떨어집니다(-0.125). 즉 보간을 이기는 마진 자체가 빠른 진단이 운반한 정보입니다.</a:t>
            </a:r>
          </a:p>
          <a:p>
            <a:r>
              <a:t> 물리적으로도 자연스럽습니다 — ECEI의 Tₑ와 BES의 nₑ가 충돌 e–i 결합으로 Tᵢ와 연결되니까요.</a:t>
            </a:r>
          </a:p>
          <a:p/>
          <a:p>
            <a:r>
              <a:t> 회전은 정반대입니다. 빠른 채널을 전부 0으로 만들어도 출력이 비트 단위로 동일합니다.</a:t>
            </a:r>
          </a:p>
          <a:p>
            <a:r>
              <a:t> 8개 셀 전부에서요. 회전 정보는 100% CES 이력에서 옵니다.</a:t>
            </a:r>
          </a:p>
          <a:p>
            <a:r>
              <a:t> 이유는 두 가지입니다. 회전을 구동하는 NBI 토크가 데이터에 없고, Mirnov는 kHz로</a:t>
            </a:r>
          </a:p>
          <a:p>
            <a:r>
              <a:t> 진동하는 dB/dt를 100 Hz로 순간샘플해서 위상이 무작위가 됩니다 — lag-1 자기상관이</a:t>
            </a:r>
          </a:p>
          <a:p>
            <a:r>
              <a:t> BES는 +0.568인데 Mirnov는 -0.009, 즉 이 격자 위에서는 백색잡음입니다.</a:t>
            </a:r>
          </a:p>
          <a:p/>
          <a:p>
            <a:r>
              <a:t> 그리고 정직하게 하나 더: 포함 모집단에서는 이력만 쓰는 모델도 PCHIP을 +0.15~+0.23</a:t>
            </a:r>
          </a:p>
          <a:p>
            <a:r>
              <a:t> 이깁니다. 그 마진에는 스파이크 강건성 성분이 섞여 있다는 뜻이고, 빠른 진단의 기여를</a:t>
            </a:r>
          </a:p>
          <a:p>
            <a:r>
              <a:t> 분리해서 보려면 컷 모집단을 봐야 합니다. 그래서 두 모집단을 함께 보고합니다."</a:t>
            </a:r>
          </a:p>
          <a:p/>
          <a:p>
            <a:r>
              <a:t>※ 질문 대비: "Tₑ가 NBI 가열을 대리하니 회전 정보도 담기지 않나?" — 검정했다.</a:t>
            </a:r>
          </a:p>
          <a:p>
            <a:r>
              <a:t>   Tₑ~Tᵢ는 r=+0.353(p=3e-17)로 경로가 실재하지만 Tₑ~V_rot은 r=+0.024(p=0.58).</a:t>
            </a:r>
          </a:p>
          <a:p>
            <a:r>
              <a:t>   power와 torque가 다르기 때문이다.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14:40–15:30  (50초)</a:t>
            </a:r>
          </a:p>
          <a:p/>
          <a:p>
            <a:r>
              <a:t>"그럼 모델을 더 키우면 되지 않느냐. 두 실험으로 닫았습니다.</a:t>
            </a:r>
          </a:p>
          <a:p/>
          <a:p>
            <a:r>
              <a:t> 왼쪽이 복잡도 사다리입니다. persistence에서 시작해 파라미터를 늘려갑니다.</a:t>
            </a:r>
          </a:p>
          <a:p>
            <a:r>
              <a:t> 재미있는 건 b3k8입니다 — persistence 예측에 유계 latent 8개의 선형 보정을 더한</a:t>
            </a:r>
          </a:p>
          <a:p>
            <a:r>
              <a:t> 2만 1천 파라미터 모델인데, 컷 모집단에서 35만 파라미터 백본과 동급입니다.</a:t>
            </a:r>
          </a:p>
          <a:p>
            <a:r>
              <a:t> 짝지은 차이가 평균 +0.002이고 신뢰구간이 전부 0을 포함합니다.</a:t>
            </a:r>
          </a:p>
          <a:p>
            <a:r>
              <a:t> 즉 컷 조건에서 백본의 Tᵢ skill 전부가 숫자 8개로 압축됩니다.</a:t>
            </a:r>
          </a:p>
          <a:p>
            <a:r>
              <a:t> 그 latent이 뭘 담고 있는지도 probe로 확인했습니다 — 직전 Tᵢ와 ECEI의 Tₑ입니다.</a:t>
            </a:r>
          </a:p>
          <a:p>
            <a:r>
              <a:t> 다만 포함 모집단에서는 -0.194로 백본에 집니다. 유계 보정으로는 스파이크 앵커를</a:t>
            </a:r>
          </a:p>
          <a:p>
            <a:r>
              <a:t> 못 살리기 때문입니다. 1%도 안 되는 행이 모든 arm SSE의 70~83%를 차지합니다.</a:t>
            </a:r>
          </a:p>
          <a:p/>
          <a:p>
            <a:r>
              <a:t> 오른쪽이 크기 축입니다. Tᵢ 인코더 폭을 24에서 260까지, 파라미터로 3만 4천에서</a:t>
            </a:r>
          </a:p>
          <a:p>
            <a:r>
              <a:t> 87만 9천까지 26배를 키웠는데 skill이 +0.230에서 +0.236 사이에서 평평합니다.</a:t>
            </a:r>
          </a:p>
          <a:p>
            <a:r>
              <a:t> 남은 분산은 모델 크기가 아니라 분할 분산입니다. 크기 축은 닫혔습니다."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15:30–16:15  (45초)</a:t>
            </a:r>
          </a:p>
          <a:p/>
          <a:p>
            <a:r>
              <a:t>"그럼 모델은 어디서 이득을 버는가. peak 분석입니다.</a:t>
            </a:r>
          </a:p>
          <a:p/>
          <a:p>
            <a:r>
              <a:t> 여기서 peak은 예측값이 아니라 입력 기준으로 정의합니다 — 타겟 행을 제외한 이웃에서</a:t>
            </a:r>
          </a:p>
          <a:p>
            <a:r>
              <a:t> 국소 활동도가 높은 구간입니다. 정답을 엿보지 않는 보수적인 정의입니다.</a:t>
            </a:r>
          </a:p>
          <a:p/>
          <a:p>
            <a:r>
              <a:t> Tᵢ는 peak 구간에서 컷 +0.45~+0.61, 포함 +0.62~+0.72로 8개 셀 전부 PASS입니다.</a:t>
            </a:r>
          </a:p>
          <a:p>
            <a:r>
              <a:t> 본류에서는 +0.09~+0.20으로 훨씬 작습니다.</a:t>
            </a:r>
          </a:p>
          <a:p>
            <a:r>
              <a:t> 회전은 더 극적입니다. 전역으로는 동률인데 peak 구간에서는 +0.54에서 +0.79이고</a:t>
            </a:r>
          </a:p>
          <a:p>
            <a:r>
              <a:t> persistence 대비로는 8/8 PASS입니다. 본류는 사실상 0입니다.</a:t>
            </a:r>
          </a:p>
          <a:p/>
          <a:p>
            <a:r>
              <a:t> 해석은 명확합니다. 매끄러운 본류에서는 보간이 이미 거의 최적이라 이길 여지가 없습니다.</a:t>
            </a:r>
          </a:p>
          <a:p>
            <a:r>
              <a:t> 반대로 급변 구간에서는 보간이 구조적으로 실패하고, 거기서 빠른 진단이 값어치를 합니다.</a:t>
            </a:r>
          </a:p>
          <a:p>
            <a:r>
              <a:t> 즉 회전의 열세도 전역적인 게 아니라 지역적입니다."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16:15–16:55  (40초)</a:t>
            </a:r>
          </a:p>
          <a:p/>
          <a:p>
            <a:r>
              <a:t>"통계만 보면 감이 안 오니 실제 held-out TEST shot 하나를 보여드리겠습니다. #31815입니다.</a:t>
            </a:r>
          </a:p>
          <a:p/>
          <a:p>
            <a:r>
              <a:t> 위가 이온온도입니다. 검은 점이 실측, 파란 선이 모델, 회색이 PCHIP입니다.</a:t>
            </a:r>
          </a:p>
          <a:p>
            <a:r>
              <a:t> 빨간 점선은 BES가 급락한 시점인데, 빠른 진단의 급락이 CES crash와 정렬되어 있습니다 —</a:t>
            </a:r>
          </a:p>
          <a:p>
            <a:r>
              <a:t> 빠른 진단이 급변을 먼저 봅니다. PCHIP은 스파이크마다 overshoot합니다. 미래까지</a:t>
            </a:r>
          </a:p>
          <a:p>
            <a:r>
              <a:t> 다 보고도 그렇습니다.</a:t>
            </a:r>
          </a:p>
          <a:p>
            <a:r>
              <a:t> 이 shot에서 Tᵢ RMSE는 199.2 대 262.3, skill로 +0.42입니다. 실측점 395개 기준입니다.</a:t>
            </a:r>
          </a:p>
          <a:p>
            <a:r>
              <a:t> 회전도 이 shot에서는 +0.21로 이깁니다. 관측이 끊기면 이력만으로 완만히 감쇠합니다.</a:t>
            </a:r>
          </a:p>
          <a:p/>
          <a:p>
            <a:r>
              <a:t> 다만 정직하게 말씀드리면 이런 shot이 전부는 아닙니다. 우위는 고르게 퍼져 있는 게</a:t>
            </a:r>
          </a:p>
          <a:p>
            <a:r>
              <a:t> 아니라 간극과 급변 구간에 집중되어 있습니다 — 앞의 peak 분석과 정확히 같은 그림입니다."</a:t>
            </a:r>
          </a:p>
          <a:p/>
          <a:p>
            <a:r>
              <a:t>※ 시간이 밀리면 이 슬라이드는 건너뛰어도 논지는 성립한다.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16:55–18:10  (75초)</a:t>
            </a:r>
          </a:p>
          <a:p/>
          <a:p>
            <a:r>
              <a:t>"정직한 결론 네 가지입니다.</a:t>
            </a:r>
          </a:p>
          <a:p/>
          <a:p>
            <a:r>
              <a:t> 하나. Tᵢ는 미래를 쓰는 보간을 두 모집단 모두에서 유의하게 능가합니다. 4개 독립 분할</a:t>
            </a:r>
          </a:p>
          <a:p>
            <a:r>
              <a:t> 전부이고, 배치 가능한 최강 인과 방법인 인과 GP는 8개 셀 전부에서 이깁니다.</a:t>
            </a:r>
          </a:p>
          <a:p>
            <a:r>
              <a:t> 상한도 같이 보고합니다 — 최강 오프라인 평활기와는 동률입니다.</a:t>
            </a:r>
          </a:p>
          <a:p/>
          <a:p>
            <a:r>
              <a:t> 둘. 배치 주장이 이제 두 스트레스를 다 견딥니다. 실제 결측 지점으로 재가중해도 인과</a:t>
            </a:r>
          </a:p>
          <a:p>
            <a:r>
              <a:t> 방법 대비 8/8, 캠페인 경계를 넘어서도 4/4에 4/4입니다. 대체된 윈도 대조군은 여기서</a:t>
            </a:r>
          </a:p>
          <a:p>
            <a:r>
              <a:t> 오프라인 우위를 완전히 잃었고, 그 차이의 원인을 드리프트로 측정했습니다.</a:t>
            </a:r>
          </a:p>
          <a:p>
            <a:r>
              <a:t> 이전 발표에서 '캠페인 분할에서 우위가 사라진다'고 말씀드렸던 부분이 이번에 해결됐습니다.</a:t>
            </a:r>
          </a:p>
          <a:p/>
          <a:p>
            <a:r>
              <a:t> 셋. 회전은 전역 동률입니다. 다만 15 ms 넘는 간극과 peak 층에서는 두 모집단 모두</a:t>
            </a:r>
          </a:p>
          <a:p>
            <a:r>
              <a:t> 이깁니다. skill이 없는 게 아니라 천이 구간에만 있는 겁니다.</a:t>
            </a:r>
          </a:p>
          <a:p/>
          <a:p>
            <a:r>
              <a:t> 넷. 상한은 추정기가 아니라 정보입니다. 2만 1천 파라미터가 컷에서 백본과 같고 폭은</a:t>
            </a:r>
          </a:p>
          <a:p>
            <a:r>
              <a:t> 평평합니다. 그래서 다음 단계는 더 큰 모델이 아니라 데이터입니다."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18:10–19:00  (50초)</a:t>
            </a:r>
          </a:p>
          <a:p/>
          <a:p>
            <a:r>
              <a:t>"한계를 분명히 말씀드립니다. 가장 큰 제약은 검정력입니다 — test 방전이 Tᵢ 96개,</a:t>
            </a:r>
          </a:p>
          <a:p>
            <a:r>
              <a:t> 회전은 60~66개뿐이고, 이게 모든 유의성 판정을 구속합니다. 채점은 관측 지점에서</a:t>
            </a:r>
          </a:p>
          <a:p>
            <a:r>
              <a:t> 하므로 낙관적 상한이고, 재가중이 닿는 범위도 Tᵢ 54~68%, 회전은 4~6%뿐입니다.</a:t>
            </a:r>
          </a:p>
          <a:p>
            <a:r>
              <a:t> 오프라인 주장의 상한도 명시합니다 — 가장 강한 오프라인 평활기인 GP와는 동률입니다.</a:t>
            </a:r>
          </a:p>
          <a:p/>
          <a:p>
            <a:r>
              <a:t> 향후는 전부 데이터 쪽입니다. 저희 원칙이 '음성 결과는 그것을 뒤집을 측정을 지목할</a:t>
            </a:r>
          </a:p>
          <a:p>
            <a:r>
              <a:t> 때만 결론이 된다'인데, 셋을 지목했습니다. 하나, CES 피팅 품질 메타데이터를 받으면</a:t>
            </a:r>
          </a:p>
          <a:p>
            <a:r>
              <a:t> 값 컷을 품질 컷으로 바꿔 두 모집단을 하나로 합칠 수 있습니다. 둘, 원본 kHz Mirnov에서</a:t>
            </a:r>
          </a:p>
          <a:p>
            <a:r>
              <a:t> 모드 회전 주파수를 뽑는 것 — 회전의 최상위 레버입니다. 셋, NBI 토크 채널입니다.</a:t>
            </a:r>
          </a:p>
          <a:p>
            <a:r>
              <a:t> 모델링이 아니라 데이터 획득 과제이고, 아카이브 데이터로 검정할 수 있습니다.</a:t>
            </a:r>
          </a:p>
          <a:p>
            <a:r>
              <a:t> 모델 크기 축은 이미 닫혔습니다."</a:t>
            </a:r>
          </a:p>
          <a:p/>
          <a:p>
            <a:r>
              <a:t>※ 질문 대비: Mirnov 파생 특징 재가공(적분·|MC|·이동 RMS)은 이미 시도했고 개선이 없었다.</a:t>
            </a:r>
          </a:p>
          <a:p>
            <a:r>
              <a:t>   이미 잃은 정보는 하류에서 복구되지 않는다 — 그래서 전처리(원본 kHz)로 올라가야 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19:00–19:30  (30초) + Q&amp;A</a:t>
            </a:r>
          </a:p>
          <a:p/>
          <a:p>
            <a:r>
              <a:t>"정리하면, 항상 있는 빠른 진단으로 자주 비는 CES를 채우는 엄격히 인과적인 가상 센서를</a:t>
            </a:r>
          </a:p>
          <a:p>
            <a:r>
              <a:t> 만들었고, 미래까지 보는 보간이라는 일부러 어려운 기준선으로 검증했습니다.</a:t>
            </a:r>
          </a:p>
          <a:p>
            <a:r>
              <a:t> 이온온도는 두 모집단 모두에서 유의하게 이겼고 두 스트레스도 견뎠습니다. 회전은</a:t>
            </a:r>
          </a:p>
          <a:p>
            <a:r>
              <a:t> 전역 동률이며 그 이유가 물리로 설명됩니다. 감사합니다."</a:t>
            </a:r>
          </a:p>
          <a:p/>
          <a:p>
            <a:r>
              <a:t>── 예상 질문 대비 ──────────────────────────────</a:t>
            </a:r>
          </a:p>
          <a:p>
            <a:r>
              <a:t>Q. 왜 forecasting이 아니라 nowcasting인가?</a:t>
            </a:r>
          </a:p>
          <a:p>
            <a:r>
              <a:t> → 미래를 예보하는 게 아니라 이미 지나간 시점의 빈 값을 채우는 문제. 오프라인 물리 분석용.</a:t>
            </a:r>
          </a:p>
          <a:p/>
          <a:p>
            <a:r>
              <a:t>Q. 진짜 결측 구간에서도 이만큼 잘하나?</a:t>
            </a:r>
          </a:p>
          <a:p>
            <a:r>
              <a:t> → 단정하지 않는다. MNAR이므로 관측점 성능은 낙관적 상한. 결측 분포로 재가중하면</a:t>
            </a:r>
          </a:p>
          <a:p>
            <a:r>
              <a:t>    인과 대비는 8/8 생존, 오프라인 대비는 모집단 조건부(컷 2/4·포함 4/4).</a:t>
            </a:r>
          </a:p>
          <a:p/>
          <a:p>
            <a:r>
              <a:t>Q. 보간이 미래를 보는데 이기는 게 가능한가?</a:t>
            </a:r>
          </a:p>
          <a:p>
            <a:r>
              <a:t> → 가능하고 그게 논지의 핵심. 빠른 진단이 시간 보간으로 얻을 수 없는 정보를 운반하기 때문.</a:t>
            </a:r>
          </a:p>
          <a:p>
            <a:r>
              <a:t>    특히 보간이 구조적으로 실패하는 급변 구간에서 이긴다.</a:t>
            </a:r>
          </a:p>
          <a:p/>
          <a:p>
            <a:r>
              <a:t>Q. 모델 크기/과적합은?</a:t>
            </a:r>
          </a:p>
          <a:p>
            <a:r>
              <a:t> → 백본 357,570 파라미터. 폭 34k→879k 스윕이 평평하고 21k 모델이 컷에서 동급이므로</a:t>
            </a:r>
          </a:p>
          <a:p>
            <a:r>
              <a:t>    문제는 capacity가 아니라 정보량이다.</a:t>
            </a:r>
          </a:p>
          <a:p/>
          <a:p>
            <a:r>
              <a:t>Q. V_rot을 살리려면?</a:t>
            </a:r>
          </a:p>
          <a:p>
            <a:r>
              <a:t> → NBI 토크 채널 확보가 1순위, 원본 kHz Mirnov(모드 회전 주파수)가 그다음.</a:t>
            </a:r>
          </a:p>
          <a:p>
            <a:r>
              <a:t>    Mirnov 파생 특징 재가공은 이미 음성으로 확인됐다.</a:t>
            </a:r>
          </a:p>
          <a:p/>
          <a:p>
            <a:r>
              <a:t>Q. 실시간에 쓸 수 있나?</a:t>
            </a:r>
          </a:p>
          <a:p>
            <a:r>
              <a:t> → 상태 유지 1-step 추론이 CPU 중앙값 1.05 ms / p99 1.61 ms로 10 ms 예산의 16%.</a:t>
            </a:r>
          </a:p>
          <a:p>
            <a:r>
              <a:t>    conformal 예측구간도 32/32 셀에서 두 기준선을 이긴다.</a:t>
            </a:r>
          </a:p>
          <a:p/>
          <a:p>
            <a:r>
              <a:t>Q. seed에 따라 흔들리지 않나?</a:t>
            </a:r>
          </a:p>
          <a:p>
            <a:r>
              <a:t> → Tᵢ는 4개 독립 분할 × 두 모집단 전부 PASS로 강건. V_rot은 분할에 따라 크게 요동하며,</a:t>
            </a:r>
          </a:p>
          <a:p>
            <a:r>
              <a:t>    그것 자체가 "현 규모에서 V_rot 단일 수치는 측정 불가"라는 근거다.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E26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5544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737360"/>
            <a:ext cx="106070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9CC0E8"/>
                </a:solidFill>
                <a:latin typeface="Malgun Gothic"/>
              </a:rPr>
              <a:t>원자핵공학과 대학원 내부 발표 · 20분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2240280"/>
            <a:ext cx="10698480" cy="17373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FFFFFF"/>
                </a:solidFill>
                <a:latin typeface="Malgun Gothic"/>
              </a:rPr>
              <a:t>KSTAR 다중 진단 기반 인과(causal) 나우캐스팅: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Malgun Gothic"/>
              </a:rPr>
              <a:t>희소 CES 신호(Tᵢ · V_rot)의 결측 구간 복원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931920"/>
            <a:ext cx="105156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빠른 진단(BES · ECEI · Mirnov)과 과거 CES 이력만으로 </a:t>
            </a:r>
            <a:r>
              <a:rPr sz="1600" b="1" i="0">
                <a:solidFill>
                  <a:srgbClr val="E8743B"/>
                </a:solidFill>
                <a:latin typeface="Malgun Gothic"/>
              </a:rPr>
              <a:t>이온온도 Tᵢ · 토로이달 회전 V_rot</a:t>
            </a:r>
            <a:r>
              <a:rPr sz="1600" b="0" i="0">
                <a:solidFill>
                  <a:srgbClr val="E8ECF1"/>
                </a:solidFill>
                <a:latin typeface="Malgun Gothic"/>
              </a:rPr>
              <a:t>를 복원하고,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8ECF1"/>
                </a:solidFill>
                <a:latin typeface="Malgun Gothic"/>
              </a:rPr>
              <a:t>미래까지 보는 오프라인 보간과 배치 가능한 최강 기준선(인과 GP)을 상대로 통계적으로 검증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440680"/>
            <a:ext cx="10515600" cy="9144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Malgun Gothic"/>
              </a:rPr>
              <a:t>이승상  (Seungsang Lee)</a:t>
            </a:r>
          </a:p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AA5B1"/>
                </a:solidFill>
                <a:latin typeface="Malgun Gothic"/>
              </a:rPr>
              <a:t>서울대학교 · 원자핵공학  |  확정 프로토콜: W=2 · held-free · 두 모집단 공동 1차 · 백본 seq_v2 (357,570 파라미터)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결론부터 — 세 문장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5568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91640"/>
            <a:ext cx="822960" cy="822960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69164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1563624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빠른 진단은 Tᵢ 정보를 실제로 운반한다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4208" y="1984248"/>
            <a:ext cx="98755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과거만 보는 인과 모델이, 미래까지 보는 오프라인 보간(PCHIP)을 Tᵢ에서 유의하게 능가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컷 +0.17~+0.26 · 포함 +0.23~+0.32 — 두 모집단 × 4개 독립 분할 전부 PASS (4/4 + 4/4)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배치 가능한 최강 인과 기준선(인과 GP)도 8개 셀 전부에서 이긴다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017520"/>
            <a:ext cx="1115568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3291839"/>
            <a:ext cx="822960" cy="822960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91839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64208" y="3163824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V_rot는 전역 동률 — 물리로 예측된 비대칭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64208" y="3584448"/>
            <a:ext cx="98755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통과는 컷 1/4 · 포함 2/4(잡음 수준) → 회전 승리를 주장하지 않는다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빠른 채널을 전부 0으로 만들어도 출력이 bit-identical — 회전 정보가 애초에 없다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원인: 회전을 구동하는 NBI 토크 미관측 + Mirnov kHz 신호의 100 Hz 앨리어싱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617720"/>
            <a:ext cx="11155680" cy="148132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4892040"/>
            <a:ext cx="822960" cy="822960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4892040"/>
            <a:ext cx="822960" cy="822960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64208" y="4764024"/>
            <a:ext cx="987552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3335F"/>
                </a:solidFill>
                <a:latin typeface="Malgun Gothic"/>
              </a:rPr>
              <a:t>상한은 추정기가 아니라 정보다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64208" y="5184648"/>
            <a:ext cx="98755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우위는 고변동(peak)·간극 구간에 집중 (Tᵢ peak +0.45~+0.72, 8/8 PASS)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21,498 파라미터 모델이 컷에서 백본과 동급(+0.002), 폭 34k→879k는 평평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남은 레버는 모델 크기가 아니라 데이터 (피팅 메타 · kHz Mirnov · NBI 토크)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CES는 왜, 얼마나 비는가 — 그리고 무엇으로 채우나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B35"/>
                </a:solidFill>
                <a:latin typeface="Malgun Gothic"/>
              </a:rPr>
              <a:t>CES는 pedestal 물리의 핵심량 Tᵢ · V_rot를 주지만 </a:t>
            </a:r>
            <a:r>
              <a:rPr sz="1400" b="1" i="0">
                <a:solidFill>
                  <a:srgbClr val="E8743B"/>
                </a:solidFill>
                <a:latin typeface="Malgun Gothic"/>
              </a:rPr>
              <a:t>광자 적분이 필요해 느리고 자주 빈다</a:t>
            </a:r>
            <a:r>
              <a:rPr sz="1400" b="0" i="0">
                <a:solidFill>
                  <a:srgbClr val="222B35"/>
                </a:solidFill>
                <a:latin typeface="Malgun Gothic"/>
              </a:rPr>
              <a:t>. 반면 빠른 진단은 같은 10 ms 격자에서 결측 없이 측정된다.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10512"/>
            <a:ext cx="548640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10512"/>
            <a:ext cx="91440" cy="306324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20240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진단 구성 — 같은 10 ms 격자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22576"/>
            <a:ext cx="5102352" cy="24231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CES (타겟) — Tᵢ · V_rot, 느리고 자주 결측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BES 9 ch — 밀도요동 nₑ 공간구조 → Tᵢ 단서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ECEI 4 ch — 전자온도 Tₑ 2D 영상 → Tᵢ 단서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 (물리 경로: 충돌 e–i 결합)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Mirnov 2 ch — kHz dB/dt를 100 Hz로 데시메이트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 lag-1 자기상관 -0.009 (BES +0.568)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빠른 진단은 격자에서 항상 100% 측정된다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1810512"/>
            <a:ext cx="4160520" cy="3063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1920240"/>
            <a:ext cx="3749039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결측 실태 (641 방전 · 247,207행)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CES_TI 완전결측(NaN)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9DE8CD"/>
                </a:solidFill>
                <a:latin typeface="Malgun Gothic"/>
              </a:rPr>
              <a:t>8.2 %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359152"/>
            <a:ext cx="182880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E8ECF1"/>
                </a:solidFill>
                <a:latin typeface="Malgun Gothic"/>
              </a:rPr>
              <a:t>CES_VT 완전결측(NaN)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615184"/>
            <a:ext cx="1828800" cy="51206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E8743B"/>
                </a:solidFill>
                <a:latin typeface="Malgun Gothic"/>
              </a:rPr>
              <a:t>23.9 %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0" y="3145536"/>
            <a:ext cx="3703320" cy="713232"/>
          </a:xfrm>
          <a:prstGeom prst="roundRect">
            <a:avLst/>
          </a:prstGeom>
          <a:solidFill>
            <a:srgbClr val="8E2B2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65392" y="3218688"/>
            <a:ext cx="3429000" cy="60350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D5CE"/>
                </a:solidFill>
                <a:latin typeface="Malgun Gothic"/>
              </a:rPr>
              <a:t>+ held(직전값 복사) CES_VT 41.1 %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Malgun Gothic"/>
              </a:rPr>
              <a:t>→ V_rot 실질 무정보 65.0 %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3950208"/>
            <a:ext cx="370332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· 두 타겟이 </a:t>
            </a:r>
            <a:r>
              <a:rPr sz="1150" b="1" i="0">
                <a:solidFill>
                  <a:srgbClr val="E8743B"/>
                </a:solidFill>
                <a:latin typeface="Malgun Gothic"/>
              </a:rPr>
              <a:t>독립적으로</a:t>
            </a:r>
            <a:r>
              <a:rPr sz="1150" b="0" i="0">
                <a:solidFill>
                  <a:srgbClr val="FFFFFF"/>
                </a:solidFill>
                <a:latin typeface="Malgun Gothic"/>
              </a:rPr>
              <a:t> 결측 → 타겟별 처리 필요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FFFFFF"/>
                </a:solidFill>
                <a:latin typeface="Malgun Gothic"/>
              </a:rPr>
              <a:t>· 결측은 저 SNR · ELM · 천이에 몰린다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E8ECF1"/>
                </a:solidFill>
                <a:latin typeface="Malgun Gothic"/>
              </a:rPr>
              <a:t>  → MNAR: 관측점 skill은 낙관적 상한</a:t>
            </a:r>
          </a:p>
        </p:txBody>
      </p:sp>
      <p:pic>
        <p:nvPicPr>
          <p:cNvPr id="24" name="Picture 23" descr="fig_raw_csv_miss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472" y="1819656"/>
            <a:ext cx="1591016" cy="301752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502920" y="4983480"/>
            <a:ext cx="11201400" cy="129844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084064"/>
            <a:ext cx="1069848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연구 질문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1" i="0">
                <a:solidFill>
                  <a:srgbClr val="FFFFFF"/>
                </a:solidFill>
                <a:latin typeface="Malgun Gothic"/>
              </a:rPr>
              <a:t>CES가 결측된 10 ms 시점에서, 동시각 빠른 진단 + 과거 CES 이력만으로 CES 자체의 시간 보간이 복원할 수 없는 정보를 회복할 수 있는가?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핵심 비대칭(미리보기): 빠른 진단은 Tᵢ 정보는 운반하지만 V_rot 정보는 거의 운반하지 않는다 — 결과에서 그대로 확인된다.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결측 실측 집계: NaN 결측 + held(같은 값 padding)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‘V_rot 결측 24%’는 NaN만 센 값이다. 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직전 관측값을 그대로 복사한 held 행을 합치면 실질 무정보는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65.0%</a:t>
            </a:r>
            <a:r>
              <a:rPr sz="1450" b="0" i="0">
                <a:solidFill>
                  <a:srgbClr val="222B35"/>
                </a:solidFill>
                <a:latin typeface="Malgun Gothic"/>
              </a:rPr>
              <a:t> — 전체 641 shot · 247,207 행 전수 집계.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865376"/>
            <a:ext cx="11155680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192938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구분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3212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CES_TI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41080" y="192938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CES_VT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232257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전체 10 ms 격자 행 (641 shot)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41080" y="232257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5B6670"/>
                </a:solidFill>
                <a:latin typeface="Consolas"/>
              </a:rPr>
              <a:t>247,207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62394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2633472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270662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① 완전 결측 — 값이 비어 있음 (NaN)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3212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20,216  (8.2%)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41080" y="270662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B6CB0"/>
                </a:solidFill>
                <a:latin typeface="Consolas"/>
              </a:rPr>
              <a:t>59,107  (23.9%)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00799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309067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② held / padding — 직전 관측값과 bit-identical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3212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 (0.0%)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41080" y="309067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101,604  (41.1%)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39204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02920" y="3401568"/>
            <a:ext cx="11155680" cy="384048"/>
          </a:xfrm>
          <a:prstGeom prst="rect">
            <a:avLst/>
          </a:prstGeom>
          <a:solidFill>
            <a:srgbClr val="FDEC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4360" y="3474720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실질 무정보  ① + ②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3212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Consolas"/>
              </a:rPr>
              <a:t>20,217  (8.2%)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41080" y="3474720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160,711  (65.0%)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76091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4360" y="3858768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독립 관측 — 실제 정보가 있는 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226,990  (91.8%)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41080" y="3858768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22B35"/>
                </a:solidFill>
                <a:latin typeface="Consolas"/>
              </a:rPr>
              <a:t>86,496  (35.0%)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139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02920" y="4169664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4360" y="4242816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관측값(non-NaN) 중 held 비율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2E9E5B"/>
                </a:solidFill>
                <a:latin typeface="Consolas"/>
              </a:rPr>
              <a:t>0.0%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41080" y="4242816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54.0%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02920" y="4544187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4360" y="4626864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held이 존재하는 shot 파일 수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53212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1 / 641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641080" y="4626864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499 / 641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02920" y="4928235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2920" y="4937760"/>
            <a:ext cx="11155680" cy="384048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94360" y="5010912"/>
            <a:ext cx="47914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연속 held 구간 길이 — 중앙값 / 최대 (행)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3212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Consolas"/>
              </a:rPr>
              <a:t>2 / 2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41080" y="5010912"/>
            <a:ext cx="29626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Consolas"/>
              </a:rPr>
              <a:t>10 / 1,214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02920" y="5312283"/>
            <a:ext cx="1115568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02920" y="5394960"/>
            <a:ext cx="11201400" cy="969264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31520" y="5468112"/>
            <a:ext cx="10744200" cy="8595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왜 중요한가: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held 행은 baseline(persistence·보간)이 오차 ≈0으로 맞히는 ‘공짜 정답’이다.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확정 프로토콜: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지도 타겟·이력 입력·정규화 통계·모든 기준선의 보간 앵커에서 전부 제거 — 진짜 측정만 채점한다.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판정 기준: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연속 블록 안에서 직전 관측값과 부동소수점까지 동일한 행. CES_TI는 226,991행 중 단 1행이다.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1. 배경 &amp; 문제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품질 감사: Tᵢ 피팅 실패와 두 공동 1차 모집단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61872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222B35"/>
                </a:solidFill>
                <a:latin typeface="Malgun Gothic"/>
              </a:rPr>
              <a:t>관측 Tᵢ의 p99 = 2,089 eV · p99.9 = 9,601 eV · 최대 14,984 eV. </a:t>
            </a:r>
            <a:r>
              <a:rPr sz="1450" b="1" i="0">
                <a:solidFill>
                  <a:srgbClr val="C0392B"/>
                </a:solidFill>
                <a:latin typeface="Malgun Gothic"/>
              </a:rPr>
              <a:t>이 먼 꼬리는 플라즈마가 아니라 실패한 스펙트럼 피팅이다.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847088"/>
            <a:ext cx="91440" cy="187451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C0392B"/>
                </a:solidFill>
                <a:latin typeface="Malgun Gothic"/>
              </a:rPr>
              <a:t>실측 — &gt;3 keV는 무엇인가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1,197행(0.53%) = 951 run / 274 방전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run의 85%는 단일 행, 5행 이상 지속은 2%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run 정점 = 관측 이웃 평균의 13× (IQR 6–26×)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어떤 방법으로도 예측 불가 + 보간 앵커를 오염시킴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847088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847088"/>
            <a:ext cx="91440" cy="1874519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95681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대응 — 두 대응 모두 비판 가능하다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359152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제거하면: “어려운 행을 없앴다”는 비판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유지하면: 스파이크 앵커가 오프라인 기준선을 핸디캡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→ 두 공동 1차 모집단을 사전등록: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 컷(적재 시 결측 처리, 전 arm 동일) / 포함(컷 없음)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977639"/>
            <a:ext cx="11201400" cy="658368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1069848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8743B"/>
                </a:solidFill>
                <a:latin typeface="Malgun Gothic"/>
              </a:rPr>
              <a:t>규칙: </a:t>
            </a:r>
            <a:r>
              <a:rPr sz="1400" b="0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 한쪽에서만 성립하면 모집단을 명시해 보고한다.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892040"/>
            <a:ext cx="11247120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문턱은 무관하다: 2.5 / 3 / 4 keV 재학습 → Tᵢ +0.230 / +0.236 / +0.232, PR4 4/4 전부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값 컷은 일방향 프록시 — 하향 dip 4,965행은 손대지 않고, ≥2× 상향 이상치의 19%만 제거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V_rot 스파이크(&gt;1,000 km/s 119행 / 16 방전, 101행은 한 방전 한 블록)는 컷 없이 두되 SSE 비중을 병기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2. 접근법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의도적으로 어려운 평가 bar: 미래를 보는 보간 + 인과 GP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98448"/>
            <a:ext cx="1124712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222B35"/>
                </a:solidFill>
                <a:latin typeface="Malgun Gothic"/>
              </a:rPr>
              <a:t>모델을 </a:t>
            </a:r>
            <a:r>
              <a:rPr sz="1500" b="1" i="0">
                <a:solidFill>
                  <a:srgbClr val="13335F"/>
                </a:solidFill>
                <a:latin typeface="Malgun Gothic"/>
              </a:rPr>
              <a:t>오프라인 CES-only 보간(선형 · PCHIP · 국소 AR · GP)</a:t>
            </a:r>
            <a:r>
              <a:rPr sz="1500" b="0" i="0">
                <a:solidFill>
                  <a:srgbClr val="222B35"/>
                </a:solidFill>
                <a:latin typeface="Malgun Gothic"/>
              </a:rPr>
              <a:t>과 비교한다 — 타겟 주변의 과거+미래 CES를 모두 사용한다.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920240"/>
            <a:ext cx="109728" cy="23317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E8743B"/>
                </a:solidFill>
                <a:latin typeface="Malgun Gothic"/>
              </a:rPr>
              <a:t>우리 모델 (causal)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시점까지의 빠른 진단 (BES·ECEI·Mirnov)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과거 CES 이력 — 도달거리는 세그먼트 전체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C0392B"/>
                </a:solidFill>
                <a:latin typeface="Malgun Gothic"/>
              </a:rPr>
              <a:t>●  미래 CES는 전혀 보지 않음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920240"/>
            <a:ext cx="5486400" cy="2331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920240"/>
            <a:ext cx="109728" cy="23317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2075688"/>
            <a:ext cx="51206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B6CB0"/>
                </a:solidFill>
                <a:latin typeface="Malgun Gothic"/>
              </a:rPr>
              <a:t>보간 baseline (오프라인)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560320"/>
            <a:ext cx="5029200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타겟 양쪽의 과거 + 미래 CES 이웃 사용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PCHIP(단조 3차) = 사전등록 headline 기준선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9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●  세그먼트 경계는 넘지 않음 → persistence 폴백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434840"/>
            <a:ext cx="11201400" cy="93268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434840"/>
            <a:ext cx="109728" cy="932688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517136"/>
            <a:ext cx="1069848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B9E8A"/>
                </a:solidFill>
                <a:latin typeface="Malgun Gothic"/>
              </a:rPr>
              <a:t>추가된 팔 — 인과 GP: 배치 가능한 가장 강한 경쟁자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같은 GP를 과거 이웃 16개로 제한(NaN 조건 동일 → 모집단 불변). seed 42·컷에서 Tᵢ RMSE 164.3 vs persistence 197.2 — “배치 가능한 모든 인과 방법을 이긴다”는 이 기준선으로 판정한다.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513832"/>
            <a:ext cx="11201400" cy="77724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1069848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왜 이 정보 비대칭이 핵심인가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FFFFFF"/>
                </a:solidFill>
                <a:latin typeface="Malgun Gothic"/>
              </a:rPr>
              <a:t>미래까지 보는 보간을 인과 모델이 이긴다면, 빠른 진단이 시간 보간으로는 얻을 수 없는 CES 정보를 운반한다는 강력한 증거다.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데이터 계약 — No-Fake-Data · held 전면 제거 · 누수 삼중 차단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641 방전(shot 30801–32751) · 10 ms 공통 격자 · 총 247,207행. 세그먼트는 ≥0.5 s 간극에서 분리되고 전형적 파일은 주 세그먼트 1개(중앙값 301행 ≈ 3.0 s) — 모델 입력도 보간도 이 경계를 넘지 않는다. </a:t>
            </a:r>
            <a:r>
              <a:rPr sz="1300" b="1" i="0">
                <a:solidFill>
                  <a:srgbClr val="13335F"/>
                </a:solidFill>
                <a:latin typeface="Malgun Gothic"/>
              </a:rPr>
              <a:t>TEST(seed 42, 컷): Tᵢ 32,589행 / 96 방전 · V_rot 10,463행 / 60 방전 — 선택이 끝날 때까지 봉인.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2011680"/>
            <a:ext cx="91440" cy="201168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가짜 라벨 금지 (No Fake Data)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 행을 만들려고 타겟을 대체(impute)하지 않음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윈도: 진단 입력 완전 + 타겟 ≥1개 관측된 행만 사용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시퀀스: 라벨 없는 행은 맥락으로만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어느 프레이밍도 타겟 행 자신의 값을 읽지 않는다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201168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2011680"/>
            <a:ext cx="91440" cy="201168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21214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타겟별 masked loss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252374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L = Σ m·(예측 - 실측)² / Σ m   (m = 타겟별 관측 마스크)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한쪽 타겟만 관측된 행도 그 타겟은 학습에 기여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두-타겟-필수 필터는 라벨 행의 ≈28%를 조용히 버림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이를 제거한 것은 순수한 데이터 이득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2920" y="4160520"/>
            <a:ext cx="91440" cy="201168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066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③ 누수 삼중 차단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파일(shot) 단위 분할 — 인접 행 자기상관 차단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학습 파일 전용 정규화 (희소 타겟은 NaN-인지)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시퀀스 모델은 여기에 shot별 입력 표준화를 더함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타겟 시점의 값·관측 flag는 입력에 결코 안 들어감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72200" y="4160520"/>
            <a:ext cx="5486400" cy="201168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72200" y="4160520"/>
            <a:ext cx="91440" cy="201168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9944" y="427024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held 전면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944" y="4672584"/>
            <a:ext cx="5102352" cy="1371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관측 V_rot의 54%가 계측기 유지값 (499/641 파일)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지도 타겟·이력 입력·정규화 통계·보간 앵커에서 동일 제거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대가 = PR2 폴백률 Tᵢ 0.3–0.4% · V_rot 40–44%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→ 어떤 arm도 forward-fill로 공짜 점수를 못 받음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학습 예제의 두 프레이밍: 윈도(대조군) vs 전체격자 시퀀스(주 모델)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7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10312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① 연속 세그먼트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time delta ≥ 0.5 s = 세그먼트 경계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전형 파일 = 주 세그먼트 1개 (중앙값 301행)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모델 입력·보간 모두 경계를 넘지 않음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1031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② 윈도 프레이밍 (대조군, W=2)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t 앞 W=2행: bes(2,9)·ecei(2,4)·mc(2,2)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+ time_features(2,4) + ces_history(2,4)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[Tᵢ, V_rot] + 타겟별 마스크 m ∈ {0,1}²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파일당 샘플 상한 500 (사전등록)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657600"/>
            <a:ext cx="91440" cy="210312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③ 전체격자 시퀀스 (주 모델)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066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세그먼트의 입력-완전 행 전부를 맥락으로 유지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(라벨 유무와 무관 — 희소성은 loss로)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스텝당 22채널 = z-score 빠른 채널 15 +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log1p(Δt) + 타겟별(이월값·신선도·flag) 3×2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72200" y="3657600"/>
            <a:ext cx="5486400" cy="21031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72200" y="3657600"/>
            <a:ext cx="91440" cy="210312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9944" y="3767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④ 시간 특징 4채널 (윈도)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4169664"/>
            <a:ext cx="5102352" cy="14630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lookback 초 · 행간 delta 초 · 각각의 log1p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불규칙 관측 패턴을 명시적으로 노출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값의 신뢰도는 10 ms 전인지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  200 ms 전인지에 강하게 의존한다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5989320"/>
            <a:ext cx="1124712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두 프레이밍의 결정적 차이 = 도달거리(reach): </a:t>
            </a:r>
            <a:r>
              <a:rPr sz="1250" b="0" i="0">
                <a:solidFill>
                  <a:srgbClr val="5B6670"/>
                </a:solidFill>
                <a:latin typeface="Malgun Gothic"/>
              </a:rPr>
              <a:t>윈도는 과거 W-1개 관측, 시퀀스는 세그먼트 전체. 이 차이가 백본 관문(결과 ③)에서 측정된다.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주 모델: 전체격자 인과 시퀀스 나우캐스터 seq_v2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8</a:t>
            </a:r>
          </a:p>
        </p:txBody>
      </p:sp>
      <p:pic>
        <p:nvPicPr>
          <p:cNvPr id="10" name="Picture 9" descr="fig_architecture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4373" y="1261872"/>
            <a:ext cx="8798494" cy="47091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053328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구조적 라우팅: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Tᵢ 분기(2층 160)는 22채널 전체 상태를, V_rot 분기(1층 64)는 비-빠른 7채널만 읽는다 · 총 357,570 파라미터.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3. 데이터 &amp; 모델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짝지은 대조군: W=2 윈도 모델 (관측 마스킹 attention pooling)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9</a:t>
            </a:r>
          </a:p>
        </p:txBody>
      </p:sp>
      <p:pic>
        <p:nvPicPr>
          <p:cNvPr id="10" name="Picture 9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61"/>
            <a:ext cx="7452360" cy="3988677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8001000" y="1298448"/>
            <a:ext cx="3703320" cy="41605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1000" y="1298448"/>
            <a:ext cx="91440" cy="416052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1417320"/>
            <a:ext cx="32918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B9E8A"/>
                </a:solidFill>
                <a:latin typeface="Malgun Gothic"/>
              </a:rPr>
              <a:t>대조군의 역할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1874519"/>
            <a:ext cx="3291840" cy="3474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옛 주 모델 (201,258 파라미터)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모달리티별 time-aware 1-D CNN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이력은 양방향 GRU(64)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관측 마스킹 attention pooling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해당 타겟이 실제 관측된 행에만 질량 허용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보간의 귀납 편향을 파라미터 0으로 이식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모든 것이 백본과 동일하게 고정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데이터 계약 · held 처리 · 분할 · 채점 모집단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→ 두 모델 비교는 행 단위로 paired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532120"/>
            <a:ext cx="7406640" cy="8229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물리 기반 head 라우팅: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Tᵢ head = 빠른진단+시간+이력 / V_rot head = 이력+시간. 이 구조는 ~40회 keep/discard 통제 실험의 결과이며, 지금은 (i) 백본 관문의 비교 대상, (ii) 절제 실험의 무대, (iii) 캠페인 붕괴의 재현자로 남는다.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선택 편향 없는 3-way split + 사전등록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B6CB0"/>
                </a:solidFill>
                <a:latin typeface="Malgun Gothic"/>
              </a:rPr>
              <a:t>3-way split · TEST 동결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TEST는 아키텍처 탐색 시작 전 예약, 선택 중 절대 안 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모델 선택은 val에서만 → 헤드라인에 winner's curse 없음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전 arm이 동일한 (file, row) 집합 · 동일 마스크로 채점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짝지은 비교 전에 모집단 키가 bit-identical임을 검증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보간은 타겟 자신의 값을 제외하고 이웃만 읽음(누수 없음)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7160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72200" y="137160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9944" y="148132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E8743B"/>
                </a:solidFill>
                <a:latin typeface="Malgun Gothic"/>
              </a:rPr>
              <a:t>사전등록 (PR1–PR4 + 확정 프로토콜)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PR1 헤드라인 기준선 = PCHIP (사다리 전체도 함께 보고)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PR2 보간은 모든 채점 지점에서 예측, 폴백률 보고 의무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PR3 TEST 하한 ≥15 방전 · ≥3,000 Tᵢ 샘플 (충족)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PR4 shot 군집 bootstrap 95% CI가 0을 제외 = PASS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추가: held-free · W=2 · 파일당 500 · 두 모집단 ·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   TEST 채점 전 모델 결정 규칙 커밋 · 문턱 민감도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794760"/>
            <a:ext cx="11201400" cy="36576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858768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기준선 사다리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83280" y="3858768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정보 접근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858768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분류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94360" y="423367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Persistence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23367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마지막 관측 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423367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51675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02920" y="452628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94360" y="459943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AR (국소)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59943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459943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5B6670"/>
                </a:solidFill>
                <a:latin typeface="Malgun Gothic"/>
              </a:rPr>
              <a:t>인과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88251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94360" y="496519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인과 GP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496519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과거 CES 이웃 16개 (NaN 조건 동일)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1040" y="496519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B9E8A"/>
                </a:solidFill>
                <a:latin typeface="Malgun Gothic"/>
              </a:rPr>
              <a:t>인과 · 최강 배치 기준선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524827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02920" y="5257800"/>
            <a:ext cx="11201400" cy="365760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94360" y="533095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선형 / PCHIP*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383280" y="533095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타겟 양쪽의 과거 + 미래 CES 이웃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533095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61403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5696712"/>
            <a:ext cx="26426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GP (오프라인)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383280" y="5696712"/>
            <a:ext cx="479145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22B35"/>
                </a:solidFill>
                <a:latin typeface="Malgun Gothic"/>
              </a:rPr>
              <a:t>Matérn-3/2 + 백색잡음, 이웃 16+16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5696712"/>
            <a:ext cx="3328416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B6CB0"/>
                </a:solidFill>
                <a:latin typeface="Malgun Gothic"/>
              </a:rPr>
              <a:t>오프라인 · 최강 평활기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2920" y="5979795"/>
            <a:ext cx="11201400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02920" y="6035040"/>
            <a:ext cx="1124712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Malgun Gothic"/>
              </a:rPr>
              <a:t>* PR1 헤드라인. </a:t>
            </a:r>
            <a:r>
              <a:rPr sz="1150" b="0" i="0">
                <a:solidFill>
                  <a:srgbClr val="5B6670"/>
                </a:solidFill>
                <a:latin typeface="Malgun Gothic"/>
              </a:rPr>
              <a:t>보간·모델 모두 세그먼트 경계를 넘지 않고, 경계 밖 이웃이 필요하면 보간은 persistence 값을 대신 예측한다(모집단 축소 없음).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4. 평가 방법론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shot 군집 paired bootstrap · 두 모집단 규칙 · 모델 선택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5943600" cy="2743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한 방전 안의 인접 CES 행은 강하게 상관됨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1" i="0">
                <a:solidFill>
                  <a:srgbClr val="C0392B"/>
                </a:solidFill>
                <a:latin typeface="Malgun Gothic"/>
              </a:rPr>
              <a:t>–  개별 샘플을 독립으로 보면 불확실성을 크게 과소평가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PR4 검정: 샘플별 짝지은 오차 (SE_model - SE_pchip)를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shot 단위로 묶고 shot 전체를 복원추출 (B = 10,000)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2E9E5B"/>
                </a:solidFill>
                <a:latin typeface="Malgun Gothic"/>
              </a:rPr>
              <a:t>●  95% CI가 0을 제외하면 PASS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–  → '새로운 방전에서도 이길까'에 답하는 CI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유효 표본 = 방전 수 (Tᵢ ≈96 · V_rot 60–66) = 검정력 상한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●  모델 대 모델 비교도 같은 행 위에서 같은 paired bootstrap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71600"/>
            <a:ext cx="4983480" cy="2743200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0" y="1481328"/>
            <a:ext cx="457200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Murphy (1988) skill score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onsolas"/>
              </a:rPr>
              <a:t>skill = 1 - MSE_model / MSE_baseline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E8ECF1"/>
                </a:solidFill>
                <a:latin typeface="Malgun Gothic"/>
              </a:rPr>
              <a:t>&gt; 0 모델 우수 · = 0 동률. 오차는 물리 단위로 역정규화해 타겟별로 계산.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2761488"/>
            <a:ext cx="452628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889504"/>
            <a:ext cx="4572000" cy="11430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E8743B"/>
                </a:solidFill>
                <a:latin typeface="Malgun Gothic"/>
              </a:rPr>
              <a:t>두 공동 1차 모집단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FFFFFF"/>
                </a:solidFill>
                <a:latin typeface="Malgun Gothic"/>
              </a:rPr>
              <a:t>컷 = Tᵢ &gt; 3 keV(피팅 실패)를 결측 처리 · 포함 = 컷 없음. 전 arm에 동일 적용.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FFFFF"/>
                </a:solidFill>
                <a:latin typeface="Malgun Gothic"/>
              </a:rPr>
              <a:t>무조건부 주장은 두 모집단 모두에서 성립할 때만 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297680"/>
            <a:ext cx="11201400" cy="18288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407408"/>
            <a:ext cx="1069848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모델 선택 프로토콜 — 규칙을 수치보다 먼저 적는다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46320"/>
            <a:ext cx="10698480" cy="12344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백본 관문: 4조건(4 분할 부호 유지 · 통합 CI 0 제외 · 예산 균등화 · V_rot 손실 없음)을 먼저 고정하고 그다음 충족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유일한 아키텍처 후보(seq_v2 + 관측마스킹 인과 attention): 4/4 양수(+0.009/+0.013/+0.033/+0.020)지만 유의 1/4 → 미승격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50" b="1" i="0">
                <a:solidFill>
                  <a:srgbClr val="C0392B"/>
                </a:solidFill>
                <a:latin typeface="Malgun Gothic"/>
              </a:rPr>
              <a:t>–  val에선 2/2 유의였다 — 승격 bar를 TEST에 두는 이유. 스윕 위에서 백본을 재선정하는 것은 구성상 금지.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●  사다리 칸·폭 스윕의 판정 규칙도 TEST 채점 전에 문서화 — TEST는 결정마다 단 한 번만 채점된다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인과 기준선을 압도하고, 오프라인 평활기와 동률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12</a:t>
            </a:r>
          </a:p>
        </p:txBody>
      </p:sp>
      <p:pic>
        <p:nvPicPr>
          <p:cNvPr id="10" name="Picture 9" descr="fig_rmse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845" y="1298448"/>
            <a:ext cx="9929550" cy="3977639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백본이 두 타겟 모두에서 최저 RMSE. </a:t>
            </a:r>
            <a:r>
              <a:rPr sz="1300" b="0" i="0">
                <a:solidFill>
                  <a:srgbClr val="222B35"/>
                </a:solidFill>
                <a:latin typeface="Malgun Gothic"/>
              </a:rPr>
              <a:t>인과 GP보다 Tᵢ 4% · V_rot 18% 낮고, 미래를 쓰는 오프라인 GP(153.8)와는 동률(157.8)이다.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포함 모집단: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seq_v2 363.0 / 23.7 · PCHIP 412.4 / 30.2 · 인과 GP 394.6 / 28.8 · persistence 478.0 / 33.4 — 스파이크가 Tᵢ RMSE를 두 배 이상 키우지만 순서는 불변.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헤드라인 — Tᵢ는 두 모집단 모두에서 4/4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13</a:t>
            </a:r>
          </a:p>
        </p:txBody>
      </p:sp>
      <p:pic>
        <p:nvPicPr>
          <p:cNvPr id="10" name="Picture 9" descr="fig_for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506" y="1261872"/>
            <a:ext cx="8202228" cy="3520440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50292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4773168"/>
            <a:ext cx="91440" cy="1572768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E9E5B"/>
                </a:solidFill>
                <a:latin typeface="Malgun Gothic"/>
              </a:rPr>
              <a:t>CES_TI — 무조건부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컷 +0.174 / +0.248 / +0.257 / +0.264 (평균 +0.236) ·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+0.225 / +0.238 / +0.292 / +0.316 (평균 +0.268) ·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8개 셀 전부 인과 GP(+0.08~+0.17)·persistence(+0.36~+0.46)도 승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오프라인 GP와는 동률(-0.05~+0.11, 1/8 유의) — 상한을 명시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773168"/>
            <a:ext cx="5486400" cy="1572768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4773168"/>
            <a:ext cx="91440" cy="1572768"/>
          </a:xfrm>
          <a:prstGeom prst="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9944" y="4882896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5B6670"/>
                </a:solidFill>
                <a:latin typeface="Malgun Gothic"/>
              </a:rPr>
              <a:t>CES_VT — 동률 보고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9944" y="5285232"/>
            <a:ext cx="5102352" cy="93268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점추정은 8/8 양수지만 PR4는 컷 1/4 · 포함 2/4 (잡음 수준)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vs persistence 3/4 양쪽(+0.30~+0.50) · vs 인과 GP 2/4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포함 수치가 높은 이유: 스파이크가 보간 앵커를 오염시켜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0" i="0">
                <a:solidFill>
                  <a:srgbClr val="222B35"/>
                </a:solidFill>
                <a:latin typeface="Malgun Gothic"/>
              </a:rPr>
              <a:t>  모든 arm이 PCHIP 대비 더 좋아 보인다 → 결과 ⑥에서 분해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전체격자 프레이밍 vs 윈도 대조군 — 백본 관문 (B.1)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14</a:t>
            </a:r>
          </a:p>
        </p:txBody>
      </p:sp>
      <p:pic>
        <p:nvPicPr>
          <p:cNvPr id="10" name="Picture 9" descr="fig_gate_b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96242"/>
            <a:ext cx="7360920" cy="2899756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909560" y="1298448"/>
            <a:ext cx="3794760" cy="397763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09560" y="1298448"/>
            <a:ext cx="91440" cy="3977639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0" y="1417320"/>
            <a:ext cx="33832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16 run paired 결과 (컷)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874519"/>
            <a:ext cx="3383280" cy="32918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Tᵢ 16/16 양수 · 13/16 유의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분할별 초기화 평균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+0.129 / +0.059 / +0.078 / +0.058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pooled +0.081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run 군집 CI [+0.067, +0.096]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예산 균등화에서도 4/4 부호 유지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+0.063 / +0.033 / +0.045 / +0.030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V_rot 유의 열세 0/16 (우세 8/16)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349240"/>
            <a:ext cx="11201400" cy="1005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5440680"/>
            <a:ext cx="10698480" cy="868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13335F"/>
                </a:solidFill>
                <a:latin typeface="Malgun Gothic"/>
              </a:rPr>
              <a:t>확증 4 분할에서 같은 비교(seq - 윈도):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컷 +0.130 / +0.058 / +0.062 / +0.044, 포함 +0.053 / +0.024 / +0.047 / +0.029 (8/8 양수, 각 2/4 유의).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무엇을 사는가: </a:t>
            </a:r>
            <a:r>
              <a:rPr sz="1250" b="0" i="0">
                <a:solidFill>
                  <a:srgbClr val="222B35"/>
                </a:solidFill>
                <a:latin typeface="Malgun Gothic"/>
              </a:rPr>
              <a:t>윈도 대조군은 인과 GP와 동률(1/4)이지만 시퀀스 백본은 4/4+4/4 — 세그먼트 과거 전체로의 도달거리가 최강 배치 기준선을 이기게 한다. 비용은 음수다(윈도 조립·조합 증강이 없어 학습비 1/10).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5. 결과 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스트레스 2종 — 실제 결측점 재가중(MNAR)과 캠페인(시간) 분할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243584"/>
            <a:ext cx="11247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B35"/>
                </a:solidFill>
                <a:latin typeface="Malgun Gothic"/>
              </a:rPr>
              <a:t>관측점 skill은 낙관적 상한이고, 무작위 분할은 시간 이동을 검사하지 않는다. 배치 주장을 가르는 두 스트레스를 사전에 정해두고 통과 여부를 본다.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783080"/>
            <a:ext cx="91440" cy="22860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E8743B"/>
                </a:solidFill>
                <a:latin typeface="Malgun Gothic"/>
              </a:rPr>
              <a:t>① 실제 결측점으로 재가중 (MNAR)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층 = Δt(15/25/45 ms) × 입력만의 활동 flag,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결측 행의 층 분포로 채점 지점을 재가중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도달: 결측 Tᵢ의 54–68%가 in-domain · V_rot은 4–6%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→ 재가중 V_rot은 결론 없음(결측 질량의 1/20)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persistence: 컷 4/4 · 포함 4/4 (+0.28~+0.44)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Tᵢ vs PCHIP: 컷 2/4 · 포함 4/4 (점추정 +0.14~+0.28)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1783080"/>
            <a:ext cx="5486400" cy="228600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1783080"/>
            <a:ext cx="91440" cy="2286000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55664" y="189280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B6CB0"/>
                </a:solidFill>
                <a:latin typeface="Malgun Gothic"/>
              </a:rPr>
              <a:t>② 캠페인(시간) 분할 — shot 번호로 자름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5664" y="2295144"/>
            <a:ext cx="5102352" cy="1645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train 416 (30801–31991) / val 128 (32002–32310) /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  test 97 (32312–32751) · 초기화 seed 4개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윈도 대조군: 컷 2/4 · 포함 0/4 · 인과 GP 0/4 (붕괴)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컷 +0.187/+0.174/+0.181/+0.177 →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seq_v2 포함 +0.173/+0.202/+0.198/+0.184 →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0" i="0">
                <a:solidFill>
                  <a:srgbClr val="222B35"/>
                </a:solidFill>
                <a:latin typeface="Malgun Gothic"/>
              </a:rPr>
              <a:t>원인은 측정: 드리프트 BES 1.22σ·ECEI 0.53σ vs 타겟 0.115σ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4370832"/>
            <a:ext cx="11201399" cy="384048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434840"/>
            <a:ext cx="3831335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Tᵢ 평가 (컷 · 포함)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1999" y="4434840"/>
            <a:ext cx="351129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PCHIP (오프라인)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599" y="4434840"/>
            <a:ext cx="3419856" cy="2926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algun Gothic"/>
              </a:rPr>
              <a:t>vs 인과 기준선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4828032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무작위 분할 · 관측점 (결과 ②)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1999" y="4828032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+0.17~+0.32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828032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+0.08~+0.17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47691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02920" y="5157216"/>
            <a:ext cx="11201399" cy="402336"/>
          </a:xfrm>
          <a:prstGeom prst="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94360" y="5230368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결측점 재가중 (MNAR)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1999" y="5230368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2/4 · 4/4,  +0.14~+0.28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599" y="5230368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persistence,  +0.28~+0.44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5550027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4360" y="5632704"/>
            <a:ext cx="3831335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캠페인 시간 분할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1999" y="5632704"/>
            <a:ext cx="351129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4/4,  +0.17~+0.20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5632704"/>
            <a:ext cx="3419856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4/4 · 4/4 vs 인과 GP,  +0.11~+0.16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952363"/>
            <a:ext cx="11201399" cy="9525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5980176"/>
            <a:ext cx="1124712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진술: </a:t>
            </a:r>
            <a:r>
              <a:rPr sz="1200" b="0" i="0">
                <a:solidFill>
                  <a:srgbClr val="222B35"/>
                </a:solidFill>
                <a:latin typeface="Malgun Gothic"/>
              </a:rPr>
              <a:t>실제 결측 시점에서 나우캐스터는 모든 인과 CES-only 방법보다 유의하게 낫고, 오프라인 보간보다는 모집단 조건부로 낫다.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Tᵢ ↔ V_rot 정보 비대칭 — 본 연구의 과학적 발견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16</a:t>
            </a:r>
          </a:p>
        </p:txBody>
      </p:sp>
      <p:pic>
        <p:nvPicPr>
          <p:cNvPr id="10" name="Picture 9" descr="fig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195106"/>
            <a:ext cx="6766560" cy="296156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269480" y="1371600"/>
            <a:ext cx="4434840" cy="461772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79" y="1499616"/>
            <a:ext cx="402336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13335F"/>
                </a:solidFill>
                <a:latin typeface="Malgun Gothic"/>
              </a:rPr>
              <a:t>무엇을 지우면 무엇이 사라지나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1965960"/>
            <a:ext cx="4023360" cy="3931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이력은 두 타겟 모두 필수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no_history: Tᵢ -2.11 / -1.16, V_rot -2.89 / -3.51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E8743B"/>
                </a:solidFill>
                <a:latin typeface="Malgun Gothic"/>
              </a:rPr>
              <a:t>●  Tᵢ: 컷 모집단의 마진은 빠른 진단 정보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no_fast -0.125 (paired 4/4 유의 감소)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물리 채널 = 충돌 e–i 결합 (ECEI Tₑ · BES nₑ)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●  포함 모집단엔 스파이크-강건성 성분이 섞임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이력-전용도 PCHIP를 +0.15~+0.23 이김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채널이 더하는 건 0.03–0.09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2B6CB0"/>
                </a:solidFill>
                <a:latin typeface="Malgun Gothic"/>
              </a:rPr>
              <a:t>●  V_rot: 정보는 전부 CES 이력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빠른 채널 0으로 만들면 출력 bit-identical (8/8)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950" b="0" i="0">
                <a:solidFill>
                  <a:srgbClr val="222B35"/>
                </a:solidFill>
                <a:latin typeface="Malgun Gothic"/>
              </a:rPr>
              <a:t>–  NBI 토크 미관측 + Mirnov 100 Hz 앨리어싱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500"/>
              </a:spcAft>
            </a:pPr>
            <a:r>
              <a:rPr sz="1150" b="1" i="0">
                <a:solidFill>
                  <a:srgbClr val="13335F"/>
                </a:solidFill>
                <a:latin typeface="Malgun Gothic"/>
              </a:rPr>
              <a:t>●  V_rot의 비-승리는 실패가 아니라 발견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복잡도 사다리와 크기 축 — 상한은 추정기가 아니라 정보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17</a:t>
            </a:r>
          </a:p>
        </p:txBody>
      </p:sp>
      <p:pic>
        <p:nvPicPr>
          <p:cNvPr id="10" name="Picture 9" descr="fig_ladder_scal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82553"/>
            <a:ext cx="6903720" cy="2985302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452360" y="1243584"/>
            <a:ext cx="4251960" cy="30632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452360" y="1243584"/>
            <a:ext cx="91440" cy="306324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1344168"/>
            <a:ext cx="384048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13335F"/>
                </a:solidFill>
                <a:latin typeface="Malgun Gothic"/>
              </a:rPr>
              <a:t>Tᵢ skill (컷 / 포함)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Persistence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1847088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04120" y="1847088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-0.264 / -0.288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Anchor+Δ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231136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1,258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2231136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5B6670"/>
                </a:solidFill>
                <a:latin typeface="Consolas"/>
              </a:rPr>
              <a:t>-0.261 / -0.287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b3k8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2615184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21,498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04120" y="2615184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E9E5B"/>
                </a:solidFill>
                <a:latin typeface="Consolas"/>
              </a:rPr>
              <a:t>+0.237 / +0.126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222B35"/>
                </a:solidFill>
                <a:latin typeface="Malgun Gothic"/>
              </a:rPr>
              <a:t>윈도 대조군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999232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201,258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04120" y="2999232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222B35"/>
                </a:solidFill>
                <a:latin typeface="Consolas"/>
              </a:rPr>
              <a:t>+0.173 / +0.238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8096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seq_v2 백본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383279"/>
            <a:ext cx="91440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5B6670"/>
                </a:solidFill>
                <a:latin typeface="Consolas"/>
              </a:rPr>
              <a:t>357,570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3383279"/>
            <a:ext cx="1508760" cy="329184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13335F"/>
                </a:solidFill>
                <a:latin typeface="Consolas"/>
              </a:rPr>
              <a:t>+0.236 / +0.268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0" y="3822191"/>
            <a:ext cx="3840480" cy="7315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22B35"/>
                </a:solidFill>
                <a:latin typeface="Malgun Gothic"/>
              </a:rPr>
              <a:t>b3 - anchor: 컷 +0.35~+0.42 · 포함 +0.29~+0.34 (양쪽 4/4 유의)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02920" y="4434840"/>
            <a:ext cx="91440" cy="1874519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40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B9E8A"/>
                </a:solidFill>
                <a:latin typeface="Malgun Gothic"/>
              </a:rPr>
              <a:t>컷: 백본의 Tᵢ skill 전부가 유계 수 8개 + persistence로 압축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0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b3 - seq_v2 평균 +0.002 (CI 전부 0 포함) · PR4 4/4 · 인과 GP 4/4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probe: latent은 직전 Tᵢ(R² 0.47–0.75)와 ECEI Tₑ(0.31–0.48)를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분산 부호화 · 보정은 예측 분산의 25–39%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포함에선 -0.194 (4/4 유의): 유계 보정으로는 스파이크 앵커를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못 살린다 — ≈1% 행이 모든 arm SSE의 70–83%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4434840"/>
            <a:ext cx="5486400" cy="1874519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4434840"/>
            <a:ext cx="91440" cy="1874519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4544568"/>
            <a:ext cx="5120640" cy="36576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E8743B"/>
                </a:solidFill>
                <a:latin typeface="Malgun Gothic"/>
              </a:rPr>
              <a:t>크기는 무효 — 크기 축을 닫는다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4946904"/>
            <a:ext cx="5102352" cy="12344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Tᵢ 인코더 폭 24 / 40 / 80 / 160 / 260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  = 34k / 49k / 114k / 358k / 879k 파라미터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 +0.230 / +0.236 / +0.235 / +0.236 / +0.230 (컷)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160 대비 ±0.008 · 최대 폭 유의 우세 1/4 · V_rot 불변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→ 남은 분산은 모델 크기가 아니라 분할 분산이다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우위는 고변동(peak) 구간에 집중된다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18</a:t>
            </a:r>
          </a:p>
        </p:txBody>
      </p:sp>
      <p:pic>
        <p:nvPicPr>
          <p:cNvPr id="10" name="Picture 9" descr="fig_pea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326263"/>
            <a:ext cx="6766560" cy="2571233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315200" y="1417320"/>
            <a:ext cx="43891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43800" y="1554480"/>
            <a:ext cx="3977639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어디서 가치를 버는가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43800" y="2057400"/>
            <a:ext cx="3977639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peak = 입력 기반 고-국소활동 이웃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타겟 행 자체는 제외 — 보수적 영역 프록시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B9E8A"/>
                </a:solidFill>
                <a:latin typeface="Malgun Gothic"/>
              </a:rPr>
              <a:t>●  Tᵢ peak: 컷 +0.45~+0.61 · 포함 +0.62~+0.72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2E9E5B"/>
                </a:solidFill>
                <a:latin typeface="Malgun Gothic"/>
              </a:rPr>
              <a:t>–  8/8 셀 PASS — 무조건부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Tᵢ 본류: +0.09~+0.20(컷 4/4) · +0.06~+0.19(포함 2/4)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 peak: +0.54~+0.79 (8/8 양수, PASS 각 2/4)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persistence 대비는 +0.75~+0.86, 8/8 PASS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본류는 ≈0 (-0.07~+0.15, 0/8)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보간은 매끄러운 본류에서 이미 최적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1" i="0">
                <a:solidFill>
                  <a:srgbClr val="13335F"/>
                </a:solidFill>
                <a:latin typeface="Malgun Gothic"/>
              </a:rPr>
              <a:t>–  비대칭은 전역이 아니라 지역적이다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5. 결과 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급변 구간을 눈으로 — held-out TEST shot #31815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19</a:t>
            </a:r>
          </a:p>
        </p:txBody>
      </p:sp>
      <p:pic>
        <p:nvPicPr>
          <p:cNvPr id="10" name="Picture 9" descr="fig_transient_seq_3181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0353"/>
            <a:ext cx="6537960" cy="4857374"/>
          </a:xfrm>
          <a:prstGeom prst="rect">
            <a:avLst/>
          </a:prstGeom>
        </p:spPr>
      </p:pic>
      <p:sp>
        <p:nvSpPr>
          <p:cNvPr id="11" name="Rounded Rectangle 10"/>
          <p:cNvSpPr/>
          <p:nvPr/>
        </p:nvSpPr>
        <p:spPr>
          <a:xfrm>
            <a:off x="7086600" y="1417320"/>
            <a:ext cx="4617720" cy="443484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0" y="1554480"/>
            <a:ext cx="420624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3335F"/>
                </a:solidFill>
                <a:latin typeface="Malgun Gothic"/>
              </a:rPr>
              <a:t>한 shot에서 실제로 벌어지는 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2057400"/>
            <a:ext cx="4206240" cy="3749039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빠른 진단이 급변을 먼저 본다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BES 급락(빨간 점선)이 CES crash와 정렬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PCHIP는 스파이크마다 overshoot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과거+미래를 다 보는 오프라인 보간인데도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E9E5B"/>
                </a:solidFill>
                <a:latin typeface="Malgun Gothic"/>
              </a:rPr>
              <a:t>●  모델은 세그먼트 과거 + 빠른 진단만 쓰는 causal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Tᵢ: RMSE 199.2 vs PCHIP 262.3 → skill +0.42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n = 395 실측점 (genuine, 컷 후)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2B6CB0"/>
                </a:solidFill>
                <a:latin typeface="Malgun Gothic"/>
              </a:rPr>
              <a:t>●  V_rot: 17.3 vs 19.5 → skill +0.21 (n = 149)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V_rot 관측이 끊기면 이력만으로 완만히 감쇠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우위는 gap·peak에 집중 (결과 ⑦과 일관)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6. 결론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정직한 결론 (4가지)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1417320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572768"/>
            <a:ext cx="768096" cy="768096"/>
          </a:xfrm>
          <a:prstGeom prst="round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572768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0200" y="1517904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Tᵢ: 미래를 쓰는 보간을 두 모집단 모두에서 유의하게 능가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1901952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skill_vs_pchip 컷 +0.17~+0.26 · 포함 +0.23~+0.32, 4개 독립 분할 전부 shot 군집 95% CI가 0 제외(4/4+4/4). 인과 GP는 8/8 셀에서 이기고, 최강 오프라인 평활기(GP)와는 동률 — 상한도 함께 보고한다.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24328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8368" y="2779776"/>
            <a:ext cx="768096" cy="768096"/>
          </a:xfrm>
          <a:prstGeom prst="round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779776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2724912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배치 주장이 이제 두 스트레스를 모두 견딘다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00200" y="3108960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실제 결측 in-domain 시점에서 인과 방법 대비 8/8 생존, 캠페인 경계 너머 PCHIP·인과 GP 대비 4/4+4/4. 대체된 윈도 대조군은 오프라인 우위를 완전히 잃었고(2/4·0/4) 그 차이는 측정됐다(빠른 진단 5–11× 드리프트).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831336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58368" y="3986784"/>
            <a:ext cx="768096" cy="768096"/>
          </a:xfrm>
          <a:prstGeom prst="roundRect">
            <a:avLst/>
          </a:prstGeom>
          <a:solidFill>
            <a:srgbClr val="5B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" y="3986784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3931920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V_rot: 전역 동률 — skill은 천이 구간에만 있다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00200" y="4315968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PCHIP 대비 1/4·2/4(잡음 수준)이지만 &gt;15 ms 간극과 peak 층에서는 두 모집단 모두 이긴다. 빠른 채널을 0으로 해도 출력이 bit-identical — Tᵢ↔V_rot 정보 비대칭은 물리로 예측되고 절제로 확인됐다.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5038344"/>
            <a:ext cx="11155680" cy="1078992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58368" y="5193792"/>
            <a:ext cx="768096" cy="768096"/>
          </a:xfrm>
          <a:prstGeom prst="round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" y="5193792"/>
            <a:ext cx="768096" cy="768096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00200" y="5138928"/>
            <a:ext cx="9966960" cy="38404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3335F"/>
                </a:solidFill>
                <a:latin typeface="Malgun Gothic"/>
              </a:rPr>
              <a:t>상한은 추정기가 아니라 정보 — 남은 레버는 데이터다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5522976"/>
            <a:ext cx="9966960" cy="56692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222B35"/>
                </a:solidFill>
                <a:latin typeface="Malgun Gothic"/>
              </a:rPr>
              <a:t>21,498 파라미터 b3k8이 컷에서 백본과 동급(+0.002)이고 폭 34k→879k는 평평(±0.01) → 크기 축은 닫혔다. 남은 셋: CES 피팅 품질 메타데이터 · 원본 kHz Mirnov · NBI 토크 채널.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170432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82880"/>
            <a:ext cx="11247120" cy="31089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13335F"/>
                </a:solidFill>
                <a:latin typeface="Malgun Gothic"/>
              </a:rPr>
              <a:t>7. 한계 &amp; 향후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457200"/>
            <a:ext cx="11338560" cy="6583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13335F"/>
                </a:solidFill>
                <a:latin typeface="Malgun Gothic"/>
              </a:rPr>
              <a:t>무엇을 인정하고, 다음에 무엇을 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078992"/>
            <a:ext cx="11201400" cy="25400"/>
          </a:xfrm>
          <a:prstGeom prst="rect">
            <a:avLst/>
          </a:prstGeom>
          <a:solidFill>
            <a:srgbClr val="E8EC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731520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AA5B1"/>
                </a:solidFill>
                <a:latin typeface="Malgun Gothic"/>
              </a:rPr>
              <a:t>KSTAR CES Nowcasting — 다중진단 기반 CES 결측 구간 예측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455664"/>
            <a:ext cx="10972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9AA5B1"/>
                </a:solidFill>
                <a:latin typeface="Malgun Gothic"/>
              </a:rPr>
              <a:t>21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371600"/>
            <a:ext cx="109728" cy="35661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0392B"/>
                </a:solidFill>
                <a:latin typeface="Malgun Gothic"/>
              </a:rPr>
              <a:t>한계 — 논문이 먼저 인정하는 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검정력: test 방전 96(Tᵢ) / 60–66(V_rot)이 모든 유의성의 구속조건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포함 모집단에선 ≈1% 행이 SSE의 70–83%를 담는다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MNAR 낙관: 재가중 도달은 Tᵢ 54–68% · V_rot 4–6%뿐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오프라인 주장의 상한은 GP 동률 (1/8 유의)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값 컷은 일방향 프록시 — V_rot 스파이크는 남는다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캠페인은 한 시간 블록 위 초기화 4개 · 컷 run 2/4 상한 종료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conformal은 marginal coverage · 지연은 네트워크만 측정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단일 장치 · 두 순환 계열 · 지표 비대칭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범위: 페데스탈 상단 프레이밍 — 이벤트-위상 분석은 후속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371600"/>
            <a:ext cx="5486400" cy="3566160"/>
          </a:xfrm>
          <a:prstGeom prst="roundRect">
            <a:avLst/>
          </a:prstGeom>
          <a:solidFill>
            <a:srgbClr val="F4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371600"/>
            <a:ext cx="109728" cy="3566160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1481328"/>
            <a:ext cx="5029200" cy="4114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B9E8A"/>
                </a:solidFill>
                <a:latin typeface="Malgun Gothic"/>
              </a:rPr>
              <a:t>향후 — 남은 레버는 전부 데이터다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46520" y="1938528"/>
            <a:ext cx="5074920" cy="2834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13335F"/>
                </a:solidFill>
                <a:latin typeface="Malgun Gothic"/>
              </a:rPr>
              <a:t>●  음성 결과는 그것을 뒤집을 측정을 지목할 때만 결론이 된다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① CES 피팅 품질 메타데이터 (χ² · 신호 수준)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값 컷을 품질 컷으로 대체하면 두 모집단이 하나로 합쳐진다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② 원본 kHz Mirnov 특징 — V_rot 최상위 레버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윈도 RMS · 대역 파워 · 모드 수 · 모드 회전 주파수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lag-1 자기상관 BES +0.568 / ECEI +0.572 vs Mirnov -0.009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아카이브 데이터로 검정 가능 (파일럿→확대 사전등록)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E8743B"/>
                </a:solidFill>
                <a:latin typeface="Malgun Gothic"/>
              </a:rPr>
              <a:t>●  ③ NBI 토크 채널 확보 — 회전의 원인 변수</a:t>
            </a:r>
          </a:p>
          <a:p>
            <a:pPr algn="l" lvl="1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000" b="0" i="0">
                <a:solidFill>
                  <a:srgbClr val="222B35"/>
                </a:solidFill>
                <a:latin typeface="Malgun Gothic"/>
              </a:rPr>
              <a:t>–  Tₑ~Tᵢ r = +0.353 vs Tₑ~V_rot r = +0.024 → power ≠ torque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200" b="1" i="0">
                <a:solidFill>
                  <a:srgbClr val="5B6670"/>
                </a:solidFill>
                <a:latin typeface="Malgun Gothic"/>
              </a:rPr>
              <a:t>●  크기 축은 닫혔다: 21k = 백본(컷) · 폭 26× 평평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084064"/>
            <a:ext cx="11201400" cy="859536"/>
          </a:xfrm>
          <a:prstGeom prst="round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5166360"/>
            <a:ext cx="10698480" cy="74980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1" i="0">
                <a:solidFill>
                  <a:srgbClr val="E8743B"/>
                </a:solidFill>
                <a:latin typeface="Malgun Gothic"/>
              </a:rPr>
              <a:t>결정 기록 (2026-08-16)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0">
                <a:solidFill>
                  <a:srgbClr val="FFFFFF"/>
                </a:solidFill>
                <a:latin typeface="Malgun Gothic"/>
              </a:rPr>
              <a:t>① 두 모집단 공동 1차 유지 ② V_rot 프로토콜 불변(재학습 없음, anchored 비교엔 SSE 비중 병기) ③ B.6 kHz Mirnov 미도착 — 대기.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3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868680"/>
            <a:ext cx="2011680" cy="50800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051560"/>
            <a:ext cx="10515600" cy="548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Malgun Gothic"/>
              </a:rPr>
              <a:t>한 장 요약 — Key Takeaways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1965960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25880" y="188366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항상 있는 빠른 진단으로 자주 비는 CES를 채우는, 엄격히 인과적인 가상 센서</a:t>
            </a:r>
          </a:p>
        </p:txBody>
      </p:sp>
      <p:sp>
        <p:nvSpPr>
          <p:cNvPr id="8" name="Rectangle 7"/>
          <p:cNvSpPr/>
          <p:nvPr/>
        </p:nvSpPr>
        <p:spPr>
          <a:xfrm>
            <a:off x="868680" y="2532888"/>
            <a:ext cx="256032" cy="256032"/>
          </a:xfrm>
          <a:prstGeom prst="rect">
            <a:avLst/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2450592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Tᵢ는 미래를 쓰는 PCHIP를 두 모집단 4/4+4/4로 능가 (+0.17~+0.32), 인과 GP는 8/8</a:t>
            </a:r>
          </a:p>
        </p:txBody>
      </p:sp>
      <p:sp>
        <p:nvSpPr>
          <p:cNvPr id="10" name="Rectangle 9"/>
          <p:cNvSpPr/>
          <p:nvPr/>
        </p:nvSpPr>
        <p:spPr>
          <a:xfrm>
            <a:off x="868680" y="3099816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25880" y="3017520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두 스트레스 생존: 결측 재가중 인과 대비 8/8 · 캠페인 분할 4/4+4/4 (윈도 대조군은 붕괴)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3666744"/>
            <a:ext cx="256032" cy="256032"/>
          </a:xfrm>
          <a:prstGeom prst="rect">
            <a:avLst/>
          </a:prstGeom>
          <a:solidFill>
            <a:srgbClr val="1B9E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25880" y="3584448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V_rot는 전역 동률 — 빠른 진단에 회전 정보가 없다는 Tᵢ↔V_rot 비대칭 (발견)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" y="4233672"/>
            <a:ext cx="256032" cy="256032"/>
          </a:xfrm>
          <a:prstGeom prst="rect">
            <a:avLst/>
          </a:prstGeom>
          <a:solidFill>
            <a:srgbClr val="E87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151376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가치는 peak·간극에 집중 · CPU 1-step p99 1.61 ms · conformal 32/32 셀 우위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68680" y="4800600"/>
            <a:ext cx="256032" cy="256032"/>
          </a:xfrm>
          <a:prstGeom prst="rect">
            <a:avLst/>
          </a:prstGeom>
          <a:solidFill>
            <a:srgbClr val="2B6C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25880" y="4718304"/>
            <a:ext cx="10058400" cy="5029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FFFFFF"/>
                </a:solidFill>
                <a:latin typeface="Malgun Gothic"/>
              </a:rPr>
              <a:t>상한은 추정기가 아니라 정보: 21k = 백본(컷), 폭 26× 평평 → 다음은 데이터 레버 3종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5623560"/>
            <a:ext cx="10515600" cy="25400"/>
          </a:xfrm>
          <a:prstGeom prst="rect">
            <a:avLst/>
          </a:prstGeom>
          <a:solidFill>
            <a:srgbClr val="2A47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806440"/>
            <a:ext cx="10515600" cy="6400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Malgun Gothic"/>
              </a:rPr>
              <a:t>감사합니다.  </a:t>
            </a:r>
            <a:r>
              <a:rPr sz="2000" b="1" i="0">
                <a:solidFill>
                  <a:srgbClr val="E8743B"/>
                </a:solidFill>
                <a:latin typeface="Malgun Gothic"/>
              </a:rPr>
              <a:t>Q &amp; 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