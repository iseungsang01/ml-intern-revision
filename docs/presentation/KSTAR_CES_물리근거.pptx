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결론 한 문장을 먼저 말한다. 뒤의 모든 장은 이 문장을 증명하는 자리다.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장만 보고 나가도 되게 만든 장이다. 여섯 카드는 각각 뒤의 한 장과 대응한다.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열 증명 가운데 두 개(P03·P07)는 가설 일부가 기각되었다. 그것을 먼저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결과를 설명하기 전에 도구를 만든다. 다섯 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측정 원리가 문제를 만든다. 광자 통계가 시간 분해능과 정밀도를 교환시킨다.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측정이 에너지식에서는 신호를 잡으므로 회전의 null은 방법의 한계가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식의 형태는 장치와 무관하고 계수는 전부 장치·계기 고유다. 이것이 P09의 전제이기도 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P08의 D와 P01의 항등식이 이 덱의 두 핵심 식이다. 뒤의 결과 장은 이 둘의 적용이다.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가설 하나가 기각된 장이다. 기각을 숨기지 않는 것이 이 덱의 신뢰 근거다.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도구로 결과를 설명한다. 일곱 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헤드라인을 '꼬리에서 온다'(§8ax)에서 '천이 물리에서 온다'로 한 단계 더 물리로 내린 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V_rot의 네 판정이 전부 한 식의 귀결이라는 것이 이 장이다. 실패가 아니라 식의 결과다.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§8an이 '절반의 이유'로 남긴 잔여를 p_obs·r·κ의 곱으로 메운 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용량 축이 평평했던 이유의 정보론 판본이다. 뽑을 선형 정보가 다 뽑혔다.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결과 모두 플라즈마가 아니라 계측과 압력 한계가 설명한다는 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MNAR을 라벨이 아니라 N(t)·B(t)의 식으로 쓴 장이다. ECEI 증분이 결측을 예측하지 못한 것도 기록했다.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장치 간 전이를 다시 시도하지 않을 근거를 무차원수로 적은 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증명이 기록에서 고친 것과 다음에 재야 할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정정을 숨기지 않고 먼저 말한다. 판정은 그대로다.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여덟 측정 모두 재학습 없이 입력과 채점으로 시작할 수 있다. 데이터 획득 쪽이 다섯이다.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어디에 무엇이 있는지로 덱을 닫는다.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2011680" cy="36576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결과를 받치는 물리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E8743B"/>
                </a:solidFill>
                <a:latin typeface="Malgun Gothic"/>
              </a:rPr>
              <a:t>KSTAR CES 나우캐스팅 · 열 개의 증명과 하나의 시간영역 모형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8ECF1"/>
                </a:solidFill>
                <a:latin typeface="Malgun Gothic"/>
              </a:rPr>
              <a:t>연구의 모든 수치 결과를 플라즈마의 보존식에서 시간 t의 식으로 유도하고, 641개 방전과 얼린 TEST 산출물로 각 유도를 검산한 결과를 보고한다. 모델은 학습·채점·선택하지 않았다.</a:t>
            </a:r>
          </a:p>
        </p:txBody>
      </p:sp>
      <p:sp>
        <p:nvSpPr>
          <p:cNvPr id="8" name="KIT.band"/>
          <p:cNvSpPr/>
          <p:nvPr/>
        </p:nvSpPr>
        <p:spPr>
          <a:xfrm>
            <a:off x="475488" y="4754880"/>
            <a:ext cx="11237976" cy="71323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T.bandbar"/>
          <p:cNvSpPr/>
          <p:nvPr/>
        </p:nvSpPr>
        <p:spPr>
          <a:xfrm>
            <a:off x="475488" y="4754880"/>
            <a:ext cx="54864" cy="71323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bandtext"/>
          <p:cNvSpPr txBox="1"/>
          <p:nvPr/>
        </p:nvSpPr>
        <p:spPr>
          <a:xfrm>
            <a:off x="658368" y="4846320"/>
            <a:ext cx="10908792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43B"/>
                </a:solidFill>
                <a:latin typeface="Malgun Gothic"/>
              </a:rPr>
              <a:t>이 덱의 결론  </a:t>
            </a:r>
            <a:r>
              <a:rPr sz="1150" b="0">
                <a:solidFill>
                  <a:srgbClr val="222B35"/>
                </a:solidFill>
                <a:latin typeface="Malgun Gothic"/>
              </a:rPr>
              <a:t>두 타깃은 같은 식을 따르되 우변이 다르다. 이온 온도의 우변은 빠른 진단이 보고, 회전의 우변은 데이터에 없다. 그 한 사실이 모든 결과를 정한다.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70448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9AA5B1"/>
                </a:solidFill>
                <a:latin typeface="Malgun Gothic"/>
              </a:rPr>
              <a:t>이승상 · 서울대학교 원자핵공학과 · 2026-10-13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T.footrule"/>
          <p:cNvSpPr/>
          <p:nvPr/>
        </p:nvSpPr>
        <p:spPr>
          <a:xfrm>
            <a:off x="475488" y="6382512"/>
            <a:ext cx="11237976" cy="10972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T.footer"/>
          <p:cNvSpPr txBox="1"/>
          <p:nvPr/>
        </p:nvSpPr>
        <p:spPr>
          <a:xfrm>
            <a:off x="475488" y="6455664"/>
            <a:ext cx="1032357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Malgun Gothic"/>
              </a:rPr>
              <a:t>KSTAR CES 나우캐스팅 · 물리 근거 덱 (§8ba · §8bb)</a:t>
            </a:r>
          </a:p>
        </p:txBody>
      </p:sp>
      <p:sp>
        <p:nvSpPr>
          <p:cNvPr id="5" name="KIT.pageno"/>
          <p:cNvSpPr txBox="1"/>
          <p:nvPr/>
        </p:nvSpPr>
        <p:spPr>
          <a:xfrm>
            <a:off x="10799063" y="6455664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Consolas"/>
              </a:rPr>
              <a:t>1</a:t>
            </a:r>
          </a:p>
        </p:txBody>
      </p:sp>
      <p:sp>
        <p:nvSpPr>
          <p:cNvPr id="6" name="KIT.title"/>
          <p:cNvSpPr txBox="1"/>
          <p:nvPr/>
        </p:nvSpPr>
        <p:spPr>
          <a:xfrm>
            <a:off x="475488" y="457200"/>
            <a:ext cx="11237976" cy="65836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3335F"/>
                </a:solidFill>
                <a:latin typeface="Malgun Gothic"/>
              </a:rPr>
              <a:t>모든 결과는 보존식 우변에 관측 가능한 항이 있는가로 설명된다</a:t>
            </a:r>
          </a:p>
        </p:txBody>
      </p:sp>
      <p:sp>
        <p:nvSpPr>
          <p:cNvPr id="7" name="KIT.rule"/>
          <p:cNvSpPr/>
          <p:nvPr/>
        </p:nvSpPr>
        <p:spPr>
          <a:xfrm>
            <a:off x="475488" y="1115568"/>
            <a:ext cx="2011680" cy="36576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T.lead"/>
          <p:cNvSpPr txBox="1"/>
          <p:nvPr/>
        </p:nvSpPr>
        <p:spPr>
          <a:xfrm>
            <a:off x="475488" y="1298448"/>
            <a:ext cx="11237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0"/>
                </a:solidFill>
                <a:latin typeface="Malgun Gothic"/>
              </a:rPr>
              <a:t>열 개의 독립 증명이 결과 하나씩을 제1원리에서 유도하고 데이터로 검산하였다. 여섯 카드가 그 요지이며, 각 카드는 뒤의 한 장으로 받쳐진다.</a:t>
            </a:r>
          </a:p>
        </p:txBody>
      </p:sp>
      <p:sp>
        <p:nvSpPr>
          <p:cNvPr id="9" name="KIT.card"/>
          <p:cNvSpPr/>
          <p:nvPr/>
        </p:nvSpPr>
        <p:spPr>
          <a:xfrm>
            <a:off x="475488" y="1792224"/>
            <a:ext cx="3624071" cy="151790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cardbar"/>
          <p:cNvSpPr/>
          <p:nvPr/>
        </p:nvSpPr>
        <p:spPr>
          <a:xfrm>
            <a:off x="475488" y="1792224"/>
            <a:ext cx="54864" cy="1517904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T.cardtext"/>
          <p:cNvSpPr txBox="1"/>
          <p:nvPr/>
        </p:nvSpPr>
        <p:spPr>
          <a:xfrm>
            <a:off x="658368" y="1911095"/>
            <a:ext cx="3294887" cy="12984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3335F"/>
                </a:solidFill>
                <a:latin typeface="Malgun Gothic"/>
              </a:rPr>
              <a:t>① 하나의 식, 두 개의 우변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dy/dt = -(y-m)/τ + 잡음 + ELM 충격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Tᵢ의 m·충격은 Tₑ·nₑ가 정하고 ECEI·BES가 본다.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V_rot의 것은 토크가 정하며 데이터에 없다.</a:t>
            </a:r>
          </a:p>
        </p:txBody>
      </p:sp>
      <p:sp>
        <p:nvSpPr>
          <p:cNvPr id="12" name="KIT.card"/>
          <p:cNvSpPr/>
          <p:nvPr/>
        </p:nvSpPr>
        <p:spPr>
          <a:xfrm>
            <a:off x="4282439" y="1792224"/>
            <a:ext cx="3624071" cy="151790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IT.cardbar"/>
          <p:cNvSpPr/>
          <p:nvPr/>
        </p:nvSpPr>
        <p:spPr>
          <a:xfrm>
            <a:off x="4282439" y="1792224"/>
            <a:ext cx="54864" cy="151790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IT.cardtext"/>
          <p:cNvSpPr txBox="1"/>
          <p:nvPr/>
        </p:nvSpPr>
        <p:spPr>
          <a:xfrm>
            <a:off x="4465320" y="1911095"/>
            <a:ext cx="3294887" cy="12984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E9E5B"/>
                </a:solidFill>
                <a:latin typeface="Malgun Gothic"/>
              </a:rPr>
              <a:t>② Tᵢ 헤드라인은 천이 물리다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+0.24의 90~114 %가 ELM·천이 행에서 온다.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조용한 절반에서는 보간에 4/4 지고,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상위 5 % 천이 행에서는 4/4 이긴다.</a:t>
            </a:r>
          </a:p>
        </p:txBody>
      </p:sp>
      <p:sp>
        <p:nvSpPr>
          <p:cNvPr id="15" name="KIT.card"/>
          <p:cNvSpPr/>
          <p:nvPr/>
        </p:nvSpPr>
        <p:spPr>
          <a:xfrm>
            <a:off x="8089391" y="1792224"/>
            <a:ext cx="3624071" cy="151790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KIT.cardbar"/>
          <p:cNvSpPr/>
          <p:nvPr/>
        </p:nvSpPr>
        <p:spPr>
          <a:xfrm>
            <a:off x="8089391" y="1792224"/>
            <a:ext cx="54864" cy="151790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IT.cardtext"/>
          <p:cNvSpPr txBox="1"/>
          <p:nvPr/>
        </p:nvSpPr>
        <p:spPr>
          <a:xfrm>
            <a:off x="8272271" y="1911095"/>
            <a:ext cx="3294887" cy="12984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E8743B"/>
                </a:solidFill>
                <a:latin typeface="Malgun Gothic"/>
              </a:rPr>
              <a:t>③ V_rot 판정은 토크 부재의 귀결이다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최적 인과 예측은 이력의 잡음 필터다.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중앙값 하한 0.92 위에 모델 1.14가 앉고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집계 양수는 상위 1 % 행(105행)이 준다.</a:t>
            </a:r>
          </a:p>
        </p:txBody>
      </p:sp>
      <p:sp>
        <p:nvSpPr>
          <p:cNvPr id="18" name="KIT.card"/>
          <p:cNvSpPr/>
          <p:nvPr/>
        </p:nvSpPr>
        <p:spPr>
          <a:xfrm>
            <a:off x="475488" y="3474720"/>
            <a:ext cx="3624071" cy="151790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KIT.cardbar"/>
          <p:cNvSpPr/>
          <p:nvPr/>
        </p:nvSpPr>
        <p:spPr>
          <a:xfrm>
            <a:off x="475488" y="3474720"/>
            <a:ext cx="54864" cy="15179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IT.cardtext"/>
          <p:cNvSpPr txBox="1"/>
          <p:nvPr/>
        </p:nvSpPr>
        <p:spPr>
          <a:xfrm>
            <a:off x="658368" y="3593592"/>
            <a:ext cx="3294887" cy="12984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B6CB0"/>
                </a:solidFill>
                <a:latin typeface="Malgun Gothic"/>
              </a:rPr>
              <a:t>④ 빠른 진단 이득 +0.05는 한계 안이다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상호정보 선형 한계 +0.047~+0.056.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측정 +0.048이 그 안에 앉는다.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비선형 초과분은 관측되지 않는다.</a:t>
            </a:r>
          </a:p>
        </p:txBody>
      </p:sp>
      <p:sp>
        <p:nvSpPr>
          <p:cNvPr id="21" name="KIT.card"/>
          <p:cNvSpPr/>
          <p:nvPr/>
        </p:nvSpPr>
        <p:spPr>
          <a:xfrm>
            <a:off x="4282439" y="3474720"/>
            <a:ext cx="3624071" cy="151790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IT.cardbar"/>
          <p:cNvSpPr/>
          <p:nvPr/>
        </p:nvSpPr>
        <p:spPr>
          <a:xfrm>
            <a:off x="4282439" y="3474720"/>
            <a:ext cx="54864" cy="1517904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IT.cardtext"/>
          <p:cNvSpPr txBox="1"/>
          <p:nvPr/>
        </p:nvSpPr>
        <p:spPr>
          <a:xfrm>
            <a:off x="4465320" y="3593592"/>
            <a:ext cx="3294887" cy="12984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9E8A"/>
                </a:solidFill>
                <a:latin typeface="Malgun Gothic"/>
              </a:rPr>
              <a:t>⑤ 50 ms는 필터가 아니라 ELM 척도다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필터 수렴은 2~3 스텝에서 끝나 26~43 %만 설명.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나머지는 ELM 회복 60 ms와 결합 18~39 ms.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자릿수 정합까지만 주장한다.</a:t>
            </a:r>
          </a:p>
        </p:txBody>
      </p:sp>
      <p:sp>
        <p:nvSpPr>
          <p:cNvPr id="24" name="KIT.card"/>
          <p:cNvSpPr/>
          <p:nvPr/>
        </p:nvSpPr>
        <p:spPr>
          <a:xfrm>
            <a:off x="8089391" y="3474720"/>
            <a:ext cx="3624071" cy="151790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KIT.cardbar"/>
          <p:cNvSpPr/>
          <p:nvPr/>
        </p:nvSpPr>
        <p:spPr>
          <a:xfrm>
            <a:off x="8089391" y="3474720"/>
            <a:ext cx="54864" cy="15179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IT.cardtext"/>
          <p:cNvSpPr txBox="1"/>
          <p:nvPr/>
        </p:nvSpPr>
        <p:spPr>
          <a:xfrm>
            <a:off x="8272271" y="3593592"/>
            <a:ext cx="3294887" cy="12984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C0392B"/>
                </a:solidFill>
                <a:latin typeface="Malgun Gothic"/>
              </a:rPr>
              <a:t>⑥ 기록 정정 두 건이 나왔다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PR2 폴백 43 %는 집계 인공물(실제 0.3~0.5 %).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긴 간극의 V_rot 회복은 빠른 채널이 아니라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양측 라벨 문맥이다. 원장에 주석을 달았다.</a:t>
            </a:r>
          </a:p>
        </p:txBody>
      </p:sp>
      <p:sp>
        <p:nvSpPr>
          <p:cNvPr id="27" name="KIT.band"/>
          <p:cNvSpPr/>
          <p:nvPr/>
        </p:nvSpPr>
        <p:spPr>
          <a:xfrm>
            <a:off x="475488" y="5193792"/>
            <a:ext cx="11237976" cy="71323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IT.bandbar"/>
          <p:cNvSpPr/>
          <p:nvPr/>
        </p:nvSpPr>
        <p:spPr>
          <a:xfrm>
            <a:off x="475488" y="5193792"/>
            <a:ext cx="54864" cy="71323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KIT.bandtext"/>
          <p:cNvSpPr txBox="1"/>
          <p:nvPr/>
        </p:nvSpPr>
        <p:spPr>
          <a:xfrm>
            <a:off x="658368" y="5285231"/>
            <a:ext cx="10908792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43B"/>
                </a:solidFill>
                <a:latin typeface="Malgun Gothic"/>
              </a:rPr>
              <a:t>산출물  </a:t>
            </a:r>
            <a:r>
              <a:rPr sz="1150" b="0">
                <a:solidFill>
                  <a:srgbClr val="222B35"/>
                </a:solidFill>
                <a:latin typeface="Malgun Gothic"/>
              </a:rPr>
              <a:t>문서 3편(foundations · plasma_physics · results_physics) · 증명 스크립트 10폴더 · 원장 §8ba·§8bb · 검산 analyze_foundations.py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T.footrule"/>
          <p:cNvSpPr/>
          <p:nvPr/>
        </p:nvSpPr>
        <p:spPr>
          <a:xfrm>
            <a:off x="475488" y="6382512"/>
            <a:ext cx="11237976" cy="10972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T.footer"/>
          <p:cNvSpPr txBox="1"/>
          <p:nvPr/>
        </p:nvSpPr>
        <p:spPr>
          <a:xfrm>
            <a:off x="475488" y="6455664"/>
            <a:ext cx="1032357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Malgun Gothic"/>
              </a:rPr>
              <a:t>KSTAR CES 나우캐스팅 · 물리 근거 덱 (§8ba · §8bb)</a:t>
            </a:r>
          </a:p>
        </p:txBody>
      </p:sp>
      <p:sp>
        <p:nvSpPr>
          <p:cNvPr id="5" name="KIT.pageno"/>
          <p:cNvSpPr txBox="1"/>
          <p:nvPr/>
        </p:nvSpPr>
        <p:spPr>
          <a:xfrm>
            <a:off x="10799063" y="6455664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Consolas"/>
              </a:rPr>
              <a:t>2</a:t>
            </a:r>
          </a:p>
        </p:txBody>
      </p:sp>
      <p:sp>
        <p:nvSpPr>
          <p:cNvPr id="6" name="KIT.title"/>
          <p:cNvSpPr txBox="1"/>
          <p:nvPr/>
        </p:nvSpPr>
        <p:spPr>
          <a:xfrm>
            <a:off x="475488" y="457200"/>
            <a:ext cx="11237976" cy="65836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3335F"/>
                </a:solidFill>
                <a:latin typeface="Malgun Gothic"/>
              </a:rPr>
              <a:t>열 개의 증명은 각각 결과 하나를 유도하고 수치로 검산하였다</a:t>
            </a:r>
          </a:p>
        </p:txBody>
      </p:sp>
      <p:sp>
        <p:nvSpPr>
          <p:cNvPr id="7" name="KIT.rule"/>
          <p:cNvSpPr/>
          <p:nvPr/>
        </p:nvSpPr>
        <p:spPr>
          <a:xfrm>
            <a:off x="475488" y="1115568"/>
            <a:ext cx="2011680" cy="36576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T.lead"/>
          <p:cNvSpPr txBox="1"/>
          <p:nvPr/>
        </p:nvSpPr>
        <p:spPr>
          <a:xfrm>
            <a:off x="475488" y="1298448"/>
            <a:ext cx="11237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0"/>
                </a:solidFill>
                <a:latin typeface="Malgun Gothic"/>
              </a:rPr>
              <a:t>형식은 같다. 명제 → 유도 → 시간 t의 식 → 데이터 검산 → 기록과의 연결 → 한계와 반증 조건. 검산은 641개 방전 CSV 전수와 얼린 TEST 산출물에서만 하였다.</a:t>
            </a:r>
          </a:p>
        </p:txBody>
      </p:sp>
      <p:sp>
        <p:nvSpPr>
          <p:cNvPr id="9" name="KIT.thead"/>
          <p:cNvSpPr/>
          <p:nvPr/>
        </p:nvSpPr>
        <p:spPr>
          <a:xfrm>
            <a:off x="475488" y="1792224"/>
            <a:ext cx="11237976" cy="402336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theadtxt"/>
          <p:cNvSpPr txBox="1"/>
          <p:nvPr/>
        </p:nvSpPr>
        <p:spPr>
          <a:xfrm>
            <a:off x="566928" y="1847088"/>
            <a:ext cx="5486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증명</a:t>
            </a:r>
          </a:p>
        </p:txBody>
      </p:sp>
      <p:sp>
        <p:nvSpPr>
          <p:cNvPr id="11" name="KIT.theadtxt"/>
          <p:cNvSpPr txBox="1"/>
          <p:nvPr/>
        </p:nvSpPr>
        <p:spPr>
          <a:xfrm>
            <a:off x="1298448" y="1847088"/>
            <a:ext cx="356615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설명하는 결과</a:t>
            </a:r>
          </a:p>
        </p:txBody>
      </p:sp>
      <p:sp>
        <p:nvSpPr>
          <p:cNvPr id="12" name="KIT.theadtxt"/>
          <p:cNvSpPr txBox="1"/>
          <p:nvPr/>
        </p:nvSpPr>
        <p:spPr>
          <a:xfrm>
            <a:off x="5047488" y="1847088"/>
            <a:ext cx="38404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유도가 내놓은 수치</a:t>
            </a:r>
          </a:p>
        </p:txBody>
      </p:sp>
      <p:sp>
        <p:nvSpPr>
          <p:cNvPr id="13" name="KIT.theadtxt"/>
          <p:cNvSpPr txBox="1"/>
          <p:nvPr/>
        </p:nvSpPr>
        <p:spPr>
          <a:xfrm>
            <a:off x="9070848" y="1847088"/>
            <a:ext cx="255117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검산 상태</a:t>
            </a:r>
          </a:p>
        </p:txBody>
      </p:sp>
      <p:sp>
        <p:nvSpPr>
          <p:cNvPr id="14" name="KIT.trule"/>
          <p:cNvSpPr/>
          <p:nvPr/>
        </p:nvSpPr>
        <p:spPr>
          <a:xfrm>
            <a:off x="475488" y="21945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KIT.tcell"/>
          <p:cNvSpPr txBox="1"/>
          <p:nvPr/>
        </p:nvSpPr>
        <p:spPr>
          <a:xfrm>
            <a:off x="566928" y="2240279"/>
            <a:ext cx="5486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Consolas"/>
              </a:rPr>
              <a:t>P01</a:t>
            </a:r>
          </a:p>
        </p:txBody>
      </p:sp>
      <p:sp>
        <p:nvSpPr>
          <p:cNvPr id="16" name="KIT.tcell"/>
          <p:cNvSpPr txBox="1"/>
          <p:nvPr/>
        </p:nvSpPr>
        <p:spPr>
          <a:xfrm>
            <a:off x="1298448" y="2240279"/>
            <a:ext cx="35661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Tᵢ 헤드라인 +0.24 (4/4)</a:t>
            </a:r>
          </a:p>
        </p:txBody>
      </p:sp>
      <p:sp>
        <p:nvSpPr>
          <p:cNvPr id="17" name="KIT.tcell"/>
          <p:cNvSpPr txBox="1"/>
          <p:nvPr/>
        </p:nvSpPr>
        <p:spPr>
          <a:xfrm>
            <a:off x="5047488" y="2240279"/>
            <a:ext cx="38404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천이 항 = 헤드라인의 90~114 %</a:t>
            </a:r>
          </a:p>
        </p:txBody>
      </p:sp>
      <p:sp>
        <p:nvSpPr>
          <p:cNvPr id="18" name="KIT.tcell"/>
          <p:cNvSpPr txBox="1"/>
          <p:nvPr/>
        </p:nvSpPr>
        <p:spPr>
          <a:xfrm>
            <a:off x="9070848" y="2240279"/>
            <a:ext cx="25511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9E5B"/>
                </a:solidFill>
                <a:latin typeface="Malgun Gothic"/>
              </a:rPr>
              <a:t>항등식 · 4/4</a:t>
            </a:r>
          </a:p>
        </p:txBody>
      </p:sp>
      <p:sp>
        <p:nvSpPr>
          <p:cNvPr id="19" name="KIT.trule"/>
          <p:cNvSpPr/>
          <p:nvPr/>
        </p:nvSpPr>
        <p:spPr>
          <a:xfrm>
            <a:off x="475488" y="260604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IT.tcell"/>
          <p:cNvSpPr txBox="1"/>
          <p:nvPr/>
        </p:nvSpPr>
        <p:spPr>
          <a:xfrm>
            <a:off x="566928" y="2651760"/>
            <a:ext cx="5486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Consolas"/>
              </a:rPr>
              <a:t>P02</a:t>
            </a:r>
          </a:p>
        </p:txBody>
      </p:sp>
      <p:sp>
        <p:nvSpPr>
          <p:cNvPr id="21" name="KIT.tcell"/>
          <p:cNvSpPr txBox="1"/>
          <p:nvPr/>
        </p:nvSpPr>
        <p:spPr>
          <a:xfrm>
            <a:off x="1298448" y="2651760"/>
            <a:ext cx="35661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V_rot 동률 · 중앙값 -49 %</a:t>
            </a:r>
          </a:p>
        </p:txBody>
      </p:sp>
      <p:sp>
        <p:nvSpPr>
          <p:cNvPr id="22" name="KIT.tcell"/>
          <p:cNvSpPr txBox="1"/>
          <p:nvPr/>
        </p:nvSpPr>
        <p:spPr>
          <a:xfrm>
            <a:off x="5047488" y="2651760"/>
            <a:ext cx="38404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하한 0.921 vs 모델 1.14</a:t>
            </a:r>
          </a:p>
        </p:txBody>
      </p:sp>
      <p:sp>
        <p:nvSpPr>
          <p:cNvPr id="23" name="KIT.tcell"/>
          <p:cNvSpPr txBox="1"/>
          <p:nvPr/>
        </p:nvSpPr>
        <p:spPr>
          <a:xfrm>
            <a:off x="9070848" y="2651760"/>
            <a:ext cx="25511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9E5B"/>
                </a:solidFill>
                <a:latin typeface="Malgun Gothic"/>
              </a:rPr>
              <a:t>정합 · 상관 0</a:t>
            </a:r>
          </a:p>
        </p:txBody>
      </p:sp>
      <p:sp>
        <p:nvSpPr>
          <p:cNvPr id="24" name="KIT.trule"/>
          <p:cNvSpPr/>
          <p:nvPr/>
        </p:nvSpPr>
        <p:spPr>
          <a:xfrm>
            <a:off x="475488" y="301752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KIT.tcell"/>
          <p:cNvSpPr txBox="1"/>
          <p:nvPr/>
        </p:nvSpPr>
        <p:spPr>
          <a:xfrm>
            <a:off x="566928" y="3063240"/>
            <a:ext cx="5486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Consolas"/>
              </a:rPr>
              <a:t>P03</a:t>
            </a:r>
          </a:p>
        </p:txBody>
      </p:sp>
      <p:sp>
        <p:nvSpPr>
          <p:cNvPr id="26" name="KIT.tcell"/>
          <p:cNvSpPr txBox="1"/>
          <p:nvPr/>
        </p:nvSpPr>
        <p:spPr>
          <a:xfrm>
            <a:off x="1298448" y="3063240"/>
            <a:ext cx="35661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문맥 포화 50 ms</a:t>
            </a:r>
          </a:p>
        </p:txBody>
      </p:sp>
      <p:sp>
        <p:nvSpPr>
          <p:cNvPr id="27" name="KIT.tcell"/>
          <p:cNvSpPr txBox="1"/>
          <p:nvPr/>
        </p:nvSpPr>
        <p:spPr>
          <a:xfrm>
            <a:off x="5047488" y="3063240"/>
            <a:ext cx="38404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필터 2~3 스텝, τ_rec 60 ms</a:t>
            </a:r>
          </a:p>
        </p:txBody>
      </p:sp>
      <p:sp>
        <p:nvSpPr>
          <p:cNvPr id="28" name="KIT.tcell"/>
          <p:cNvSpPr txBox="1"/>
          <p:nvPr/>
        </p:nvSpPr>
        <p:spPr>
          <a:xfrm>
            <a:off x="9070848" y="3063240"/>
            <a:ext cx="25511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743B"/>
                </a:solidFill>
                <a:latin typeface="Malgun Gothic"/>
              </a:rPr>
              <a:t>자릿수 · 일부 기각</a:t>
            </a:r>
          </a:p>
        </p:txBody>
      </p:sp>
      <p:sp>
        <p:nvSpPr>
          <p:cNvPr id="29" name="KIT.trule"/>
          <p:cNvSpPr/>
          <p:nvPr/>
        </p:nvSpPr>
        <p:spPr>
          <a:xfrm>
            <a:off x="475488" y="342900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KIT.tcell"/>
          <p:cNvSpPr txBox="1"/>
          <p:nvPr/>
        </p:nvSpPr>
        <p:spPr>
          <a:xfrm>
            <a:off x="566928" y="3474720"/>
            <a:ext cx="5486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Consolas"/>
              </a:rPr>
              <a:t>P04</a:t>
            </a:r>
          </a:p>
        </p:txBody>
      </p:sp>
      <p:sp>
        <p:nvSpPr>
          <p:cNvPr id="31" name="KIT.tcell"/>
          <p:cNvSpPr txBox="1"/>
          <p:nvPr/>
        </p:nvSpPr>
        <p:spPr>
          <a:xfrm>
            <a:off x="1298448" y="3474720"/>
            <a:ext cx="35661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캠페인 드리프트 1.22σ</a:t>
            </a:r>
          </a:p>
        </p:txBody>
      </p:sp>
      <p:sp>
        <p:nvSpPr>
          <p:cNvPr id="32" name="KIT.tcell"/>
          <p:cNvSpPr txBox="1"/>
          <p:nvPr/>
        </p:nvSpPr>
        <p:spPr>
          <a:xfrm>
            <a:off x="5047488" y="3474720"/>
            <a:ext cx="38404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shot 간 분산 몫 0.84 / 0.91</a:t>
            </a:r>
          </a:p>
        </p:txBody>
      </p:sp>
      <p:sp>
        <p:nvSpPr>
          <p:cNvPr id="33" name="KIT.tcell"/>
          <p:cNvSpPr txBox="1"/>
          <p:nvPr/>
        </p:nvSpPr>
        <p:spPr>
          <a:xfrm>
            <a:off x="9070848" y="3474720"/>
            <a:ext cx="25511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9E5B"/>
                </a:solidFill>
                <a:latin typeface="Malgun Gothic"/>
              </a:rPr>
              <a:t>§8n 재현</a:t>
            </a:r>
          </a:p>
        </p:txBody>
      </p:sp>
      <p:sp>
        <p:nvSpPr>
          <p:cNvPr id="34" name="KIT.trule"/>
          <p:cNvSpPr/>
          <p:nvPr/>
        </p:nvSpPr>
        <p:spPr>
          <a:xfrm>
            <a:off x="475488" y="384048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IT.tcell"/>
          <p:cNvSpPr txBox="1"/>
          <p:nvPr/>
        </p:nvSpPr>
        <p:spPr>
          <a:xfrm>
            <a:off x="566928" y="3886200"/>
            <a:ext cx="5486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Consolas"/>
              </a:rPr>
              <a:t>P05</a:t>
            </a:r>
          </a:p>
        </p:txBody>
      </p:sp>
      <p:sp>
        <p:nvSpPr>
          <p:cNvPr id="36" name="KIT.tcell"/>
          <p:cNvSpPr txBox="1"/>
          <p:nvPr/>
        </p:nvSpPr>
        <p:spPr>
          <a:xfrm>
            <a:off x="1298448" y="3886200"/>
            <a:ext cx="35661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3 keV 컷</a:t>
            </a:r>
          </a:p>
        </p:txBody>
      </p:sp>
      <p:sp>
        <p:nvSpPr>
          <p:cNvPr id="37" name="KIT.tcell"/>
          <p:cNvSpPr txBox="1"/>
          <p:nvPr/>
        </p:nvSpPr>
        <p:spPr>
          <a:xfrm>
            <a:off x="5047488" y="3886200"/>
            <a:ext cx="38404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pedestal 상한 1.0~1.8 keV</a:t>
            </a:r>
          </a:p>
        </p:txBody>
      </p:sp>
      <p:sp>
        <p:nvSpPr>
          <p:cNvPr id="38" name="KIT.tcell"/>
          <p:cNvSpPr txBox="1"/>
          <p:nvPr/>
        </p:nvSpPr>
        <p:spPr>
          <a:xfrm>
            <a:off x="9070848" y="3886200"/>
            <a:ext cx="25511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9E5B"/>
                </a:solidFill>
                <a:latin typeface="Malgun Gothic"/>
              </a:rPr>
              <a:t>런 통계 재현</a:t>
            </a:r>
          </a:p>
        </p:txBody>
      </p:sp>
      <p:sp>
        <p:nvSpPr>
          <p:cNvPr id="39" name="KIT.trule"/>
          <p:cNvSpPr/>
          <p:nvPr/>
        </p:nvSpPr>
        <p:spPr>
          <a:xfrm>
            <a:off x="475488" y="42519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KIT.tcell"/>
          <p:cNvSpPr txBox="1"/>
          <p:nvPr/>
        </p:nvSpPr>
        <p:spPr>
          <a:xfrm>
            <a:off x="566928" y="4297680"/>
            <a:ext cx="5486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Consolas"/>
              </a:rPr>
              <a:t>P06</a:t>
            </a:r>
          </a:p>
        </p:txBody>
      </p:sp>
      <p:sp>
        <p:nvSpPr>
          <p:cNvPr id="41" name="KIT.tcell"/>
          <p:cNvSpPr txBox="1"/>
          <p:nvPr/>
        </p:nvSpPr>
        <p:spPr>
          <a:xfrm>
            <a:off x="1298448" y="4297680"/>
            <a:ext cx="35661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빠른 진단 이득 +0.05</a:t>
            </a:r>
          </a:p>
        </p:txBody>
      </p:sp>
      <p:sp>
        <p:nvSpPr>
          <p:cNvPr id="42" name="KIT.tcell"/>
          <p:cNvSpPr txBox="1"/>
          <p:nvPr/>
        </p:nvSpPr>
        <p:spPr>
          <a:xfrm>
            <a:off x="5047488" y="4297680"/>
            <a:ext cx="38404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선형 한계 +0.047~+0.056</a:t>
            </a:r>
          </a:p>
        </p:txBody>
      </p:sp>
      <p:sp>
        <p:nvSpPr>
          <p:cNvPr id="43" name="KIT.tcell"/>
          <p:cNvSpPr txBox="1"/>
          <p:nvPr/>
        </p:nvSpPr>
        <p:spPr>
          <a:xfrm>
            <a:off x="9070848" y="4297680"/>
            <a:ext cx="25511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9E5B"/>
                </a:solidFill>
                <a:latin typeface="Malgun Gothic"/>
              </a:rPr>
              <a:t>한계 안</a:t>
            </a:r>
          </a:p>
        </p:txBody>
      </p:sp>
      <p:sp>
        <p:nvSpPr>
          <p:cNvPr id="44" name="KIT.trule"/>
          <p:cNvSpPr/>
          <p:nvPr/>
        </p:nvSpPr>
        <p:spPr>
          <a:xfrm>
            <a:off x="475488" y="466344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IT.tcell"/>
          <p:cNvSpPr txBox="1"/>
          <p:nvPr/>
        </p:nvSpPr>
        <p:spPr>
          <a:xfrm>
            <a:off x="566928" y="4709160"/>
            <a:ext cx="5486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Consolas"/>
              </a:rPr>
              <a:t>P07</a:t>
            </a:r>
          </a:p>
        </p:txBody>
      </p:sp>
      <p:sp>
        <p:nvSpPr>
          <p:cNvPr id="46" name="KIT.tcell"/>
          <p:cNvSpPr txBox="1"/>
          <p:nvPr/>
        </p:nvSpPr>
        <p:spPr>
          <a:xfrm>
            <a:off x="1298448" y="4709160"/>
            <a:ext cx="35661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MNAR · 독립 결측</a:t>
            </a:r>
          </a:p>
        </p:txBody>
      </p:sp>
      <p:sp>
        <p:nvSpPr>
          <p:cNvPr id="47" name="KIT.tcell"/>
          <p:cNvSpPr txBox="1"/>
          <p:nvPr/>
        </p:nvSpPr>
        <p:spPr>
          <a:xfrm>
            <a:off x="5047488" y="4709160"/>
            <a:ext cx="38404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결측률 ×5.8, τ_B 26~35 ms</a:t>
            </a:r>
          </a:p>
        </p:txBody>
      </p:sp>
      <p:sp>
        <p:nvSpPr>
          <p:cNvPr id="48" name="KIT.tcell"/>
          <p:cNvSpPr txBox="1"/>
          <p:nvPr/>
        </p:nvSpPr>
        <p:spPr>
          <a:xfrm>
            <a:off x="9070848" y="4709160"/>
            <a:ext cx="25511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743B"/>
                </a:solidFill>
                <a:latin typeface="Malgun Gothic"/>
              </a:rPr>
              <a:t>일부 예측 실패</a:t>
            </a:r>
          </a:p>
        </p:txBody>
      </p:sp>
      <p:sp>
        <p:nvSpPr>
          <p:cNvPr id="49" name="KIT.trule"/>
          <p:cNvSpPr/>
          <p:nvPr/>
        </p:nvSpPr>
        <p:spPr>
          <a:xfrm>
            <a:off x="475488" y="507492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IT.tcell"/>
          <p:cNvSpPr txBox="1"/>
          <p:nvPr/>
        </p:nvSpPr>
        <p:spPr>
          <a:xfrm>
            <a:off x="566928" y="5120640"/>
            <a:ext cx="5486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Consolas"/>
              </a:rPr>
              <a:t>P08</a:t>
            </a:r>
          </a:p>
        </p:txBody>
      </p:sp>
      <p:sp>
        <p:nvSpPr>
          <p:cNvPr id="51" name="KIT.tcell"/>
          <p:cNvSpPr txBox="1"/>
          <p:nvPr/>
        </p:nvSpPr>
        <p:spPr>
          <a:xfrm>
            <a:off x="1298448" y="5120640"/>
            <a:ext cx="35661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승률 70 % vs 48 %</a:t>
            </a:r>
          </a:p>
        </p:txBody>
      </p:sp>
      <p:sp>
        <p:nvSpPr>
          <p:cNvPr id="52" name="KIT.tcell"/>
          <p:cNvSpPr txBox="1"/>
          <p:nvPr/>
        </p:nvSpPr>
        <p:spPr>
          <a:xfrm>
            <a:off x="5047488" y="5120640"/>
            <a:ext cx="38404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p_obs 1.27배 vs 0.99배</a:t>
            </a:r>
          </a:p>
        </p:txBody>
      </p:sp>
      <p:sp>
        <p:nvSpPr>
          <p:cNvPr id="53" name="KIT.tcell"/>
          <p:cNvSpPr txBox="1"/>
          <p:nvPr/>
        </p:nvSpPr>
        <p:spPr>
          <a:xfrm>
            <a:off x="9070848" y="5120640"/>
            <a:ext cx="25511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9E5B"/>
                </a:solidFill>
                <a:latin typeface="Malgun Gothic"/>
              </a:rPr>
              <a:t>삼분위 재현</a:t>
            </a:r>
          </a:p>
        </p:txBody>
      </p:sp>
      <p:sp>
        <p:nvSpPr>
          <p:cNvPr id="54" name="KIT.trule"/>
          <p:cNvSpPr/>
          <p:nvPr/>
        </p:nvSpPr>
        <p:spPr>
          <a:xfrm>
            <a:off x="475488" y="548640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KIT.band"/>
          <p:cNvSpPr/>
          <p:nvPr/>
        </p:nvSpPr>
        <p:spPr>
          <a:xfrm>
            <a:off x="475488" y="5577840"/>
            <a:ext cx="11237976" cy="71323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KIT.bandbar"/>
          <p:cNvSpPr/>
          <p:nvPr/>
        </p:nvSpPr>
        <p:spPr>
          <a:xfrm>
            <a:off x="475488" y="5577840"/>
            <a:ext cx="54864" cy="71323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KIT.bandtext"/>
          <p:cNvSpPr txBox="1"/>
          <p:nvPr/>
        </p:nvSpPr>
        <p:spPr>
          <a:xfrm>
            <a:off x="658368" y="5669279"/>
            <a:ext cx="10908792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43B"/>
                </a:solidFill>
                <a:latin typeface="Malgun Gothic"/>
              </a:rPr>
              <a:t>P09 · P10  </a:t>
            </a:r>
            <a:r>
              <a:rPr sz="1150" b="0">
                <a:solidFill>
                  <a:srgbClr val="222B35"/>
                </a:solidFill>
                <a:latin typeface="Malgun Gothic"/>
              </a:rPr>
              <a:t>MAST 전이 null은 무차원 상사(β 7배·ε 2.75배)와 계기 단위 논증으로, 실시간 등급은 τ_E·ELM 붕괴·모드 주기의 세 척도로 닫혔다.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.num"/>
          <p:cNvSpPr txBox="1"/>
          <p:nvPr/>
        </p:nvSpPr>
        <p:spPr>
          <a:xfrm>
            <a:off x="822960" y="1920240"/>
            <a:ext cx="36576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600" b="1">
                <a:solidFill>
                  <a:srgbClr val="E8743B"/>
                </a:solidFill>
                <a:latin typeface="Consolas"/>
              </a:rPr>
              <a:t>01</a:t>
            </a:r>
          </a:p>
        </p:txBody>
      </p:sp>
      <p:sp>
        <p:nvSpPr>
          <p:cNvPr id="5" name="SEC.title"/>
          <p:cNvSpPr txBox="1"/>
          <p:nvPr/>
        </p:nvSpPr>
        <p:spPr>
          <a:xfrm>
            <a:off x="822960" y="356616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물리 근거</a:t>
            </a:r>
          </a:p>
        </p:txBody>
      </p:sp>
      <p:sp>
        <p:nvSpPr>
          <p:cNvPr id="6" name="SEC.rule"/>
          <p:cNvSpPr/>
          <p:nvPr/>
        </p:nvSpPr>
        <p:spPr>
          <a:xfrm>
            <a:off x="822960" y="4315968"/>
            <a:ext cx="2011680" cy="36576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C.sub"/>
          <p:cNvSpPr txBox="1"/>
          <p:nvPr/>
        </p:nvSpPr>
        <p:spPr>
          <a:xfrm>
            <a:off x="822960" y="4517136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8ECF1"/>
                </a:solidFill>
                <a:latin typeface="Malgun Gothic"/>
              </a:rPr>
              <a:t>측정 원리 · 두 보존식 · 하나의 시간영역 모형 · 추정기의 오차 · 50 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T.footrule"/>
          <p:cNvSpPr/>
          <p:nvPr/>
        </p:nvSpPr>
        <p:spPr>
          <a:xfrm>
            <a:off x="475488" y="6382512"/>
            <a:ext cx="11237976" cy="10972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T.footer"/>
          <p:cNvSpPr txBox="1"/>
          <p:nvPr/>
        </p:nvSpPr>
        <p:spPr>
          <a:xfrm>
            <a:off x="475488" y="6455664"/>
            <a:ext cx="1032357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Malgun Gothic"/>
              </a:rPr>
              <a:t>KSTAR CES 나우캐스팅 · 물리 근거 덱 (§8ba · §8bb)</a:t>
            </a:r>
          </a:p>
        </p:txBody>
      </p:sp>
      <p:sp>
        <p:nvSpPr>
          <p:cNvPr id="5" name="KIT.pageno"/>
          <p:cNvSpPr txBox="1"/>
          <p:nvPr/>
        </p:nvSpPr>
        <p:spPr>
          <a:xfrm>
            <a:off x="10799063" y="6455664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Consolas"/>
              </a:rPr>
              <a:t>3</a:t>
            </a:r>
          </a:p>
        </p:txBody>
      </p:sp>
      <p:sp>
        <p:nvSpPr>
          <p:cNvPr id="6" name="KIT.title"/>
          <p:cNvSpPr txBox="1"/>
          <p:nvPr/>
        </p:nvSpPr>
        <p:spPr>
          <a:xfrm>
            <a:off x="475488" y="457200"/>
            <a:ext cx="11237976" cy="65836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3335F"/>
                </a:solidFill>
                <a:latin typeface="Malgun Gothic"/>
              </a:rPr>
              <a:t>CES의 두 타깃은 같은 광자 예산에서 나오고 서로 직교한다</a:t>
            </a:r>
          </a:p>
        </p:txBody>
      </p:sp>
      <p:sp>
        <p:nvSpPr>
          <p:cNvPr id="7" name="KIT.rule"/>
          <p:cNvSpPr/>
          <p:nvPr/>
        </p:nvSpPr>
        <p:spPr>
          <a:xfrm>
            <a:off x="475488" y="1115568"/>
            <a:ext cx="2011680" cy="36576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T.lead"/>
          <p:cNvSpPr txBox="1"/>
          <p:nvPr/>
        </p:nvSpPr>
        <p:spPr>
          <a:xfrm>
            <a:off x="475488" y="1298448"/>
            <a:ext cx="11237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0"/>
                </a:solidFill>
                <a:latin typeface="Malgun Gothic"/>
              </a:rPr>
              <a:t>CES는 C VI 529 nm 선의 Doppler 폭에서 이온 온도를, Doppler 이동에서 회전을 읽는다. 광자 N개를 세는 Poisson 통계가 두 값의 정밀도 하한(Cramér–Rao 한계)을 정한다.</a:t>
            </a:r>
          </a:p>
        </p:txBody>
      </p:sp>
      <p:sp>
        <p:nvSpPr>
          <p:cNvPr id="9" name="KIT.thead"/>
          <p:cNvSpPr/>
          <p:nvPr/>
        </p:nvSpPr>
        <p:spPr>
          <a:xfrm>
            <a:off x="475488" y="1792224"/>
            <a:ext cx="11237976" cy="402336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theadtxt"/>
          <p:cNvSpPr txBox="1"/>
          <p:nvPr/>
        </p:nvSpPr>
        <p:spPr>
          <a:xfrm>
            <a:off x="566928" y="1847088"/>
            <a:ext cx="292607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양</a:t>
            </a:r>
          </a:p>
        </p:txBody>
      </p:sp>
      <p:sp>
        <p:nvSpPr>
          <p:cNvPr id="11" name="KIT.theadtxt"/>
          <p:cNvSpPr txBox="1"/>
          <p:nvPr/>
        </p:nvSpPr>
        <p:spPr>
          <a:xfrm>
            <a:off x="3675887" y="1847088"/>
            <a:ext cx="25603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식</a:t>
            </a:r>
          </a:p>
        </p:txBody>
      </p:sp>
      <p:sp>
        <p:nvSpPr>
          <p:cNvPr id="12" name="KIT.theadtxt"/>
          <p:cNvSpPr txBox="1"/>
          <p:nvPr/>
        </p:nvSpPr>
        <p:spPr>
          <a:xfrm>
            <a:off x="6419088" y="1847088"/>
            <a:ext cx="520293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데이터로 확인한 것</a:t>
            </a:r>
          </a:p>
        </p:txBody>
      </p:sp>
      <p:sp>
        <p:nvSpPr>
          <p:cNvPr id="13" name="KIT.trule"/>
          <p:cNvSpPr/>
          <p:nvPr/>
        </p:nvSpPr>
        <p:spPr>
          <a:xfrm>
            <a:off x="475488" y="21945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IT.tcell"/>
          <p:cNvSpPr txBox="1"/>
          <p:nvPr/>
        </p:nvSpPr>
        <p:spPr>
          <a:xfrm>
            <a:off x="566928" y="2240279"/>
            <a:ext cx="2926079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선폭 → Tᵢ</a:t>
            </a:r>
          </a:p>
        </p:txBody>
      </p:sp>
      <p:sp>
        <p:nvSpPr>
          <p:cNvPr id="15" name="KIT.tcell"/>
          <p:cNvSpPr txBox="1"/>
          <p:nvPr/>
        </p:nvSpPr>
        <p:spPr>
          <a:xfrm>
            <a:off x="3675887" y="2240279"/>
            <a:ext cx="256032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2B35"/>
                </a:solidFill>
                <a:latin typeface="Consolas"/>
              </a:rPr>
              <a:t>σ_λ = (λ₀/c)·√(kT/m)</a:t>
            </a:r>
          </a:p>
        </p:txBody>
      </p:sp>
      <p:sp>
        <p:nvSpPr>
          <p:cNvPr id="16" name="KIT.tcell"/>
          <p:cNvSpPr txBox="1"/>
          <p:nvPr/>
        </p:nvSpPr>
        <p:spPr>
          <a:xfrm>
            <a:off x="6419088" y="2240279"/>
            <a:ext cx="5202936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593 eV에서 FWHM 0.287 nm, 열속도 69 km/s</a:t>
            </a:r>
          </a:p>
        </p:txBody>
      </p:sp>
      <p:sp>
        <p:nvSpPr>
          <p:cNvPr id="17" name="KIT.trule"/>
          <p:cNvSpPr/>
          <p:nvPr/>
        </p:nvSpPr>
        <p:spPr>
          <a:xfrm>
            <a:off x="475488" y="2624328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IT.tcell"/>
          <p:cNvSpPr txBox="1"/>
          <p:nvPr/>
        </p:nvSpPr>
        <p:spPr>
          <a:xfrm>
            <a:off x="566928" y="2670048"/>
            <a:ext cx="2926079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회전 정밀도</a:t>
            </a:r>
          </a:p>
        </p:txBody>
      </p:sp>
      <p:sp>
        <p:nvSpPr>
          <p:cNvPr id="19" name="KIT.tcell"/>
          <p:cNvSpPr txBox="1"/>
          <p:nvPr/>
        </p:nvSpPr>
        <p:spPr>
          <a:xfrm>
            <a:off x="3675887" y="2670048"/>
            <a:ext cx="256032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2B35"/>
                </a:solidFill>
                <a:latin typeface="Consolas"/>
              </a:rPr>
              <a:t>σ_v = v_th / √N</a:t>
            </a:r>
          </a:p>
        </p:txBody>
      </p:sp>
      <p:sp>
        <p:nvSpPr>
          <p:cNvPr id="20" name="KIT.tcell"/>
          <p:cNvSpPr txBox="1"/>
          <p:nvPr/>
        </p:nvSpPr>
        <p:spPr>
          <a:xfrm>
            <a:off x="6419088" y="2670048"/>
            <a:ext cx="5202936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V_rot 바닥 4.3 km/s → N = 258 광자</a:t>
            </a:r>
          </a:p>
        </p:txBody>
      </p:sp>
      <p:sp>
        <p:nvSpPr>
          <p:cNvPr id="21" name="KIT.trule"/>
          <p:cNvSpPr/>
          <p:nvPr/>
        </p:nvSpPr>
        <p:spPr>
          <a:xfrm>
            <a:off x="475488" y="3054096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IT.tcell"/>
          <p:cNvSpPr txBox="1"/>
          <p:nvPr/>
        </p:nvSpPr>
        <p:spPr>
          <a:xfrm>
            <a:off x="566928" y="3099815"/>
            <a:ext cx="2926079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온도 정밀도</a:t>
            </a:r>
          </a:p>
        </p:txBody>
      </p:sp>
      <p:sp>
        <p:nvSpPr>
          <p:cNvPr id="23" name="KIT.tcell"/>
          <p:cNvSpPr txBox="1"/>
          <p:nvPr/>
        </p:nvSpPr>
        <p:spPr>
          <a:xfrm>
            <a:off x="3675887" y="3099815"/>
            <a:ext cx="256032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2B35"/>
                </a:solidFill>
                <a:latin typeface="Consolas"/>
              </a:rPr>
              <a:t>σ_T/T = √(2/N)</a:t>
            </a:r>
          </a:p>
        </p:txBody>
      </p:sp>
      <p:sp>
        <p:nvSpPr>
          <p:cNvPr id="24" name="KIT.tcell"/>
          <p:cNvSpPr txBox="1"/>
          <p:nvPr/>
        </p:nvSpPr>
        <p:spPr>
          <a:xfrm>
            <a:off x="6419088" y="3099815"/>
            <a:ext cx="5202936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Tᵢ 바닥 46.4 eV → N = 326 광자 (비 1.27)</a:t>
            </a:r>
          </a:p>
        </p:txBody>
      </p:sp>
      <p:sp>
        <p:nvSpPr>
          <p:cNvPr id="25" name="KIT.trule"/>
          <p:cNvSpPr/>
          <p:nvPr/>
        </p:nvSpPr>
        <p:spPr>
          <a:xfrm>
            <a:off x="475488" y="3483863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IT.tcell"/>
          <p:cNvSpPr txBox="1"/>
          <p:nvPr/>
        </p:nvSpPr>
        <p:spPr>
          <a:xfrm>
            <a:off x="566928" y="3529583"/>
            <a:ext cx="2926079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중심·폭의 직교성</a:t>
            </a:r>
          </a:p>
        </p:txBody>
      </p:sp>
      <p:sp>
        <p:nvSpPr>
          <p:cNvPr id="27" name="KIT.tcell"/>
          <p:cNvSpPr txBox="1"/>
          <p:nvPr/>
        </p:nvSpPr>
        <p:spPr>
          <a:xfrm>
            <a:off x="3675887" y="3529583"/>
            <a:ext cx="256032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2B35"/>
                </a:solidFill>
                <a:latin typeface="Consolas"/>
              </a:rPr>
              <a:t>I_μσ = 0</a:t>
            </a:r>
          </a:p>
        </p:txBody>
      </p:sp>
      <p:sp>
        <p:nvSpPr>
          <p:cNvPr id="28" name="KIT.tcell"/>
          <p:cNvSpPr txBox="1"/>
          <p:nvPr/>
        </p:nvSpPr>
        <p:spPr>
          <a:xfrm>
            <a:off x="6419088" y="3529583"/>
            <a:ext cx="5202936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ML 추정 상관 +0.04 → 두 타깃이 독립으로 결측(일치 72.8 %)</a:t>
            </a:r>
          </a:p>
        </p:txBody>
      </p:sp>
      <p:sp>
        <p:nvSpPr>
          <p:cNvPr id="29" name="KIT.trule"/>
          <p:cNvSpPr/>
          <p:nvPr/>
        </p:nvSpPr>
        <p:spPr>
          <a:xfrm>
            <a:off x="475488" y="3913631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KIT.tcell"/>
          <p:cNvSpPr txBox="1"/>
          <p:nvPr/>
        </p:nvSpPr>
        <p:spPr>
          <a:xfrm>
            <a:off x="566928" y="3959351"/>
            <a:ext cx="2926079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느린 이유</a:t>
            </a:r>
          </a:p>
        </p:txBody>
      </p:sp>
      <p:sp>
        <p:nvSpPr>
          <p:cNvPr id="31" name="KIT.tcell"/>
          <p:cNvSpPr txBox="1"/>
          <p:nvPr/>
        </p:nvSpPr>
        <p:spPr>
          <a:xfrm>
            <a:off x="3675887" y="3959351"/>
            <a:ext cx="256032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2B35"/>
                </a:solidFill>
                <a:latin typeface="Consolas"/>
              </a:rPr>
              <a:t>σ ∝ τ^(-1/2)</a:t>
            </a:r>
          </a:p>
        </p:txBody>
      </p:sp>
      <p:sp>
        <p:nvSpPr>
          <p:cNvPr id="32" name="KIT.tcell"/>
          <p:cNvSpPr txBox="1"/>
          <p:nvPr/>
        </p:nvSpPr>
        <p:spPr>
          <a:xfrm>
            <a:off x="6419088" y="3959351"/>
            <a:ext cx="5202936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1 km/s 정밀도에는 10 ms 프레임의 16배 적분이 필요하다</a:t>
            </a:r>
          </a:p>
        </p:txBody>
      </p:sp>
      <p:sp>
        <p:nvSpPr>
          <p:cNvPr id="33" name="KIT.trule"/>
          <p:cNvSpPr/>
          <p:nvPr/>
        </p:nvSpPr>
        <p:spPr>
          <a:xfrm>
            <a:off x="475488" y="4343399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KIT.band"/>
          <p:cNvSpPr/>
          <p:nvPr/>
        </p:nvSpPr>
        <p:spPr>
          <a:xfrm>
            <a:off x="475488" y="4526280"/>
            <a:ext cx="11237976" cy="71323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IT.bandbar"/>
          <p:cNvSpPr/>
          <p:nvPr/>
        </p:nvSpPr>
        <p:spPr>
          <a:xfrm>
            <a:off x="475488" y="4526280"/>
            <a:ext cx="54864" cy="7132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KIT.bandtext"/>
          <p:cNvSpPr txBox="1"/>
          <p:nvPr/>
        </p:nvSpPr>
        <p:spPr>
          <a:xfrm>
            <a:off x="658368" y="4617720"/>
            <a:ext cx="10908792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3335F"/>
                </a:solidFill>
                <a:latin typeface="Malgun Gothic"/>
              </a:rPr>
              <a:t>읽는 법  </a:t>
            </a:r>
            <a:r>
              <a:rPr sz="1150" b="0">
                <a:solidFill>
                  <a:srgbClr val="222B35"/>
                </a:solidFill>
                <a:latin typeface="Malgun Gothic"/>
              </a:rPr>
              <a:t>서로 다른 타깃에서 따로 잰 두 잡음 바닥이 같은 광자수(약 300/프레임)로 모인다. 타깃의 재현성 한계는 계측 잡음이며, 그 아래로는 어떤 모델도 내려갈 수 없다.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T.footrule"/>
          <p:cNvSpPr/>
          <p:nvPr/>
        </p:nvSpPr>
        <p:spPr>
          <a:xfrm>
            <a:off x="475488" y="6382512"/>
            <a:ext cx="11237976" cy="10972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T.footer"/>
          <p:cNvSpPr txBox="1"/>
          <p:nvPr/>
        </p:nvSpPr>
        <p:spPr>
          <a:xfrm>
            <a:off x="475488" y="6455664"/>
            <a:ext cx="1032357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Malgun Gothic"/>
              </a:rPr>
              <a:t>KSTAR CES 나우캐스팅 · 물리 근거 덱 (§8ba · §8bb)</a:t>
            </a:r>
          </a:p>
        </p:txBody>
      </p:sp>
      <p:sp>
        <p:nvSpPr>
          <p:cNvPr id="5" name="KIT.pageno"/>
          <p:cNvSpPr txBox="1"/>
          <p:nvPr/>
        </p:nvSpPr>
        <p:spPr>
          <a:xfrm>
            <a:off x="10799063" y="6455664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Consolas"/>
              </a:rPr>
              <a:t>4</a:t>
            </a:r>
          </a:p>
        </p:txBody>
      </p:sp>
      <p:sp>
        <p:nvSpPr>
          <p:cNvPr id="6" name="KIT.title"/>
          <p:cNvSpPr txBox="1"/>
          <p:nvPr/>
        </p:nvSpPr>
        <p:spPr>
          <a:xfrm>
            <a:off x="475488" y="457200"/>
            <a:ext cx="11237976" cy="65836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3335F"/>
                </a:solidFill>
                <a:latin typeface="Malgun Gothic"/>
              </a:rPr>
              <a:t>두 보존식의 우변 가운데 빠른 진단이 닿는 항은 이온 에너지 쪽뿐이다</a:t>
            </a:r>
          </a:p>
        </p:txBody>
      </p:sp>
      <p:sp>
        <p:nvSpPr>
          <p:cNvPr id="7" name="KIT.rule"/>
          <p:cNvSpPr/>
          <p:nvPr/>
        </p:nvSpPr>
        <p:spPr>
          <a:xfrm>
            <a:off x="475488" y="1115568"/>
            <a:ext cx="2011680" cy="36576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T.lead"/>
          <p:cNvSpPr txBox="1"/>
          <p:nvPr/>
        </p:nvSpPr>
        <p:spPr>
          <a:xfrm>
            <a:off x="475488" y="1298448"/>
            <a:ext cx="11237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0"/>
                </a:solidFill>
                <a:latin typeface="Malgun Gothic"/>
              </a:rPr>
              <a:t>이온 에너지와 토로이달 각운동량은 값이 아니라 변화율을 구속한다. 각 항을 보유 채널에 대조하면 라우팅이 설계 선택이 아니라 보존식의 결과임이 드러난다.</a:t>
            </a:r>
          </a:p>
        </p:txBody>
      </p:sp>
      <p:sp>
        <p:nvSpPr>
          <p:cNvPr id="9" name="KIT.card"/>
          <p:cNvSpPr/>
          <p:nvPr/>
        </p:nvSpPr>
        <p:spPr>
          <a:xfrm>
            <a:off x="475488" y="1792224"/>
            <a:ext cx="5527548" cy="151790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cardbar"/>
          <p:cNvSpPr/>
          <p:nvPr/>
        </p:nvSpPr>
        <p:spPr>
          <a:xfrm>
            <a:off x="475488" y="1792224"/>
            <a:ext cx="54864" cy="151790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T.cardtext"/>
          <p:cNvSpPr txBox="1"/>
          <p:nvPr/>
        </p:nvSpPr>
        <p:spPr>
          <a:xfrm>
            <a:off x="658368" y="1911095"/>
            <a:ext cx="5198364" cy="12984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E9E5B"/>
                </a:solidFill>
                <a:latin typeface="Malgun Gothic"/>
              </a:rPr>
              <a:t>이온 에너지: (3/2) n dTᵢ/dt = Q_ei(Tₑ-Tᵢ) + S - 손실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Q_ei ∝ nₑ(Tₑ-Tᵢ): ECEI(Tₑ)·BES(nₑ)가 같은 시각에 본다.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평형화 시간 τ_eq = (mᵢ/2mₑ)τₑ = 8~59 ms (CES 영역).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100 keV 빔은 전자를 71 % 데우므로 Tᵢ는 Tₑ를 따른다.</a:t>
            </a:r>
          </a:p>
        </p:txBody>
      </p:sp>
      <p:sp>
        <p:nvSpPr>
          <p:cNvPr id="12" name="KIT.card"/>
          <p:cNvSpPr/>
          <p:nvPr/>
        </p:nvSpPr>
        <p:spPr>
          <a:xfrm>
            <a:off x="6185916" y="1792224"/>
            <a:ext cx="5527548" cy="151790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IT.cardbar"/>
          <p:cNvSpPr/>
          <p:nvPr/>
        </p:nvSpPr>
        <p:spPr>
          <a:xfrm>
            <a:off x="6185916" y="1792224"/>
            <a:ext cx="54864" cy="151790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IT.cardtext"/>
          <p:cNvSpPr txBox="1"/>
          <p:nvPr/>
        </p:nvSpPr>
        <p:spPr>
          <a:xfrm>
            <a:off x="6368796" y="1911095"/>
            <a:ext cx="5198364" cy="12984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E8743B"/>
                </a:solidFill>
                <a:latin typeface="Malgun Gothic"/>
              </a:rPr>
              <a:t>각운동량: d(nmR²ω)/dt = T_NBI + T_NTV + T_int - L/τ_φ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T_NBI = 2PR_tan/v_b: 파워가 아니라 기하·에너지다.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T_NTV ∝ δB²: 100 Hz Mirnov는 진폭을 71 % 오차로만 담는다.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T_int ∝ ∇Tᵢ: 스칼라만 보유. 우변이 전부 비어 있다.</a:t>
            </a:r>
          </a:p>
        </p:txBody>
      </p:sp>
      <p:sp>
        <p:nvSpPr>
          <p:cNvPr id="15" name="KIT.thead"/>
          <p:cNvSpPr/>
          <p:nvPr/>
        </p:nvSpPr>
        <p:spPr>
          <a:xfrm>
            <a:off x="475488" y="3493008"/>
            <a:ext cx="11237976" cy="402336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KIT.theadtxt"/>
          <p:cNvSpPr txBox="1"/>
          <p:nvPr/>
        </p:nvSpPr>
        <p:spPr>
          <a:xfrm>
            <a:off x="566928" y="3547872"/>
            <a:ext cx="21945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항</a:t>
            </a:r>
          </a:p>
        </p:txBody>
      </p:sp>
      <p:sp>
        <p:nvSpPr>
          <p:cNvPr id="17" name="KIT.theadtxt"/>
          <p:cNvSpPr txBox="1"/>
          <p:nvPr/>
        </p:nvSpPr>
        <p:spPr>
          <a:xfrm>
            <a:off x="2944368" y="3547872"/>
            <a:ext cx="31089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물리</a:t>
            </a:r>
          </a:p>
        </p:txBody>
      </p:sp>
      <p:sp>
        <p:nvSpPr>
          <p:cNvPr id="18" name="KIT.theadtxt"/>
          <p:cNvSpPr txBox="1"/>
          <p:nvPr/>
        </p:nvSpPr>
        <p:spPr>
          <a:xfrm>
            <a:off x="6236208" y="3547872"/>
            <a:ext cx="21945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데이터에 있는가</a:t>
            </a:r>
          </a:p>
        </p:txBody>
      </p:sp>
      <p:sp>
        <p:nvSpPr>
          <p:cNvPr id="19" name="KIT.theadtxt"/>
          <p:cNvSpPr txBox="1"/>
          <p:nvPr/>
        </p:nvSpPr>
        <p:spPr>
          <a:xfrm>
            <a:off x="8613648" y="3547872"/>
            <a:ext cx="300837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측정 (§8ar · P02)</a:t>
            </a:r>
          </a:p>
        </p:txBody>
      </p:sp>
      <p:sp>
        <p:nvSpPr>
          <p:cNvPr id="20" name="KIT.trule"/>
          <p:cNvSpPr/>
          <p:nvPr/>
        </p:nvSpPr>
        <p:spPr>
          <a:xfrm>
            <a:off x="475488" y="3895344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IT.tcell"/>
          <p:cNvSpPr txBox="1"/>
          <p:nvPr/>
        </p:nvSpPr>
        <p:spPr>
          <a:xfrm>
            <a:off x="566928" y="3941064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Q_ei(Tₑ-Tᵢ)</a:t>
            </a:r>
          </a:p>
        </p:txBody>
      </p:sp>
      <p:sp>
        <p:nvSpPr>
          <p:cNvPr id="22" name="KIT.tcell"/>
          <p:cNvSpPr txBox="1"/>
          <p:nvPr/>
        </p:nvSpPr>
        <p:spPr>
          <a:xfrm>
            <a:off x="2944368" y="3941064"/>
            <a:ext cx="3108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전자–이온 결합</a:t>
            </a:r>
          </a:p>
        </p:txBody>
      </p:sp>
      <p:sp>
        <p:nvSpPr>
          <p:cNvPr id="23" name="KIT.tcell"/>
          <p:cNvSpPr txBox="1"/>
          <p:nvPr/>
        </p:nvSpPr>
        <p:spPr>
          <a:xfrm>
            <a:off x="6236208" y="3941064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5B"/>
                </a:solidFill>
                <a:latin typeface="Malgun Gothic"/>
              </a:rPr>
              <a:t>ECEI · BES</a:t>
            </a:r>
          </a:p>
        </p:txBody>
      </p:sp>
      <p:sp>
        <p:nvSpPr>
          <p:cNvPr id="24" name="KIT.tcell"/>
          <p:cNvSpPr txBox="1"/>
          <p:nvPr/>
        </p:nvSpPr>
        <p:spPr>
          <a:xfrm>
            <a:off x="8613648" y="3941064"/>
            <a:ext cx="30083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rate 상관 +0.07, 이력 조건부 partial r 0.26</a:t>
            </a:r>
          </a:p>
        </p:txBody>
      </p:sp>
      <p:sp>
        <p:nvSpPr>
          <p:cNvPr id="25" name="KIT.trule"/>
          <p:cNvSpPr/>
          <p:nvPr/>
        </p:nvSpPr>
        <p:spPr>
          <a:xfrm>
            <a:off x="475488" y="4306824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IT.tcell"/>
          <p:cNvSpPr txBox="1"/>
          <p:nvPr/>
        </p:nvSpPr>
        <p:spPr>
          <a:xfrm>
            <a:off x="566928" y="4352544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T_NBI</a:t>
            </a:r>
          </a:p>
        </p:txBody>
      </p:sp>
      <p:sp>
        <p:nvSpPr>
          <p:cNvPr id="27" name="KIT.tcell"/>
          <p:cNvSpPr txBox="1"/>
          <p:nvPr/>
        </p:nvSpPr>
        <p:spPr>
          <a:xfrm>
            <a:off x="2944368" y="4352544"/>
            <a:ext cx="3108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빔 토크</a:t>
            </a:r>
          </a:p>
        </p:txBody>
      </p:sp>
      <p:sp>
        <p:nvSpPr>
          <p:cNvPr id="28" name="KIT.tcell"/>
          <p:cNvSpPr txBox="1"/>
          <p:nvPr/>
        </p:nvSpPr>
        <p:spPr>
          <a:xfrm>
            <a:off x="6236208" y="4352544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C0392B"/>
                </a:solidFill>
                <a:latin typeface="Malgun Gothic"/>
              </a:rPr>
              <a:t>없음</a:t>
            </a:r>
          </a:p>
        </p:txBody>
      </p:sp>
      <p:sp>
        <p:nvSpPr>
          <p:cNvPr id="29" name="KIT.tcell"/>
          <p:cNvSpPr txBox="1"/>
          <p:nvPr/>
        </p:nvSpPr>
        <p:spPr>
          <a:xfrm>
            <a:off x="8613648" y="4352544"/>
            <a:ext cx="30083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T_e~V_rot null (r +0.02)</a:t>
            </a:r>
          </a:p>
        </p:txBody>
      </p:sp>
      <p:sp>
        <p:nvSpPr>
          <p:cNvPr id="30" name="KIT.trule"/>
          <p:cNvSpPr/>
          <p:nvPr/>
        </p:nvSpPr>
        <p:spPr>
          <a:xfrm>
            <a:off x="475488" y="4718304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KIT.tcell"/>
          <p:cNvSpPr txBox="1"/>
          <p:nvPr/>
        </p:nvSpPr>
        <p:spPr>
          <a:xfrm>
            <a:off x="566928" y="4764024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T_NTV</a:t>
            </a:r>
          </a:p>
        </p:txBody>
      </p:sp>
      <p:sp>
        <p:nvSpPr>
          <p:cNvPr id="32" name="KIT.tcell"/>
          <p:cNvSpPr txBox="1"/>
          <p:nvPr/>
        </p:nvSpPr>
        <p:spPr>
          <a:xfrm>
            <a:off x="2944368" y="4764024"/>
            <a:ext cx="3108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비축대칭 제동</a:t>
            </a:r>
          </a:p>
        </p:txBody>
      </p:sp>
      <p:sp>
        <p:nvSpPr>
          <p:cNvPr id="33" name="KIT.tcell"/>
          <p:cNvSpPr txBox="1"/>
          <p:nvPr/>
        </p:nvSpPr>
        <p:spPr>
          <a:xfrm>
            <a:off x="6236208" y="4764024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C0392B"/>
                </a:solidFill>
                <a:latin typeface="Malgun Gothic"/>
              </a:rPr>
              <a:t>파괴됨</a:t>
            </a:r>
          </a:p>
        </p:txBody>
      </p:sp>
      <p:sp>
        <p:nvSpPr>
          <p:cNvPr id="34" name="KIT.tcell"/>
          <p:cNvSpPr txBox="1"/>
          <p:nvPr/>
        </p:nvSpPr>
        <p:spPr>
          <a:xfrm>
            <a:off x="8613648" y="4764024"/>
            <a:ext cx="30083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파생 MC 특징 전부 음성</a:t>
            </a:r>
          </a:p>
        </p:txBody>
      </p:sp>
      <p:sp>
        <p:nvSpPr>
          <p:cNvPr id="35" name="KIT.trule"/>
          <p:cNvSpPr/>
          <p:nvPr/>
        </p:nvSpPr>
        <p:spPr>
          <a:xfrm>
            <a:off x="475488" y="5129784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KIT.tcell"/>
          <p:cNvSpPr txBox="1"/>
          <p:nvPr/>
        </p:nvSpPr>
        <p:spPr>
          <a:xfrm>
            <a:off x="566928" y="5175504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∇·Π_turb</a:t>
            </a:r>
          </a:p>
        </p:txBody>
      </p:sp>
      <p:sp>
        <p:nvSpPr>
          <p:cNvPr id="37" name="KIT.tcell"/>
          <p:cNvSpPr txBox="1"/>
          <p:nvPr/>
        </p:nvSpPr>
        <p:spPr>
          <a:xfrm>
            <a:off x="2944368" y="5175504"/>
            <a:ext cx="3108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난류 운동량 유속</a:t>
            </a:r>
          </a:p>
        </p:txBody>
      </p:sp>
      <p:sp>
        <p:nvSpPr>
          <p:cNvPr id="38" name="KIT.tcell"/>
          <p:cNvSpPr txBox="1"/>
          <p:nvPr/>
        </p:nvSpPr>
        <p:spPr>
          <a:xfrm>
            <a:off x="6236208" y="5175504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743B"/>
                </a:solidFill>
                <a:latin typeface="Malgun Gothic"/>
              </a:rPr>
              <a:t>BES 요동</a:t>
            </a:r>
          </a:p>
        </p:txBody>
      </p:sp>
      <p:sp>
        <p:nvSpPr>
          <p:cNvPr id="39" name="KIT.tcell"/>
          <p:cNvSpPr txBox="1"/>
          <p:nvPr/>
        </p:nvSpPr>
        <p:spPr>
          <a:xfrm>
            <a:off x="8613648" y="5175504"/>
            <a:ext cx="30083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ΔV_rot vs ΔBES 10~200 ms 전부 |r| ≤ 0.014</a:t>
            </a:r>
          </a:p>
        </p:txBody>
      </p:sp>
      <p:sp>
        <p:nvSpPr>
          <p:cNvPr id="40" name="KIT.trule"/>
          <p:cNvSpPr/>
          <p:nvPr/>
        </p:nvSpPr>
        <p:spPr>
          <a:xfrm>
            <a:off x="475488" y="5541264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T.footrule"/>
          <p:cNvSpPr/>
          <p:nvPr/>
        </p:nvSpPr>
        <p:spPr>
          <a:xfrm>
            <a:off x="475488" y="6382512"/>
            <a:ext cx="11237976" cy="10972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T.footer"/>
          <p:cNvSpPr txBox="1"/>
          <p:nvPr/>
        </p:nvSpPr>
        <p:spPr>
          <a:xfrm>
            <a:off x="475488" y="6455664"/>
            <a:ext cx="1032357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Malgun Gothic"/>
              </a:rPr>
              <a:t>KSTAR CES 나우캐스팅 · 물리 근거 덱 (§8ba · §8bb)</a:t>
            </a:r>
          </a:p>
        </p:txBody>
      </p:sp>
      <p:sp>
        <p:nvSpPr>
          <p:cNvPr id="5" name="KIT.pageno"/>
          <p:cNvSpPr txBox="1"/>
          <p:nvPr/>
        </p:nvSpPr>
        <p:spPr>
          <a:xfrm>
            <a:off x="10799063" y="6455664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Consolas"/>
              </a:rPr>
              <a:t>5</a:t>
            </a:r>
          </a:p>
        </p:txBody>
      </p:sp>
      <p:sp>
        <p:nvSpPr>
          <p:cNvPr id="6" name="KIT.title"/>
          <p:cNvSpPr txBox="1"/>
          <p:nvPr/>
        </p:nvSpPr>
        <p:spPr>
          <a:xfrm>
            <a:off x="475488" y="457200"/>
            <a:ext cx="11237976" cy="65836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3335F"/>
                </a:solidFill>
                <a:latin typeface="Malgun Gothic"/>
              </a:rPr>
              <a:t>두 타깃은 하나의 시간영역 식을 따르고 계수의 출처만 다르다</a:t>
            </a:r>
          </a:p>
        </p:txBody>
      </p:sp>
      <p:sp>
        <p:nvSpPr>
          <p:cNvPr id="7" name="KIT.rule"/>
          <p:cNvSpPr/>
          <p:nvPr/>
        </p:nvSpPr>
        <p:spPr>
          <a:xfrm>
            <a:off x="475488" y="1115568"/>
            <a:ext cx="2011680" cy="36576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T.lead"/>
          <p:cNvSpPr txBox="1"/>
          <p:nvPr/>
        </p:nvSpPr>
        <p:spPr>
          <a:xfrm>
            <a:off x="475488" y="1298448"/>
            <a:ext cx="11237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0"/>
                </a:solidFill>
                <a:latin typeface="Malgun Gothic"/>
              </a:rPr>
              <a:t>보존식을 선형화하면 1차 완화 + 확률 구동 + 사건 충격이 된다. 이 식 하나가 열 증명의 공통 출발점이며, 표의 계수가 어느 진단에서 오는지가 두 타깃을 가른다.</a:t>
            </a:r>
          </a:p>
        </p:txBody>
      </p:sp>
      <p:sp>
        <p:nvSpPr>
          <p:cNvPr id="9" name="KIT.band"/>
          <p:cNvSpPr/>
          <p:nvPr/>
        </p:nvSpPr>
        <p:spPr>
          <a:xfrm>
            <a:off x="475488" y="1792224"/>
            <a:ext cx="11237976" cy="71323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bandbar"/>
          <p:cNvSpPr/>
          <p:nvPr/>
        </p:nvSpPr>
        <p:spPr>
          <a:xfrm>
            <a:off x="475488" y="1792224"/>
            <a:ext cx="54864" cy="7132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T.bandtext"/>
          <p:cNvSpPr txBox="1"/>
          <p:nvPr/>
        </p:nvSpPr>
        <p:spPr>
          <a:xfrm>
            <a:off x="658368" y="1883664"/>
            <a:ext cx="10908792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3335F"/>
                </a:solidFill>
                <a:latin typeface="Malgun Gothic"/>
              </a:rPr>
              <a:t>(M1)  </a:t>
            </a:r>
            <a:r>
              <a:rPr sz="1150" b="0">
                <a:solidFill>
                  <a:srgbClr val="222B35"/>
                </a:solidFill>
                <a:latin typeface="Malgun Gothic"/>
              </a:rPr>
              <a:t>dy/dt = -(y-m)/τ + √(2σ_s²/τ)·ξ(t) + Σ_k A_k·ḣ(t-t_k),   h(s) = Θ(s)·exp(-s/τ_rec),   관측 ỹ(t_j) = y(t_j) + n_j,  Δ = 10 ms</a:t>
            </a:r>
          </a:p>
        </p:txBody>
      </p:sp>
      <p:sp>
        <p:nvSpPr>
          <p:cNvPr id="12" name="KIT.thead"/>
          <p:cNvSpPr/>
          <p:nvPr/>
        </p:nvSpPr>
        <p:spPr>
          <a:xfrm>
            <a:off x="475488" y="2688336"/>
            <a:ext cx="11237976" cy="402336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IT.theadtxt"/>
          <p:cNvSpPr txBox="1"/>
          <p:nvPr/>
        </p:nvSpPr>
        <p:spPr>
          <a:xfrm>
            <a:off x="566928" y="2743200"/>
            <a:ext cx="192023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계수</a:t>
            </a:r>
          </a:p>
        </p:txBody>
      </p:sp>
      <p:sp>
        <p:nvSpPr>
          <p:cNvPr id="14" name="KIT.theadtxt"/>
          <p:cNvSpPr txBox="1"/>
          <p:nvPr/>
        </p:nvSpPr>
        <p:spPr>
          <a:xfrm>
            <a:off x="2670048" y="2743200"/>
            <a:ext cx="4389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Tᵢ (에너지 보존)</a:t>
            </a:r>
          </a:p>
        </p:txBody>
      </p:sp>
      <p:sp>
        <p:nvSpPr>
          <p:cNvPr id="15" name="KIT.theadtxt"/>
          <p:cNvSpPr txBox="1"/>
          <p:nvPr/>
        </p:nvSpPr>
        <p:spPr>
          <a:xfrm>
            <a:off x="7242048" y="2743200"/>
            <a:ext cx="437997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V_rot (각운동량 보존)</a:t>
            </a:r>
          </a:p>
        </p:txBody>
      </p:sp>
      <p:sp>
        <p:nvSpPr>
          <p:cNvPr id="16" name="KIT.trule"/>
          <p:cNvSpPr/>
          <p:nvPr/>
        </p:nvSpPr>
        <p:spPr>
          <a:xfrm>
            <a:off x="475488" y="3090672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IT.tcell"/>
          <p:cNvSpPr txBox="1"/>
          <p:nvPr/>
        </p:nvSpPr>
        <p:spPr>
          <a:xfrm>
            <a:off x="566928" y="3136392"/>
            <a:ext cx="192023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완화 τ</a:t>
            </a:r>
          </a:p>
        </p:txBody>
      </p:sp>
      <p:sp>
        <p:nvSpPr>
          <p:cNvPr id="18" name="KIT.tcell"/>
          <p:cNvSpPr txBox="1"/>
          <p:nvPr/>
        </p:nvSpPr>
        <p:spPr>
          <a:xfrm>
            <a:off x="2670048" y="3136392"/>
            <a:ext cx="43891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τ_eq ∥ τ_E; 데이터 103~140 ms, IPB98 77 ms</a:t>
            </a:r>
          </a:p>
        </p:txBody>
      </p:sp>
      <p:sp>
        <p:nvSpPr>
          <p:cNvPr id="19" name="KIT.tcell"/>
          <p:cNvSpPr txBox="1"/>
          <p:nvPr/>
        </p:nvSpPr>
        <p:spPr>
          <a:xfrm>
            <a:off x="7242048" y="3136392"/>
            <a:ext cx="43799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τ_φ ≈ τ_E; 데이터 89 ms → Pr ≈ 1</a:t>
            </a:r>
          </a:p>
        </p:txBody>
      </p:sp>
      <p:sp>
        <p:nvSpPr>
          <p:cNvPr id="20" name="KIT.trule"/>
          <p:cNvSpPr/>
          <p:nvPr/>
        </p:nvSpPr>
        <p:spPr>
          <a:xfrm>
            <a:off x="475488" y="3502152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IT.tcell"/>
          <p:cNvSpPr txBox="1"/>
          <p:nvPr/>
        </p:nvSpPr>
        <p:spPr>
          <a:xfrm>
            <a:off x="566928" y="3547872"/>
            <a:ext cx="192023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평형 m</a:t>
            </a:r>
          </a:p>
        </p:txBody>
      </p:sp>
      <p:sp>
        <p:nvSpPr>
          <p:cNvPr id="22" name="KIT.tcell"/>
          <p:cNvSpPr txBox="1"/>
          <p:nvPr/>
        </p:nvSpPr>
        <p:spPr>
          <a:xfrm>
            <a:off x="2670048" y="3547872"/>
            <a:ext cx="43891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5B"/>
                </a:solidFill>
                <a:latin typeface="Malgun Gothic"/>
              </a:rPr>
              <a:t>Tₑ·nₑ·P_NBI의 함수 — ECEI·BES가 본다</a:t>
            </a:r>
          </a:p>
        </p:txBody>
      </p:sp>
      <p:sp>
        <p:nvSpPr>
          <p:cNvPr id="23" name="KIT.tcell"/>
          <p:cNvSpPr txBox="1"/>
          <p:nvPr/>
        </p:nvSpPr>
        <p:spPr>
          <a:xfrm>
            <a:off x="7242048" y="3547872"/>
            <a:ext cx="43799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C0392B"/>
                </a:solidFill>
                <a:latin typeface="Malgun Gothic"/>
              </a:rPr>
              <a:t>토크의 함수 — 데이터에 없다</a:t>
            </a:r>
          </a:p>
        </p:txBody>
      </p:sp>
      <p:sp>
        <p:nvSpPr>
          <p:cNvPr id="24" name="KIT.trule"/>
          <p:cNvSpPr/>
          <p:nvPr/>
        </p:nvSpPr>
        <p:spPr>
          <a:xfrm>
            <a:off x="475488" y="3913632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KIT.tcell"/>
          <p:cNvSpPr txBox="1"/>
          <p:nvPr/>
        </p:nvSpPr>
        <p:spPr>
          <a:xfrm>
            <a:off x="566928" y="3959352"/>
            <a:ext cx="192023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충격 A_k h</a:t>
            </a:r>
          </a:p>
        </p:txBody>
      </p:sp>
      <p:sp>
        <p:nvSpPr>
          <p:cNvPr id="26" name="KIT.tcell"/>
          <p:cNvSpPr txBox="1"/>
          <p:nvPr/>
        </p:nvSpPr>
        <p:spPr>
          <a:xfrm>
            <a:off x="2670048" y="3959352"/>
            <a:ext cx="43891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ELM 붕괴: ms 이하 계단, κ_T ≈ 1.03</a:t>
            </a:r>
          </a:p>
        </p:txBody>
      </p:sp>
      <p:sp>
        <p:nvSpPr>
          <p:cNvPr id="27" name="KIT.tcell"/>
          <p:cNvSpPr txBox="1"/>
          <p:nvPr/>
        </p:nvSpPr>
        <p:spPr>
          <a:xfrm>
            <a:off x="7242048" y="3959352"/>
            <a:ext cx="43799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토크 램프: κ_V = Δ/2τ_φ = 0.056</a:t>
            </a:r>
          </a:p>
        </p:txBody>
      </p:sp>
      <p:sp>
        <p:nvSpPr>
          <p:cNvPr id="28" name="KIT.trule"/>
          <p:cNvSpPr/>
          <p:nvPr/>
        </p:nvSpPr>
        <p:spPr>
          <a:xfrm>
            <a:off x="475488" y="4325112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KIT.tcell"/>
          <p:cNvSpPr txBox="1"/>
          <p:nvPr/>
        </p:nvSpPr>
        <p:spPr>
          <a:xfrm>
            <a:off x="566928" y="4370832"/>
            <a:ext cx="192023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사건 가시성 p_obs</a:t>
            </a:r>
          </a:p>
        </p:txBody>
      </p:sp>
      <p:sp>
        <p:nvSpPr>
          <p:cNvPr id="30" name="KIT.tcell"/>
          <p:cNvSpPr txBox="1"/>
          <p:nvPr/>
        </p:nvSpPr>
        <p:spPr>
          <a:xfrm>
            <a:off x="2670048" y="4370832"/>
            <a:ext cx="43891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5B"/>
                </a:solidFill>
                <a:latin typeface="Malgun Gothic"/>
              </a:rPr>
              <a:t>ECEI 급변 동반 농축 1.27~1.34배</a:t>
            </a:r>
          </a:p>
        </p:txBody>
      </p:sp>
      <p:sp>
        <p:nvSpPr>
          <p:cNvPr id="31" name="KIT.tcell"/>
          <p:cNvSpPr txBox="1"/>
          <p:nvPr/>
        </p:nvSpPr>
        <p:spPr>
          <a:xfrm>
            <a:off x="7242048" y="4370832"/>
            <a:ext cx="43799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C0392B"/>
                </a:solidFill>
                <a:latin typeface="Malgun Gothic"/>
              </a:rPr>
              <a:t>0.99배 = 우연</a:t>
            </a:r>
          </a:p>
        </p:txBody>
      </p:sp>
      <p:sp>
        <p:nvSpPr>
          <p:cNvPr id="32" name="KIT.trule"/>
          <p:cNvSpPr/>
          <p:nvPr/>
        </p:nvSpPr>
        <p:spPr>
          <a:xfrm>
            <a:off x="475488" y="4736592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KIT.tcell"/>
          <p:cNvSpPr txBox="1"/>
          <p:nvPr/>
        </p:nvSpPr>
        <p:spPr>
          <a:xfrm>
            <a:off x="566928" y="4782312"/>
            <a:ext cx="192023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잡음 σ_n</a:t>
            </a:r>
          </a:p>
        </p:txBody>
      </p:sp>
      <p:sp>
        <p:nvSpPr>
          <p:cNvPr id="34" name="KIT.tcell"/>
          <p:cNvSpPr txBox="1"/>
          <p:nvPr/>
        </p:nvSpPr>
        <p:spPr>
          <a:xfrm>
            <a:off x="2670048" y="4782312"/>
            <a:ext cx="43891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39~46 eV, 광자 약 300개</a:t>
            </a:r>
          </a:p>
        </p:txBody>
      </p:sp>
      <p:sp>
        <p:nvSpPr>
          <p:cNvPr id="35" name="KIT.tcell"/>
          <p:cNvSpPr txBox="1"/>
          <p:nvPr/>
        </p:nvSpPr>
        <p:spPr>
          <a:xfrm>
            <a:off x="7242048" y="4782312"/>
            <a:ext cx="43799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3~4 km/s, 같은 광자 예산</a:t>
            </a:r>
          </a:p>
        </p:txBody>
      </p:sp>
      <p:sp>
        <p:nvSpPr>
          <p:cNvPr id="36" name="KIT.trule"/>
          <p:cNvSpPr/>
          <p:nvPr/>
        </p:nvSpPr>
        <p:spPr>
          <a:xfrm>
            <a:off x="475488" y="5148072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T.footrule"/>
          <p:cNvSpPr/>
          <p:nvPr/>
        </p:nvSpPr>
        <p:spPr>
          <a:xfrm>
            <a:off x="475488" y="6382512"/>
            <a:ext cx="11237976" cy="10972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T.footer"/>
          <p:cNvSpPr txBox="1"/>
          <p:nvPr/>
        </p:nvSpPr>
        <p:spPr>
          <a:xfrm>
            <a:off x="475488" y="6455664"/>
            <a:ext cx="1032357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Malgun Gothic"/>
              </a:rPr>
              <a:t>KSTAR CES 나우캐스팅 · 물리 근거 덱 (§8ba · §8bb)</a:t>
            </a:r>
          </a:p>
        </p:txBody>
      </p:sp>
      <p:sp>
        <p:nvSpPr>
          <p:cNvPr id="5" name="KIT.pageno"/>
          <p:cNvSpPr txBox="1"/>
          <p:nvPr/>
        </p:nvSpPr>
        <p:spPr>
          <a:xfrm>
            <a:off x="10799063" y="6455664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Consolas"/>
              </a:rPr>
              <a:t>6</a:t>
            </a:r>
          </a:p>
        </p:txBody>
      </p:sp>
      <p:sp>
        <p:nvSpPr>
          <p:cNvPr id="6" name="KIT.title"/>
          <p:cNvSpPr txBox="1"/>
          <p:nvPr/>
        </p:nvSpPr>
        <p:spPr>
          <a:xfrm>
            <a:off x="475488" y="457200"/>
            <a:ext cx="11237976" cy="65836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3335F"/>
                </a:solidFill>
                <a:latin typeface="Malgun Gothic"/>
              </a:rPr>
              <a:t>추정기의 오차를 시간으로 쓰면 두 항등식이 모든 결과를 담는다</a:t>
            </a:r>
          </a:p>
        </p:txBody>
      </p:sp>
      <p:sp>
        <p:nvSpPr>
          <p:cNvPr id="7" name="KIT.rule"/>
          <p:cNvSpPr/>
          <p:nvPr/>
        </p:nvSpPr>
        <p:spPr>
          <a:xfrm>
            <a:off x="475488" y="1115568"/>
            <a:ext cx="2011680" cy="36576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T.lead"/>
          <p:cNvSpPr txBox="1"/>
          <p:nvPr/>
        </p:nvSpPr>
        <p:spPr>
          <a:xfrm>
            <a:off x="475488" y="1298448"/>
            <a:ext cx="11237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0"/>
                </a:solidFill>
                <a:latin typeface="Malgun Gothic"/>
              </a:rPr>
              <a:t>사건 시각 t_k를 기준으로 이력 필터·양측 보간·나우캐스터의 오차를 쓰고 짝지은 차이를 시간 적분하면 방전별 승패 식이, 제곱오차 비중으로 쓰면 skill의 정확한 분해가 나온다.</a:t>
            </a:r>
          </a:p>
        </p:txBody>
      </p:sp>
      <p:sp>
        <p:nvSpPr>
          <p:cNvPr id="9" name="KIT.band"/>
          <p:cNvSpPr/>
          <p:nvPr/>
        </p:nvSpPr>
        <p:spPr>
          <a:xfrm>
            <a:off x="475488" y="1792224"/>
            <a:ext cx="11237976" cy="71323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bandbar"/>
          <p:cNvSpPr/>
          <p:nvPr/>
        </p:nvSpPr>
        <p:spPr>
          <a:xfrm>
            <a:off x="475488" y="1792224"/>
            <a:ext cx="54864" cy="7132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T.bandtext"/>
          <p:cNvSpPr txBox="1"/>
          <p:nvPr/>
        </p:nvSpPr>
        <p:spPr>
          <a:xfrm>
            <a:off x="658368" y="1883664"/>
            <a:ext cx="10908792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3335F"/>
                </a:solidFill>
                <a:latin typeface="Malgun Gothic"/>
              </a:rPr>
              <a:t>이력 필터 (간극 g)  </a:t>
            </a:r>
            <a:r>
              <a:rPr sz="1150" b="0">
                <a:solidFill>
                  <a:srgbClr val="222B35"/>
                </a:solidFill>
                <a:latin typeface="Malgun Gothic"/>
              </a:rPr>
              <a:t>E[e²](g) = e^(-2g/τ)·P + σ_s²(1-e^(-2g/τ)) + σ_n²  — 양측 교량은 조용한 구간에서 1.5σ_n², 사건 행에서 A_k/2를 틀린다.</a:t>
            </a:r>
          </a:p>
        </p:txBody>
      </p:sp>
      <p:sp>
        <p:nvSpPr>
          <p:cNvPr id="12" name="KIT.band"/>
          <p:cNvSpPr/>
          <p:nvPr/>
        </p:nvSpPr>
        <p:spPr>
          <a:xfrm>
            <a:off x="475488" y="2670048"/>
            <a:ext cx="11237976" cy="71323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IT.bandbar"/>
          <p:cNvSpPr/>
          <p:nvPr/>
        </p:nvSpPr>
        <p:spPr>
          <a:xfrm>
            <a:off x="475488" y="2670048"/>
            <a:ext cx="54864" cy="713232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IT.bandtext"/>
          <p:cNvSpPr txBox="1"/>
          <p:nvPr/>
        </p:nvSpPr>
        <p:spPr>
          <a:xfrm>
            <a:off x="658368" y="2761488"/>
            <a:ext cx="10908792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B9E8A"/>
                </a:solidFill>
                <a:latin typeface="Malgun Gothic"/>
              </a:rPr>
              <a:t>(M6) 방전별 짝 차이  </a:t>
            </a:r>
            <a:r>
              <a:rPr sz="1150" b="0">
                <a:solidFill>
                  <a:srgbClr val="222B35"/>
                </a:solidFill>
                <a:latin typeface="Malgun Gothic"/>
              </a:rPr>
              <a:t>D = p_obs · r · N_e κ A²/n - c_b   — 사건이 보이고(p_obs) 크기가 회수되며(r) 충격 에너지가 본류 비용 c_b를 넘을 때만 이긴다.</a:t>
            </a:r>
          </a:p>
        </p:txBody>
      </p:sp>
      <p:sp>
        <p:nvSpPr>
          <p:cNvPr id="15" name="KIT.band"/>
          <p:cNvSpPr/>
          <p:nvPr/>
        </p:nvSpPr>
        <p:spPr>
          <a:xfrm>
            <a:off x="475488" y="3547872"/>
            <a:ext cx="11237976" cy="71323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KIT.bandbar"/>
          <p:cNvSpPr/>
          <p:nvPr/>
        </p:nvSpPr>
        <p:spPr>
          <a:xfrm>
            <a:off x="475488" y="3547872"/>
            <a:ext cx="54864" cy="71323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IT.bandtext"/>
          <p:cNvSpPr txBox="1"/>
          <p:nvPr/>
        </p:nvSpPr>
        <p:spPr>
          <a:xfrm>
            <a:off x="658368" y="3639312"/>
            <a:ext cx="10908792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43B"/>
                </a:solidFill>
                <a:latin typeface="Malgun Gothic"/>
              </a:rPr>
              <a:t>(M7) skill의 정확한 분해  </a:t>
            </a:r>
            <a:r>
              <a:rPr sz="1150" b="0">
                <a:solidFill>
                  <a:srgbClr val="222B35"/>
                </a:solidFill>
                <a:latin typeface="Malgun Gothic"/>
              </a:rPr>
              <a:t>skill = f_I · r_I - (1-f_I) · ℓ_B   — 천이 행의 기준선 SSE 비중 × 그 행의 회수율, 빼기 본류 손실. 4분할에서 10⁻¹⁶ 정확도로 성립.</a:t>
            </a:r>
          </a:p>
        </p:txBody>
      </p:sp>
      <p:sp>
        <p:nvSpPr>
          <p:cNvPr id="18" name="KIT.card"/>
          <p:cNvSpPr/>
          <p:nvPr/>
        </p:nvSpPr>
        <p:spPr>
          <a:xfrm>
            <a:off x="475488" y="4425696"/>
            <a:ext cx="5527548" cy="10972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KIT.cardbar"/>
          <p:cNvSpPr/>
          <p:nvPr/>
        </p:nvSpPr>
        <p:spPr>
          <a:xfrm>
            <a:off x="475488" y="4425696"/>
            <a:ext cx="54864" cy="109728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IT.cardtext"/>
          <p:cNvSpPr txBox="1"/>
          <p:nvPr/>
        </p:nvSpPr>
        <p:spPr>
          <a:xfrm>
            <a:off x="658368" y="4544568"/>
            <a:ext cx="5198364" cy="8778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3335F"/>
                </a:solidFill>
                <a:latin typeface="Malgun Gothic"/>
              </a:rPr>
              <a:t>이 두 식이 설명하는 것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헤드라인(P01) · 승률 비대칭(P08) · V_rot 꼬리 부등식(P02)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· 지연 비용(P10)이 전부 이 두 식의 특수한 경우다.</a:t>
            </a:r>
          </a:p>
        </p:txBody>
      </p:sp>
      <p:sp>
        <p:nvSpPr>
          <p:cNvPr id="21" name="KIT.card"/>
          <p:cNvSpPr/>
          <p:nvPr/>
        </p:nvSpPr>
        <p:spPr>
          <a:xfrm>
            <a:off x="6185916" y="4425696"/>
            <a:ext cx="5527548" cy="10972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IT.cardbar"/>
          <p:cNvSpPr/>
          <p:nvPr/>
        </p:nvSpPr>
        <p:spPr>
          <a:xfrm>
            <a:off x="6185916" y="4425696"/>
            <a:ext cx="54864" cy="1097280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IT.cardtext"/>
          <p:cNvSpPr txBox="1"/>
          <p:nvPr/>
        </p:nvSpPr>
        <p:spPr>
          <a:xfrm>
            <a:off x="6368796" y="4544568"/>
            <a:ext cx="5198364" cy="8778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5B6670"/>
                </a:solidFill>
                <a:latin typeface="Malgun Gothic"/>
              </a:rPr>
              <a:t>본류 비용 c_b는 구동원과 무관하다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정보 없는 입력 d개는 추정 분산만 더한다(σ²d/n).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조용 방전 삼분위 손실 -0.072(Tᵢ) = -0.073(V_rot).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T.footrule"/>
          <p:cNvSpPr/>
          <p:nvPr/>
        </p:nvSpPr>
        <p:spPr>
          <a:xfrm>
            <a:off x="475488" y="6382512"/>
            <a:ext cx="11237976" cy="10972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T.footer"/>
          <p:cNvSpPr txBox="1"/>
          <p:nvPr/>
        </p:nvSpPr>
        <p:spPr>
          <a:xfrm>
            <a:off x="475488" y="6455664"/>
            <a:ext cx="1032357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Malgun Gothic"/>
              </a:rPr>
              <a:t>KSTAR CES 나우캐스팅 · 물리 근거 덱 (§8ba · §8bb)</a:t>
            </a:r>
          </a:p>
        </p:txBody>
      </p:sp>
      <p:sp>
        <p:nvSpPr>
          <p:cNvPr id="5" name="KIT.pageno"/>
          <p:cNvSpPr txBox="1"/>
          <p:nvPr/>
        </p:nvSpPr>
        <p:spPr>
          <a:xfrm>
            <a:off x="10799063" y="6455664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Consolas"/>
              </a:rPr>
              <a:t>7</a:t>
            </a:r>
          </a:p>
        </p:txBody>
      </p:sp>
      <p:sp>
        <p:nvSpPr>
          <p:cNvPr id="6" name="KIT.title"/>
          <p:cNvSpPr txBox="1"/>
          <p:nvPr/>
        </p:nvSpPr>
        <p:spPr>
          <a:xfrm>
            <a:off x="475488" y="457200"/>
            <a:ext cx="11237976" cy="65836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3335F"/>
                </a:solidFill>
                <a:latin typeface="Malgun Gothic"/>
              </a:rPr>
              <a:t>50 ms 포화에서 필터 수렴 가설은 기각되고 ELM 회복 척도가 남는다</a:t>
            </a:r>
          </a:p>
        </p:txBody>
      </p:sp>
      <p:sp>
        <p:nvSpPr>
          <p:cNvPr id="7" name="KIT.rule"/>
          <p:cNvSpPr/>
          <p:nvPr/>
        </p:nvSpPr>
        <p:spPr>
          <a:xfrm>
            <a:off x="475488" y="1115568"/>
            <a:ext cx="2011680" cy="36576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T.lead"/>
          <p:cNvSpPr txBox="1"/>
          <p:nvPr/>
        </p:nvSpPr>
        <p:spPr>
          <a:xfrm>
            <a:off x="475488" y="1298448"/>
            <a:ext cx="11237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0"/>
                </a:solidFill>
                <a:latin typeface="Malgun Gothic"/>
              </a:rPr>
              <a:t>세 후보를 따로 재었다. 잡음 Markov 필터의 냉시동 수렴, 전자–이온 평형화 시간, ELM 뒤 pedestal 회복 시간이다. 측정된 포화는 5 스텝(50 ms)이다.</a:t>
            </a:r>
          </a:p>
        </p:txBody>
      </p:sp>
      <p:sp>
        <p:nvSpPr>
          <p:cNvPr id="9" name="KIT.thead"/>
          <p:cNvSpPr/>
          <p:nvPr/>
        </p:nvSpPr>
        <p:spPr>
          <a:xfrm>
            <a:off x="475488" y="1792224"/>
            <a:ext cx="11237976" cy="402336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theadtxt"/>
          <p:cNvSpPr txBox="1"/>
          <p:nvPr/>
        </p:nvSpPr>
        <p:spPr>
          <a:xfrm>
            <a:off x="566928" y="1847088"/>
            <a:ext cx="283463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후보 척도</a:t>
            </a:r>
          </a:p>
        </p:txBody>
      </p:sp>
      <p:sp>
        <p:nvSpPr>
          <p:cNvPr id="11" name="KIT.theadtxt"/>
          <p:cNvSpPr txBox="1"/>
          <p:nvPr/>
        </p:nvSpPr>
        <p:spPr>
          <a:xfrm>
            <a:off x="3584448" y="1847088"/>
            <a:ext cx="283463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유도가 준 값</a:t>
            </a:r>
          </a:p>
        </p:txBody>
      </p:sp>
      <p:sp>
        <p:nvSpPr>
          <p:cNvPr id="12" name="KIT.theadtxt"/>
          <p:cNvSpPr txBox="1"/>
          <p:nvPr/>
        </p:nvSpPr>
        <p:spPr>
          <a:xfrm>
            <a:off x="6601967" y="1847088"/>
            <a:ext cx="246887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측정 50 ms와의 관계</a:t>
            </a:r>
          </a:p>
        </p:txBody>
      </p:sp>
      <p:sp>
        <p:nvSpPr>
          <p:cNvPr id="13" name="KIT.theadtxt"/>
          <p:cNvSpPr txBox="1"/>
          <p:nvPr/>
        </p:nvSpPr>
        <p:spPr>
          <a:xfrm>
            <a:off x="9253728" y="1847088"/>
            <a:ext cx="236829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판정</a:t>
            </a:r>
          </a:p>
        </p:txBody>
      </p:sp>
      <p:sp>
        <p:nvSpPr>
          <p:cNvPr id="14" name="KIT.trule"/>
          <p:cNvSpPr/>
          <p:nvPr/>
        </p:nvSpPr>
        <p:spPr>
          <a:xfrm>
            <a:off x="475488" y="21945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KIT.tcell"/>
          <p:cNvSpPr txBox="1"/>
          <p:nvPr/>
        </p:nvSpPr>
        <p:spPr>
          <a:xfrm>
            <a:off x="566928" y="2240279"/>
            <a:ext cx="283463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필터 냉시동 수렴 (ρ(1-K))^2k</a:t>
            </a:r>
          </a:p>
        </p:txBody>
      </p:sp>
      <p:sp>
        <p:nvSpPr>
          <p:cNvPr id="16" name="KIT.tcell"/>
          <p:cNvSpPr txBox="1"/>
          <p:nvPr/>
        </p:nvSpPr>
        <p:spPr>
          <a:xfrm>
            <a:off x="3584448" y="2240279"/>
            <a:ext cx="283463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2 % 포화 2~3 스텝</a:t>
            </a:r>
          </a:p>
        </p:txBody>
      </p:sp>
      <p:sp>
        <p:nvSpPr>
          <p:cNvPr id="17" name="KIT.tcell"/>
          <p:cNvSpPr txBox="1"/>
          <p:nvPr/>
        </p:nvSpPr>
        <p:spPr>
          <a:xfrm>
            <a:off x="6601967" y="2240279"/>
            <a:ext cx="24688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20 ms 결손의 26~43 %만</a:t>
            </a:r>
          </a:p>
        </p:txBody>
      </p:sp>
      <p:sp>
        <p:nvSpPr>
          <p:cNvPr id="18" name="KIT.tcell"/>
          <p:cNvSpPr txBox="1"/>
          <p:nvPr/>
        </p:nvSpPr>
        <p:spPr>
          <a:xfrm>
            <a:off x="9253728" y="2240279"/>
            <a:ext cx="236829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Malgun Gothic"/>
              </a:rPr>
              <a:t>주원인 기각</a:t>
            </a:r>
          </a:p>
        </p:txBody>
      </p:sp>
      <p:sp>
        <p:nvSpPr>
          <p:cNvPr id="19" name="KIT.trule"/>
          <p:cNvSpPr/>
          <p:nvPr/>
        </p:nvSpPr>
        <p:spPr>
          <a:xfrm>
            <a:off x="475488" y="260604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IT.tcell"/>
          <p:cNvSpPr txBox="1"/>
          <p:nvPr/>
        </p:nvSpPr>
        <p:spPr>
          <a:xfrm>
            <a:off x="566928" y="2651760"/>
            <a:ext cx="283463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전자–이온 평형화 τ_eq</a:t>
            </a:r>
          </a:p>
        </p:txBody>
      </p:sp>
      <p:sp>
        <p:nvSpPr>
          <p:cNvPr id="21" name="KIT.tcell"/>
          <p:cNvSpPr txBox="1"/>
          <p:nvPr/>
        </p:nvSpPr>
        <p:spPr>
          <a:xfrm>
            <a:off x="3584448" y="2651760"/>
            <a:ext cx="283463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18~39 ms (CES 구석)</a:t>
            </a:r>
          </a:p>
        </p:txBody>
      </p:sp>
      <p:sp>
        <p:nvSpPr>
          <p:cNvPr id="22" name="KIT.tcell"/>
          <p:cNvSpPr txBox="1"/>
          <p:nvPr/>
        </p:nvSpPr>
        <p:spPr>
          <a:xfrm>
            <a:off x="6601967" y="2651760"/>
            <a:ext cx="24688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같은 자릿수</a:t>
            </a:r>
          </a:p>
        </p:txBody>
      </p:sp>
      <p:sp>
        <p:nvSpPr>
          <p:cNvPr id="23" name="KIT.tcell"/>
          <p:cNvSpPr txBox="1"/>
          <p:nvPr/>
        </p:nvSpPr>
        <p:spPr>
          <a:xfrm>
            <a:off x="9253728" y="2651760"/>
            <a:ext cx="236829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9E5B"/>
                </a:solidFill>
                <a:latin typeface="Malgun Gothic"/>
              </a:rPr>
              <a:t>정합</a:t>
            </a:r>
          </a:p>
        </p:txBody>
      </p:sp>
      <p:sp>
        <p:nvSpPr>
          <p:cNvPr id="24" name="KIT.trule"/>
          <p:cNvSpPr/>
          <p:nvPr/>
        </p:nvSpPr>
        <p:spPr>
          <a:xfrm>
            <a:off x="475488" y="301752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KIT.tcell"/>
          <p:cNvSpPr txBox="1"/>
          <p:nvPr/>
        </p:nvSpPr>
        <p:spPr>
          <a:xfrm>
            <a:off x="566928" y="3063240"/>
            <a:ext cx="283463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ELM 회복 τ_rec (2,783건)</a:t>
            </a:r>
          </a:p>
        </p:txBody>
      </p:sp>
      <p:sp>
        <p:nvSpPr>
          <p:cNvPr id="26" name="KIT.tcell"/>
          <p:cNvSpPr txBox="1"/>
          <p:nvPr/>
        </p:nvSpPr>
        <p:spPr>
          <a:xfrm>
            <a:off x="3584448" y="3063240"/>
            <a:ext cx="283463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60 ms (정의별 55~64)</a:t>
            </a:r>
          </a:p>
        </p:txBody>
      </p:sp>
      <p:sp>
        <p:nvSpPr>
          <p:cNvPr id="27" name="KIT.tcell"/>
          <p:cNvSpPr txBox="1"/>
          <p:nvPr/>
        </p:nvSpPr>
        <p:spPr>
          <a:xfrm>
            <a:off x="6601967" y="3063240"/>
            <a:ext cx="24688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같은 자릿수</a:t>
            </a:r>
          </a:p>
        </p:txBody>
      </p:sp>
      <p:sp>
        <p:nvSpPr>
          <p:cNvPr id="28" name="KIT.tcell"/>
          <p:cNvSpPr txBox="1"/>
          <p:nvPr/>
        </p:nvSpPr>
        <p:spPr>
          <a:xfrm>
            <a:off x="9253728" y="3063240"/>
            <a:ext cx="236829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9E5B"/>
                </a:solidFill>
                <a:latin typeface="Malgun Gothic"/>
              </a:rPr>
              <a:t>정합</a:t>
            </a:r>
          </a:p>
        </p:txBody>
      </p:sp>
      <p:sp>
        <p:nvSpPr>
          <p:cNvPr id="29" name="KIT.trule"/>
          <p:cNvSpPr/>
          <p:nvPr/>
        </p:nvSpPr>
        <p:spPr>
          <a:xfrm>
            <a:off x="475488" y="342900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KIT.tcell"/>
          <p:cNvSpPr txBox="1"/>
          <p:nvPr/>
        </p:nvSpPr>
        <p:spPr>
          <a:xfrm>
            <a:off x="566928" y="3474720"/>
            <a:ext cx="283463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회복 형태 식별 (CRLB)</a:t>
            </a:r>
          </a:p>
        </p:txBody>
      </p:sp>
      <p:sp>
        <p:nvSpPr>
          <p:cNvPr id="31" name="KIT.tcell"/>
          <p:cNvSpPr txBox="1"/>
          <p:nvPr/>
        </p:nvSpPr>
        <p:spPr>
          <a:xfrm>
            <a:off x="3584448" y="3474720"/>
            <a:ext cx="283463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문맥 ≈ 1.5 τ_rec 필요</a:t>
            </a:r>
          </a:p>
        </p:txBody>
      </p:sp>
      <p:sp>
        <p:nvSpPr>
          <p:cNvPr id="32" name="KIT.tcell"/>
          <p:cNvSpPr txBox="1"/>
          <p:nvPr/>
        </p:nvSpPr>
        <p:spPr>
          <a:xfrm>
            <a:off x="6601967" y="3474720"/>
            <a:ext cx="24688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정보 논증</a:t>
            </a:r>
          </a:p>
        </p:txBody>
      </p:sp>
      <p:sp>
        <p:nvSpPr>
          <p:cNvPr id="33" name="KIT.tcell"/>
          <p:cNvSpPr txBox="1"/>
          <p:nvPr/>
        </p:nvSpPr>
        <p:spPr>
          <a:xfrm>
            <a:off x="9253728" y="3474720"/>
            <a:ext cx="236829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B9E8A"/>
                </a:solidFill>
                <a:latin typeface="Malgun Gothic"/>
              </a:rPr>
              <a:t>정합</a:t>
            </a:r>
          </a:p>
        </p:txBody>
      </p:sp>
      <p:sp>
        <p:nvSpPr>
          <p:cNvPr id="34" name="KIT.trule"/>
          <p:cNvSpPr/>
          <p:nvPr/>
        </p:nvSpPr>
        <p:spPr>
          <a:xfrm>
            <a:off x="475488" y="384048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IT.band"/>
          <p:cNvSpPr/>
          <p:nvPr/>
        </p:nvSpPr>
        <p:spPr>
          <a:xfrm>
            <a:off x="475488" y="4023360"/>
            <a:ext cx="11237976" cy="71323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KIT.bandbar"/>
          <p:cNvSpPr/>
          <p:nvPr/>
        </p:nvSpPr>
        <p:spPr>
          <a:xfrm>
            <a:off x="475488" y="4023360"/>
            <a:ext cx="54864" cy="713232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KIT.bandtext"/>
          <p:cNvSpPr txBox="1"/>
          <p:nvPr/>
        </p:nvSpPr>
        <p:spPr>
          <a:xfrm>
            <a:off x="658368" y="4114800"/>
            <a:ext cx="10908792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B9E8A"/>
                </a:solidFill>
                <a:latin typeface="Malgun Gothic"/>
              </a:rPr>
              <a:t>판정  </a:t>
            </a:r>
            <a:r>
              <a:rPr sz="1150" b="0">
                <a:solidFill>
                  <a:srgbClr val="222B35"/>
                </a:solidFill>
                <a:latin typeface="Malgun Gothic"/>
              </a:rPr>
              <a:t>50 ms는 τ_eq와 τ_rec 사이에 놓이며 같은 pedestal 물리라는 진술은 자릿수 수준으로만 방어한다. P10의 물리 크기 충격 τ_rec 25~37 ms, P07의 배경 완화 τ_B 26~35 ms도 같은 자릿수다.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.num"/>
          <p:cNvSpPr txBox="1"/>
          <p:nvPr/>
        </p:nvSpPr>
        <p:spPr>
          <a:xfrm>
            <a:off x="822960" y="1920240"/>
            <a:ext cx="36576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600" b="1">
                <a:solidFill>
                  <a:srgbClr val="1B9E8A"/>
                </a:solidFill>
                <a:latin typeface="Consolas"/>
              </a:rPr>
              <a:t>02</a:t>
            </a:r>
          </a:p>
        </p:txBody>
      </p:sp>
      <p:sp>
        <p:nvSpPr>
          <p:cNvPr id="5" name="SEC.title"/>
          <p:cNvSpPr txBox="1"/>
          <p:nvPr/>
        </p:nvSpPr>
        <p:spPr>
          <a:xfrm>
            <a:off x="822960" y="356616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결과의 설명</a:t>
            </a:r>
          </a:p>
        </p:txBody>
      </p:sp>
      <p:sp>
        <p:nvSpPr>
          <p:cNvPr id="6" name="SEC.rule"/>
          <p:cNvSpPr/>
          <p:nvPr/>
        </p:nvSpPr>
        <p:spPr>
          <a:xfrm>
            <a:off x="822960" y="4315968"/>
            <a:ext cx="2011680" cy="36576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C.sub"/>
          <p:cNvSpPr txBox="1"/>
          <p:nvPr/>
        </p:nvSpPr>
        <p:spPr>
          <a:xfrm>
            <a:off x="822960" y="4517136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8ECF1"/>
                </a:solidFill>
                <a:latin typeface="Malgun Gothic"/>
              </a:rPr>
              <a:t>Tᵢ 헤드라인 · V_rot 판정 · 승률 비대칭 · 정보 한계 · 계측 · 결측 · 전이 · 실시간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T.footrule"/>
          <p:cNvSpPr/>
          <p:nvPr/>
        </p:nvSpPr>
        <p:spPr>
          <a:xfrm>
            <a:off x="475488" y="6382512"/>
            <a:ext cx="11237976" cy="10972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T.footer"/>
          <p:cNvSpPr txBox="1"/>
          <p:nvPr/>
        </p:nvSpPr>
        <p:spPr>
          <a:xfrm>
            <a:off x="475488" y="6455664"/>
            <a:ext cx="1032357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Malgun Gothic"/>
              </a:rPr>
              <a:t>KSTAR CES 나우캐스팅 · 물리 근거 덱 (§8ba · §8bb)</a:t>
            </a:r>
          </a:p>
        </p:txBody>
      </p:sp>
      <p:sp>
        <p:nvSpPr>
          <p:cNvPr id="5" name="KIT.pageno"/>
          <p:cNvSpPr txBox="1"/>
          <p:nvPr/>
        </p:nvSpPr>
        <p:spPr>
          <a:xfrm>
            <a:off x="10799063" y="6455664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Consolas"/>
              </a:rPr>
              <a:t>8</a:t>
            </a:r>
          </a:p>
        </p:txBody>
      </p:sp>
      <p:sp>
        <p:nvSpPr>
          <p:cNvPr id="6" name="KIT.title"/>
          <p:cNvSpPr txBox="1"/>
          <p:nvPr/>
        </p:nvSpPr>
        <p:spPr>
          <a:xfrm>
            <a:off x="475488" y="457200"/>
            <a:ext cx="11237976" cy="65836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3335F"/>
                </a:solidFill>
                <a:latin typeface="Malgun Gothic"/>
              </a:rPr>
              <a:t>Tᵢ 헤드라인은 천이 행이 만들며 조용한 행에서는 보간에 진다</a:t>
            </a:r>
          </a:p>
        </p:txBody>
      </p:sp>
      <p:sp>
        <p:nvSpPr>
          <p:cNvPr id="7" name="KIT.rule"/>
          <p:cNvSpPr/>
          <p:nvPr/>
        </p:nvSpPr>
        <p:spPr>
          <a:xfrm>
            <a:off x="475488" y="1115568"/>
            <a:ext cx="2011680" cy="36576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T.lead"/>
          <p:cNvSpPr txBox="1"/>
          <p:nvPr/>
        </p:nvSpPr>
        <p:spPr>
          <a:xfrm>
            <a:off x="475488" y="1298448"/>
            <a:ext cx="11237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0"/>
                </a:solidFill>
                <a:latin typeface="Malgun Gothic"/>
              </a:rPr>
              <a:t>같은 pedestal 붕괴가 Tᵢ·Tₑ·nₑ를 동시에 떨어뜨린다. 양측 보간은 점프를 가로질러 A/2를 틀리고 동시 관측을 보는 인과 모델은 (1-κ)A로 줄인다. 이것이 보간을 이길 수 있는 유일한 자리다.</a:t>
            </a:r>
          </a:p>
        </p:txBody>
      </p:sp>
      <p:sp>
        <p:nvSpPr>
          <p:cNvPr id="9" name="KIT.thead"/>
          <p:cNvSpPr/>
          <p:nvPr/>
        </p:nvSpPr>
        <p:spPr>
          <a:xfrm>
            <a:off x="475488" y="1792224"/>
            <a:ext cx="11237976" cy="402336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theadtxt"/>
          <p:cNvSpPr txBox="1"/>
          <p:nvPr/>
        </p:nvSpPr>
        <p:spPr>
          <a:xfrm>
            <a:off x="566928" y="1847088"/>
            <a:ext cx="10972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분할</a:t>
            </a:r>
          </a:p>
        </p:txBody>
      </p:sp>
      <p:sp>
        <p:nvSpPr>
          <p:cNvPr id="11" name="KIT.theadtxt"/>
          <p:cNvSpPr txBox="1"/>
          <p:nvPr/>
        </p:nvSpPr>
        <p:spPr>
          <a:xfrm>
            <a:off x="1847088" y="1847088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헤드라인</a:t>
            </a:r>
          </a:p>
        </p:txBody>
      </p:sp>
      <p:sp>
        <p:nvSpPr>
          <p:cNvPr id="12" name="KIT.theadtxt"/>
          <p:cNvSpPr txBox="1"/>
          <p:nvPr/>
        </p:nvSpPr>
        <p:spPr>
          <a:xfrm>
            <a:off x="3858768" y="1847088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f_I (천이 SSE 비중)</a:t>
            </a:r>
          </a:p>
        </p:txBody>
      </p:sp>
      <p:sp>
        <p:nvSpPr>
          <p:cNvPr id="13" name="KIT.theadtxt"/>
          <p:cNvSpPr txBox="1"/>
          <p:nvPr/>
        </p:nvSpPr>
        <p:spPr>
          <a:xfrm>
            <a:off x="5870448" y="1847088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r_I (회수율)</a:t>
            </a:r>
          </a:p>
        </p:txBody>
      </p:sp>
      <p:sp>
        <p:nvSpPr>
          <p:cNvPr id="14" name="KIT.theadtxt"/>
          <p:cNvSpPr txBox="1"/>
          <p:nvPr/>
        </p:nvSpPr>
        <p:spPr>
          <a:xfrm>
            <a:off x="7882127" y="1847088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천이 항 f_I·r_I</a:t>
            </a:r>
          </a:p>
        </p:txBody>
      </p:sp>
      <p:sp>
        <p:nvSpPr>
          <p:cNvPr id="15" name="KIT.theadtxt"/>
          <p:cNvSpPr txBox="1"/>
          <p:nvPr/>
        </p:nvSpPr>
        <p:spPr>
          <a:xfrm>
            <a:off x="9893807" y="1847088"/>
            <a:ext cx="172821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비중</a:t>
            </a:r>
          </a:p>
        </p:txBody>
      </p:sp>
      <p:sp>
        <p:nvSpPr>
          <p:cNvPr id="16" name="KIT.trule"/>
          <p:cNvSpPr/>
          <p:nvPr/>
        </p:nvSpPr>
        <p:spPr>
          <a:xfrm>
            <a:off x="475488" y="21945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IT.tcell"/>
          <p:cNvSpPr txBox="1"/>
          <p:nvPr/>
        </p:nvSpPr>
        <p:spPr>
          <a:xfrm>
            <a:off x="566928" y="2240279"/>
            <a:ext cx="109728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2B35"/>
                </a:solidFill>
                <a:latin typeface="Consolas"/>
              </a:rPr>
              <a:t>42</a:t>
            </a:r>
          </a:p>
        </p:txBody>
      </p:sp>
      <p:sp>
        <p:nvSpPr>
          <p:cNvPr id="18" name="KIT.tcell"/>
          <p:cNvSpPr txBox="1"/>
          <p:nvPr/>
        </p:nvSpPr>
        <p:spPr>
          <a:xfrm>
            <a:off x="1847088" y="2240279"/>
            <a:ext cx="182880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+0.174</a:t>
            </a:r>
          </a:p>
        </p:txBody>
      </p:sp>
      <p:sp>
        <p:nvSpPr>
          <p:cNvPr id="19" name="KIT.tcell"/>
          <p:cNvSpPr txBox="1"/>
          <p:nvPr/>
        </p:nvSpPr>
        <p:spPr>
          <a:xfrm>
            <a:off x="3858768" y="2240279"/>
            <a:ext cx="182880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0.734</a:t>
            </a:r>
          </a:p>
        </p:txBody>
      </p:sp>
      <p:sp>
        <p:nvSpPr>
          <p:cNvPr id="20" name="KIT.tcell"/>
          <p:cNvSpPr txBox="1"/>
          <p:nvPr/>
        </p:nvSpPr>
        <p:spPr>
          <a:xfrm>
            <a:off x="5870448" y="2240279"/>
            <a:ext cx="182880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+0.271</a:t>
            </a:r>
          </a:p>
        </p:txBody>
      </p:sp>
      <p:sp>
        <p:nvSpPr>
          <p:cNvPr id="21" name="KIT.tcell"/>
          <p:cNvSpPr txBox="1"/>
          <p:nvPr/>
        </p:nvSpPr>
        <p:spPr>
          <a:xfrm>
            <a:off x="7882127" y="2240279"/>
            <a:ext cx="182880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9E5B"/>
                </a:solidFill>
                <a:latin typeface="Consolas"/>
              </a:rPr>
              <a:t>+0.199</a:t>
            </a:r>
          </a:p>
        </p:txBody>
      </p:sp>
      <p:sp>
        <p:nvSpPr>
          <p:cNvPr id="22" name="KIT.tcell"/>
          <p:cNvSpPr txBox="1"/>
          <p:nvPr/>
        </p:nvSpPr>
        <p:spPr>
          <a:xfrm>
            <a:off x="9893807" y="2240279"/>
            <a:ext cx="1728216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1.14</a:t>
            </a:r>
          </a:p>
        </p:txBody>
      </p:sp>
      <p:sp>
        <p:nvSpPr>
          <p:cNvPr id="23" name="KIT.trule"/>
          <p:cNvSpPr/>
          <p:nvPr/>
        </p:nvSpPr>
        <p:spPr>
          <a:xfrm>
            <a:off x="475488" y="2624328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KIT.tcell"/>
          <p:cNvSpPr txBox="1"/>
          <p:nvPr/>
        </p:nvSpPr>
        <p:spPr>
          <a:xfrm>
            <a:off x="566928" y="2670048"/>
            <a:ext cx="109728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2B35"/>
                </a:solidFill>
                <a:latin typeface="Consolas"/>
              </a:rPr>
              <a:t>1</a:t>
            </a:r>
          </a:p>
        </p:txBody>
      </p:sp>
      <p:sp>
        <p:nvSpPr>
          <p:cNvPr id="25" name="KIT.tcell"/>
          <p:cNvSpPr txBox="1"/>
          <p:nvPr/>
        </p:nvSpPr>
        <p:spPr>
          <a:xfrm>
            <a:off x="1847088" y="2670048"/>
            <a:ext cx="182880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+0.248</a:t>
            </a:r>
          </a:p>
        </p:txBody>
      </p:sp>
      <p:sp>
        <p:nvSpPr>
          <p:cNvPr id="26" name="KIT.tcell"/>
          <p:cNvSpPr txBox="1"/>
          <p:nvPr/>
        </p:nvSpPr>
        <p:spPr>
          <a:xfrm>
            <a:off x="3858768" y="2670048"/>
            <a:ext cx="182880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0.723</a:t>
            </a:r>
          </a:p>
        </p:txBody>
      </p:sp>
      <p:sp>
        <p:nvSpPr>
          <p:cNvPr id="27" name="KIT.tcell"/>
          <p:cNvSpPr txBox="1"/>
          <p:nvPr/>
        </p:nvSpPr>
        <p:spPr>
          <a:xfrm>
            <a:off x="5870448" y="2670048"/>
            <a:ext cx="182880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+0.309</a:t>
            </a:r>
          </a:p>
        </p:txBody>
      </p:sp>
      <p:sp>
        <p:nvSpPr>
          <p:cNvPr id="28" name="KIT.tcell"/>
          <p:cNvSpPr txBox="1"/>
          <p:nvPr/>
        </p:nvSpPr>
        <p:spPr>
          <a:xfrm>
            <a:off x="7882127" y="2670048"/>
            <a:ext cx="182880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9E5B"/>
                </a:solidFill>
                <a:latin typeface="Consolas"/>
              </a:rPr>
              <a:t>+0.223</a:t>
            </a:r>
          </a:p>
        </p:txBody>
      </p:sp>
      <p:sp>
        <p:nvSpPr>
          <p:cNvPr id="29" name="KIT.tcell"/>
          <p:cNvSpPr txBox="1"/>
          <p:nvPr/>
        </p:nvSpPr>
        <p:spPr>
          <a:xfrm>
            <a:off x="9893807" y="2670048"/>
            <a:ext cx="1728216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0.90</a:t>
            </a:r>
          </a:p>
        </p:txBody>
      </p:sp>
      <p:sp>
        <p:nvSpPr>
          <p:cNvPr id="30" name="KIT.trule"/>
          <p:cNvSpPr/>
          <p:nvPr/>
        </p:nvSpPr>
        <p:spPr>
          <a:xfrm>
            <a:off x="475488" y="3054096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KIT.tcell"/>
          <p:cNvSpPr txBox="1"/>
          <p:nvPr/>
        </p:nvSpPr>
        <p:spPr>
          <a:xfrm>
            <a:off x="566928" y="3099815"/>
            <a:ext cx="109728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2B35"/>
                </a:solidFill>
                <a:latin typeface="Consolas"/>
              </a:rPr>
              <a:t>7</a:t>
            </a:r>
          </a:p>
        </p:txBody>
      </p:sp>
      <p:sp>
        <p:nvSpPr>
          <p:cNvPr id="32" name="KIT.tcell"/>
          <p:cNvSpPr txBox="1"/>
          <p:nvPr/>
        </p:nvSpPr>
        <p:spPr>
          <a:xfrm>
            <a:off x="1847088" y="3099815"/>
            <a:ext cx="182880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+0.257</a:t>
            </a:r>
          </a:p>
        </p:txBody>
      </p:sp>
      <p:sp>
        <p:nvSpPr>
          <p:cNvPr id="33" name="KIT.tcell"/>
          <p:cNvSpPr txBox="1"/>
          <p:nvPr/>
        </p:nvSpPr>
        <p:spPr>
          <a:xfrm>
            <a:off x="3858768" y="3099815"/>
            <a:ext cx="182880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0.734</a:t>
            </a:r>
          </a:p>
        </p:txBody>
      </p:sp>
      <p:sp>
        <p:nvSpPr>
          <p:cNvPr id="34" name="KIT.tcell"/>
          <p:cNvSpPr txBox="1"/>
          <p:nvPr/>
        </p:nvSpPr>
        <p:spPr>
          <a:xfrm>
            <a:off x="5870448" y="3099815"/>
            <a:ext cx="182880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+0.333</a:t>
            </a:r>
          </a:p>
        </p:txBody>
      </p:sp>
      <p:sp>
        <p:nvSpPr>
          <p:cNvPr id="35" name="KIT.tcell"/>
          <p:cNvSpPr txBox="1"/>
          <p:nvPr/>
        </p:nvSpPr>
        <p:spPr>
          <a:xfrm>
            <a:off x="7882127" y="3099815"/>
            <a:ext cx="182880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9E5B"/>
                </a:solidFill>
                <a:latin typeface="Consolas"/>
              </a:rPr>
              <a:t>+0.244</a:t>
            </a:r>
          </a:p>
        </p:txBody>
      </p:sp>
      <p:sp>
        <p:nvSpPr>
          <p:cNvPr id="36" name="KIT.tcell"/>
          <p:cNvSpPr txBox="1"/>
          <p:nvPr/>
        </p:nvSpPr>
        <p:spPr>
          <a:xfrm>
            <a:off x="9893807" y="3099815"/>
            <a:ext cx="1728216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0.95</a:t>
            </a:r>
          </a:p>
        </p:txBody>
      </p:sp>
      <p:sp>
        <p:nvSpPr>
          <p:cNvPr id="37" name="KIT.trule"/>
          <p:cNvSpPr/>
          <p:nvPr/>
        </p:nvSpPr>
        <p:spPr>
          <a:xfrm>
            <a:off x="475488" y="3483863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KIT.tcell"/>
          <p:cNvSpPr txBox="1"/>
          <p:nvPr/>
        </p:nvSpPr>
        <p:spPr>
          <a:xfrm>
            <a:off x="566928" y="3529583"/>
            <a:ext cx="109728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22B35"/>
                </a:solidFill>
                <a:latin typeface="Consolas"/>
              </a:rPr>
              <a:t>123</a:t>
            </a:r>
          </a:p>
        </p:txBody>
      </p:sp>
      <p:sp>
        <p:nvSpPr>
          <p:cNvPr id="39" name="KIT.tcell"/>
          <p:cNvSpPr txBox="1"/>
          <p:nvPr/>
        </p:nvSpPr>
        <p:spPr>
          <a:xfrm>
            <a:off x="1847088" y="3529583"/>
            <a:ext cx="182880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+0.264</a:t>
            </a:r>
          </a:p>
        </p:txBody>
      </p:sp>
      <p:sp>
        <p:nvSpPr>
          <p:cNvPr id="40" name="KIT.tcell"/>
          <p:cNvSpPr txBox="1"/>
          <p:nvPr/>
        </p:nvSpPr>
        <p:spPr>
          <a:xfrm>
            <a:off x="3858768" y="3529583"/>
            <a:ext cx="182880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0.779</a:t>
            </a:r>
          </a:p>
        </p:txBody>
      </p:sp>
      <p:sp>
        <p:nvSpPr>
          <p:cNvPr id="41" name="KIT.tcell"/>
          <p:cNvSpPr txBox="1"/>
          <p:nvPr/>
        </p:nvSpPr>
        <p:spPr>
          <a:xfrm>
            <a:off x="5870448" y="3529583"/>
            <a:ext cx="182880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+0.340</a:t>
            </a:r>
          </a:p>
        </p:txBody>
      </p:sp>
      <p:sp>
        <p:nvSpPr>
          <p:cNvPr id="42" name="KIT.tcell"/>
          <p:cNvSpPr txBox="1"/>
          <p:nvPr/>
        </p:nvSpPr>
        <p:spPr>
          <a:xfrm>
            <a:off x="7882127" y="3529583"/>
            <a:ext cx="182880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9E5B"/>
                </a:solidFill>
                <a:latin typeface="Consolas"/>
              </a:rPr>
              <a:t>+0.265</a:t>
            </a:r>
          </a:p>
        </p:txBody>
      </p:sp>
      <p:sp>
        <p:nvSpPr>
          <p:cNvPr id="43" name="KIT.tcell"/>
          <p:cNvSpPr txBox="1"/>
          <p:nvPr/>
        </p:nvSpPr>
        <p:spPr>
          <a:xfrm>
            <a:off x="9893807" y="3529583"/>
            <a:ext cx="1728216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1.00</a:t>
            </a:r>
          </a:p>
        </p:txBody>
      </p:sp>
      <p:sp>
        <p:nvSpPr>
          <p:cNvPr id="44" name="KIT.trule"/>
          <p:cNvSpPr/>
          <p:nvPr/>
        </p:nvSpPr>
        <p:spPr>
          <a:xfrm>
            <a:off x="475488" y="3913631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IT.card"/>
          <p:cNvSpPr/>
          <p:nvPr/>
        </p:nvSpPr>
        <p:spPr>
          <a:xfrm>
            <a:off x="475488" y="4096511"/>
            <a:ext cx="5527548" cy="151790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IT.cardbar"/>
          <p:cNvSpPr/>
          <p:nvPr/>
        </p:nvSpPr>
        <p:spPr>
          <a:xfrm>
            <a:off x="475488" y="4096511"/>
            <a:ext cx="54864" cy="151790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IT.cardtext"/>
          <p:cNvSpPr txBox="1"/>
          <p:nvPr/>
        </p:nvSpPr>
        <p:spPr>
          <a:xfrm>
            <a:off x="658368" y="4215383"/>
            <a:ext cx="5198364" cy="12984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E9E5B"/>
                </a:solidFill>
                <a:latin typeface="Malgun Gothic"/>
              </a:rPr>
              <a:t>조용한 절반 대 천이 상위 5 % (비인과 GP 대비)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조용한 절반: -0.31 / -0.09 / -0.15 / -0.16 (4/4 패)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상위 5 %: +0.05 / +0.09 / +0.09 / +0.05 (4/4 승)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이력만의 인과 GP는 두 층 모두 진다.</a:t>
            </a:r>
          </a:p>
        </p:txBody>
      </p:sp>
      <p:sp>
        <p:nvSpPr>
          <p:cNvPr id="48" name="KIT.card"/>
          <p:cNvSpPr/>
          <p:nvPr/>
        </p:nvSpPr>
        <p:spPr>
          <a:xfrm>
            <a:off x="6185916" y="4096511"/>
            <a:ext cx="5527548" cy="151790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IT.cardbar"/>
          <p:cNvSpPr/>
          <p:nvPr/>
        </p:nvSpPr>
        <p:spPr>
          <a:xfrm>
            <a:off x="6185916" y="4096511"/>
            <a:ext cx="54864" cy="1517904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IT.cardtext"/>
          <p:cNvSpPr txBox="1"/>
          <p:nvPr/>
        </p:nvSpPr>
        <p:spPr>
          <a:xfrm>
            <a:off x="6368796" y="4215383"/>
            <a:ext cx="5198364" cy="12984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3335F"/>
                </a:solidFill>
                <a:latin typeface="Malgun Gothic"/>
              </a:rPr>
              <a:t>동시성의 직접 측정 (641파일, 216,895쌍)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r(ΔTᵢ, ΔECEI) 전체 +0.142 → 큰 점프 조건부 +0.238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신뢰구간이 분리되고 lag 0에서만 산다.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shot별 ρ(skill, 천이 비중) +0.27~+0.54, 4/4 유의.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T.footrule"/>
          <p:cNvSpPr/>
          <p:nvPr/>
        </p:nvSpPr>
        <p:spPr>
          <a:xfrm>
            <a:off x="475488" y="6382512"/>
            <a:ext cx="11237976" cy="10972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T.footer"/>
          <p:cNvSpPr txBox="1"/>
          <p:nvPr/>
        </p:nvSpPr>
        <p:spPr>
          <a:xfrm>
            <a:off x="475488" y="6455664"/>
            <a:ext cx="1032357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Malgun Gothic"/>
              </a:rPr>
              <a:t>KSTAR CES 나우캐스팅 · 물리 근거 덱 (§8ba · §8bb)</a:t>
            </a:r>
          </a:p>
        </p:txBody>
      </p:sp>
      <p:sp>
        <p:nvSpPr>
          <p:cNvPr id="5" name="KIT.pageno"/>
          <p:cNvSpPr txBox="1"/>
          <p:nvPr/>
        </p:nvSpPr>
        <p:spPr>
          <a:xfrm>
            <a:off x="10799063" y="6455664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Consolas"/>
              </a:rPr>
              <a:t>9</a:t>
            </a:r>
          </a:p>
        </p:txBody>
      </p:sp>
      <p:sp>
        <p:nvSpPr>
          <p:cNvPr id="6" name="KIT.title"/>
          <p:cNvSpPr txBox="1"/>
          <p:nvPr/>
        </p:nvSpPr>
        <p:spPr>
          <a:xfrm>
            <a:off x="475488" y="457200"/>
            <a:ext cx="11237976" cy="65836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3335F"/>
                </a:solidFill>
                <a:latin typeface="Malgun Gothic"/>
              </a:rPr>
              <a:t>V_rot의 모든 판정은 토크가 비관측일 때의 이력 필터 식에서 나온다</a:t>
            </a:r>
          </a:p>
        </p:txBody>
      </p:sp>
      <p:sp>
        <p:nvSpPr>
          <p:cNvPr id="7" name="KIT.rule"/>
          <p:cNvSpPr/>
          <p:nvPr/>
        </p:nvSpPr>
        <p:spPr>
          <a:xfrm>
            <a:off x="475488" y="1115568"/>
            <a:ext cx="2011680" cy="36576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T.lead"/>
          <p:cNvSpPr txBox="1"/>
          <p:nvPr/>
        </p:nvSpPr>
        <p:spPr>
          <a:xfrm>
            <a:off x="475488" y="1298448"/>
            <a:ext cx="11237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0"/>
                </a:solidFill>
                <a:latin typeface="Malgun Gothic"/>
              </a:rPr>
              <a:t>운동량 균형의 해 V(t) = ∫h(t-s)T(s)ds에서 토크가 비관측이면 최적 인과 예측은 이력만의 잡음 OU 필터다. 그 중앙값 하한과 양측 교량의 하한을 측정과 나란히 둔다.</a:t>
            </a:r>
          </a:p>
        </p:txBody>
      </p:sp>
      <p:sp>
        <p:nvSpPr>
          <p:cNvPr id="9" name="KIT.thead"/>
          <p:cNvSpPr/>
          <p:nvPr/>
        </p:nvSpPr>
        <p:spPr>
          <a:xfrm>
            <a:off x="475488" y="1792224"/>
            <a:ext cx="11237976" cy="402336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theadtxt"/>
          <p:cNvSpPr txBox="1"/>
          <p:nvPr/>
        </p:nvSpPr>
        <p:spPr>
          <a:xfrm>
            <a:off x="566928" y="1847088"/>
            <a:ext cx="34747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1-step 중앙값 오차 (persistence = 1)</a:t>
            </a:r>
          </a:p>
        </p:txBody>
      </p:sp>
      <p:sp>
        <p:nvSpPr>
          <p:cNvPr id="11" name="KIT.theadtxt"/>
          <p:cNvSpPr txBox="1"/>
          <p:nvPr/>
        </p:nvSpPr>
        <p:spPr>
          <a:xfrm>
            <a:off x="4224527" y="1847088"/>
            <a:ext cx="21945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유도된 하한</a:t>
            </a:r>
          </a:p>
        </p:txBody>
      </p:sp>
      <p:sp>
        <p:nvSpPr>
          <p:cNvPr id="12" name="KIT.theadtxt"/>
          <p:cNvSpPr txBox="1"/>
          <p:nvPr/>
        </p:nvSpPr>
        <p:spPr>
          <a:xfrm>
            <a:off x="6601967" y="1847088"/>
            <a:ext cx="21945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측정 (s42 컷)</a:t>
            </a:r>
          </a:p>
        </p:txBody>
      </p:sp>
      <p:sp>
        <p:nvSpPr>
          <p:cNvPr id="13" name="KIT.theadtxt"/>
          <p:cNvSpPr txBox="1"/>
          <p:nvPr/>
        </p:nvSpPr>
        <p:spPr>
          <a:xfrm>
            <a:off x="8979407" y="1847088"/>
            <a:ext cx="264261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읽기</a:t>
            </a:r>
          </a:p>
        </p:txBody>
      </p:sp>
      <p:sp>
        <p:nvSpPr>
          <p:cNvPr id="14" name="KIT.trule"/>
          <p:cNvSpPr/>
          <p:nvPr/>
        </p:nvSpPr>
        <p:spPr>
          <a:xfrm>
            <a:off x="475488" y="21945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KIT.tcell"/>
          <p:cNvSpPr txBox="1"/>
          <p:nvPr/>
        </p:nvSpPr>
        <p:spPr>
          <a:xfrm>
            <a:off x="566928" y="2240279"/>
            <a:ext cx="34747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최적 인과 필터</a:t>
            </a:r>
          </a:p>
        </p:txBody>
      </p:sp>
      <p:sp>
        <p:nvSpPr>
          <p:cNvPr id="16" name="KIT.tcell"/>
          <p:cNvSpPr txBox="1"/>
          <p:nvPr/>
        </p:nvSpPr>
        <p:spPr>
          <a:xfrm>
            <a:off x="4224527" y="2240279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Consolas"/>
              </a:rPr>
              <a:t>0.921</a:t>
            </a:r>
          </a:p>
        </p:txBody>
      </p:sp>
      <p:sp>
        <p:nvSpPr>
          <p:cNvPr id="17" name="KIT.tcell"/>
          <p:cNvSpPr txBox="1"/>
          <p:nvPr/>
        </p:nvSpPr>
        <p:spPr>
          <a:xfrm>
            <a:off x="6601967" y="2240279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—</a:t>
            </a:r>
          </a:p>
        </p:txBody>
      </p:sp>
      <p:sp>
        <p:nvSpPr>
          <p:cNvPr id="18" name="KIT.tcell"/>
          <p:cNvSpPr txBox="1"/>
          <p:nvPr/>
        </p:nvSpPr>
        <p:spPr>
          <a:xfrm>
            <a:off x="8979407" y="2240279"/>
            <a:ext cx="2642615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어떤 인과 방법도 아래로 못 간다</a:t>
            </a:r>
          </a:p>
        </p:txBody>
      </p:sp>
      <p:sp>
        <p:nvSpPr>
          <p:cNvPr id="19" name="KIT.trule"/>
          <p:cNvSpPr/>
          <p:nvPr/>
        </p:nvSpPr>
        <p:spPr>
          <a:xfrm>
            <a:off x="475488" y="260604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IT.tcell"/>
          <p:cNvSpPr txBox="1"/>
          <p:nvPr/>
        </p:nvSpPr>
        <p:spPr>
          <a:xfrm>
            <a:off x="566928" y="2651760"/>
            <a:ext cx="34747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나우캐스터(MSE 학습)</a:t>
            </a:r>
          </a:p>
        </p:txBody>
      </p:sp>
      <p:sp>
        <p:nvSpPr>
          <p:cNvPr id="21" name="KIT.tcell"/>
          <p:cNvSpPr txBox="1"/>
          <p:nvPr/>
        </p:nvSpPr>
        <p:spPr>
          <a:xfrm>
            <a:off x="4224527" y="265176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≥ 0.921</a:t>
            </a:r>
          </a:p>
        </p:txBody>
      </p:sp>
      <p:sp>
        <p:nvSpPr>
          <p:cNvPr id="22" name="KIT.tcell"/>
          <p:cNvSpPr txBox="1"/>
          <p:nvPr/>
        </p:nvSpPr>
        <p:spPr>
          <a:xfrm>
            <a:off x="6601967" y="265176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743B"/>
                </a:solidFill>
                <a:latin typeface="Consolas"/>
              </a:rPr>
              <a:t>1.140</a:t>
            </a:r>
          </a:p>
        </p:txBody>
      </p:sp>
      <p:sp>
        <p:nvSpPr>
          <p:cNvPr id="23" name="KIT.tcell"/>
          <p:cNvSpPr txBox="1"/>
          <p:nvPr/>
        </p:nvSpPr>
        <p:spPr>
          <a:xfrm>
            <a:off x="8979407" y="2651760"/>
            <a:ext cx="2642615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하한 위 24 % (헤지 비용)</a:t>
            </a:r>
          </a:p>
        </p:txBody>
      </p:sp>
      <p:sp>
        <p:nvSpPr>
          <p:cNvPr id="24" name="KIT.trule"/>
          <p:cNvSpPr/>
          <p:nvPr/>
        </p:nvSpPr>
        <p:spPr>
          <a:xfrm>
            <a:off x="475488" y="301752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KIT.tcell"/>
          <p:cNvSpPr txBox="1"/>
          <p:nvPr/>
        </p:nvSpPr>
        <p:spPr>
          <a:xfrm>
            <a:off x="566928" y="3063240"/>
            <a:ext cx="34747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인과 GP</a:t>
            </a:r>
          </a:p>
        </p:txBody>
      </p:sp>
      <p:sp>
        <p:nvSpPr>
          <p:cNvPr id="26" name="KIT.tcell"/>
          <p:cNvSpPr txBox="1"/>
          <p:nvPr/>
        </p:nvSpPr>
        <p:spPr>
          <a:xfrm>
            <a:off x="4224527" y="306324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≥ 0.921</a:t>
            </a:r>
          </a:p>
        </p:txBody>
      </p:sp>
      <p:sp>
        <p:nvSpPr>
          <p:cNvPr id="27" name="KIT.tcell"/>
          <p:cNvSpPr txBox="1"/>
          <p:nvPr/>
        </p:nvSpPr>
        <p:spPr>
          <a:xfrm>
            <a:off x="6601967" y="306324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1.009</a:t>
            </a:r>
          </a:p>
        </p:txBody>
      </p:sp>
      <p:sp>
        <p:nvSpPr>
          <p:cNvPr id="28" name="KIT.tcell"/>
          <p:cNvSpPr txBox="1"/>
          <p:nvPr/>
        </p:nvSpPr>
        <p:spPr>
          <a:xfrm>
            <a:off x="8979407" y="3063240"/>
            <a:ext cx="2642615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하한 위</a:t>
            </a:r>
          </a:p>
        </p:txBody>
      </p:sp>
      <p:sp>
        <p:nvSpPr>
          <p:cNvPr id="29" name="KIT.trule"/>
          <p:cNvSpPr/>
          <p:nvPr/>
        </p:nvSpPr>
        <p:spPr>
          <a:xfrm>
            <a:off x="475488" y="342900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KIT.tcell"/>
          <p:cNvSpPr txBox="1"/>
          <p:nvPr/>
        </p:nvSpPr>
        <p:spPr>
          <a:xfrm>
            <a:off x="566928" y="3474720"/>
            <a:ext cx="34747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양측 교량 (PCHIP)</a:t>
            </a:r>
          </a:p>
        </p:txBody>
      </p:sp>
      <p:sp>
        <p:nvSpPr>
          <p:cNvPr id="31" name="KIT.tcell"/>
          <p:cNvSpPr txBox="1"/>
          <p:nvPr/>
        </p:nvSpPr>
        <p:spPr>
          <a:xfrm>
            <a:off x="4224527" y="347472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Consolas"/>
              </a:rPr>
              <a:t>0.798</a:t>
            </a:r>
          </a:p>
        </p:txBody>
      </p:sp>
      <p:sp>
        <p:nvSpPr>
          <p:cNvPr id="32" name="KIT.tcell"/>
          <p:cNvSpPr txBox="1"/>
          <p:nvPr/>
        </p:nvSpPr>
        <p:spPr>
          <a:xfrm>
            <a:off x="6601967" y="347472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9E5B"/>
                </a:solidFill>
                <a:latin typeface="Consolas"/>
              </a:rPr>
              <a:t>0.791</a:t>
            </a:r>
          </a:p>
        </p:txBody>
      </p:sp>
      <p:sp>
        <p:nvSpPr>
          <p:cNvPr id="33" name="KIT.tcell"/>
          <p:cNvSpPr txBox="1"/>
          <p:nvPr/>
        </p:nvSpPr>
        <p:spPr>
          <a:xfrm>
            <a:off x="8979407" y="3474720"/>
            <a:ext cx="2642615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1 % 안에서 일치</a:t>
            </a:r>
          </a:p>
        </p:txBody>
      </p:sp>
      <p:sp>
        <p:nvSpPr>
          <p:cNvPr id="34" name="KIT.trule"/>
          <p:cNvSpPr/>
          <p:nvPr/>
        </p:nvSpPr>
        <p:spPr>
          <a:xfrm>
            <a:off x="475488" y="384048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IT.card"/>
          <p:cNvSpPr/>
          <p:nvPr/>
        </p:nvSpPr>
        <p:spPr>
          <a:xfrm>
            <a:off x="475488" y="4023360"/>
            <a:ext cx="5527548" cy="151790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KIT.cardbar"/>
          <p:cNvSpPr/>
          <p:nvPr/>
        </p:nvSpPr>
        <p:spPr>
          <a:xfrm>
            <a:off x="475488" y="4023360"/>
            <a:ext cx="54864" cy="151790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KIT.cardtext"/>
          <p:cNvSpPr txBox="1"/>
          <p:nvPr/>
        </p:nvSpPr>
        <p:spPr>
          <a:xfrm>
            <a:off x="658368" y="4142232"/>
            <a:ext cx="5198364" cy="12984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E8743B"/>
                </a:solidFill>
                <a:latin typeface="Malgun Gothic"/>
              </a:rPr>
              <a:t>집계 양수는 꼬리 부등식 G_T &gt; D_B가 준다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상위 1 %(105행)가 PCHIP SSE의 83 %, skill 전부.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G_T +0.414 - D_B +0.024 = +0.390 (항등식).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그래서 PR4는 꼬리가 큰 분할(s42)만 유의하다.</a:t>
            </a:r>
          </a:p>
        </p:txBody>
      </p:sp>
      <p:sp>
        <p:nvSpPr>
          <p:cNvPr id="38" name="KIT.card"/>
          <p:cNvSpPr/>
          <p:nvPr/>
        </p:nvSpPr>
        <p:spPr>
          <a:xfrm>
            <a:off x="6185916" y="4023360"/>
            <a:ext cx="5527548" cy="151790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KIT.cardbar"/>
          <p:cNvSpPr/>
          <p:nvPr/>
        </p:nvSpPr>
        <p:spPr>
          <a:xfrm>
            <a:off x="6185916" y="4023360"/>
            <a:ext cx="54864" cy="15179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KIT.cardtext"/>
          <p:cNvSpPr txBox="1"/>
          <p:nvPr/>
        </p:nvSpPr>
        <p:spPr>
          <a:xfrm>
            <a:off x="6368796" y="4142232"/>
            <a:ext cx="5198364" cy="12984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C0392B"/>
                </a:solidFill>
                <a:latin typeface="Malgun Gothic"/>
              </a:rPr>
              <a:t>구동이 비관측임을 모든 창에서 쟀다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ΔV_rot vs ΔBES·ΔECEI·ΔMC: lag ±2, 창 10~200 ms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전부 |r| ≤ 0.014 (대조 Tᵢ는 +0.15~+0.28).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사건 시각조차 빠른 채널에 비치지 않는다.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T.footrule"/>
          <p:cNvSpPr/>
          <p:nvPr/>
        </p:nvSpPr>
        <p:spPr>
          <a:xfrm>
            <a:off x="475488" y="6382512"/>
            <a:ext cx="11237976" cy="10972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T.footer"/>
          <p:cNvSpPr txBox="1"/>
          <p:nvPr/>
        </p:nvSpPr>
        <p:spPr>
          <a:xfrm>
            <a:off x="475488" y="6455664"/>
            <a:ext cx="1032357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Malgun Gothic"/>
              </a:rPr>
              <a:t>KSTAR CES 나우캐스팅 · 물리 근거 덱 (§8ba · §8bb)</a:t>
            </a:r>
          </a:p>
        </p:txBody>
      </p:sp>
      <p:sp>
        <p:nvSpPr>
          <p:cNvPr id="5" name="KIT.pageno"/>
          <p:cNvSpPr txBox="1"/>
          <p:nvPr/>
        </p:nvSpPr>
        <p:spPr>
          <a:xfrm>
            <a:off x="10799063" y="6455664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Consolas"/>
              </a:rPr>
              <a:t>10</a:t>
            </a:r>
          </a:p>
        </p:txBody>
      </p:sp>
      <p:sp>
        <p:nvSpPr>
          <p:cNvPr id="6" name="KIT.title"/>
          <p:cNvSpPr txBox="1"/>
          <p:nvPr/>
        </p:nvSpPr>
        <p:spPr>
          <a:xfrm>
            <a:off x="475488" y="457200"/>
            <a:ext cx="11237976" cy="65836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3335F"/>
                </a:solidFill>
                <a:latin typeface="Malgun Gothic"/>
              </a:rPr>
              <a:t>방전별 승률 비대칭은 사건이 빠른 채널에 보이는 확률로 설명된다</a:t>
            </a:r>
          </a:p>
        </p:txBody>
      </p:sp>
      <p:sp>
        <p:nvSpPr>
          <p:cNvPr id="7" name="KIT.rule"/>
          <p:cNvSpPr/>
          <p:nvPr/>
        </p:nvSpPr>
        <p:spPr>
          <a:xfrm>
            <a:off x="475488" y="1115568"/>
            <a:ext cx="2011680" cy="36576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T.lead"/>
          <p:cNvSpPr txBox="1"/>
          <p:nvPr/>
        </p:nvSpPr>
        <p:spPr>
          <a:xfrm>
            <a:off x="475488" y="1298448"/>
            <a:ext cx="11237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0"/>
                </a:solidFill>
                <a:latin typeface="Malgun Gothic"/>
              </a:rPr>
              <a:t>D = p_obs·r·E_imp - c_b에서 승률은 방전의 타깃 산포에 증가하되 천장이 p_obs·r &gt; 0인 방전의 비율로 정해진다. Tᵢ의 천장은 1 근처, V_rot는 0.5~0.6이다.</a:t>
            </a:r>
          </a:p>
        </p:txBody>
      </p:sp>
      <p:sp>
        <p:nvSpPr>
          <p:cNvPr id="9" name="KIT.thead"/>
          <p:cNvSpPr/>
          <p:nvPr/>
        </p:nvSpPr>
        <p:spPr>
          <a:xfrm>
            <a:off x="475488" y="1792224"/>
            <a:ext cx="11237976" cy="402336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theadtxt"/>
          <p:cNvSpPr txBox="1"/>
          <p:nvPr/>
        </p:nvSpPr>
        <p:spPr>
          <a:xfrm>
            <a:off x="566928" y="1847088"/>
            <a:ext cx="31089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양 (4분할 풀링, 인과 GP 대비)</a:t>
            </a:r>
          </a:p>
        </p:txBody>
      </p:sp>
      <p:sp>
        <p:nvSpPr>
          <p:cNvPr id="11" name="KIT.theadtxt"/>
          <p:cNvSpPr txBox="1"/>
          <p:nvPr/>
        </p:nvSpPr>
        <p:spPr>
          <a:xfrm>
            <a:off x="3858768" y="1847088"/>
            <a:ext cx="201167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Tᵢ</a:t>
            </a:r>
          </a:p>
        </p:txBody>
      </p:sp>
      <p:sp>
        <p:nvSpPr>
          <p:cNvPr id="12" name="KIT.theadtxt"/>
          <p:cNvSpPr txBox="1"/>
          <p:nvPr/>
        </p:nvSpPr>
        <p:spPr>
          <a:xfrm>
            <a:off x="6053327" y="1847088"/>
            <a:ext cx="201167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V_rot</a:t>
            </a:r>
          </a:p>
        </p:txBody>
      </p:sp>
      <p:sp>
        <p:nvSpPr>
          <p:cNvPr id="13" name="KIT.theadtxt"/>
          <p:cNvSpPr txBox="1"/>
          <p:nvPr/>
        </p:nvSpPr>
        <p:spPr>
          <a:xfrm>
            <a:off x="8247888" y="1847088"/>
            <a:ext cx="337413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읽기</a:t>
            </a:r>
          </a:p>
        </p:txBody>
      </p:sp>
      <p:sp>
        <p:nvSpPr>
          <p:cNvPr id="14" name="KIT.trule"/>
          <p:cNvSpPr/>
          <p:nvPr/>
        </p:nvSpPr>
        <p:spPr>
          <a:xfrm>
            <a:off x="475488" y="21945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KIT.tcell"/>
          <p:cNvSpPr txBox="1"/>
          <p:nvPr/>
        </p:nvSpPr>
        <p:spPr>
          <a:xfrm>
            <a:off x="566928" y="2240279"/>
            <a:ext cx="3108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승률 조용 / 중간 / 변동 삼분위</a:t>
            </a:r>
          </a:p>
        </p:txBody>
      </p:sp>
      <p:sp>
        <p:nvSpPr>
          <p:cNvPr id="16" name="KIT.tcell"/>
          <p:cNvSpPr txBox="1"/>
          <p:nvPr/>
        </p:nvSpPr>
        <p:spPr>
          <a:xfrm>
            <a:off x="3858768" y="2240279"/>
            <a:ext cx="20116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5B"/>
                </a:solidFill>
                <a:latin typeface="Consolas"/>
              </a:rPr>
              <a:t>43 / 85 / 86 %</a:t>
            </a:r>
          </a:p>
        </p:txBody>
      </p:sp>
      <p:sp>
        <p:nvSpPr>
          <p:cNvPr id="17" name="KIT.tcell"/>
          <p:cNvSpPr txBox="1"/>
          <p:nvPr/>
        </p:nvSpPr>
        <p:spPr>
          <a:xfrm>
            <a:off x="6053327" y="2240279"/>
            <a:ext cx="20116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743B"/>
                </a:solidFill>
                <a:latin typeface="Consolas"/>
              </a:rPr>
              <a:t>36 / 45 / 59 %</a:t>
            </a:r>
          </a:p>
        </p:txBody>
      </p:sp>
      <p:sp>
        <p:nvSpPr>
          <p:cNvPr id="18" name="KIT.tcell"/>
          <p:cNvSpPr txBox="1"/>
          <p:nvPr/>
        </p:nvSpPr>
        <p:spPr>
          <a:xfrm>
            <a:off x="8247888" y="2240279"/>
            <a:ext cx="337413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§8an의 42/83/85 · 34/48/55 재현</a:t>
            </a:r>
          </a:p>
        </p:txBody>
      </p:sp>
      <p:sp>
        <p:nvSpPr>
          <p:cNvPr id="19" name="KIT.trule"/>
          <p:cNvSpPr/>
          <p:nvPr/>
        </p:nvSpPr>
        <p:spPr>
          <a:xfrm>
            <a:off x="475488" y="260604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IT.tcell"/>
          <p:cNvSpPr txBox="1"/>
          <p:nvPr/>
        </p:nvSpPr>
        <p:spPr>
          <a:xfrm>
            <a:off x="566928" y="2651760"/>
            <a:ext cx="3108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조용 삼분위 중앙 skill</a:t>
            </a:r>
          </a:p>
        </p:txBody>
      </p:sp>
      <p:sp>
        <p:nvSpPr>
          <p:cNvPr id="21" name="KIT.tcell"/>
          <p:cNvSpPr txBox="1"/>
          <p:nvPr/>
        </p:nvSpPr>
        <p:spPr>
          <a:xfrm>
            <a:off x="3858768" y="2651760"/>
            <a:ext cx="20116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Consolas"/>
              </a:rPr>
              <a:t>-0.072</a:t>
            </a:r>
          </a:p>
        </p:txBody>
      </p:sp>
      <p:sp>
        <p:nvSpPr>
          <p:cNvPr id="22" name="KIT.tcell"/>
          <p:cNvSpPr txBox="1"/>
          <p:nvPr/>
        </p:nvSpPr>
        <p:spPr>
          <a:xfrm>
            <a:off x="6053327" y="2651760"/>
            <a:ext cx="20116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Consolas"/>
              </a:rPr>
              <a:t>-0.073</a:t>
            </a:r>
          </a:p>
        </p:txBody>
      </p:sp>
      <p:sp>
        <p:nvSpPr>
          <p:cNvPr id="23" name="KIT.tcell"/>
          <p:cNvSpPr txBox="1"/>
          <p:nvPr/>
        </p:nvSpPr>
        <p:spPr>
          <a:xfrm>
            <a:off x="8247888" y="2651760"/>
            <a:ext cx="337413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본류 비용 -c_b가 구동원과 무관</a:t>
            </a:r>
          </a:p>
        </p:txBody>
      </p:sp>
      <p:sp>
        <p:nvSpPr>
          <p:cNvPr id="24" name="KIT.trule"/>
          <p:cNvSpPr/>
          <p:nvPr/>
        </p:nvSpPr>
        <p:spPr>
          <a:xfrm>
            <a:off x="475488" y="301752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KIT.tcell"/>
          <p:cNvSpPr txBox="1"/>
          <p:nvPr/>
        </p:nvSpPr>
        <p:spPr>
          <a:xfrm>
            <a:off x="566928" y="3063240"/>
            <a:ext cx="3108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충격행 승률 / 본류행 승률</a:t>
            </a:r>
          </a:p>
        </p:txBody>
      </p:sp>
      <p:sp>
        <p:nvSpPr>
          <p:cNvPr id="26" name="KIT.tcell"/>
          <p:cNvSpPr txBox="1"/>
          <p:nvPr/>
        </p:nvSpPr>
        <p:spPr>
          <a:xfrm>
            <a:off x="3858768" y="3063240"/>
            <a:ext cx="20116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5B"/>
                </a:solidFill>
                <a:latin typeface="Consolas"/>
              </a:rPr>
              <a:t>0.744 / 0.594</a:t>
            </a:r>
          </a:p>
        </p:txBody>
      </p:sp>
      <p:sp>
        <p:nvSpPr>
          <p:cNvPr id="27" name="KIT.tcell"/>
          <p:cNvSpPr txBox="1"/>
          <p:nvPr/>
        </p:nvSpPr>
        <p:spPr>
          <a:xfrm>
            <a:off x="6053327" y="3063240"/>
            <a:ext cx="20116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C0392B"/>
                </a:solidFill>
                <a:latin typeface="Consolas"/>
              </a:rPr>
              <a:t>0.425 / 0.530</a:t>
            </a:r>
          </a:p>
        </p:txBody>
      </p:sp>
      <p:sp>
        <p:nvSpPr>
          <p:cNvPr id="28" name="KIT.tcell"/>
          <p:cNvSpPr txBox="1"/>
          <p:nvPr/>
        </p:nvSpPr>
        <p:spPr>
          <a:xfrm>
            <a:off x="8247888" y="3063240"/>
            <a:ext cx="337413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V_rot는 충격행에서 진다 (r ≤ 0)</a:t>
            </a:r>
          </a:p>
        </p:txBody>
      </p:sp>
      <p:sp>
        <p:nvSpPr>
          <p:cNvPr id="29" name="KIT.trule"/>
          <p:cNvSpPr/>
          <p:nvPr/>
        </p:nvSpPr>
        <p:spPr>
          <a:xfrm>
            <a:off x="475488" y="342900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KIT.tcell"/>
          <p:cNvSpPr txBox="1"/>
          <p:nvPr/>
        </p:nvSpPr>
        <p:spPr>
          <a:xfrm>
            <a:off x="566928" y="3474720"/>
            <a:ext cx="3108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p_obs 대리: 충격행 ECEI 급변 농축</a:t>
            </a:r>
          </a:p>
        </p:txBody>
      </p:sp>
      <p:sp>
        <p:nvSpPr>
          <p:cNvPr id="31" name="KIT.tcell"/>
          <p:cNvSpPr txBox="1"/>
          <p:nvPr/>
        </p:nvSpPr>
        <p:spPr>
          <a:xfrm>
            <a:off x="3858768" y="3474720"/>
            <a:ext cx="20116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5B"/>
                </a:solidFill>
                <a:latin typeface="Consolas"/>
              </a:rPr>
              <a:t>1.27배</a:t>
            </a:r>
          </a:p>
        </p:txBody>
      </p:sp>
      <p:sp>
        <p:nvSpPr>
          <p:cNvPr id="32" name="KIT.tcell"/>
          <p:cNvSpPr txBox="1"/>
          <p:nvPr/>
        </p:nvSpPr>
        <p:spPr>
          <a:xfrm>
            <a:off x="6053327" y="3474720"/>
            <a:ext cx="20116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C0392B"/>
                </a:solidFill>
                <a:latin typeface="Consolas"/>
              </a:rPr>
              <a:t>0.99배</a:t>
            </a:r>
          </a:p>
        </p:txBody>
      </p:sp>
      <p:sp>
        <p:nvSpPr>
          <p:cNvPr id="33" name="KIT.tcell"/>
          <p:cNvSpPr txBox="1"/>
          <p:nvPr/>
        </p:nvSpPr>
        <p:spPr>
          <a:xfrm>
            <a:off x="8247888" y="3474720"/>
            <a:ext cx="337413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사건 가시성의 직접 측정</a:t>
            </a:r>
          </a:p>
        </p:txBody>
      </p:sp>
      <p:sp>
        <p:nvSpPr>
          <p:cNvPr id="34" name="KIT.trule"/>
          <p:cNvSpPr/>
          <p:nvPr/>
        </p:nvSpPr>
        <p:spPr>
          <a:xfrm>
            <a:off x="475488" y="384048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IT.tcell"/>
          <p:cNvSpPr txBox="1"/>
          <p:nvPr/>
        </p:nvSpPr>
        <p:spPr>
          <a:xfrm>
            <a:off x="566928" y="3886200"/>
            <a:ext cx="3108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logit(승) ~ 산포 + p_obs 계수</a:t>
            </a:r>
          </a:p>
        </p:txBody>
      </p:sp>
      <p:sp>
        <p:nvSpPr>
          <p:cNvPr id="36" name="KIT.tcell"/>
          <p:cNvSpPr txBox="1"/>
          <p:nvPr/>
        </p:nvSpPr>
        <p:spPr>
          <a:xfrm>
            <a:off x="3858768" y="3886200"/>
            <a:ext cx="20116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5B"/>
                </a:solidFill>
                <a:latin typeface="Consolas"/>
              </a:rPr>
              <a:t>+1.92 ± 0.53</a:t>
            </a:r>
          </a:p>
        </p:txBody>
      </p:sp>
      <p:sp>
        <p:nvSpPr>
          <p:cNvPr id="37" name="KIT.tcell"/>
          <p:cNvSpPr txBox="1"/>
          <p:nvPr/>
        </p:nvSpPr>
        <p:spPr>
          <a:xfrm>
            <a:off x="6053327" y="3886200"/>
            <a:ext cx="20116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B6670"/>
                </a:solidFill>
                <a:latin typeface="Consolas"/>
              </a:rPr>
              <a:t>-0.55 ± 0.44</a:t>
            </a:r>
          </a:p>
        </p:txBody>
      </p:sp>
      <p:sp>
        <p:nvSpPr>
          <p:cNvPr id="38" name="KIT.tcell"/>
          <p:cNvSpPr txBox="1"/>
          <p:nvPr/>
        </p:nvSpPr>
        <p:spPr>
          <a:xfrm>
            <a:off x="8247888" y="3886200"/>
            <a:ext cx="337413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산포를 통제해도 Tᵢ만 가른다</a:t>
            </a:r>
          </a:p>
        </p:txBody>
      </p:sp>
      <p:sp>
        <p:nvSpPr>
          <p:cNvPr id="39" name="KIT.trule"/>
          <p:cNvSpPr/>
          <p:nvPr/>
        </p:nvSpPr>
        <p:spPr>
          <a:xfrm>
            <a:off x="475488" y="42519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KIT.band"/>
          <p:cNvSpPr/>
          <p:nvPr/>
        </p:nvSpPr>
        <p:spPr>
          <a:xfrm>
            <a:off x="475488" y="4434840"/>
            <a:ext cx="11237976" cy="71323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IT.bandbar"/>
          <p:cNvSpPr/>
          <p:nvPr/>
        </p:nvSpPr>
        <p:spPr>
          <a:xfrm>
            <a:off x="475488" y="4434840"/>
            <a:ext cx="54864" cy="713232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IT.bandtext"/>
          <p:cNvSpPr txBox="1"/>
          <p:nvPr/>
        </p:nvSpPr>
        <p:spPr>
          <a:xfrm>
            <a:off x="658368" y="4526280"/>
            <a:ext cx="10908792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B9E8A"/>
                </a:solidFill>
                <a:latin typeface="Malgun Gothic"/>
              </a:rPr>
              <a:t>따름정리  </a:t>
            </a:r>
            <a:r>
              <a:rPr sz="1150" b="0">
                <a:solidFill>
                  <a:srgbClr val="222B35"/>
                </a:solidFill>
                <a:latin typeface="Malgun Gothic"/>
              </a:rPr>
              <a:t>Tᵢ의 ELM 붕괴는 계단이라 κ_T ≈ 1.03인데 V_rot의 토크 변화는 램프라 κ_V = Δ/2τ_φ = 0.056이다. 같은 진폭이라도 회수 가능한 에너지가 18분의 1이다.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T.footrule"/>
          <p:cNvSpPr/>
          <p:nvPr/>
        </p:nvSpPr>
        <p:spPr>
          <a:xfrm>
            <a:off x="475488" y="6382512"/>
            <a:ext cx="11237976" cy="10972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T.footer"/>
          <p:cNvSpPr txBox="1"/>
          <p:nvPr/>
        </p:nvSpPr>
        <p:spPr>
          <a:xfrm>
            <a:off x="475488" y="6455664"/>
            <a:ext cx="1032357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Malgun Gothic"/>
              </a:rPr>
              <a:t>KSTAR CES 나우캐스팅 · 물리 근거 덱 (§8ba · §8bb)</a:t>
            </a:r>
          </a:p>
        </p:txBody>
      </p:sp>
      <p:sp>
        <p:nvSpPr>
          <p:cNvPr id="5" name="KIT.pageno"/>
          <p:cNvSpPr txBox="1"/>
          <p:nvPr/>
        </p:nvSpPr>
        <p:spPr>
          <a:xfrm>
            <a:off x="10799063" y="6455664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Consolas"/>
              </a:rPr>
              <a:t>11</a:t>
            </a:r>
          </a:p>
        </p:txBody>
      </p:sp>
      <p:sp>
        <p:nvSpPr>
          <p:cNvPr id="6" name="KIT.title"/>
          <p:cNvSpPr txBox="1"/>
          <p:nvPr/>
        </p:nvSpPr>
        <p:spPr>
          <a:xfrm>
            <a:off x="475488" y="457200"/>
            <a:ext cx="11237976" cy="65836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3335F"/>
                </a:solidFill>
                <a:latin typeface="Malgun Gothic"/>
              </a:rPr>
              <a:t>빠른 진단이 더하는 정보는 상호정보로 유계이고 측정값은 그 안에 있다</a:t>
            </a:r>
          </a:p>
        </p:txBody>
      </p:sp>
      <p:sp>
        <p:nvSpPr>
          <p:cNvPr id="7" name="KIT.rule"/>
          <p:cNvSpPr/>
          <p:nvPr/>
        </p:nvSpPr>
        <p:spPr>
          <a:xfrm>
            <a:off x="475488" y="1115568"/>
            <a:ext cx="2011680" cy="36576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T.lead"/>
          <p:cNvSpPr txBox="1"/>
          <p:nvPr/>
        </p:nvSpPr>
        <p:spPr>
          <a:xfrm>
            <a:off x="475488" y="1298448"/>
            <a:ext cx="11237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0"/>
                </a:solidFill>
                <a:latin typeface="Malgun Gothic"/>
              </a:rPr>
              <a:t>최선의 이력 예측기 위에 빠른 채널 z를 더해 얻는 최대 이득은 Δskill = r²(y,z|h)·MSE_h/MSE_pers다. 올바른 조건부 변수는 level도 rate도 아니라 필터의 혁신이다.</a:t>
            </a:r>
          </a:p>
        </p:txBody>
      </p:sp>
      <p:sp>
        <p:nvSpPr>
          <p:cNvPr id="9" name="KIT.thead"/>
          <p:cNvSpPr/>
          <p:nvPr/>
        </p:nvSpPr>
        <p:spPr>
          <a:xfrm>
            <a:off x="475488" y="1792224"/>
            <a:ext cx="11237976" cy="402336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theadtxt"/>
          <p:cNvSpPr txBox="1"/>
          <p:nvPr/>
        </p:nvSpPr>
        <p:spPr>
          <a:xfrm>
            <a:off x="566928" y="1847088"/>
            <a:ext cx="4389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양</a:t>
            </a:r>
          </a:p>
        </p:txBody>
      </p:sp>
      <p:sp>
        <p:nvSpPr>
          <p:cNvPr id="11" name="KIT.theadtxt"/>
          <p:cNvSpPr txBox="1"/>
          <p:nvPr/>
        </p:nvSpPr>
        <p:spPr>
          <a:xfrm>
            <a:off x="5138927" y="1847088"/>
            <a:ext cx="22860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값</a:t>
            </a:r>
          </a:p>
        </p:txBody>
      </p:sp>
      <p:sp>
        <p:nvSpPr>
          <p:cNvPr id="12" name="KIT.theadtxt"/>
          <p:cNvSpPr txBox="1"/>
          <p:nvPr/>
        </p:nvSpPr>
        <p:spPr>
          <a:xfrm>
            <a:off x="7607807" y="1847088"/>
            <a:ext cx="401421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읽기</a:t>
            </a:r>
          </a:p>
        </p:txBody>
      </p:sp>
      <p:sp>
        <p:nvSpPr>
          <p:cNvPr id="13" name="KIT.trule"/>
          <p:cNvSpPr/>
          <p:nvPr/>
        </p:nvSpPr>
        <p:spPr>
          <a:xfrm>
            <a:off x="475488" y="21945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IT.tcell"/>
          <p:cNvSpPr txBox="1"/>
          <p:nvPr/>
        </p:nvSpPr>
        <p:spPr>
          <a:xfrm>
            <a:off x="566928" y="2240279"/>
            <a:ext cx="43891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측정: 모델 - 인과 GP (1-step, s42)</a:t>
            </a:r>
          </a:p>
        </p:txBody>
      </p:sp>
      <p:sp>
        <p:nvSpPr>
          <p:cNvPr id="15" name="KIT.tcell"/>
          <p:cNvSpPr txBox="1"/>
          <p:nvPr/>
        </p:nvSpPr>
        <p:spPr>
          <a:xfrm>
            <a:off x="5138927" y="2240279"/>
            <a:ext cx="22860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9E5B"/>
                </a:solidFill>
                <a:latin typeface="Consolas"/>
              </a:rPr>
              <a:t>+0.048</a:t>
            </a:r>
          </a:p>
        </p:txBody>
      </p:sp>
      <p:sp>
        <p:nvSpPr>
          <p:cNvPr id="16" name="KIT.tcell"/>
          <p:cNvSpPr txBox="1"/>
          <p:nvPr/>
        </p:nvSpPr>
        <p:spPr>
          <a:xfrm>
            <a:off x="7607807" y="2240279"/>
            <a:ext cx="4014215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함의 partial r 0.26, I = 0.036 nat</a:t>
            </a:r>
          </a:p>
        </p:txBody>
      </p:sp>
      <p:sp>
        <p:nvSpPr>
          <p:cNvPr id="17" name="KIT.trule"/>
          <p:cNvSpPr/>
          <p:nvPr/>
        </p:nvSpPr>
        <p:spPr>
          <a:xfrm>
            <a:off x="475488" y="260604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IT.tcell"/>
          <p:cNvSpPr txBox="1"/>
          <p:nvPr/>
        </p:nvSpPr>
        <p:spPr>
          <a:xfrm>
            <a:off x="566928" y="2651760"/>
            <a:ext cx="43891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선형 한계, 50 ms 이력 조건부, 빠른 채널 (t, t-1)</a:t>
            </a:r>
          </a:p>
        </p:txBody>
      </p:sp>
      <p:sp>
        <p:nvSpPr>
          <p:cNvPr id="19" name="KIT.tcell"/>
          <p:cNvSpPr txBox="1"/>
          <p:nvPr/>
        </p:nvSpPr>
        <p:spPr>
          <a:xfrm>
            <a:off x="5138927" y="2651760"/>
            <a:ext cx="22860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Consolas"/>
              </a:rPr>
              <a:t>+0.047</a:t>
            </a:r>
          </a:p>
        </p:txBody>
      </p:sp>
      <p:sp>
        <p:nvSpPr>
          <p:cNvPr id="20" name="KIT.tcell"/>
          <p:cNvSpPr txBox="1"/>
          <p:nvPr/>
        </p:nvSpPr>
        <p:spPr>
          <a:xfrm>
            <a:off x="7607807" y="2651760"/>
            <a:ext cx="4014215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측정이 바로 그 위에 앉는다</a:t>
            </a:r>
          </a:p>
        </p:txBody>
      </p:sp>
      <p:sp>
        <p:nvSpPr>
          <p:cNvPr id="21" name="KIT.trule"/>
          <p:cNvSpPr/>
          <p:nvPr/>
        </p:nvSpPr>
        <p:spPr>
          <a:xfrm>
            <a:off x="475488" y="301752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IT.tcell"/>
          <p:cNvSpPr txBox="1"/>
          <p:nvPr/>
        </p:nvSpPr>
        <p:spPr>
          <a:xfrm>
            <a:off x="566928" y="3063240"/>
            <a:ext cx="43891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선형 한계, 50 ms 빠른 맥락까지</a:t>
            </a:r>
          </a:p>
        </p:txBody>
      </p:sp>
      <p:sp>
        <p:nvSpPr>
          <p:cNvPr id="23" name="KIT.tcell"/>
          <p:cNvSpPr txBox="1"/>
          <p:nvPr/>
        </p:nvSpPr>
        <p:spPr>
          <a:xfrm>
            <a:off x="5138927" y="3063240"/>
            <a:ext cx="22860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Consolas"/>
              </a:rPr>
              <a:t>+0.056</a:t>
            </a:r>
          </a:p>
        </p:txBody>
      </p:sp>
      <p:sp>
        <p:nvSpPr>
          <p:cNvPr id="24" name="KIT.tcell"/>
          <p:cNvSpPr txBox="1"/>
          <p:nvPr/>
        </p:nvSpPr>
        <p:spPr>
          <a:xfrm>
            <a:off x="7607807" y="3063240"/>
            <a:ext cx="4014215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비선형 초과분 없음</a:t>
            </a:r>
          </a:p>
        </p:txBody>
      </p:sp>
      <p:sp>
        <p:nvSpPr>
          <p:cNvPr id="25" name="KIT.trule"/>
          <p:cNvSpPr/>
          <p:nvPr/>
        </p:nvSpPr>
        <p:spPr>
          <a:xfrm>
            <a:off x="475488" y="342900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IT.tcell"/>
          <p:cNvSpPr txBox="1"/>
          <p:nvPr/>
        </p:nvSpPr>
        <p:spPr>
          <a:xfrm>
            <a:off x="566928" y="3474720"/>
            <a:ext cx="43891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§8ar의 rate 상관 0.07이 주는 한계</a:t>
            </a:r>
          </a:p>
        </p:txBody>
      </p:sp>
      <p:sp>
        <p:nvSpPr>
          <p:cNvPr id="27" name="KIT.tcell"/>
          <p:cNvSpPr txBox="1"/>
          <p:nvPr/>
        </p:nvSpPr>
        <p:spPr>
          <a:xfrm>
            <a:off x="5138927" y="3474720"/>
            <a:ext cx="22860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onsolas"/>
              </a:rPr>
              <a:t>+0.003</a:t>
            </a:r>
          </a:p>
        </p:txBody>
      </p:sp>
      <p:sp>
        <p:nvSpPr>
          <p:cNvPr id="28" name="KIT.tcell"/>
          <p:cNvSpPr txBox="1"/>
          <p:nvPr/>
        </p:nvSpPr>
        <p:spPr>
          <a:xfrm>
            <a:off x="7607807" y="3474720"/>
            <a:ext cx="4014215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측정의 1/12 — 올바른 입력이 아니다</a:t>
            </a:r>
          </a:p>
        </p:txBody>
      </p:sp>
      <p:sp>
        <p:nvSpPr>
          <p:cNvPr id="29" name="KIT.trule"/>
          <p:cNvSpPr/>
          <p:nvPr/>
        </p:nvSpPr>
        <p:spPr>
          <a:xfrm>
            <a:off x="475488" y="384048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KIT.tcell"/>
          <p:cNvSpPr txBox="1"/>
          <p:nvPr/>
        </p:nvSpPr>
        <p:spPr>
          <a:xfrm>
            <a:off x="566928" y="3886200"/>
            <a:ext cx="43891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구조적 천장 K·MSE_h/MSE_pers</a:t>
            </a:r>
          </a:p>
        </p:txBody>
      </p:sp>
      <p:sp>
        <p:nvSpPr>
          <p:cNvPr id="31" name="KIT.tcell"/>
          <p:cNvSpPr txBox="1"/>
          <p:nvPr/>
        </p:nvSpPr>
        <p:spPr>
          <a:xfrm>
            <a:off x="5138927" y="3886200"/>
            <a:ext cx="22860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670"/>
                </a:solidFill>
                <a:latin typeface="Consolas"/>
              </a:rPr>
              <a:t>0.23~0.40</a:t>
            </a:r>
          </a:p>
        </p:txBody>
      </p:sp>
      <p:sp>
        <p:nvSpPr>
          <p:cNvPr id="32" name="KIT.tcell"/>
          <p:cNvSpPr txBox="1"/>
          <p:nvPr/>
        </p:nvSpPr>
        <p:spPr>
          <a:xfrm>
            <a:off x="7607807" y="3886200"/>
            <a:ext cx="4014215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어떤 정보원도 넘지 못한다</a:t>
            </a:r>
          </a:p>
        </p:txBody>
      </p:sp>
      <p:sp>
        <p:nvSpPr>
          <p:cNvPr id="33" name="KIT.trule"/>
          <p:cNvSpPr/>
          <p:nvPr/>
        </p:nvSpPr>
        <p:spPr>
          <a:xfrm>
            <a:off x="475488" y="42519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KIT.tcell"/>
          <p:cNvSpPr txBox="1"/>
          <p:nvPr/>
        </p:nvSpPr>
        <p:spPr>
          <a:xfrm>
            <a:off x="566928" y="4297680"/>
            <a:ext cx="43891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Mirnov(100 Hz)의 기여</a:t>
            </a:r>
          </a:p>
        </p:txBody>
      </p:sp>
      <p:sp>
        <p:nvSpPr>
          <p:cNvPr id="35" name="KIT.tcell"/>
          <p:cNvSpPr txBox="1"/>
          <p:nvPr/>
        </p:nvSpPr>
        <p:spPr>
          <a:xfrm>
            <a:off x="5138927" y="4297680"/>
            <a:ext cx="22860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onsolas"/>
              </a:rPr>
              <a:t>0.000</a:t>
            </a:r>
          </a:p>
        </p:txBody>
      </p:sp>
      <p:sp>
        <p:nvSpPr>
          <p:cNvPr id="36" name="KIT.tcell"/>
          <p:cNvSpPr txBox="1"/>
          <p:nvPr/>
        </p:nvSpPr>
        <p:spPr>
          <a:xfrm>
            <a:off x="7607807" y="4297680"/>
            <a:ext cx="4014215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어느 조건부에서도 0</a:t>
            </a:r>
          </a:p>
        </p:txBody>
      </p:sp>
      <p:sp>
        <p:nvSpPr>
          <p:cNvPr id="37" name="KIT.trule"/>
          <p:cNvSpPr/>
          <p:nvPr/>
        </p:nvSpPr>
        <p:spPr>
          <a:xfrm>
            <a:off x="475488" y="466344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KIT.band"/>
          <p:cNvSpPr/>
          <p:nvPr/>
        </p:nvSpPr>
        <p:spPr>
          <a:xfrm>
            <a:off x="475488" y="4846320"/>
            <a:ext cx="11237976" cy="71323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KIT.bandbar"/>
          <p:cNvSpPr/>
          <p:nvPr/>
        </p:nvSpPr>
        <p:spPr>
          <a:xfrm>
            <a:off x="475488" y="4846320"/>
            <a:ext cx="54864" cy="7132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KIT.bandtext"/>
          <p:cNvSpPr txBox="1"/>
          <p:nvPr/>
        </p:nvSpPr>
        <p:spPr>
          <a:xfrm>
            <a:off x="658368" y="4937759"/>
            <a:ext cx="10908792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B6CB0"/>
                </a:solidFill>
                <a:latin typeface="Malgun Gothic"/>
              </a:rPr>
              <a:t>경로  </a:t>
            </a:r>
            <a:r>
              <a:rPr sz="1150" b="0">
                <a:solidFill>
                  <a:srgbClr val="222B35"/>
                </a:solidFill>
                <a:latin typeface="Malgun Gothic"/>
              </a:rPr>
              <a:t>이득은 rate가 아니라 잡음 앵커의 탈잡음(level 정보로 nₜ₋₁을 식별)이 운반하고, 그 81~83 %는 상위 10 % 혁신 행에 산다. 백본은 선형 판독기가 뽑을 만큼을 뽑고 그 이상은 뽑지 못한다.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T.footrule"/>
          <p:cNvSpPr/>
          <p:nvPr/>
        </p:nvSpPr>
        <p:spPr>
          <a:xfrm>
            <a:off x="475488" y="6382512"/>
            <a:ext cx="11237976" cy="10972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T.footer"/>
          <p:cNvSpPr txBox="1"/>
          <p:nvPr/>
        </p:nvSpPr>
        <p:spPr>
          <a:xfrm>
            <a:off x="475488" y="6455664"/>
            <a:ext cx="1032357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Malgun Gothic"/>
              </a:rPr>
              <a:t>KSTAR CES 나우캐스팅 · 물리 근거 덱 (§8ba · §8bb)</a:t>
            </a:r>
          </a:p>
        </p:txBody>
      </p:sp>
      <p:sp>
        <p:nvSpPr>
          <p:cNvPr id="5" name="KIT.pageno"/>
          <p:cNvSpPr txBox="1"/>
          <p:nvPr/>
        </p:nvSpPr>
        <p:spPr>
          <a:xfrm>
            <a:off x="10799063" y="6455664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Consolas"/>
              </a:rPr>
              <a:t>12</a:t>
            </a:r>
          </a:p>
        </p:txBody>
      </p:sp>
      <p:sp>
        <p:nvSpPr>
          <p:cNvPr id="6" name="KIT.title"/>
          <p:cNvSpPr txBox="1"/>
          <p:nvPr/>
        </p:nvSpPr>
        <p:spPr>
          <a:xfrm>
            <a:off x="475488" y="457200"/>
            <a:ext cx="11237976" cy="65836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3335F"/>
                </a:solidFill>
                <a:latin typeface="Malgun Gothic"/>
              </a:rPr>
              <a:t>캠페인 드리프트는 계측 이득이고 3 keV 초과는 압력 한계 밖이다</a:t>
            </a:r>
          </a:p>
        </p:txBody>
      </p:sp>
      <p:sp>
        <p:nvSpPr>
          <p:cNvPr id="7" name="KIT.rule"/>
          <p:cNvSpPr/>
          <p:nvPr/>
        </p:nvSpPr>
        <p:spPr>
          <a:xfrm>
            <a:off x="475488" y="1115568"/>
            <a:ext cx="2011680" cy="36576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T.lead"/>
          <p:cNvSpPr txBox="1"/>
          <p:nvPr/>
        </p:nvSpPr>
        <p:spPr>
          <a:xfrm>
            <a:off x="475488" y="1298448"/>
            <a:ext cx="11237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0"/>
                </a:solidFill>
                <a:latin typeface="Malgun Gothic"/>
              </a:rPr>
              <a:t>빠른 진단은 x = g(D)·s(t) + c(D), 즉 날짜 D의 계측 이득 곱 플라즈마 상태다. 타깃은 파장비라 D에 무관하다. 3 keV는 pedestal이 peeling–ballooning 한계 안에서 낼 수 없는 온도다.</a:t>
            </a:r>
          </a:p>
        </p:txBody>
      </p:sp>
      <p:sp>
        <p:nvSpPr>
          <p:cNvPr id="9" name="KIT.card"/>
          <p:cNvSpPr/>
          <p:nvPr/>
        </p:nvSpPr>
        <p:spPr>
          <a:xfrm>
            <a:off x="475488" y="1792224"/>
            <a:ext cx="5527548" cy="1874519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cardbar"/>
          <p:cNvSpPr/>
          <p:nvPr/>
        </p:nvSpPr>
        <p:spPr>
          <a:xfrm>
            <a:off x="475488" y="1792224"/>
            <a:ext cx="54864" cy="1874519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T.cardtext"/>
          <p:cNvSpPr txBox="1"/>
          <p:nvPr/>
        </p:nvSpPr>
        <p:spPr>
          <a:xfrm>
            <a:off x="658368" y="1911095"/>
            <a:ext cx="5198364" cy="165506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B6CB0"/>
                </a:solidFill>
                <a:latin typeface="Malgun Gothic"/>
              </a:rPr>
              <a:t>P04 캠페인 드리프트 (641파일)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shot 간 분산 몫: BES 0.84 · ECEI 0.91 vs Tᵢ 0.49 · V_rot 0.28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§8n의 1.218 / 0.529 / 0.115 σ를 소수 셋째 자리까지 재현.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shot 내 z-score가 g, c를 정확히 소거; 절대 수준의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추가 정보는 R² 1.4~2.6 %뿐(§8s '무비용'의 정체).</a:t>
            </a:r>
          </a:p>
        </p:txBody>
      </p:sp>
      <p:sp>
        <p:nvSpPr>
          <p:cNvPr id="12" name="KIT.card"/>
          <p:cNvSpPr/>
          <p:nvPr/>
        </p:nvSpPr>
        <p:spPr>
          <a:xfrm>
            <a:off x="6185916" y="1792224"/>
            <a:ext cx="5527548" cy="1874519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IT.cardbar"/>
          <p:cNvSpPr/>
          <p:nvPr/>
        </p:nvSpPr>
        <p:spPr>
          <a:xfrm>
            <a:off x="6185916" y="1792224"/>
            <a:ext cx="54864" cy="1874519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IT.cardtext"/>
          <p:cNvSpPr txBox="1"/>
          <p:nvPr/>
        </p:nvSpPr>
        <p:spPr>
          <a:xfrm>
            <a:off x="6368796" y="1911095"/>
            <a:ext cx="5198364" cy="165506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E8743B"/>
                </a:solidFill>
                <a:latin typeface="Malgun Gothic"/>
              </a:rPr>
              <a:t>P05 3 keV 컷 (PB 압력 한계)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p_ped,max 4.3~9.6 kPa → Tᵢ,ped,max 1.0~1.8 keV.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3 keV에는 β_pol,ped 1.5~4.5가 필요(상한 0.89).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스파이크 중앙값 5.3 keV의 압력 = PB의 3.06배.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런 통계 1,197행 / 951런 / 85.5 % 단일행 재현.</a:t>
            </a:r>
          </a:p>
        </p:txBody>
      </p:sp>
      <p:sp>
        <p:nvSpPr>
          <p:cNvPr id="15" name="KIT.thead"/>
          <p:cNvSpPr/>
          <p:nvPr/>
        </p:nvSpPr>
        <p:spPr>
          <a:xfrm>
            <a:off x="475488" y="3849624"/>
            <a:ext cx="11237976" cy="402336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KIT.theadtxt"/>
          <p:cNvSpPr txBox="1"/>
          <p:nvPr/>
        </p:nvSpPr>
        <p:spPr>
          <a:xfrm>
            <a:off x="566928" y="3904487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검정</a:t>
            </a:r>
          </a:p>
        </p:txBody>
      </p:sp>
      <p:sp>
        <p:nvSpPr>
          <p:cNvPr id="17" name="KIT.theadtxt"/>
          <p:cNvSpPr txBox="1"/>
          <p:nvPr/>
        </p:nvSpPr>
        <p:spPr>
          <a:xfrm>
            <a:off x="4407408" y="3904487"/>
            <a:ext cx="21945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값</a:t>
            </a:r>
          </a:p>
        </p:txBody>
      </p:sp>
      <p:sp>
        <p:nvSpPr>
          <p:cNvPr id="18" name="KIT.theadtxt"/>
          <p:cNvSpPr txBox="1"/>
          <p:nvPr/>
        </p:nvSpPr>
        <p:spPr>
          <a:xfrm>
            <a:off x="6784848" y="3904487"/>
            <a:ext cx="483717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뜻</a:t>
            </a:r>
          </a:p>
        </p:txBody>
      </p:sp>
      <p:sp>
        <p:nvSpPr>
          <p:cNvPr id="19" name="KIT.trule"/>
          <p:cNvSpPr/>
          <p:nvPr/>
        </p:nvSpPr>
        <p:spPr>
          <a:xfrm>
            <a:off x="475488" y="42519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IT.tcell"/>
          <p:cNvSpPr txBox="1"/>
          <p:nvPr/>
        </p:nvSpPr>
        <p:spPr>
          <a:xfrm>
            <a:off x="566928" y="4297680"/>
            <a:ext cx="36576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온라인 EWMA 표준화의 편향 (τ_w = 1 s)</a:t>
            </a:r>
          </a:p>
        </p:txBody>
      </p:sp>
      <p:sp>
        <p:nvSpPr>
          <p:cNvPr id="21" name="KIT.tcell"/>
          <p:cNvSpPr txBox="1"/>
          <p:nvPr/>
        </p:nvSpPr>
        <p:spPr>
          <a:xfrm>
            <a:off x="4407408" y="429768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0.29~0.33 σ</a:t>
            </a:r>
          </a:p>
        </p:txBody>
      </p:sp>
      <p:sp>
        <p:nvSpPr>
          <p:cNvPr id="22" name="KIT.tcell"/>
          <p:cNvSpPr txBox="1"/>
          <p:nvPr/>
        </p:nvSpPr>
        <p:spPr>
          <a:xfrm>
            <a:off x="6784848" y="4297680"/>
            <a:ext cx="48371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유도값 b·τ_w = 0.31 / 0.27 σ와 일치 — 배치형의 가격</a:t>
            </a:r>
          </a:p>
        </p:txBody>
      </p:sp>
      <p:sp>
        <p:nvSpPr>
          <p:cNvPr id="23" name="KIT.trule"/>
          <p:cNvSpPr/>
          <p:nvPr/>
        </p:nvSpPr>
        <p:spPr>
          <a:xfrm>
            <a:off x="475488" y="466344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KIT.tcell"/>
          <p:cNvSpPr txBox="1"/>
          <p:nvPr/>
        </p:nvSpPr>
        <p:spPr>
          <a:xfrm>
            <a:off x="566928" y="4709160"/>
            <a:ext cx="36576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스파이크 행의 V_rot 점프 (Tᵢ 대비)</a:t>
            </a:r>
          </a:p>
        </p:txBody>
      </p:sp>
      <p:sp>
        <p:nvSpPr>
          <p:cNvPr id="25" name="KIT.tcell"/>
          <p:cNvSpPr txBox="1"/>
          <p:nvPr/>
        </p:nvSpPr>
        <p:spPr>
          <a:xfrm>
            <a:off x="4407408" y="470916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0.05배 vs 5.8배</a:t>
            </a:r>
          </a:p>
        </p:txBody>
      </p:sp>
      <p:sp>
        <p:nvSpPr>
          <p:cNvPr id="26" name="KIT.tcell"/>
          <p:cNvSpPr txBox="1"/>
          <p:nvPr/>
        </p:nvSpPr>
        <p:spPr>
          <a:xfrm>
            <a:off x="6784848" y="4709160"/>
            <a:ext cx="48371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폭 전용 적합 실패의 지문 (p = 0.75)</a:t>
            </a:r>
          </a:p>
        </p:txBody>
      </p:sp>
      <p:sp>
        <p:nvSpPr>
          <p:cNvPr id="27" name="KIT.trule"/>
          <p:cNvSpPr/>
          <p:nvPr/>
        </p:nvSpPr>
        <p:spPr>
          <a:xfrm>
            <a:off x="475488" y="507492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IT.tcell"/>
          <p:cNvSpPr txBox="1"/>
          <p:nvPr/>
        </p:nvSpPr>
        <p:spPr>
          <a:xfrm>
            <a:off x="566928" y="5120640"/>
            <a:ext cx="36576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컷 문턱 2.5 → 4 keV에서 이동하는 행</a:t>
            </a:r>
          </a:p>
        </p:txBody>
      </p:sp>
      <p:sp>
        <p:nvSpPr>
          <p:cNvPr id="29" name="KIT.tcell"/>
          <p:cNvSpPr txBox="1"/>
          <p:nvPr/>
        </p:nvSpPr>
        <p:spPr>
          <a:xfrm>
            <a:off x="4407408" y="512064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0.15~0.19 %</a:t>
            </a:r>
          </a:p>
        </p:txBody>
      </p:sp>
      <p:sp>
        <p:nvSpPr>
          <p:cNvPr id="30" name="KIT.tcell"/>
          <p:cNvSpPr txBox="1"/>
          <p:nvPr/>
        </p:nvSpPr>
        <p:spPr>
          <a:xfrm>
            <a:off x="6784848" y="5120640"/>
            <a:ext cx="483717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물리 상한이 2.5 keV 아래라 문턱이 둔감</a:t>
            </a:r>
          </a:p>
        </p:txBody>
      </p:sp>
      <p:sp>
        <p:nvSpPr>
          <p:cNvPr id="31" name="KIT.trule"/>
          <p:cNvSpPr/>
          <p:nvPr/>
        </p:nvSpPr>
        <p:spPr>
          <a:xfrm>
            <a:off x="475488" y="548640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T.footrule"/>
          <p:cNvSpPr/>
          <p:nvPr/>
        </p:nvSpPr>
        <p:spPr>
          <a:xfrm>
            <a:off x="475488" y="6382512"/>
            <a:ext cx="11237976" cy="10972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T.footer"/>
          <p:cNvSpPr txBox="1"/>
          <p:nvPr/>
        </p:nvSpPr>
        <p:spPr>
          <a:xfrm>
            <a:off x="475488" y="6455664"/>
            <a:ext cx="1032357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Malgun Gothic"/>
              </a:rPr>
              <a:t>KSTAR CES 나우캐스팅 · 물리 근거 덱 (§8ba · §8bb)</a:t>
            </a:r>
          </a:p>
        </p:txBody>
      </p:sp>
      <p:sp>
        <p:nvSpPr>
          <p:cNvPr id="5" name="KIT.pageno"/>
          <p:cNvSpPr txBox="1"/>
          <p:nvPr/>
        </p:nvSpPr>
        <p:spPr>
          <a:xfrm>
            <a:off x="10799063" y="6455664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Consolas"/>
              </a:rPr>
              <a:t>13</a:t>
            </a:r>
          </a:p>
        </p:txBody>
      </p:sp>
      <p:sp>
        <p:nvSpPr>
          <p:cNvPr id="6" name="KIT.title"/>
          <p:cNvSpPr txBox="1"/>
          <p:nvPr/>
        </p:nvSpPr>
        <p:spPr>
          <a:xfrm>
            <a:off x="475488" y="457200"/>
            <a:ext cx="11237976" cy="65836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3335F"/>
                </a:solidFill>
                <a:latin typeface="Malgun Gothic"/>
              </a:rPr>
              <a:t>결측은 광자 예산의 상태 의존이고 실시간 등급은 플라즈마 척도가 정한다</a:t>
            </a:r>
          </a:p>
        </p:txBody>
      </p:sp>
      <p:sp>
        <p:nvSpPr>
          <p:cNvPr id="7" name="KIT.rule"/>
          <p:cNvSpPr/>
          <p:nvPr/>
        </p:nvSpPr>
        <p:spPr>
          <a:xfrm>
            <a:off x="475488" y="1115568"/>
            <a:ext cx="2011680" cy="36576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T.lead"/>
          <p:cNvSpPr txBox="1"/>
          <p:nvPr/>
        </p:nvSpPr>
        <p:spPr>
          <a:xfrm>
            <a:off x="475488" y="1298448"/>
            <a:ext cx="11237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0"/>
                </a:solidFill>
                <a:latin typeface="Malgun Gothic"/>
              </a:rPr>
              <a:t>채택 지시자는 P(obs | N(t), B(t))이며 N은 빔 감쇠·탄소 밀도, B는 ELM 뒤 배경이다. 지연 ℓ의 가격은 한 격자 스텝 손실의 ℓ/Δ이고, 세 제어 등급은 τ_E·ELM 붕괴·모드 주기로 갈린다.</a:t>
            </a:r>
          </a:p>
        </p:txBody>
      </p:sp>
      <p:sp>
        <p:nvSpPr>
          <p:cNvPr id="9" name="KIT.thead"/>
          <p:cNvSpPr/>
          <p:nvPr/>
        </p:nvSpPr>
        <p:spPr>
          <a:xfrm>
            <a:off x="475488" y="1792224"/>
            <a:ext cx="11237976" cy="402336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theadtxt"/>
          <p:cNvSpPr txBox="1"/>
          <p:nvPr/>
        </p:nvSpPr>
        <p:spPr>
          <a:xfrm>
            <a:off x="566928" y="1847088"/>
            <a:ext cx="402335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P07 결측 (641파일, 247,207행)</a:t>
            </a:r>
          </a:p>
        </p:txBody>
      </p:sp>
      <p:sp>
        <p:nvSpPr>
          <p:cNvPr id="11" name="KIT.theadtxt"/>
          <p:cNvSpPr txBox="1"/>
          <p:nvPr/>
        </p:nvSpPr>
        <p:spPr>
          <a:xfrm>
            <a:off x="4773167" y="1847088"/>
            <a:ext cx="25603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값</a:t>
            </a:r>
          </a:p>
        </p:txBody>
      </p:sp>
      <p:sp>
        <p:nvSpPr>
          <p:cNvPr id="12" name="KIT.theadtxt"/>
          <p:cNvSpPr txBox="1"/>
          <p:nvPr/>
        </p:nvSpPr>
        <p:spPr>
          <a:xfrm>
            <a:off x="7516367" y="1847088"/>
            <a:ext cx="41056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읽기</a:t>
            </a:r>
          </a:p>
        </p:txBody>
      </p:sp>
      <p:sp>
        <p:nvSpPr>
          <p:cNvPr id="13" name="KIT.trule"/>
          <p:cNvSpPr/>
          <p:nvPr/>
        </p:nvSpPr>
        <p:spPr>
          <a:xfrm>
            <a:off x="475488" y="21945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IT.tcell"/>
          <p:cNvSpPr txBox="1"/>
          <p:nvPr/>
        </p:nvSpPr>
        <p:spPr>
          <a:xfrm>
            <a:off x="566928" y="2240279"/>
            <a:ext cx="40233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타깃 점프 5분위 결측률 (Tᵢ)</a:t>
            </a:r>
          </a:p>
        </p:txBody>
      </p:sp>
      <p:sp>
        <p:nvSpPr>
          <p:cNvPr id="15" name="KIT.tcell"/>
          <p:cNvSpPr txBox="1"/>
          <p:nvPr/>
        </p:nvSpPr>
        <p:spPr>
          <a:xfrm>
            <a:off x="4773167" y="2240279"/>
            <a:ext cx="25603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743B"/>
                </a:solidFill>
                <a:latin typeface="Consolas"/>
              </a:rPr>
              <a:t>0.77 → 4.45 %</a:t>
            </a:r>
          </a:p>
        </p:txBody>
      </p:sp>
      <p:sp>
        <p:nvSpPr>
          <p:cNvPr id="16" name="KIT.tcell"/>
          <p:cNvSpPr txBox="1"/>
          <p:nvPr/>
        </p:nvSpPr>
        <p:spPr>
          <a:xfrm>
            <a:off x="7516367" y="2240279"/>
            <a:ext cx="41056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×5.8, BES 층화 후에도 ×3.6~7.8</a:t>
            </a:r>
          </a:p>
        </p:txBody>
      </p:sp>
      <p:sp>
        <p:nvSpPr>
          <p:cNvPr id="17" name="KIT.trule"/>
          <p:cNvSpPr/>
          <p:nvPr/>
        </p:nvSpPr>
        <p:spPr>
          <a:xfrm>
            <a:off x="475488" y="260604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IT.tcell"/>
          <p:cNvSpPr txBox="1"/>
          <p:nvPr/>
        </p:nvSpPr>
        <p:spPr>
          <a:xfrm>
            <a:off x="566928" y="2651760"/>
            <a:ext cx="40233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BES 수준 최하 / 최상 5분위 결측률</a:t>
            </a:r>
          </a:p>
        </p:txBody>
      </p:sp>
      <p:sp>
        <p:nvSpPr>
          <p:cNvPr id="19" name="KIT.tcell"/>
          <p:cNvSpPr txBox="1"/>
          <p:nvPr/>
        </p:nvSpPr>
        <p:spPr>
          <a:xfrm>
            <a:off x="4773167" y="2651760"/>
            <a:ext cx="25603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743B"/>
                </a:solidFill>
                <a:latin typeface="Consolas"/>
              </a:rPr>
              <a:t>19.9 / 3.7 %</a:t>
            </a:r>
          </a:p>
        </p:txBody>
      </p:sp>
      <p:sp>
        <p:nvSpPr>
          <p:cNvPr id="20" name="KIT.tcell"/>
          <p:cNvSpPr txBox="1"/>
          <p:nvPr/>
        </p:nvSpPr>
        <p:spPr>
          <a:xfrm>
            <a:off x="7516367" y="2651760"/>
            <a:ext cx="41056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광자 예산의 대리가 결측을 예측</a:t>
            </a:r>
          </a:p>
        </p:txBody>
      </p:sp>
      <p:sp>
        <p:nvSpPr>
          <p:cNvPr id="21" name="KIT.trule"/>
          <p:cNvSpPr/>
          <p:nvPr/>
        </p:nvSpPr>
        <p:spPr>
          <a:xfrm>
            <a:off x="475488" y="301752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IT.tcell"/>
          <p:cNvSpPr txBox="1"/>
          <p:nvPr/>
        </p:nvSpPr>
        <p:spPr>
          <a:xfrm>
            <a:off x="566928" y="3063240"/>
            <a:ext cx="40233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BES 급락 뒤 결측 초과분 감쇠 τ_B</a:t>
            </a:r>
          </a:p>
        </p:txBody>
      </p:sp>
      <p:sp>
        <p:nvSpPr>
          <p:cNvPr id="23" name="KIT.tcell"/>
          <p:cNvSpPr txBox="1"/>
          <p:nvPr/>
        </p:nvSpPr>
        <p:spPr>
          <a:xfrm>
            <a:off x="4773167" y="3063240"/>
            <a:ext cx="25603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Consolas"/>
              </a:rPr>
              <a:t>26~35 ms</a:t>
            </a:r>
          </a:p>
        </p:txBody>
      </p:sp>
      <p:sp>
        <p:nvSpPr>
          <p:cNvPr id="24" name="KIT.tcell"/>
          <p:cNvSpPr txBox="1"/>
          <p:nvPr/>
        </p:nvSpPr>
        <p:spPr>
          <a:xfrm>
            <a:off x="7516367" y="3063240"/>
            <a:ext cx="41056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B(t) = B₀ + B₁e^(-(t-t₀)/τ_B)</a:t>
            </a:r>
          </a:p>
        </p:txBody>
      </p:sp>
      <p:sp>
        <p:nvSpPr>
          <p:cNvPr id="25" name="KIT.trule"/>
          <p:cNvSpPr/>
          <p:nvPr/>
        </p:nvSpPr>
        <p:spPr>
          <a:xfrm>
            <a:off x="475488" y="342900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IT.tcell"/>
          <p:cNvSpPr txBox="1"/>
          <p:nvPr/>
        </p:nvSpPr>
        <p:spPr>
          <a:xfrm>
            <a:off x="566928" y="3474720"/>
            <a:ext cx="40233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마스크 일치 / φ</a:t>
            </a:r>
          </a:p>
        </p:txBody>
      </p:sp>
      <p:sp>
        <p:nvSpPr>
          <p:cNvPr id="27" name="KIT.tcell"/>
          <p:cNvSpPr txBox="1"/>
          <p:nvPr/>
        </p:nvSpPr>
        <p:spPr>
          <a:xfrm>
            <a:off x="4773167" y="3474720"/>
            <a:ext cx="25603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Consolas"/>
              </a:rPr>
              <a:t>72.77 % / 0.041</a:t>
            </a:r>
          </a:p>
        </p:txBody>
      </p:sp>
      <p:sp>
        <p:nvSpPr>
          <p:cNvPr id="28" name="KIT.tcell"/>
          <p:cNvSpPr txBox="1"/>
          <p:nvPr/>
        </p:nvSpPr>
        <p:spPr>
          <a:xfrm>
            <a:off x="7516367" y="3474720"/>
            <a:ext cx="41056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§8at 재현, 독립보다 약간 위</a:t>
            </a:r>
          </a:p>
        </p:txBody>
      </p:sp>
      <p:sp>
        <p:nvSpPr>
          <p:cNvPr id="29" name="KIT.trule"/>
          <p:cNvSpPr/>
          <p:nvPr/>
        </p:nvSpPr>
        <p:spPr>
          <a:xfrm>
            <a:off x="475488" y="384048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KIT.card"/>
          <p:cNvSpPr/>
          <p:nvPr/>
        </p:nvSpPr>
        <p:spPr>
          <a:xfrm>
            <a:off x="475488" y="4023360"/>
            <a:ext cx="5527548" cy="1280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KIT.cardbar"/>
          <p:cNvSpPr/>
          <p:nvPr/>
        </p:nvSpPr>
        <p:spPr>
          <a:xfrm>
            <a:off x="475488" y="4023360"/>
            <a:ext cx="54864" cy="128016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IT.cardtext"/>
          <p:cNvSpPr txBox="1"/>
          <p:nvPr/>
        </p:nvSpPr>
        <p:spPr>
          <a:xfrm>
            <a:off x="658368" y="4142232"/>
            <a:ext cx="5198364" cy="10607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B6CB0"/>
                </a:solidFill>
                <a:latin typeface="Malgun Gothic"/>
              </a:rPr>
              <a:t>P10 세 지연 등급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A 수송 제어(τ_E 80~140 ms): 나우캐스터 p99 1.5~9 ms 전부 해당.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B ELM 트리거(&lt;1 ms)·C 모드 제어(0.1~1 ms): 라벨의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10 ms 적분이 배제하므로 1 ms 판정 보류와 무관.</a:t>
            </a:r>
          </a:p>
        </p:txBody>
      </p:sp>
      <p:sp>
        <p:nvSpPr>
          <p:cNvPr id="33" name="KIT.card"/>
          <p:cNvSpPr/>
          <p:nvPr/>
        </p:nvSpPr>
        <p:spPr>
          <a:xfrm>
            <a:off x="6185916" y="4023360"/>
            <a:ext cx="5527548" cy="1280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KIT.cardbar"/>
          <p:cNvSpPr/>
          <p:nvPr/>
        </p:nvSpPr>
        <p:spPr>
          <a:xfrm>
            <a:off x="6185916" y="4023360"/>
            <a:ext cx="54864" cy="1280160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IT.cardtext"/>
          <p:cNvSpPr txBox="1"/>
          <p:nvPr/>
        </p:nvSpPr>
        <p:spPr>
          <a:xfrm>
            <a:off x="6368796" y="4142232"/>
            <a:ext cx="5198364" cy="10607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5B6670"/>
                </a:solidFill>
                <a:latin typeface="Malgun Gothic"/>
              </a:rPr>
              <a:t>지연의 가격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skill -0.023/ms(강건)·-0.009/ms(고전), eV로는 1.5 ms에 +1.5 eV.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seq_v2 한 스텝 353,920 MAC · 111 디스패치 → 바닥 0.22~0.33 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T.footrule"/>
          <p:cNvSpPr/>
          <p:nvPr/>
        </p:nvSpPr>
        <p:spPr>
          <a:xfrm>
            <a:off x="475488" y="6382512"/>
            <a:ext cx="11237976" cy="10972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T.footer"/>
          <p:cNvSpPr txBox="1"/>
          <p:nvPr/>
        </p:nvSpPr>
        <p:spPr>
          <a:xfrm>
            <a:off x="475488" y="6455664"/>
            <a:ext cx="1032357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Malgun Gothic"/>
              </a:rPr>
              <a:t>KSTAR CES 나우캐스팅 · 물리 근거 덱 (§8ba · §8bb)</a:t>
            </a:r>
          </a:p>
        </p:txBody>
      </p:sp>
      <p:sp>
        <p:nvSpPr>
          <p:cNvPr id="5" name="KIT.pageno"/>
          <p:cNvSpPr txBox="1"/>
          <p:nvPr/>
        </p:nvSpPr>
        <p:spPr>
          <a:xfrm>
            <a:off x="10799063" y="6455664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Consolas"/>
              </a:rPr>
              <a:t>14</a:t>
            </a:r>
          </a:p>
        </p:txBody>
      </p:sp>
      <p:sp>
        <p:nvSpPr>
          <p:cNvPr id="6" name="KIT.title"/>
          <p:cNvSpPr txBox="1"/>
          <p:nvPr/>
        </p:nvSpPr>
        <p:spPr>
          <a:xfrm>
            <a:off x="475488" y="457200"/>
            <a:ext cx="11237976" cy="65836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3335F"/>
                </a:solidFill>
                <a:latin typeface="Malgun Gothic"/>
              </a:rPr>
              <a:t>MAST 사전학습이 아무것도 옮기지 못한 것은 무차원 상사의 결과다</a:t>
            </a:r>
          </a:p>
        </p:txBody>
      </p:sp>
      <p:sp>
        <p:nvSpPr>
          <p:cNvPr id="7" name="KIT.rule"/>
          <p:cNvSpPr/>
          <p:nvPr/>
        </p:nvSpPr>
        <p:spPr>
          <a:xfrm>
            <a:off x="475488" y="1115568"/>
            <a:ext cx="2011680" cy="36576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T.lead"/>
          <p:cNvSpPr txBox="1"/>
          <p:nvPr/>
        </p:nvSpPr>
        <p:spPr>
          <a:xfrm>
            <a:off x="475488" y="1298448"/>
            <a:ext cx="11237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0"/>
                </a:solidFill>
                <a:latin typeface="Malgun Gothic"/>
              </a:rPr>
              <a:t>수송은 (ρ*, ν*, β, q, ε, κ)의 함수다. 두 장치는 다른 점에 있고, 모델 입력은 계기 단위라 옮겨질 수 있는 것은 식 (M1)의 형태뿐이다. 그 형태는 한 shot이면 KSTAR 데이터가 정한다.</a:t>
            </a:r>
          </a:p>
        </p:txBody>
      </p:sp>
      <p:sp>
        <p:nvSpPr>
          <p:cNvPr id="9" name="KIT.thead"/>
          <p:cNvSpPr/>
          <p:nvPr/>
        </p:nvSpPr>
        <p:spPr>
          <a:xfrm>
            <a:off x="475488" y="1792224"/>
            <a:ext cx="11237976" cy="402336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theadtxt"/>
          <p:cNvSpPr txBox="1"/>
          <p:nvPr/>
        </p:nvSpPr>
        <p:spPr>
          <a:xfrm>
            <a:off x="566928" y="1847088"/>
            <a:ext cx="21945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무차원 양</a:t>
            </a:r>
          </a:p>
        </p:txBody>
      </p:sp>
      <p:sp>
        <p:nvSpPr>
          <p:cNvPr id="11" name="KIT.theadtxt"/>
          <p:cNvSpPr txBox="1"/>
          <p:nvPr/>
        </p:nvSpPr>
        <p:spPr>
          <a:xfrm>
            <a:off x="2944368" y="1847088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KSTAR</a:t>
            </a:r>
          </a:p>
        </p:txBody>
      </p:sp>
      <p:sp>
        <p:nvSpPr>
          <p:cNvPr id="12" name="KIT.theadtxt"/>
          <p:cNvSpPr txBox="1"/>
          <p:nvPr/>
        </p:nvSpPr>
        <p:spPr>
          <a:xfrm>
            <a:off x="4956048" y="1847088"/>
            <a:ext cx="21945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MAST</a:t>
            </a:r>
          </a:p>
        </p:txBody>
      </p:sp>
      <p:sp>
        <p:nvSpPr>
          <p:cNvPr id="13" name="KIT.theadtxt"/>
          <p:cNvSpPr txBox="1"/>
          <p:nvPr/>
        </p:nvSpPr>
        <p:spPr>
          <a:xfrm>
            <a:off x="7333488" y="1847088"/>
            <a:ext cx="428853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뜻</a:t>
            </a:r>
          </a:p>
        </p:txBody>
      </p:sp>
      <p:sp>
        <p:nvSpPr>
          <p:cNvPr id="14" name="KIT.trule"/>
          <p:cNvSpPr/>
          <p:nvPr/>
        </p:nvSpPr>
        <p:spPr>
          <a:xfrm>
            <a:off x="475488" y="21945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KIT.tcell"/>
          <p:cNvSpPr txBox="1"/>
          <p:nvPr/>
        </p:nvSpPr>
        <p:spPr>
          <a:xfrm>
            <a:off x="566928" y="2240279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ε = a/R</a:t>
            </a:r>
          </a:p>
        </p:txBody>
      </p:sp>
      <p:sp>
        <p:nvSpPr>
          <p:cNvPr id="16" name="KIT.tcell"/>
          <p:cNvSpPr txBox="1"/>
          <p:nvPr/>
        </p:nvSpPr>
        <p:spPr>
          <a:xfrm>
            <a:off x="2944368" y="2240279"/>
            <a:ext cx="18288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0.278</a:t>
            </a:r>
          </a:p>
        </p:txBody>
      </p:sp>
      <p:sp>
        <p:nvSpPr>
          <p:cNvPr id="17" name="KIT.tcell"/>
          <p:cNvSpPr txBox="1"/>
          <p:nvPr/>
        </p:nvSpPr>
        <p:spPr>
          <a:xfrm>
            <a:off x="4956048" y="2240279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0.765</a:t>
            </a:r>
          </a:p>
        </p:txBody>
      </p:sp>
      <p:sp>
        <p:nvSpPr>
          <p:cNvPr id="18" name="KIT.tcell"/>
          <p:cNvSpPr txBox="1"/>
          <p:nvPr/>
        </p:nvSpPr>
        <p:spPr>
          <a:xfrm>
            <a:off x="7333488" y="2240279"/>
            <a:ext cx="428853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포획 분율 0.66 vs 0.93</a:t>
            </a:r>
          </a:p>
        </p:txBody>
      </p:sp>
      <p:sp>
        <p:nvSpPr>
          <p:cNvPr id="19" name="KIT.trule"/>
          <p:cNvSpPr/>
          <p:nvPr/>
        </p:nvSpPr>
        <p:spPr>
          <a:xfrm>
            <a:off x="475488" y="260604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IT.tcell"/>
          <p:cNvSpPr txBox="1"/>
          <p:nvPr/>
        </p:nvSpPr>
        <p:spPr>
          <a:xfrm>
            <a:off x="566928" y="265176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β</a:t>
            </a:r>
          </a:p>
        </p:txBody>
      </p:sp>
      <p:sp>
        <p:nvSpPr>
          <p:cNvPr id="21" name="KIT.tcell"/>
          <p:cNvSpPr txBox="1"/>
          <p:nvPr/>
        </p:nvSpPr>
        <p:spPr>
          <a:xfrm>
            <a:off x="2944368" y="2651760"/>
            <a:ext cx="18288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0.45 %</a:t>
            </a:r>
          </a:p>
        </p:txBody>
      </p:sp>
      <p:sp>
        <p:nvSpPr>
          <p:cNvPr id="22" name="KIT.tcell"/>
          <p:cNvSpPr txBox="1"/>
          <p:nvPr/>
        </p:nvSpPr>
        <p:spPr>
          <a:xfrm>
            <a:off x="4956048" y="265176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743B"/>
                </a:solidFill>
                <a:latin typeface="Consolas"/>
              </a:rPr>
              <a:t>3.2 %</a:t>
            </a:r>
          </a:p>
        </p:txBody>
      </p:sp>
      <p:sp>
        <p:nvSpPr>
          <p:cNvPr id="23" name="KIT.tcell"/>
          <p:cNvSpPr txBox="1"/>
          <p:nvPr/>
        </p:nvSpPr>
        <p:spPr>
          <a:xfrm>
            <a:off x="7333488" y="2651760"/>
            <a:ext cx="428853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7배 — 전자기 난류 영역</a:t>
            </a:r>
          </a:p>
        </p:txBody>
      </p:sp>
      <p:sp>
        <p:nvSpPr>
          <p:cNvPr id="24" name="KIT.trule"/>
          <p:cNvSpPr/>
          <p:nvPr/>
        </p:nvSpPr>
        <p:spPr>
          <a:xfrm>
            <a:off x="475488" y="301752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KIT.tcell"/>
          <p:cNvSpPr txBox="1"/>
          <p:nvPr/>
        </p:nvSpPr>
        <p:spPr>
          <a:xfrm>
            <a:off x="566928" y="306324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ρ*</a:t>
            </a:r>
          </a:p>
        </p:txBody>
      </p:sp>
      <p:sp>
        <p:nvSpPr>
          <p:cNvPr id="26" name="KIT.tcell"/>
          <p:cNvSpPr txBox="1"/>
          <p:nvPr/>
        </p:nvSpPr>
        <p:spPr>
          <a:xfrm>
            <a:off x="2944368" y="3063240"/>
            <a:ext cx="18288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0.0056</a:t>
            </a:r>
          </a:p>
        </p:txBody>
      </p:sp>
      <p:sp>
        <p:nvSpPr>
          <p:cNvPr id="27" name="KIT.tcell"/>
          <p:cNvSpPr txBox="1"/>
          <p:nvPr/>
        </p:nvSpPr>
        <p:spPr>
          <a:xfrm>
            <a:off x="4956048" y="306324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0.0099</a:t>
            </a:r>
          </a:p>
        </p:txBody>
      </p:sp>
      <p:sp>
        <p:nvSpPr>
          <p:cNvPr id="28" name="KIT.tcell"/>
          <p:cNvSpPr txBox="1"/>
          <p:nvPr/>
        </p:nvSpPr>
        <p:spPr>
          <a:xfrm>
            <a:off x="7333488" y="3063240"/>
            <a:ext cx="428853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1.6~2.0배</a:t>
            </a:r>
          </a:p>
        </p:txBody>
      </p:sp>
      <p:sp>
        <p:nvSpPr>
          <p:cNvPr id="29" name="KIT.trule"/>
          <p:cNvSpPr/>
          <p:nvPr/>
        </p:nvSpPr>
        <p:spPr>
          <a:xfrm>
            <a:off x="475488" y="342900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KIT.tcell"/>
          <p:cNvSpPr txBox="1"/>
          <p:nvPr/>
        </p:nvSpPr>
        <p:spPr>
          <a:xfrm>
            <a:off x="566928" y="347472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IPB98 τ_E</a:t>
            </a:r>
          </a:p>
        </p:txBody>
      </p:sp>
      <p:sp>
        <p:nvSpPr>
          <p:cNvPr id="31" name="KIT.tcell"/>
          <p:cNvSpPr txBox="1"/>
          <p:nvPr/>
        </p:nvSpPr>
        <p:spPr>
          <a:xfrm>
            <a:off x="2944368" y="3474720"/>
            <a:ext cx="18288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77 ms</a:t>
            </a:r>
          </a:p>
        </p:txBody>
      </p:sp>
      <p:sp>
        <p:nvSpPr>
          <p:cNvPr id="32" name="KIT.tcell"/>
          <p:cNvSpPr txBox="1"/>
          <p:nvPr/>
        </p:nvSpPr>
        <p:spPr>
          <a:xfrm>
            <a:off x="4956048" y="347472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48 ms</a:t>
            </a:r>
          </a:p>
        </p:txBody>
      </p:sp>
      <p:sp>
        <p:nvSpPr>
          <p:cNvPr id="33" name="KIT.tcell"/>
          <p:cNvSpPr txBox="1"/>
          <p:nvPr/>
        </p:nvSpPr>
        <p:spPr>
          <a:xfrm>
            <a:off x="7333488" y="3474720"/>
            <a:ext cx="428853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10 ms AR(1) 계수 0.878 vs 0.813</a:t>
            </a:r>
          </a:p>
        </p:txBody>
      </p:sp>
      <p:sp>
        <p:nvSpPr>
          <p:cNvPr id="34" name="KIT.trule"/>
          <p:cNvSpPr/>
          <p:nvPr/>
        </p:nvSpPr>
        <p:spPr>
          <a:xfrm>
            <a:off x="475488" y="384048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IT.tcell"/>
          <p:cNvSpPr txBox="1"/>
          <p:nvPr/>
        </p:nvSpPr>
        <p:spPr>
          <a:xfrm>
            <a:off x="566928" y="388620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전이 가중치 비중</a:t>
            </a:r>
          </a:p>
        </p:txBody>
      </p:sp>
      <p:sp>
        <p:nvSpPr>
          <p:cNvPr id="36" name="KIT.tcell"/>
          <p:cNvSpPr txBox="1"/>
          <p:nvPr/>
        </p:nvSpPr>
        <p:spPr>
          <a:xfrm>
            <a:off x="2944368" y="3886200"/>
            <a:ext cx="18288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Consolas"/>
              </a:rPr>
              <a:t>1,823,490의 98.2 %</a:t>
            </a:r>
          </a:p>
        </p:txBody>
      </p:sp>
      <p:sp>
        <p:nvSpPr>
          <p:cNvPr id="37" name="KIT.tcell"/>
          <p:cNvSpPr txBox="1"/>
          <p:nvPr/>
        </p:nvSpPr>
        <p:spPr>
          <a:xfrm>
            <a:off x="4956048" y="388620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—</a:t>
            </a:r>
          </a:p>
        </p:txBody>
      </p:sp>
      <p:sp>
        <p:nvSpPr>
          <p:cNvPr id="38" name="KIT.tcell"/>
          <p:cNvSpPr txBox="1"/>
          <p:nvPr/>
        </p:nvSpPr>
        <p:spPr>
          <a:xfrm>
            <a:off x="7333488" y="3886200"/>
            <a:ext cx="428853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설명할 구조는 식 한 줄(계수 7개)</a:t>
            </a:r>
          </a:p>
        </p:txBody>
      </p:sp>
      <p:sp>
        <p:nvSpPr>
          <p:cNvPr id="39" name="KIT.trule"/>
          <p:cNvSpPr/>
          <p:nvPr/>
        </p:nvSpPr>
        <p:spPr>
          <a:xfrm>
            <a:off x="475488" y="42519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KIT.tcell"/>
          <p:cNvSpPr txBox="1"/>
          <p:nvPr/>
        </p:nvSpPr>
        <p:spPr>
          <a:xfrm>
            <a:off x="566928" y="429768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한 중앙 shot (3.98 s)의 SE(ρ)</a:t>
            </a:r>
          </a:p>
        </p:txBody>
      </p:sp>
      <p:sp>
        <p:nvSpPr>
          <p:cNvPr id="41" name="KIT.tcell"/>
          <p:cNvSpPr txBox="1"/>
          <p:nvPr/>
        </p:nvSpPr>
        <p:spPr>
          <a:xfrm>
            <a:off x="2944368" y="4297680"/>
            <a:ext cx="18288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9E5B"/>
                </a:solidFill>
                <a:latin typeface="Consolas"/>
              </a:rPr>
              <a:t>0.027</a:t>
            </a:r>
          </a:p>
        </p:txBody>
      </p:sp>
      <p:sp>
        <p:nvSpPr>
          <p:cNvPr id="42" name="KIT.tcell"/>
          <p:cNvSpPr txBox="1"/>
          <p:nvPr/>
        </p:nvSpPr>
        <p:spPr>
          <a:xfrm>
            <a:off x="4956048" y="429768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—</a:t>
            </a:r>
          </a:p>
        </p:txBody>
      </p:sp>
      <p:sp>
        <p:nvSpPr>
          <p:cNvPr id="43" name="KIT.tcell"/>
          <p:cNvSpPr txBox="1"/>
          <p:nvPr/>
        </p:nvSpPr>
        <p:spPr>
          <a:xfrm>
            <a:off x="7333488" y="4297680"/>
            <a:ext cx="428853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MAST prior 편향 0.064 = 2.4 SE</a:t>
            </a:r>
          </a:p>
        </p:txBody>
      </p:sp>
      <p:sp>
        <p:nvSpPr>
          <p:cNvPr id="44" name="KIT.trule"/>
          <p:cNvSpPr/>
          <p:nvPr/>
        </p:nvSpPr>
        <p:spPr>
          <a:xfrm>
            <a:off x="475488" y="466344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IT.band"/>
          <p:cNvSpPr/>
          <p:nvPr/>
        </p:nvSpPr>
        <p:spPr>
          <a:xfrm>
            <a:off x="475488" y="4846320"/>
            <a:ext cx="11237976" cy="71323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IT.bandbar"/>
          <p:cNvSpPr/>
          <p:nvPr/>
        </p:nvSpPr>
        <p:spPr>
          <a:xfrm>
            <a:off x="475488" y="4846320"/>
            <a:ext cx="54864" cy="7132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IT.bandtext"/>
          <p:cNvSpPr txBox="1"/>
          <p:nvPr/>
        </p:nvSpPr>
        <p:spPr>
          <a:xfrm>
            <a:off x="658368" y="4937759"/>
            <a:ext cx="10908792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3335F"/>
                </a:solidFill>
                <a:latin typeface="Malgun Gothic"/>
              </a:rPr>
              <a:t>§8az 재현  </a:t>
            </a:r>
            <a:r>
              <a:rPr sz="1150" b="0">
                <a:solidFill>
                  <a:srgbClr val="222B35"/>
                </a:solidFill>
                <a:latin typeface="Malgun Gothic"/>
              </a:rPr>
              <a:t>같은 shot 라벨 3→10에서 네 모델군이 똑같이 +0.26 오르고(퍼짐 0.006), 사전학습 대 무작위 초기화 차는 0.004~0.013이다. 데이터가 제한하는 양은 prior가 아니라 계기 사상이다.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.num"/>
          <p:cNvSpPr txBox="1"/>
          <p:nvPr/>
        </p:nvSpPr>
        <p:spPr>
          <a:xfrm>
            <a:off x="822960" y="1920240"/>
            <a:ext cx="36576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600" b="1">
                <a:solidFill>
                  <a:srgbClr val="E8743B"/>
                </a:solidFill>
                <a:latin typeface="Consolas"/>
              </a:rPr>
              <a:t>03</a:t>
            </a:r>
          </a:p>
        </p:txBody>
      </p:sp>
      <p:sp>
        <p:nvSpPr>
          <p:cNvPr id="5" name="SEC.title"/>
          <p:cNvSpPr txBox="1"/>
          <p:nvPr/>
        </p:nvSpPr>
        <p:spPr>
          <a:xfrm>
            <a:off x="822960" y="356616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정정과 측정</a:t>
            </a:r>
          </a:p>
        </p:txBody>
      </p:sp>
      <p:sp>
        <p:nvSpPr>
          <p:cNvPr id="6" name="SEC.rule"/>
          <p:cNvSpPr/>
          <p:nvPr/>
        </p:nvSpPr>
        <p:spPr>
          <a:xfrm>
            <a:off x="822960" y="4315968"/>
            <a:ext cx="2011680" cy="36576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C.sub"/>
          <p:cNvSpPr txBox="1"/>
          <p:nvPr/>
        </p:nvSpPr>
        <p:spPr>
          <a:xfrm>
            <a:off x="822960" y="4517136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8ECF1"/>
                </a:solidFill>
                <a:latin typeface="Malgun Gothic"/>
              </a:rPr>
              <a:t>기록 정정 두 건 · 유도가 지목한 측정 · 산출물 지도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T.footrule"/>
          <p:cNvSpPr/>
          <p:nvPr/>
        </p:nvSpPr>
        <p:spPr>
          <a:xfrm>
            <a:off x="475488" y="6382512"/>
            <a:ext cx="11237976" cy="10972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T.footer"/>
          <p:cNvSpPr txBox="1"/>
          <p:nvPr/>
        </p:nvSpPr>
        <p:spPr>
          <a:xfrm>
            <a:off x="475488" y="6455664"/>
            <a:ext cx="1032357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Malgun Gothic"/>
              </a:rPr>
              <a:t>KSTAR CES 나우캐스팅 · 물리 근거 덱 (§8ba · §8bb)</a:t>
            </a:r>
          </a:p>
        </p:txBody>
      </p:sp>
      <p:sp>
        <p:nvSpPr>
          <p:cNvPr id="5" name="KIT.pageno"/>
          <p:cNvSpPr txBox="1"/>
          <p:nvPr/>
        </p:nvSpPr>
        <p:spPr>
          <a:xfrm>
            <a:off x="10799063" y="6455664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Consolas"/>
              </a:rPr>
              <a:t>15</a:t>
            </a:r>
          </a:p>
        </p:txBody>
      </p:sp>
      <p:sp>
        <p:nvSpPr>
          <p:cNvPr id="6" name="KIT.title"/>
          <p:cNvSpPr txBox="1"/>
          <p:nvPr/>
        </p:nvSpPr>
        <p:spPr>
          <a:xfrm>
            <a:off x="475488" y="457200"/>
            <a:ext cx="11237976" cy="65836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3335F"/>
                </a:solidFill>
                <a:latin typeface="Malgun Gothic"/>
              </a:rPr>
              <a:t>증명 과정에서 원장의 두 문장을 정정하였고 하나를 고쳐 읽었다</a:t>
            </a:r>
          </a:p>
        </p:txBody>
      </p:sp>
      <p:sp>
        <p:nvSpPr>
          <p:cNvPr id="7" name="KIT.rule"/>
          <p:cNvSpPr/>
          <p:nvPr/>
        </p:nvSpPr>
        <p:spPr>
          <a:xfrm>
            <a:off x="475488" y="1115568"/>
            <a:ext cx="2011680" cy="36576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T.lead"/>
          <p:cNvSpPr txBox="1"/>
          <p:nvPr/>
        </p:nvSpPr>
        <p:spPr>
          <a:xfrm>
            <a:off x="475488" y="1298448"/>
            <a:ext cx="11237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0"/>
                </a:solidFill>
                <a:latin typeface="Malgun Gothic"/>
              </a:rPr>
              <a:t>정정은 모두 얼린 산출물과 코드에서 직접 확인한 뒤 원장 해당 절에 주석으로 달았다. 판정(PR4)과 주 모델은 바뀌지 않는다.</a:t>
            </a:r>
          </a:p>
        </p:txBody>
      </p:sp>
      <p:sp>
        <p:nvSpPr>
          <p:cNvPr id="9" name="KIT.thead"/>
          <p:cNvSpPr/>
          <p:nvPr/>
        </p:nvSpPr>
        <p:spPr>
          <a:xfrm>
            <a:off x="475488" y="1792224"/>
            <a:ext cx="11237976" cy="402336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theadtxt"/>
          <p:cNvSpPr txBox="1"/>
          <p:nvPr/>
        </p:nvSpPr>
        <p:spPr>
          <a:xfrm>
            <a:off x="566928" y="1847088"/>
            <a:ext cx="1645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자리</a:t>
            </a:r>
          </a:p>
        </p:txBody>
      </p:sp>
      <p:sp>
        <p:nvSpPr>
          <p:cNvPr id="11" name="KIT.theadtxt"/>
          <p:cNvSpPr txBox="1"/>
          <p:nvPr/>
        </p:nvSpPr>
        <p:spPr>
          <a:xfrm>
            <a:off x="2395728" y="1847088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원래 문장</a:t>
            </a:r>
          </a:p>
        </p:txBody>
      </p:sp>
      <p:sp>
        <p:nvSpPr>
          <p:cNvPr id="12" name="KIT.theadtxt"/>
          <p:cNvSpPr txBox="1"/>
          <p:nvPr/>
        </p:nvSpPr>
        <p:spPr>
          <a:xfrm>
            <a:off x="6236208" y="1847088"/>
            <a:ext cx="538581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Malgun Gothic"/>
              </a:rPr>
              <a:t>확인된 사실</a:t>
            </a:r>
          </a:p>
        </p:txBody>
      </p:sp>
      <p:sp>
        <p:nvSpPr>
          <p:cNvPr id="13" name="KIT.trule"/>
          <p:cNvSpPr/>
          <p:nvPr/>
        </p:nvSpPr>
        <p:spPr>
          <a:xfrm>
            <a:off x="475488" y="21945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IT.tcell"/>
          <p:cNvSpPr txBox="1"/>
          <p:nvPr/>
        </p:nvSpPr>
        <p:spPr>
          <a:xfrm>
            <a:off x="566928" y="2240279"/>
            <a:ext cx="16459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Consolas"/>
              </a:rPr>
              <a:t>§8ab 블록 2</a:t>
            </a:r>
          </a:p>
        </p:txBody>
      </p:sp>
      <p:sp>
        <p:nvSpPr>
          <p:cNvPr id="15" name="KIT.tcell"/>
          <p:cNvSpPr txBox="1"/>
          <p:nvPr/>
        </p:nvSpPr>
        <p:spPr>
          <a:xfrm>
            <a:off x="2395728" y="2240279"/>
            <a:ext cx="3657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V_rot 채점 행의 40~44 %가 PR2 폴백</a:t>
            </a:r>
          </a:p>
        </p:txBody>
      </p:sp>
      <p:sp>
        <p:nvSpPr>
          <p:cNvPr id="16" name="KIT.tcell"/>
          <p:cNvSpPr txBox="1"/>
          <p:nvPr/>
        </p:nvSpPr>
        <p:spPr>
          <a:xfrm>
            <a:off x="6236208" y="2240279"/>
            <a:ext cx="5385816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Malgun Gothic"/>
              </a:rPr>
              <a:t>eval_seq.py의 n_total이 비채점 행까지 셈. 채점 행 기준 0.3~0.5 %</a:t>
            </a:r>
          </a:p>
        </p:txBody>
      </p:sp>
      <p:sp>
        <p:nvSpPr>
          <p:cNvPr id="17" name="KIT.trule"/>
          <p:cNvSpPr/>
          <p:nvPr/>
        </p:nvSpPr>
        <p:spPr>
          <a:xfrm>
            <a:off x="475488" y="26517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IT.tcell"/>
          <p:cNvSpPr txBox="1"/>
          <p:nvPr/>
        </p:nvSpPr>
        <p:spPr>
          <a:xfrm>
            <a:off x="566928" y="2697479"/>
            <a:ext cx="16459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Consolas"/>
              </a:rPr>
              <a:t>§8az</a:t>
            </a:r>
          </a:p>
        </p:txBody>
      </p:sp>
      <p:sp>
        <p:nvSpPr>
          <p:cNvPr id="19" name="KIT.tcell"/>
          <p:cNvSpPr txBox="1"/>
          <p:nvPr/>
        </p:nvSpPr>
        <p:spPr>
          <a:xfrm>
            <a:off x="2395728" y="2697479"/>
            <a:ext cx="3657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긴 간극 안에서 빠른 채널이 V_rot를 회복</a:t>
            </a:r>
          </a:p>
        </p:txBody>
      </p:sp>
      <p:sp>
        <p:nvSpPr>
          <p:cNvPr id="20" name="KIT.tcell"/>
          <p:cNvSpPr txBox="1"/>
          <p:nvPr/>
        </p:nvSpPr>
        <p:spPr>
          <a:xfrm>
            <a:off x="6236208" y="2697479"/>
            <a:ext cx="5385816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Malgun Gothic"/>
              </a:rPr>
              <a:t>대조군 bilstm의 V_rot 분기는 빠른 채널을 보지 않음. 양측 라벨 문맥 효과</a:t>
            </a:r>
          </a:p>
        </p:txBody>
      </p:sp>
      <p:sp>
        <p:nvSpPr>
          <p:cNvPr id="21" name="KIT.trule"/>
          <p:cNvSpPr/>
          <p:nvPr/>
        </p:nvSpPr>
        <p:spPr>
          <a:xfrm>
            <a:off x="475488" y="31089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IT.tcell"/>
          <p:cNvSpPr txBox="1"/>
          <p:nvPr/>
        </p:nvSpPr>
        <p:spPr>
          <a:xfrm>
            <a:off x="566928" y="3154679"/>
            <a:ext cx="16459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335F"/>
                </a:solidFill>
                <a:latin typeface="Consolas"/>
              </a:rPr>
              <a:t>§8ar</a:t>
            </a:r>
          </a:p>
        </p:txBody>
      </p:sp>
      <p:sp>
        <p:nvSpPr>
          <p:cNvPr id="23" name="KIT.tcell"/>
          <p:cNvSpPr txBox="1"/>
          <p:nvPr/>
        </p:nvSpPr>
        <p:spPr>
          <a:xfrm>
            <a:off x="2395728" y="3154679"/>
            <a:ext cx="3657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22B35"/>
                </a:solidFill>
                <a:latin typeface="Malgun Gothic"/>
              </a:rPr>
              <a:t>Tᵢ 결합 크기 = rate 상관 +0.07</a:t>
            </a:r>
          </a:p>
        </p:txBody>
      </p:sp>
      <p:sp>
        <p:nvSpPr>
          <p:cNvPr id="24" name="KIT.tcell"/>
          <p:cNvSpPr txBox="1"/>
          <p:nvPr/>
        </p:nvSpPr>
        <p:spPr>
          <a:xfrm>
            <a:off x="6236208" y="3154679"/>
            <a:ext cx="5385816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743B"/>
                </a:solidFill>
                <a:latin typeface="Malgun Gothic"/>
              </a:rPr>
              <a:t>한계의 올바른 입력은 이력 조건부 partial r 0.26 (고쳐 읽기)</a:t>
            </a:r>
          </a:p>
        </p:txBody>
      </p:sp>
      <p:sp>
        <p:nvSpPr>
          <p:cNvPr id="25" name="KIT.trule"/>
          <p:cNvSpPr/>
          <p:nvPr/>
        </p:nvSpPr>
        <p:spPr>
          <a:xfrm>
            <a:off x="475488" y="35661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IT.card"/>
          <p:cNvSpPr/>
          <p:nvPr/>
        </p:nvSpPr>
        <p:spPr>
          <a:xfrm>
            <a:off x="475488" y="3749039"/>
            <a:ext cx="5527548" cy="151790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IT.cardbar"/>
          <p:cNvSpPr/>
          <p:nvPr/>
        </p:nvSpPr>
        <p:spPr>
          <a:xfrm>
            <a:off x="475488" y="3749039"/>
            <a:ext cx="54864" cy="1517904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IT.cardtext"/>
          <p:cNvSpPr txBox="1"/>
          <p:nvPr/>
        </p:nvSpPr>
        <p:spPr>
          <a:xfrm>
            <a:off x="658368" y="3867911"/>
            <a:ext cx="5198364" cy="12984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3335F"/>
                </a:solidFill>
                <a:latin typeface="Malgun Gothic"/>
              </a:rPr>
              <a:t>왜 생겼는가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첫째는 분모 집계 범위의 차이, 둘째는 대조군의 라우팅을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본문에서 다시 확인하지 않은 것, 셋째는 조건부 변수의 선택이다.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셋 다 유도가 '어떤 양을 재야 하는가'를 먼저 정했기에 드러났다.</a:t>
            </a:r>
          </a:p>
        </p:txBody>
      </p:sp>
      <p:sp>
        <p:nvSpPr>
          <p:cNvPr id="29" name="KIT.card"/>
          <p:cNvSpPr/>
          <p:nvPr/>
        </p:nvSpPr>
        <p:spPr>
          <a:xfrm>
            <a:off x="6185916" y="3749039"/>
            <a:ext cx="5527548" cy="151790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KIT.cardbar"/>
          <p:cNvSpPr/>
          <p:nvPr/>
        </p:nvSpPr>
        <p:spPr>
          <a:xfrm>
            <a:off x="6185916" y="3749039"/>
            <a:ext cx="54864" cy="151790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KIT.cardtext"/>
          <p:cNvSpPr txBox="1"/>
          <p:nvPr/>
        </p:nvSpPr>
        <p:spPr>
          <a:xfrm>
            <a:off x="6368796" y="3867911"/>
            <a:ext cx="5198364" cy="12984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E9E5B"/>
                </a:solidFill>
                <a:latin typeface="Malgun Gothic"/>
              </a:rPr>
              <a:t>무엇이 안 바뀌는가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Tᵢ 4/4+4/4, 캠페인 4/4, 인과 GP 대비 4/4, V_rot '동률' 판정,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백본 seq_v2, 두 모집단 규칙. 정정은 해석 문장에 한정된다.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T.footrule"/>
          <p:cNvSpPr/>
          <p:nvPr/>
        </p:nvSpPr>
        <p:spPr>
          <a:xfrm>
            <a:off x="475488" y="6382512"/>
            <a:ext cx="11237976" cy="10972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T.footer"/>
          <p:cNvSpPr txBox="1"/>
          <p:nvPr/>
        </p:nvSpPr>
        <p:spPr>
          <a:xfrm>
            <a:off x="475488" y="6455664"/>
            <a:ext cx="1032357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Malgun Gothic"/>
              </a:rPr>
              <a:t>KSTAR CES 나우캐스팅 · 물리 근거 덱 (§8ba · §8bb)</a:t>
            </a:r>
          </a:p>
        </p:txBody>
      </p:sp>
      <p:sp>
        <p:nvSpPr>
          <p:cNvPr id="5" name="KIT.pageno"/>
          <p:cNvSpPr txBox="1"/>
          <p:nvPr/>
        </p:nvSpPr>
        <p:spPr>
          <a:xfrm>
            <a:off x="10799063" y="6455664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Consolas"/>
              </a:rPr>
              <a:t>16</a:t>
            </a:r>
          </a:p>
        </p:txBody>
      </p:sp>
      <p:sp>
        <p:nvSpPr>
          <p:cNvPr id="6" name="KIT.title"/>
          <p:cNvSpPr txBox="1"/>
          <p:nvPr/>
        </p:nvSpPr>
        <p:spPr>
          <a:xfrm>
            <a:off x="475488" y="457200"/>
            <a:ext cx="11237976" cy="65836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3335F"/>
                </a:solidFill>
                <a:latin typeface="Malgun Gothic"/>
              </a:rPr>
              <a:t>유도가 지목하는 측정은 식의 어느 항을 닫는지까지 정해져 있다</a:t>
            </a:r>
          </a:p>
        </p:txBody>
      </p:sp>
      <p:sp>
        <p:nvSpPr>
          <p:cNvPr id="7" name="KIT.rule"/>
          <p:cNvSpPr/>
          <p:nvPr/>
        </p:nvSpPr>
        <p:spPr>
          <a:xfrm>
            <a:off x="475488" y="1115568"/>
            <a:ext cx="2011680" cy="36576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T.lead"/>
          <p:cNvSpPr txBox="1"/>
          <p:nvPr/>
        </p:nvSpPr>
        <p:spPr>
          <a:xfrm>
            <a:off x="475488" y="1298448"/>
            <a:ext cx="11237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0"/>
                </a:solidFill>
                <a:latin typeface="Malgun Gothic"/>
              </a:rPr>
              <a:t>음성 결과는 뒤집을 측정을 함께 적어야 결론이 된다. 열 증명이 지목한 측정을 식의 항과 반증 조건으로 정리하였다. 전부 재학습이 아니라 입력·채점의 문제다.</a:t>
            </a:r>
          </a:p>
        </p:txBody>
      </p:sp>
      <p:sp>
        <p:nvSpPr>
          <p:cNvPr id="9" name="KIT.thead"/>
          <p:cNvSpPr/>
          <p:nvPr/>
        </p:nvSpPr>
        <p:spPr>
          <a:xfrm>
            <a:off x="475488" y="1792224"/>
            <a:ext cx="11237976" cy="402336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theadtxt"/>
          <p:cNvSpPr txBox="1"/>
          <p:nvPr/>
        </p:nvSpPr>
        <p:spPr>
          <a:xfrm>
            <a:off x="566928" y="1847088"/>
            <a:ext cx="3200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측정</a:t>
            </a:r>
          </a:p>
        </p:txBody>
      </p:sp>
      <p:sp>
        <p:nvSpPr>
          <p:cNvPr id="11" name="KIT.theadtxt"/>
          <p:cNvSpPr txBox="1"/>
          <p:nvPr/>
        </p:nvSpPr>
        <p:spPr>
          <a:xfrm>
            <a:off x="3950208" y="1847088"/>
            <a:ext cx="246887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닫는 항</a:t>
            </a:r>
          </a:p>
        </p:txBody>
      </p:sp>
      <p:sp>
        <p:nvSpPr>
          <p:cNvPr id="12" name="KIT.theadtxt"/>
          <p:cNvSpPr txBox="1"/>
          <p:nvPr/>
        </p:nvSpPr>
        <p:spPr>
          <a:xfrm>
            <a:off x="6601968" y="1847088"/>
            <a:ext cx="11887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지목</a:t>
            </a:r>
          </a:p>
        </p:txBody>
      </p:sp>
      <p:sp>
        <p:nvSpPr>
          <p:cNvPr id="13" name="KIT.theadtxt"/>
          <p:cNvSpPr txBox="1"/>
          <p:nvPr/>
        </p:nvSpPr>
        <p:spPr>
          <a:xfrm>
            <a:off x="7973568" y="1847088"/>
            <a:ext cx="36484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뒤집힐 결과</a:t>
            </a:r>
          </a:p>
        </p:txBody>
      </p:sp>
      <p:sp>
        <p:nvSpPr>
          <p:cNvPr id="14" name="KIT.trule"/>
          <p:cNvSpPr/>
          <p:nvPr/>
        </p:nvSpPr>
        <p:spPr>
          <a:xfrm>
            <a:off x="475488" y="21945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KIT.tcell"/>
          <p:cNvSpPr txBox="1"/>
          <p:nvPr/>
        </p:nvSpPr>
        <p:spPr>
          <a:xfrm>
            <a:off x="566928" y="2240279"/>
            <a:ext cx="32004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D_α / ELM 지시자</a:t>
            </a:r>
          </a:p>
        </p:txBody>
      </p:sp>
      <p:sp>
        <p:nvSpPr>
          <p:cNvPr id="16" name="KIT.tcell"/>
          <p:cNvSpPr txBox="1"/>
          <p:nvPr/>
        </p:nvSpPr>
        <p:spPr>
          <a:xfrm>
            <a:off x="3950208" y="2240279"/>
            <a:ext cx="24688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사건 시각 t_k</a:t>
            </a:r>
          </a:p>
        </p:txBody>
      </p:sp>
      <p:sp>
        <p:nvSpPr>
          <p:cNvPr id="17" name="KIT.tcell"/>
          <p:cNvSpPr txBox="1"/>
          <p:nvPr/>
        </p:nvSpPr>
        <p:spPr>
          <a:xfrm>
            <a:off x="6601968" y="2240279"/>
            <a:ext cx="11887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B6670"/>
                </a:solidFill>
                <a:latin typeface="Consolas"/>
              </a:rPr>
              <a:t>P01·07·08</a:t>
            </a:r>
          </a:p>
        </p:txBody>
      </p:sp>
      <p:sp>
        <p:nvSpPr>
          <p:cNvPr id="18" name="KIT.tcell"/>
          <p:cNvSpPr txBox="1"/>
          <p:nvPr/>
        </p:nvSpPr>
        <p:spPr>
          <a:xfrm>
            <a:off x="7973568" y="2240279"/>
            <a:ext cx="36484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p_obs가 1에 가까워짐</a:t>
            </a:r>
          </a:p>
        </p:txBody>
      </p:sp>
      <p:sp>
        <p:nvSpPr>
          <p:cNvPr id="19" name="KIT.trule"/>
          <p:cNvSpPr/>
          <p:nvPr/>
        </p:nvSpPr>
        <p:spPr>
          <a:xfrm>
            <a:off x="475488" y="260604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IT.tcell"/>
          <p:cNvSpPr txBox="1"/>
          <p:nvPr/>
        </p:nvSpPr>
        <p:spPr>
          <a:xfrm>
            <a:off x="566928" y="2651760"/>
            <a:ext cx="32004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kHz Mirnov 모드 주파수·모드수</a:t>
            </a:r>
          </a:p>
        </p:txBody>
      </p:sp>
      <p:sp>
        <p:nvSpPr>
          <p:cNvPr id="21" name="KIT.tcell"/>
          <p:cNvSpPr txBox="1"/>
          <p:nvPr/>
        </p:nvSpPr>
        <p:spPr>
          <a:xfrm>
            <a:off x="3950208" y="2651760"/>
            <a:ext cx="24688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V_rot Doppler v = 2πRf/n</a:t>
            </a:r>
          </a:p>
        </p:txBody>
      </p:sp>
      <p:sp>
        <p:nvSpPr>
          <p:cNvPr id="22" name="KIT.tcell"/>
          <p:cNvSpPr txBox="1"/>
          <p:nvPr/>
        </p:nvSpPr>
        <p:spPr>
          <a:xfrm>
            <a:off x="6601968" y="2651760"/>
            <a:ext cx="11887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B6670"/>
                </a:solidFill>
                <a:latin typeface="Consolas"/>
              </a:rPr>
              <a:t>P02·08·10</a:t>
            </a:r>
          </a:p>
        </p:txBody>
      </p:sp>
      <p:sp>
        <p:nvSpPr>
          <p:cNvPr id="23" name="KIT.tcell"/>
          <p:cNvSpPr txBox="1"/>
          <p:nvPr/>
        </p:nvSpPr>
        <p:spPr>
          <a:xfrm>
            <a:off x="7973568" y="2651760"/>
            <a:ext cx="36484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V_rot 충격행 승률 역전</a:t>
            </a:r>
          </a:p>
        </p:txBody>
      </p:sp>
      <p:sp>
        <p:nvSpPr>
          <p:cNvPr id="24" name="KIT.trule"/>
          <p:cNvSpPr/>
          <p:nvPr/>
        </p:nvSpPr>
        <p:spPr>
          <a:xfrm>
            <a:off x="475488" y="301752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KIT.tcell"/>
          <p:cNvSpPr txBox="1"/>
          <p:nvPr/>
        </p:nvSpPr>
        <p:spPr>
          <a:xfrm>
            <a:off x="566928" y="3063240"/>
            <a:ext cx="32004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Mirnov 대역 파워</a:t>
            </a:r>
          </a:p>
        </p:txBody>
      </p:sp>
      <p:sp>
        <p:nvSpPr>
          <p:cNvPr id="26" name="KIT.tcell"/>
          <p:cNvSpPr txBox="1"/>
          <p:nvPr/>
        </p:nvSpPr>
        <p:spPr>
          <a:xfrm>
            <a:off x="3950208" y="3063240"/>
            <a:ext cx="24688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T_NTV ∝ δB²</a:t>
            </a:r>
          </a:p>
        </p:txBody>
      </p:sp>
      <p:sp>
        <p:nvSpPr>
          <p:cNvPr id="27" name="KIT.tcell"/>
          <p:cNvSpPr txBox="1"/>
          <p:nvPr/>
        </p:nvSpPr>
        <p:spPr>
          <a:xfrm>
            <a:off x="6601968" y="3063240"/>
            <a:ext cx="11887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B6670"/>
                </a:solidFill>
                <a:latin typeface="Consolas"/>
              </a:rPr>
              <a:t>P02</a:t>
            </a:r>
          </a:p>
        </p:txBody>
      </p:sp>
      <p:sp>
        <p:nvSpPr>
          <p:cNvPr id="28" name="KIT.tcell"/>
          <p:cNvSpPr txBox="1"/>
          <p:nvPr/>
        </p:nvSpPr>
        <p:spPr>
          <a:xfrm>
            <a:off x="7973568" y="3063240"/>
            <a:ext cx="36484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간극 안 토크 일부 관측</a:t>
            </a:r>
          </a:p>
        </p:txBody>
      </p:sp>
      <p:sp>
        <p:nvSpPr>
          <p:cNvPr id="29" name="KIT.trule"/>
          <p:cNvSpPr/>
          <p:nvPr/>
        </p:nvSpPr>
        <p:spPr>
          <a:xfrm>
            <a:off x="475488" y="342900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KIT.tcell"/>
          <p:cNvSpPr txBox="1"/>
          <p:nvPr/>
        </p:nvSpPr>
        <p:spPr>
          <a:xfrm>
            <a:off x="566928" y="3474720"/>
            <a:ext cx="32004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NBI · RMP 파형</a:t>
            </a:r>
          </a:p>
        </p:txBody>
      </p:sp>
      <p:sp>
        <p:nvSpPr>
          <p:cNvPr id="31" name="KIT.tcell"/>
          <p:cNvSpPr txBox="1"/>
          <p:nvPr/>
        </p:nvSpPr>
        <p:spPr>
          <a:xfrm>
            <a:off x="3950208" y="3474720"/>
            <a:ext cx="24688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T_NBI · T_NTV</a:t>
            </a:r>
          </a:p>
        </p:txBody>
      </p:sp>
      <p:sp>
        <p:nvSpPr>
          <p:cNvPr id="32" name="KIT.tcell"/>
          <p:cNvSpPr txBox="1"/>
          <p:nvPr/>
        </p:nvSpPr>
        <p:spPr>
          <a:xfrm>
            <a:off x="6601968" y="3474720"/>
            <a:ext cx="11887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B6670"/>
                </a:solidFill>
                <a:latin typeface="Consolas"/>
              </a:rPr>
              <a:t>P02·08·09</a:t>
            </a:r>
          </a:p>
        </p:txBody>
      </p:sp>
      <p:sp>
        <p:nvSpPr>
          <p:cNvPr id="33" name="KIT.tcell"/>
          <p:cNvSpPr txBox="1"/>
          <p:nvPr/>
        </p:nvSpPr>
        <p:spPr>
          <a:xfrm>
            <a:off x="7973568" y="3474720"/>
            <a:ext cx="36484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운동량식 우변이 채워짐</a:t>
            </a:r>
          </a:p>
        </p:txBody>
      </p:sp>
      <p:sp>
        <p:nvSpPr>
          <p:cNvPr id="34" name="KIT.trule"/>
          <p:cNvSpPr/>
          <p:nvPr/>
        </p:nvSpPr>
        <p:spPr>
          <a:xfrm>
            <a:off x="475488" y="384048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IT.tcell"/>
          <p:cNvSpPr txBox="1"/>
          <p:nvPr/>
        </p:nvSpPr>
        <p:spPr>
          <a:xfrm>
            <a:off x="566928" y="3886200"/>
            <a:ext cx="32004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CES 프레임별 적합 품질</a:t>
            </a:r>
          </a:p>
        </p:txBody>
      </p:sp>
      <p:sp>
        <p:nvSpPr>
          <p:cNvPr id="36" name="KIT.tcell"/>
          <p:cNvSpPr txBox="1"/>
          <p:nvPr/>
        </p:nvSpPr>
        <p:spPr>
          <a:xfrm>
            <a:off x="3950208" y="3886200"/>
            <a:ext cx="24688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채택 지시자 m_j</a:t>
            </a:r>
          </a:p>
        </p:txBody>
      </p:sp>
      <p:sp>
        <p:nvSpPr>
          <p:cNvPr id="37" name="KIT.tcell"/>
          <p:cNvSpPr txBox="1"/>
          <p:nvPr/>
        </p:nvSpPr>
        <p:spPr>
          <a:xfrm>
            <a:off x="6601968" y="3886200"/>
            <a:ext cx="11887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B6670"/>
                </a:solidFill>
                <a:latin typeface="Consolas"/>
              </a:rPr>
              <a:t>P05·07</a:t>
            </a:r>
          </a:p>
        </p:txBody>
      </p:sp>
      <p:sp>
        <p:nvSpPr>
          <p:cNvPr id="38" name="KIT.tcell"/>
          <p:cNvSpPr txBox="1"/>
          <p:nvPr/>
        </p:nvSpPr>
        <p:spPr>
          <a:xfrm>
            <a:off x="7973568" y="3886200"/>
            <a:ext cx="36484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값 컷 → 품질 컷, 모집단 병합</a:t>
            </a:r>
          </a:p>
        </p:txBody>
      </p:sp>
      <p:sp>
        <p:nvSpPr>
          <p:cNvPr id="39" name="KIT.trule"/>
          <p:cNvSpPr/>
          <p:nvPr/>
        </p:nvSpPr>
        <p:spPr>
          <a:xfrm>
            <a:off x="475488" y="42519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KIT.tcell"/>
          <p:cNvSpPr txBox="1"/>
          <p:nvPr/>
        </p:nvSpPr>
        <p:spPr>
          <a:xfrm>
            <a:off x="566928" y="4297680"/>
            <a:ext cx="32004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CES 자속면의 보정 Tₑ</a:t>
            </a:r>
          </a:p>
        </p:txBody>
      </p:sp>
      <p:sp>
        <p:nvSpPr>
          <p:cNvPr id="41" name="KIT.tcell"/>
          <p:cNvSpPr txBox="1"/>
          <p:nvPr/>
        </p:nvSpPr>
        <p:spPr>
          <a:xfrm>
            <a:off x="3950208" y="4297680"/>
            <a:ext cx="24688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Q_ei 항</a:t>
            </a:r>
          </a:p>
        </p:txBody>
      </p:sp>
      <p:sp>
        <p:nvSpPr>
          <p:cNvPr id="42" name="KIT.tcell"/>
          <p:cNvSpPr txBox="1"/>
          <p:nvPr/>
        </p:nvSpPr>
        <p:spPr>
          <a:xfrm>
            <a:off x="6601968" y="4297680"/>
            <a:ext cx="11887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B6670"/>
                </a:solidFill>
                <a:latin typeface="Consolas"/>
              </a:rPr>
              <a:t>P06·03</a:t>
            </a:r>
          </a:p>
        </p:txBody>
      </p:sp>
      <p:sp>
        <p:nvSpPr>
          <p:cNvPr id="43" name="KIT.tcell"/>
          <p:cNvSpPr txBox="1"/>
          <p:nvPr/>
        </p:nvSpPr>
        <p:spPr>
          <a:xfrm>
            <a:off x="7973568" y="4297680"/>
            <a:ext cx="36484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결합항 부호 0.46 → 일관 양수</a:t>
            </a:r>
          </a:p>
        </p:txBody>
      </p:sp>
      <p:sp>
        <p:nvSpPr>
          <p:cNvPr id="44" name="KIT.trule"/>
          <p:cNvSpPr/>
          <p:nvPr/>
        </p:nvSpPr>
        <p:spPr>
          <a:xfrm>
            <a:off x="475488" y="466344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IT.tcell"/>
          <p:cNvSpPr txBox="1"/>
          <p:nvPr/>
        </p:nvSpPr>
        <p:spPr>
          <a:xfrm>
            <a:off x="566928" y="4709160"/>
            <a:ext cx="32004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OU/Kalman 인과 팔 채점</a:t>
            </a:r>
          </a:p>
        </p:txBody>
      </p:sp>
      <p:sp>
        <p:nvSpPr>
          <p:cNvPr id="46" name="KIT.tcell"/>
          <p:cNvSpPr txBox="1"/>
          <p:nvPr/>
        </p:nvSpPr>
        <p:spPr>
          <a:xfrm>
            <a:off x="3950208" y="4709160"/>
            <a:ext cx="24688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최적 이력 기준</a:t>
            </a:r>
          </a:p>
        </p:txBody>
      </p:sp>
      <p:sp>
        <p:nvSpPr>
          <p:cNvPr id="47" name="KIT.tcell"/>
          <p:cNvSpPr txBox="1"/>
          <p:nvPr/>
        </p:nvSpPr>
        <p:spPr>
          <a:xfrm>
            <a:off x="6601968" y="4709160"/>
            <a:ext cx="11887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B6670"/>
                </a:solidFill>
                <a:latin typeface="Consolas"/>
              </a:rPr>
              <a:t>P02·06</a:t>
            </a:r>
          </a:p>
        </p:txBody>
      </p:sp>
      <p:sp>
        <p:nvSpPr>
          <p:cNvPr id="48" name="KIT.tcell"/>
          <p:cNvSpPr txBox="1"/>
          <p:nvPr/>
        </p:nvSpPr>
        <p:spPr>
          <a:xfrm>
            <a:off x="7973568" y="4709160"/>
            <a:ext cx="36484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빠른 진단 귀속 +0.027~0.048 확정</a:t>
            </a:r>
          </a:p>
        </p:txBody>
      </p:sp>
      <p:sp>
        <p:nvSpPr>
          <p:cNvPr id="49" name="KIT.trule"/>
          <p:cNvSpPr/>
          <p:nvPr/>
        </p:nvSpPr>
        <p:spPr>
          <a:xfrm>
            <a:off x="475488" y="507492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IT.tcell"/>
          <p:cNvSpPr txBox="1"/>
          <p:nvPr/>
        </p:nvSpPr>
        <p:spPr>
          <a:xfrm>
            <a:off x="566928" y="5120640"/>
            <a:ext cx="32004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같은 추정기 EWMA 표준화 팔</a:t>
            </a:r>
          </a:p>
        </p:txBody>
      </p:sp>
      <p:sp>
        <p:nvSpPr>
          <p:cNvPr id="51" name="KIT.tcell"/>
          <p:cNvSpPr txBox="1"/>
          <p:nvPr/>
        </p:nvSpPr>
        <p:spPr>
          <a:xfrm>
            <a:off x="3950208" y="5120640"/>
            <a:ext cx="246887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g(D), c(D) 온라인 소거</a:t>
            </a:r>
          </a:p>
        </p:txBody>
      </p:sp>
      <p:sp>
        <p:nvSpPr>
          <p:cNvPr id="52" name="KIT.tcell"/>
          <p:cNvSpPr txBox="1"/>
          <p:nvPr/>
        </p:nvSpPr>
        <p:spPr>
          <a:xfrm>
            <a:off x="6601968" y="5120640"/>
            <a:ext cx="11887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B6670"/>
                </a:solidFill>
                <a:latin typeface="Consolas"/>
              </a:rPr>
              <a:t>P04</a:t>
            </a:r>
          </a:p>
        </p:txBody>
      </p:sp>
      <p:sp>
        <p:nvSpPr>
          <p:cNvPr id="53" name="KIT.tcell"/>
          <p:cNvSpPr txBox="1"/>
          <p:nvPr/>
        </p:nvSpPr>
        <p:spPr>
          <a:xfrm>
            <a:off x="7973568" y="5120640"/>
            <a:ext cx="36484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첫 1~2 s 워밍업만 남는지</a:t>
            </a:r>
          </a:p>
        </p:txBody>
      </p:sp>
      <p:sp>
        <p:nvSpPr>
          <p:cNvPr id="54" name="KIT.trule"/>
          <p:cNvSpPr/>
          <p:nvPr/>
        </p:nvSpPr>
        <p:spPr>
          <a:xfrm>
            <a:off x="475488" y="548640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T.footrule"/>
          <p:cNvSpPr/>
          <p:nvPr/>
        </p:nvSpPr>
        <p:spPr>
          <a:xfrm>
            <a:off x="475488" y="6382512"/>
            <a:ext cx="11237976" cy="10972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T.footer"/>
          <p:cNvSpPr txBox="1"/>
          <p:nvPr/>
        </p:nvSpPr>
        <p:spPr>
          <a:xfrm>
            <a:off x="475488" y="6455664"/>
            <a:ext cx="1032357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Malgun Gothic"/>
              </a:rPr>
              <a:t>KSTAR CES 나우캐스팅 · 물리 근거 덱 (§8ba · §8bb)</a:t>
            </a:r>
          </a:p>
        </p:txBody>
      </p:sp>
      <p:sp>
        <p:nvSpPr>
          <p:cNvPr id="5" name="KIT.pageno"/>
          <p:cNvSpPr txBox="1"/>
          <p:nvPr/>
        </p:nvSpPr>
        <p:spPr>
          <a:xfrm>
            <a:off x="10799063" y="6455664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670"/>
                </a:solidFill>
                <a:latin typeface="Consolas"/>
              </a:rPr>
              <a:t>17</a:t>
            </a:r>
          </a:p>
        </p:txBody>
      </p:sp>
      <p:sp>
        <p:nvSpPr>
          <p:cNvPr id="6" name="KIT.title"/>
          <p:cNvSpPr txBox="1"/>
          <p:nvPr/>
        </p:nvSpPr>
        <p:spPr>
          <a:xfrm>
            <a:off x="475488" y="457200"/>
            <a:ext cx="11237976" cy="65836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3335F"/>
                </a:solidFill>
                <a:latin typeface="Malgun Gothic"/>
              </a:rPr>
              <a:t>산출물은 문서 세 편과 증명 폴더 열 개이며 전부 저장소에 있다</a:t>
            </a:r>
          </a:p>
        </p:txBody>
      </p:sp>
      <p:sp>
        <p:nvSpPr>
          <p:cNvPr id="7" name="KIT.rule"/>
          <p:cNvSpPr/>
          <p:nvPr/>
        </p:nvSpPr>
        <p:spPr>
          <a:xfrm>
            <a:off x="475488" y="1115568"/>
            <a:ext cx="2011680" cy="36576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T.lead"/>
          <p:cNvSpPr txBox="1"/>
          <p:nvPr/>
        </p:nvSpPr>
        <p:spPr>
          <a:xfrm>
            <a:off x="475488" y="1298448"/>
            <a:ext cx="11237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670"/>
                </a:solidFill>
                <a:latin typeface="Malgun Gothic"/>
              </a:rPr>
              <a:t>읽는 순서는 결과 문서의 0장(통일 모형과 결과 지도) → 1장(증명 전문) → 2장(종합)이다. 모든 수치는 스크립트 출력에서 전사되었고 커밋으로 고정되어 있다.</a:t>
            </a:r>
          </a:p>
        </p:txBody>
      </p:sp>
      <p:sp>
        <p:nvSpPr>
          <p:cNvPr id="9" name="KIT.thead"/>
          <p:cNvSpPr/>
          <p:nvPr/>
        </p:nvSpPr>
        <p:spPr>
          <a:xfrm>
            <a:off x="475488" y="1792224"/>
            <a:ext cx="11237976" cy="402336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T.theadtxt"/>
          <p:cNvSpPr txBox="1"/>
          <p:nvPr/>
        </p:nvSpPr>
        <p:spPr>
          <a:xfrm>
            <a:off x="566928" y="1847088"/>
            <a:ext cx="402335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파일 · 절</a:t>
            </a:r>
          </a:p>
        </p:txBody>
      </p:sp>
      <p:sp>
        <p:nvSpPr>
          <p:cNvPr id="11" name="KIT.theadtxt"/>
          <p:cNvSpPr txBox="1"/>
          <p:nvPr/>
        </p:nvSpPr>
        <p:spPr>
          <a:xfrm>
            <a:off x="4773167" y="1847088"/>
            <a:ext cx="68488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Malgun Gothic"/>
              </a:rPr>
              <a:t>내용</a:t>
            </a:r>
          </a:p>
        </p:txBody>
      </p:sp>
      <p:sp>
        <p:nvSpPr>
          <p:cNvPr id="12" name="KIT.trule"/>
          <p:cNvSpPr/>
          <p:nvPr/>
        </p:nvSpPr>
        <p:spPr>
          <a:xfrm>
            <a:off x="475488" y="21945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IT.tcell"/>
          <p:cNvSpPr txBox="1"/>
          <p:nvPr/>
        </p:nvSpPr>
        <p:spPr>
          <a:xfrm>
            <a:off x="566928" y="2240279"/>
            <a:ext cx="40233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Consolas"/>
              </a:rPr>
              <a:t>docs/theory_results_physics.md</a:t>
            </a:r>
          </a:p>
        </p:txBody>
      </p:sp>
      <p:sp>
        <p:nvSpPr>
          <p:cNvPr id="14" name="KIT.tcell"/>
          <p:cNvSpPr txBox="1"/>
          <p:nvPr/>
        </p:nvSpPr>
        <p:spPr>
          <a:xfrm>
            <a:off x="4773167" y="2240279"/>
            <a:ext cx="68488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하나의 모형(M1~M7) · 열 증명 전문 · 종합(관련성 서사 · 정정 · 지목 측정)</a:t>
            </a:r>
          </a:p>
        </p:txBody>
      </p:sp>
      <p:sp>
        <p:nvSpPr>
          <p:cNvPr id="15" name="KIT.trule"/>
          <p:cNvSpPr/>
          <p:nvPr/>
        </p:nvSpPr>
        <p:spPr>
          <a:xfrm>
            <a:off x="475488" y="260604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KIT.tcell"/>
          <p:cNvSpPr txBox="1"/>
          <p:nvPr/>
        </p:nvSpPr>
        <p:spPr>
          <a:xfrm>
            <a:off x="566928" y="2651760"/>
            <a:ext cx="40233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Consolas"/>
              </a:rPr>
              <a:t>docs/theory_foundations.md</a:t>
            </a:r>
          </a:p>
        </p:txBody>
      </p:sp>
      <p:sp>
        <p:nvSpPr>
          <p:cNvPr id="17" name="KIT.tcell"/>
          <p:cNvSpPr txBox="1"/>
          <p:nvPr/>
        </p:nvSpPr>
        <p:spPr>
          <a:xfrm>
            <a:off x="4773167" y="2651760"/>
            <a:ext cx="68488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측정 물리 · 추정 이론 · 평가 통계의 유도 17절과 검산</a:t>
            </a:r>
          </a:p>
        </p:txBody>
      </p:sp>
      <p:sp>
        <p:nvSpPr>
          <p:cNvPr id="18" name="KIT.trule"/>
          <p:cNvSpPr/>
          <p:nvPr/>
        </p:nvSpPr>
        <p:spPr>
          <a:xfrm>
            <a:off x="475488" y="301752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KIT.tcell"/>
          <p:cNvSpPr txBox="1"/>
          <p:nvPr/>
        </p:nvSpPr>
        <p:spPr>
          <a:xfrm>
            <a:off x="566928" y="3063240"/>
            <a:ext cx="40233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Consolas"/>
              </a:rPr>
              <a:t>docs/theory_plasma_physics.md</a:t>
            </a:r>
          </a:p>
        </p:txBody>
      </p:sp>
      <p:sp>
        <p:nvSpPr>
          <p:cNvPr id="20" name="KIT.tcell"/>
          <p:cNvSpPr txBox="1"/>
          <p:nvPr/>
        </p:nvSpPr>
        <p:spPr>
          <a:xfrm>
            <a:off x="4773167" y="3063240"/>
            <a:ext cx="68488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플라즈마 거동 물리 12장 · CES를 예측하는 두 경로 · Pr ≈ 1 · EHO Doppler</a:t>
            </a:r>
          </a:p>
        </p:txBody>
      </p:sp>
      <p:sp>
        <p:nvSpPr>
          <p:cNvPr id="21" name="KIT.trule"/>
          <p:cNvSpPr/>
          <p:nvPr/>
        </p:nvSpPr>
        <p:spPr>
          <a:xfrm>
            <a:off x="475488" y="342900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IT.tcell"/>
          <p:cNvSpPr txBox="1"/>
          <p:nvPr/>
        </p:nvSpPr>
        <p:spPr>
          <a:xfrm>
            <a:off x="566928" y="3474720"/>
            <a:ext cx="40233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Consolas"/>
              </a:rPr>
              <a:t>ces_prediction/experiments/proofs/p01~p10</a:t>
            </a:r>
          </a:p>
        </p:txBody>
      </p:sp>
      <p:sp>
        <p:nvSpPr>
          <p:cNvPr id="23" name="KIT.tcell"/>
          <p:cNvSpPr txBox="1"/>
          <p:nvPr/>
        </p:nvSpPr>
        <p:spPr>
          <a:xfrm>
            <a:off x="4773167" y="3474720"/>
            <a:ext cx="68488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증명 스크립트와 JSON 출력, README</a:t>
            </a:r>
          </a:p>
        </p:txBody>
      </p:sp>
      <p:sp>
        <p:nvSpPr>
          <p:cNvPr id="24" name="KIT.trule"/>
          <p:cNvSpPr/>
          <p:nvPr/>
        </p:nvSpPr>
        <p:spPr>
          <a:xfrm>
            <a:off x="475488" y="384048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KIT.tcell"/>
          <p:cNvSpPr txBox="1"/>
          <p:nvPr/>
        </p:nvSpPr>
        <p:spPr>
          <a:xfrm>
            <a:off x="566928" y="3886200"/>
            <a:ext cx="40233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Consolas"/>
              </a:rPr>
              <a:t>ces_prediction/analyze_foundations.py</a:t>
            </a:r>
          </a:p>
        </p:txBody>
      </p:sp>
      <p:sp>
        <p:nvSpPr>
          <p:cNvPr id="26" name="KIT.tcell"/>
          <p:cNvSpPr txBox="1"/>
          <p:nvPr/>
        </p:nvSpPr>
        <p:spPr>
          <a:xfrm>
            <a:off x="4773167" y="3886200"/>
            <a:ext cx="68488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유도 검산 Part A~F → data/.foundations.json</a:t>
            </a:r>
          </a:p>
        </p:txBody>
      </p:sp>
      <p:sp>
        <p:nvSpPr>
          <p:cNvPr id="27" name="KIT.trule"/>
          <p:cNvSpPr/>
          <p:nvPr/>
        </p:nvSpPr>
        <p:spPr>
          <a:xfrm>
            <a:off x="475488" y="425196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IT.tcell"/>
          <p:cNvSpPr txBox="1"/>
          <p:nvPr/>
        </p:nvSpPr>
        <p:spPr>
          <a:xfrm>
            <a:off x="566928" y="4297680"/>
            <a:ext cx="402335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3335F"/>
                </a:solidFill>
                <a:latin typeface="Consolas"/>
              </a:rPr>
              <a:t>THESIS_RESULTS.md §8ba · §8bb</a:t>
            </a:r>
          </a:p>
        </p:txBody>
      </p:sp>
      <p:sp>
        <p:nvSpPr>
          <p:cNvPr id="29" name="KIT.tcell"/>
          <p:cNvSpPr txBox="1"/>
          <p:nvPr/>
        </p:nvSpPr>
        <p:spPr>
          <a:xfrm>
            <a:off x="4773167" y="4297680"/>
            <a:ext cx="6848856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B35"/>
                </a:solidFill>
                <a:latin typeface="Malgun Gothic"/>
              </a:rPr>
              <a:t>원장 기록, §8ab·§8az 정정 주석; PROJECT_KNOWLEDGE.md 교훈</a:t>
            </a:r>
          </a:p>
        </p:txBody>
      </p:sp>
      <p:sp>
        <p:nvSpPr>
          <p:cNvPr id="30" name="KIT.trule"/>
          <p:cNvSpPr/>
          <p:nvPr/>
        </p:nvSpPr>
        <p:spPr>
          <a:xfrm>
            <a:off x="475488" y="4663440"/>
            <a:ext cx="11237976" cy="9144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KIT.band"/>
          <p:cNvSpPr/>
          <p:nvPr/>
        </p:nvSpPr>
        <p:spPr>
          <a:xfrm>
            <a:off x="475488" y="4846320"/>
            <a:ext cx="11237976" cy="71323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IT.bandbar"/>
          <p:cNvSpPr/>
          <p:nvPr/>
        </p:nvSpPr>
        <p:spPr>
          <a:xfrm>
            <a:off x="475488" y="4846320"/>
            <a:ext cx="54864" cy="713232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KIT.bandtext"/>
          <p:cNvSpPr txBox="1"/>
          <p:nvPr/>
        </p:nvSpPr>
        <p:spPr>
          <a:xfrm>
            <a:off x="658368" y="4937759"/>
            <a:ext cx="10908792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5B6670"/>
                </a:solidFill>
                <a:latin typeface="Malgun Gothic"/>
              </a:rPr>
              <a:t>커밋  </a:t>
            </a:r>
            <a:r>
              <a:rPr sz="1150" b="0">
                <a:solidFill>
                  <a:srgbClr val="222B35"/>
                </a:solidFill>
                <a:latin typeface="Malgun Gothic"/>
              </a:rPr>
              <a:t>7012f48 · 052f937 (근거 문서) → 51f72ae · 78d72dc · ad4c803 · 0d66804 (열 증명과 정정). 테스트 52개 통과. 논문 tex·pdf와 기존 발표 덱은 건드리지 않았다.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