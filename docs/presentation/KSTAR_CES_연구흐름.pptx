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용도: 논문을 쓰는 동안 옆에 두는 참조판.</a:t>
            </a:r>
          </a:p>
          <a:p>
            <a:r>
              <a:t>수치는 전부 main_ko.tex(= 동결 산출물 paper_numbers.json)에서 그대로 옮겼으므로</a:t>
            </a:r>
          </a:p>
          <a:p>
            <a:r>
              <a:t>여기서 인용하면 논문 본문과 어긋날 수 없다.</a:t>
            </a:r>
          </a:p>
          <a:p/>
          <a:p>
            <a:r>
              <a:t>이 덱에서 의도적으로 제외한 것 — 날짜 타임라인, 연구 질문이 바뀐 경위(초해상 → gap-filling),</a:t>
            </a:r>
          </a:p>
          <a:p>
            <a:r>
              <a:t>AutoML 탐색 경위, 체크포인트/재현성 함정, 운영용 다음-작업 우선순위.</a:t>
            </a:r>
          </a:p>
          <a:p>
            <a:r>
              <a:t>논문에 한 줄도 들어가지 않는 과정 서사다. 기록은 THESIS_RESULTS.md §8과 PROJECT_KNOWLEDGE.md에 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main_ko.tex label 목록: sec:data, sec:stuck, sec:model, sec:eval, sec:results, sec:headline,</a:t>
            </a:r>
          </a:p>
          <a:p>
            <a:r>
              <a:t>sec:gap, sec:mnar, sec:campaign, sec:asym, sec:window, sec:ladder, sec:peak, sec:selection,</a:t>
            </a:r>
          </a:p>
          <a:p>
            <a:r>
              <a:t>sec:deploy, sec:headroom, sec:limits, sec:conclusion.</a:t>
            </a:r>
          </a:p>
          <a:p/>
          <a:p>
            <a:r>
              <a:t>그림 파이프라인: collect_paper_numbers.py -&gt; docs/paper/paper_numbers.json -&gt; make_figures_en.py</a:t>
            </a:r>
          </a:p>
          <a:p>
            <a:r>
              <a:t>(논문) / make_figures.py (덱). 수치를 그림 스크립트에 손으로 박아 넣지 말 것 — 그 오류가 §8h다.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main_ko.tex 표 tab:stress(§sec:campaign), §sec:conclusion 2문단, docs/paper/NOVELTY.md.</a:t>
            </a:r>
          </a:p>
          <a:p>
            <a:r>
              <a:t>PROJECT_KNOWLEDGE "Framing Rules"(승상님 2026-08-05):</a:t>
            </a:r>
          </a:p>
          <a:p>
            <a:r>
              <a:t>· 두 주장을 분리하라 — "미래를 쓰는 보간을 이긴다"는 관측 모집단에 대한 진술,</a:t>
            </a:r>
          </a:p>
          <a:p>
            <a:r>
              <a:t>  "모든 인과 방법을 이긴다"는 진짜 결측으로 재가중해도 살아남는 진술.</a:t>
            </a:r>
          </a:p>
          <a:p>
            <a:r>
              <a:t>· novelty는 부재로 진술하지 말 것 — 반례 하나로 무너진다. 인용을 많이 할수록 확장 프레임이 강해진다.</a:t>
            </a:r>
          </a:p>
          <a:p>
            <a:r>
              <a:t>· 헤드라인은 "사전등록된 보간들을 이긴다"로 읽어야 한다(§10: 사후 GP 팔과는 동률).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main_ko.tex §sec:data (324–370행), 그림 fig:missing.</a:t>
            </a:r>
          </a:p>
          <a:p/>
          <a:p>
            <a:r>
              <a:t>인용 시 주의</a:t>
            </a:r>
          </a:p>
          <a:p>
            <a:r>
              <a:t>· 결측률은 '행 기준·타겟별 독립'이며 두 타겟이 함께 결측되는 비율이 아니다.</a:t>
            </a:r>
          </a:p>
          <a:p>
            <a:r>
              <a:t>· 타겟 시점 마스킹은 값과 관측 플래그를 '모두' 0으로 만든다 — 플래그만 남기면 누수다.</a:t>
            </a:r>
          </a:p>
          <a:p>
            <a:r>
              <a:t>· ces_history 4채널 = 직전 정규화 Tᵢ, 직전 정규화 V_rot, Tᵢ 관측 플래그, V_rot 관측 플래그.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main_ko.tex §sec:stuck (372–413행). THESIS_RESULTS.md §1, §8c.</a:t>
            </a:r>
          </a:p>
          <a:p/>
          <a:p>
            <a:r>
              <a:t>이 절의 핵심 문장: V_rot이 자기 과거에 의존하는 것은 실제 물리인 '동시에' 부분적으로 계측</a:t>
            </a:r>
          </a:p>
          <a:p>
            <a:r>
              <a:t>아티팩트이며, 정직한 서술은 두 몫을 모두 정량화해야 한다.</a:t>
            </a:r>
          </a:p>
          <a:p/>
          <a:p>
            <a:r>
              <a:t>보정하지 않으면 이 아티팩트 하나가 "V_rot은 긴 이력이 필요하다"는 겉보기 추세(+0.118 → +0.202)를</a:t>
            </a:r>
          </a:p>
          <a:p>
            <a:r>
              <a:t>만들어내고, 보정하면 사라진다 — §6.7 window sweep이 그 대조군이다.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main_ko.tex §sec:model (416–469행).</a:t>
            </a:r>
          </a:p>
          <a:p/>
          <a:p>
            <a:r>
              <a:t>논문이 아키텍처 기여로 내세우는 지점은 하나다 — "일반적이지 않은 유일한 구성요소는 이 풀링</a:t>
            </a:r>
          </a:p>
          <a:p>
            <a:r>
              <a:t>마스크". 마스킹되지 않은 어텐션 풀은 0으로 채워진 타겟 행과 측정값 없는 이력 행에 가중치를</a:t>
            </a:r>
          </a:p>
          <a:p>
            <a:r>
              <a:t>쓸 수 있어 readout을 희석시키고, 그 억제를 플래그 채널로 암묵 학습하게 떠넘긴다.</a:t>
            </a:r>
          </a:p>
          <a:p>
            <a:r>
              <a:t>하드 마스킹은 같은 편향을 파라미터 비용 0으로 공급한다 — 이것이 §7 선택 프로토콜이 마지막으로</a:t>
            </a:r>
          </a:p>
          <a:p>
            <a:r>
              <a:t>채택한 변경이다.</a:t>
            </a:r>
          </a:p>
          <a:p/>
          <a:p>
            <a:r>
              <a:t>탐색 경위 자체는 논문에 쓰지 않는다. 쓰는 것은 '용량은 레버가 아니었다'는 음성 결과뿐이다.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main_ko.tex §sec:eval (472–524행).</a:t>
            </a:r>
          </a:p>
          <a:p/>
          <a:p>
            <a:r>
              <a:t>세그먼트 사실(본문에 있음): 641개 shot 전부가 ≥0.5 s 간극으로 나뉜 복수 측정 세그먼트를</a:t>
            </a:r>
          </a:p>
          <a:p>
            <a:r>
              <a:t>가진다 — 파일당 중앙값 2개, 간극 중앙값 6.3 s.</a:t>
            </a:r>
          </a:p>
          <a:p/>
          <a:p>
            <a:r>
              <a:t>검정력 한계(shot ≈96)를 방법론 절에서 미리 인정하고 §10에서 다시 받는 구조를 유지할 것.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main_ko.tex §sec:results 첫 소절, 표 tab:ladder, 그림 fig:ladder (530–566행).</a:t>
            </a:r>
          </a:p>
          <a:p>
            <a:r>
              <a:t>시드 42 held-out test 분할, 진짜 측정 평가 기준.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main_ko.tex §sec:headline (568–658행), 표 tab:headline, 그림 fig:forest / fig:progression.</a:t>
            </a:r>
          </a:p>
          <a:p/>
          <a:p>
            <a:r>
              <a:t>인용 시 주의</a:t>
            </a:r>
          </a:p>
          <a:p>
            <a:r>
              <a:t>· 시드 1/7/123은 모델 선택이 전혀 건드리지 않은 진짜 복제다.</a:t>
            </a:r>
          </a:p>
          <a:p>
            <a:r>
              <a:t>· 유지값 포함 Tᵢ: +0.257 / +0.194 / +0.263 / +0.280 (4/4).</a:t>
            </a:r>
          </a:p>
          <a:p>
            <a:r>
              <a:t>· 선형 보간 대비 genuine: 시드 42 +0.148(n.s.), 나머지 +0.167 / +0.259 / +0.234(PASS).</a:t>
            </a:r>
          </a:p>
          <a:p>
            <a:r>
              <a:t>  사전등록된 PCHIP 비교만 인용하지 말고 이 사실을 명시할 것.</a:t>
            </a:r>
          </a:p>
          <a:p>
            <a:r>
              <a:t>· V_rot은 점추정이 4/4 양수인데도 n.s.로 보고한다 — 이 보고 기준 자체를 본문에 쓴다.</a:t>
            </a:r>
          </a:p>
          <a:p>
            <a:r>
              <a:t>· GP 점추정 범위는 −0.08~+0.09이고 V_rot은 전부 n.s.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main_ko.tex §sec:gap (660–726행), 표 tab:gap.</a:t>
            </a:r>
          </a:p>
          <a:p/>
          <a:p>
            <a:r>
              <a:t>인용 시 주의</a:t>
            </a:r>
          </a:p>
          <a:p>
            <a:r>
              <a:t>· 실제 타겟의 ≥96%가 Δt ≤ 15 ms 영역에 있다.</a:t>
            </a:r>
          </a:p>
          <a:p>
            <a:r>
              <a:t>· Δt가 커질수록 PCHIP의 문제는 쉬워지고(양쪽 실측을 잇기만 하면 된다) 우리 문제는 어려워진다.</a:t>
            </a:r>
          </a:p>
          <a:p>
            <a:r>
              <a:t>  이 비대칭을 본문에 명시해야 −0.542가 정직하게 읽힌다.</a:t>
            </a:r>
          </a:p>
          <a:p>
            <a:r>
              <a:t>· 시드별로는 넓은 구간 표본이 수십 개뿐이라 이전 초안은 결론을 지탱할 수 없었다 —</a:t>
            </a:r>
          </a:p>
          <a:p>
            <a:r>
              <a:t>  4개 분할 통합 + shot 군집화가 이 절을 가능하게 한 방법론적 변경이다.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main_ko.tex §sec:mnar (728–799행), 표 tab:mnar.</a:t>
            </a:r>
          </a:p>
          <a:p/>
          <a:p>
            <a:r>
              <a:t>· MNAR 보정 비용은 0.06–0.12에 불과하다(인과 비교에 대해).</a:t>
            </a:r>
          </a:p>
          <a:p>
            <a:r>
              <a:t>· 층 커버리지 95–100%, 채점 표본 30개 미만 층은 버린다. 가정(층 안에서 결측·관측 행이 교환 가능)은</a:t>
            </a:r>
          </a:p>
          <a:p>
            <a:r>
              <a:t>  숨기지 않고 명시한다. 대조 확인: 활동도 비율이 동결 산출물의 플래그와 Tᵢ 0.004 / V_rot 0.009 이내 일치.</a:t>
            </a:r>
          </a:p>
          <a:p>
            <a:r>
              <a:t>· 두 비교가 갈라지는 것이 이 절에서 가장 쓸모 있는 결과 — §6.3과 기계적으로 일관된다</a:t>
            </a:r>
          </a:p>
          <a:p>
            <a:r>
              <a:t>  (결측 지점은 더 큰 Δt에 있고, 그곳이 양측 앵커가 가장 크게 돕는 곳).</a:t>
            </a:r>
          </a:p>
          <a:p>
            <a:r>
              <a:t>· V_rot은 기반이 얇아(도메인 내 4.8%, persistence 대비 2/4) 회전에 대한 배치 결론은 내지 않는다.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main_ko.tex §sec:campaign (801–891행), 표 tab:campaign / tab:stress. THESIS_RESULTS §8n, §8s.</a:t>
            </a:r>
          </a:p>
          <a:p/>
          <a:p>
            <a:r>
              <a:t>· 분할이 고정이므로 네 실행은 '초기화' 시드만 다르다 — 이를 "4개 시드"로 제시하지 말고 그대로 밝힌다.</a:t>
            </a:r>
          </a:p>
          <a:p>
            <a:r>
              <a:t>· test 구간의 PCHIP RMSE는 601(무작위 분할 449).</a:t>
            </a:r>
          </a:p>
          <a:p>
            <a:r>
              <a:t>· V_rot이 안 변하는 것이 오히려 기제 확인이다: V_rot 헤드는 구조상 고속 진단이 차단돼 있다.</a:t>
            </a:r>
          </a:p>
          <a:p>
            <a:r>
              <a:t>· 이 절의 서사 구조 자체가 기여다 — 실패를 보고하고, 원인을 측정하고, 지목한 수리를 실행해 되돌렸다.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main_ko.tex §sec:asym (893–942행), 표 tab:ablation, 그림 fig:ablation.</a:t>
            </a:r>
          </a:p>
          <a:p>
            <a:r>
              <a:t>이 비대칭은 물리로 먼저 예측되었고 절제로 확인되었다 — 순서를 본문에서 그대로 밝힐 것.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main_ko.tex §sec:window (944–1008행) 표 tab:window, §sec:ladder (1010–1069행) 표 tab:ladder2.</a:t>
            </a:r>
          </a:p>
          <a:p/>
          <a:p>
            <a:r>
              <a:t>인용 시 주의</a:t>
            </a:r>
          </a:p>
          <a:p>
            <a:r>
              <a:t>· 24개 독립 실행(W ∈ {2,3,4,6,8} × seed {42,1,7,123}) + history-0 ×4. 전 구간 유지값 제거 학습.</a:t>
            </a:r>
          </a:p>
          <a:p>
            <a:r>
              <a:t>· paired가 아닌 독립 실행이므로 곡선 위 차이는 전부 seed 잡음 안 — 주장은 순위가 아니라 '효과의 부재'다.</a:t>
            </a:r>
          </a:p>
          <a:p>
            <a:r>
              <a:t>· shot당 표본 상한 때문에 절대 skill을 헤드라인 계열과 직접 비교할 수 없다(곡선 내부 비교용).</a:t>
            </a:r>
          </a:p>
          <a:p>
            <a:r>
              <a:t>· 통제 검증: 24개 실행 전부 seed당 동일한 96개 test shot을 평가하고, 채점 표본은 W=2→8에서 1.8%만 줄었다.</a:t>
            </a:r>
          </a:p>
          <a:p>
            <a:r>
              <a:t>· 앵커+Δ는 decompose()로 항별 기여를 반환한다 — "앵커 + 기울기 + BES 기반 변화율"로 읽을 수 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main_ko.tex §sec:peak (1071–1121행) + 유지값 교차 문단, THESIS_RESULTS §8r.</a:t>
            </a:r>
          </a:p>
          <a:p/>
          <a:p>
            <a:r>
              <a:t>· 채점을 진짜 측정 행으로 한정하면 모든 분할이 상승하지만(+0.154→+0.201, +0.109→+0.126,</a:t>
            </a:r>
          </a:p>
          <a:p>
            <a:r>
              <a:t>  +0.065→+0.098, +0.127→+0.170) 사전등록 관문에는 못 미친다 ⇒ 유지값 희석은 실재하나</a:t>
            </a:r>
          </a:p>
          <a:p>
            <a:r>
              <a:t>  V_rot 동률의 전부는 아니고, 나머지는 검정력이다.</a:t>
            </a:r>
          </a:p>
          <a:p>
            <a:r>
              <a:t>· 유지값 행에서 지는 것은 구조적이다 — PCHIP은 정의상 직전 값인 그 값을 정확히 통과하므로</a:t>
            </a:r>
          </a:p>
          <a:p>
            <a:r>
              <a:t>  어떤 인과 방법도 그곳에서는 이길 수 없다.</a:t>
            </a:r>
          </a:p>
          <a:p>
            <a:r>
              <a:t>· 이를 더 날카롭게 할 지목된 측정: 유지값을 배제한 활동 검출기 — 아직 실행하지 않았다.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main_ko.tex §sec:deploy (1146–1197행). PROJECT_KNOWLEDGE "Deployment Facts".</a:t>
            </a:r>
          </a:p>
          <a:p/>
          <a:p>
            <a:r>
              <a:t>· 지연은 호출별(장치를 사이에 유휴로 두는 10 ms 루프의 현실적 모형)과 연속 amortized 두 방식으로</a:t>
            </a:r>
          </a:p>
          <a:p>
            <a:r>
              <a:t>  측정했고 둘이 일치하므로 GPU 유휴 아티팩트가 아니다.</a:t>
            </a:r>
          </a:p>
          <a:p>
            <a:r>
              <a:t>· 대량 재처리도 여기서는 CPU가 유리했지만(batch 512에서 48k 대 24k samples/s) 노트북 GPU +</a:t>
            </a:r>
          </a:p>
          <a:p>
            <a:r>
              <a:t>  매우 작은 신경망에 특정한 결과이므로 일반화하지 않는다는 단서를 함께 쓸 것.</a:t>
            </a:r>
          </a:p>
          <a:p>
            <a:r>
              <a:t>· Mondrian은 평균 구간을 넓히면서도 구간 점수를 모든 곳에서 개선한다 — Δt와 활동도가 필요하다고</a:t>
            </a:r>
          </a:p>
          <a:p>
            <a:r>
              <a:t>  말하는 곳에 폭을 배치한다는 뜻이다.</a:t>
            </a:r>
          </a:p>
          <a:p>
            <a:r>
              <a:t>· 조건부 커버리지를 맞추려면 shot 조건부 캘리브레이션이 필요한데 현재 shot 수로는 지탱되지 않는다.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main_ko.tex §sec:headroom (1200–1250행).</a:t>
            </a:r>
          </a:p>
          <a:p/>
          <a:p>
            <a:r>
              <a:t>PROJECT_KNOWLEDGE "Framing Rules"(승상님 2026-08-05): 음성 결과는 그것을 뒤집을 측정을</a:t>
            </a:r>
          </a:p>
          <a:p>
            <a:r>
              <a:t>함께 지목할 때만 결론이 된다. "정보가 부족하다"는 결론이 아니라 변명이다.</a:t>
            </a:r>
          </a:p>
          <a:p/>
          <a:p>
            <a:r>
              <a:t>· 레버 1은 skill이 이력 길이에 평탄하다는 사실 덕분에 거의 공짜인 적용 가능성 확장이다.</a:t>
            </a:r>
          </a:p>
          <a:p>
            <a:r>
              <a:t>· 레버 2가 우리가 시도한 모든 MC 파생 특징(적분, PCHIP 적분, |MC|, 이동 RMS)이 실패한 이유다 —</a:t>
            </a:r>
          </a:p>
          <a:p>
            <a:r>
              <a:t>  이미 잃은 정보는 하류에서 복원되지 않는다.</a:t>
            </a:r>
          </a:p>
          <a:p>
            <a:r>
              <a:t>· 레버 3의 양성 대조군: Char et al. 2024, DIII-D 순환 전체-방전 시뮬레이터가 빔 액추에이터를</a:t>
            </a:r>
          </a:p>
          <a:p>
            <a:r>
              <a:t>  입력으로 받아 회전 전개를 예측한다 — 이 채널은 측정만 되면 학습 가능하다.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main_ko.tex §sec:limits (1253–1299행), §sec:conclusion (1302–1338행).</a:t>
            </a:r>
          </a:p>
          <a:p/>
          <a:p>
            <a:r>
              <a:t>재현성·코드 공개·데이터 공개 문단은 이미 논문에 있다(1341–1360행) — 별도 슬라이드로 만들지 않는다.</a:t>
            </a:r>
          </a:p>
          <a:p>
            <a:r>
              <a:t>코드 공개에 남은 TODO 하나: 투고본에 대한 아카이브 DOI(Zenodo) 발급 후 인용 추가.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333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5029200"/>
            <a:ext cx="12191695" cy="1828800"/>
          </a:xfrm>
          <a:prstGeom prst="rect">
            <a:avLst/>
          </a:prstGeom>
          <a:solidFill>
            <a:srgbClr val="0E26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822960" y="1600200"/>
            <a:ext cx="2011680" cy="50800"/>
          </a:xfrm>
          <a:prstGeom prst="rect">
            <a:avLst/>
          </a:prstGeom>
          <a:solidFill>
            <a:srgbClr val="1B9E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1783080"/>
            <a:ext cx="10607040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600" b="1" i="0">
                <a:solidFill>
                  <a:srgbClr val="8FD6CB"/>
                </a:solidFill>
                <a:latin typeface="Malgun Gothic"/>
              </a:rPr>
              <a:t>논문 집필용 정리 · Paper-Writing Digest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04672" y="2286000"/>
            <a:ext cx="10698480" cy="18288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 i="0">
                <a:solidFill>
                  <a:srgbClr val="FFFFFF"/>
                </a:solidFill>
                <a:latin typeface="Malgun Gothic"/>
              </a:rPr>
              <a:t>논문에 들어가는 것만: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3400" b="1" i="0">
                <a:solidFill>
                  <a:srgbClr val="FFFFFF"/>
                </a:solidFill>
                <a:latin typeface="Malgun Gothic"/>
              </a:rPr>
              <a:t>확정된 주장 · 인용할 수치 · 근거의 위치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3977639"/>
            <a:ext cx="10515600" cy="9144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400"/>
              </a:spcAft>
            </a:pPr>
            <a:r>
              <a:rPr sz="1600" b="0" i="0">
                <a:solidFill>
                  <a:srgbClr val="E8ECF1"/>
                </a:solidFill>
                <a:latin typeface="Malgun Gothic"/>
              </a:rPr>
              <a:t>슬라이드 한 장 = </a:t>
            </a:r>
            <a:r>
              <a:rPr sz="1600" b="1" i="0">
                <a:solidFill>
                  <a:srgbClr val="E8743B"/>
                </a:solidFill>
                <a:latin typeface="Malgun Gothic"/>
              </a:rPr>
              <a:t>main_ko.tex의 한 절</a:t>
            </a:r>
            <a:r>
              <a:rPr sz="1600" b="0" i="0">
                <a:solidFill>
                  <a:srgbClr val="E8ECF1"/>
                </a:solidFill>
                <a:latin typeface="Malgun Gothic"/>
              </a:rPr>
              <a:t>. 각 장의 노트에 그 절의 \label과 인용 시 주의가 적혀 있습니다.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400"/>
              </a:spcAft>
            </a:pPr>
            <a:r>
              <a:rPr sz="1600" b="0" i="0">
                <a:solidFill>
                  <a:srgbClr val="E8ECF1"/>
                </a:solidFill>
                <a:latin typeface="Malgun Gothic"/>
              </a:rPr>
              <a:t>연구가 걸어온 경로·기각된 곁가지·재현성 이슈는 논문에 쓰지 않으므로 이 덱에서 제외했습니다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5394960"/>
            <a:ext cx="10515600" cy="10058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400"/>
              </a:spcAft>
            </a:pPr>
            <a:r>
              <a:rPr sz="1700" b="1" i="0">
                <a:solidFill>
                  <a:srgbClr val="FFFFFF"/>
                </a:solidFill>
                <a:latin typeface="Malgun Gothic"/>
              </a:rPr>
              <a:t>이승상  (Seungsang Lee)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0" i="0">
                <a:solidFill>
                  <a:srgbClr val="9AA5B1"/>
                </a:solidFill>
                <a:latin typeface="Malgun Gothic"/>
              </a:rPr>
              <a:t>서울대학교 · 원자핵공학  |  2026-08-09 기준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9AA5B1"/>
                </a:solidFill>
                <a:latin typeface="Malgun Gothic"/>
              </a:rPr>
              <a:t>출처: docs/paper/main_ko.tex · docs/paper/paper_numbers.json · THESIS_RESULTS.md §8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201168" cy="1170432"/>
          </a:xfrm>
          <a:prstGeom prst="rect">
            <a:avLst/>
          </a:prstGeom>
          <a:solidFill>
            <a:srgbClr val="1333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82880"/>
            <a:ext cx="1124712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13335F"/>
                </a:solidFill>
                <a:latin typeface="Malgun Gothic"/>
              </a:rPr>
              <a:t>Map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5488" y="457200"/>
            <a:ext cx="11338560" cy="65836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2700" b="1" i="0">
                <a:solidFill>
                  <a:srgbClr val="13335F"/>
                </a:solidFill>
                <a:latin typeface="Malgun Gothic"/>
              </a:rPr>
              <a:t>논문 골격 — 절 ↔ 확정한 것 ↔ 이 덱의 슬라이드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1078992"/>
            <a:ext cx="11201400" cy="25400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731520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AA5B1"/>
                </a:solidFill>
                <a:latin typeface="Malgun Gothic"/>
              </a:rPr>
              <a:t>KSTAR CES Nowcasting — 다중진단 기반 CES 결측 구간 예측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455664"/>
            <a:ext cx="1097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 i="0">
                <a:solidFill>
                  <a:srgbClr val="9AA5B1"/>
                </a:solidFill>
                <a:latin typeface="Malgun Gothic"/>
              </a:rPr>
              <a:t>1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920" y="1325880"/>
            <a:ext cx="11183111" cy="402336"/>
          </a:xfrm>
          <a:prstGeom prst="rect">
            <a:avLst/>
          </a:prstGeom>
          <a:solidFill>
            <a:srgbClr val="1333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94360" y="1389888"/>
            <a:ext cx="1956816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FFFFFF"/>
                </a:solidFill>
                <a:latin typeface="Malgun Gothic"/>
              </a:rPr>
              <a:t>논문 절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697480" y="1389888"/>
            <a:ext cx="4471416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FFFFFF"/>
                </a:solidFill>
                <a:latin typeface="Malgun Gothic"/>
              </a:rPr>
              <a:t>그 절이 확정한 것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0" y="1389888"/>
            <a:ext cx="2231136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FFFFFF"/>
                </a:solidFill>
                <a:latin typeface="Malgun Gothic"/>
              </a:rPr>
              <a:t>근거 (표·그림)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692640" y="1389888"/>
            <a:ext cx="1938527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FFFFFF"/>
                </a:solidFill>
                <a:latin typeface="Malgun Gothic"/>
              </a:rPr>
              <a:t>이 덱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94360" y="1801368"/>
            <a:ext cx="1956816" cy="39319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222B35"/>
                </a:solidFill>
                <a:latin typeface="Malgun Gothic"/>
              </a:rPr>
              <a:t>§1–2 서론·관련 연구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697480" y="1801368"/>
            <a:ext cx="4471416" cy="39319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222B35"/>
                </a:solidFill>
                <a:latin typeface="Malgun Gothic"/>
              </a:rPr>
              <a:t>계보 인정 후 3축 확장으로 novelty 진술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315200" y="1801368"/>
            <a:ext cx="2231136" cy="39319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222B35"/>
                </a:solidFill>
                <a:latin typeface="Malgun Gothic"/>
              </a:rPr>
              <a:t>NOVELTY.md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692640" y="1801368"/>
            <a:ext cx="1938527" cy="39319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222B35"/>
                </a:solidFill>
                <a:latin typeface="Malgun Gothic"/>
              </a:rPr>
              <a:t>3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02920" y="2203323"/>
            <a:ext cx="11183111" cy="9525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502920" y="2212848"/>
            <a:ext cx="11183111" cy="484632"/>
          </a:xfrm>
          <a:prstGeom prst="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94360" y="2286000"/>
            <a:ext cx="1956816" cy="39319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222B35"/>
                </a:solidFill>
                <a:latin typeface="Malgun Gothic"/>
              </a:rPr>
              <a:t>§3 데이터·문제 설정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697480" y="2286000"/>
            <a:ext cx="4471416" cy="39319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222B35"/>
                </a:solidFill>
                <a:latin typeface="Malgun Gothic"/>
              </a:rPr>
              <a:t>641 shot · 10 ms 격자 · 유지값 54% 감사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315200" y="2286000"/>
            <a:ext cx="2231136" cy="39319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222B35"/>
                </a:solidFill>
                <a:latin typeface="Malgun Gothic"/>
              </a:rPr>
              <a:t>fig_missing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692640" y="2286000"/>
            <a:ext cx="1938527" cy="39319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222B35"/>
                </a:solidFill>
                <a:latin typeface="Malgun Gothic"/>
              </a:rPr>
              <a:t>4–5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02920" y="2687955"/>
            <a:ext cx="11183111" cy="9525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94360" y="2770632"/>
            <a:ext cx="1956816" cy="39319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222B35"/>
                </a:solidFill>
                <a:latin typeface="Malgun Gothic"/>
              </a:rPr>
              <a:t>§4 모델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697480" y="2770632"/>
            <a:ext cx="4471416" cy="39319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222B35"/>
                </a:solidFill>
                <a:latin typeface="Malgun Gothic"/>
              </a:rPr>
              <a:t>201,258 파라미터 · 관측 마스킹 어텐션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315200" y="2770632"/>
            <a:ext cx="2231136" cy="39319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222B35"/>
                </a:solidFill>
                <a:latin typeface="Malgun Gothic"/>
              </a:rPr>
              <a:t>fig_architecture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692640" y="2770632"/>
            <a:ext cx="1938527" cy="39319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222B35"/>
                </a:solidFill>
                <a:latin typeface="Malgun Gothic"/>
              </a:rPr>
              <a:t>6</a:t>
            </a:r>
          </a:p>
        </p:txBody>
      </p:sp>
      <p:sp>
        <p:nvSpPr>
          <p:cNvPr id="30" name="Rectangle 29"/>
          <p:cNvSpPr/>
          <p:nvPr/>
        </p:nvSpPr>
        <p:spPr>
          <a:xfrm>
            <a:off x="502920" y="3172587"/>
            <a:ext cx="11183111" cy="9525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502920" y="3182112"/>
            <a:ext cx="11183111" cy="484632"/>
          </a:xfrm>
          <a:prstGeom prst="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94360" y="3255264"/>
            <a:ext cx="1956816" cy="39319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222B35"/>
                </a:solidFill>
                <a:latin typeface="Malgun Gothic"/>
              </a:rPr>
              <a:t>§5 평가 방법론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2697480" y="3255264"/>
            <a:ext cx="4471416" cy="39319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222B35"/>
                </a:solidFill>
                <a:latin typeface="Malgun Gothic"/>
              </a:rPr>
              <a:t>사전등록 PR1–PR4 · shot 군집 bootstrap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315200" y="3255264"/>
            <a:ext cx="2231136" cy="39319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222B35"/>
                </a:solidFill>
                <a:latin typeface="Malgun Gothic"/>
              </a:rPr>
              <a:t>—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692640" y="3255264"/>
            <a:ext cx="1938527" cy="39319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222B35"/>
                </a:solidFill>
                <a:latin typeface="Malgun Gothic"/>
              </a:rPr>
              <a:t>7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02920" y="3657219"/>
            <a:ext cx="11183111" cy="9525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594360" y="3739896"/>
            <a:ext cx="1956816" cy="39319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222B35"/>
                </a:solidFill>
                <a:latin typeface="Malgun Gothic"/>
              </a:rPr>
              <a:t>§6 결과 (9개 소절)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2697480" y="3739896"/>
            <a:ext cx="4471416" cy="39319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222B35"/>
                </a:solidFill>
                <a:latin typeface="Malgun Gothic"/>
              </a:rPr>
              <a:t>인과 압도 · Tᵢ 4/4 · 간극 · MNAR · 캠페인 · 비대칭 · window · peak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315200" y="3739896"/>
            <a:ext cx="2231136" cy="39319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222B35"/>
                </a:solidFill>
                <a:latin typeface="Malgun Gothic"/>
              </a:rPr>
              <a:t>표 1–8 · fig_forest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692640" y="3739896"/>
            <a:ext cx="1938527" cy="39319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222B35"/>
                </a:solidFill>
                <a:latin typeface="Malgun Gothic"/>
              </a:rPr>
              <a:t>8–15</a:t>
            </a:r>
          </a:p>
        </p:txBody>
      </p:sp>
      <p:sp>
        <p:nvSpPr>
          <p:cNvPr id="41" name="Rectangle 40"/>
          <p:cNvSpPr/>
          <p:nvPr/>
        </p:nvSpPr>
        <p:spPr>
          <a:xfrm>
            <a:off x="502920" y="4141851"/>
            <a:ext cx="11183111" cy="9525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502920" y="4151376"/>
            <a:ext cx="11183111" cy="484632"/>
          </a:xfrm>
          <a:prstGeom prst="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594360" y="4224528"/>
            <a:ext cx="1956816" cy="39319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222B35"/>
                </a:solidFill>
                <a:latin typeface="Malgun Gothic"/>
              </a:rPr>
              <a:t>§7 선택 프로토콜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2697480" y="4224528"/>
            <a:ext cx="4471416" cy="39319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222B35"/>
                </a:solidFill>
                <a:latin typeface="Malgun Gothic"/>
              </a:rPr>
              <a:t>게이트를 val loss → clean skill로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7315200" y="4224528"/>
            <a:ext cx="2231136" cy="39319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222B35"/>
                </a:solidFill>
                <a:latin typeface="Malgun Gothic"/>
              </a:rPr>
              <a:t>fig_progression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9692640" y="4224528"/>
            <a:ext cx="1938527" cy="39319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222B35"/>
                </a:solidFill>
                <a:latin typeface="Malgun Gothic"/>
              </a:rPr>
              <a:t>9</a:t>
            </a:r>
          </a:p>
        </p:txBody>
      </p:sp>
      <p:sp>
        <p:nvSpPr>
          <p:cNvPr id="47" name="Rectangle 46"/>
          <p:cNvSpPr/>
          <p:nvPr/>
        </p:nvSpPr>
        <p:spPr>
          <a:xfrm>
            <a:off x="502920" y="4626483"/>
            <a:ext cx="11183111" cy="9525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594360" y="4709160"/>
            <a:ext cx="1956816" cy="39319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222B35"/>
                </a:solidFill>
                <a:latin typeface="Malgun Gothic"/>
              </a:rPr>
              <a:t>§8 배치 가능한가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2697480" y="4709160"/>
            <a:ext cx="4471416" cy="39319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222B35"/>
                </a:solidFill>
                <a:latin typeface="Malgun Gothic"/>
              </a:rPr>
              <a:t>CPU p99 6.4 ms · conformal 8/8 승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7315200" y="4709160"/>
            <a:ext cx="2231136" cy="39319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222B35"/>
                </a:solidFill>
                <a:latin typeface="Malgun Gothic"/>
              </a:rPr>
              <a:t>—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9692640" y="4709160"/>
            <a:ext cx="1938527" cy="39319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222B35"/>
                </a:solidFill>
                <a:latin typeface="Malgun Gothic"/>
              </a:rPr>
              <a:t>16</a:t>
            </a:r>
          </a:p>
        </p:txBody>
      </p:sp>
      <p:sp>
        <p:nvSpPr>
          <p:cNvPr id="52" name="Rectangle 51"/>
          <p:cNvSpPr/>
          <p:nvPr/>
        </p:nvSpPr>
        <p:spPr>
          <a:xfrm>
            <a:off x="502920" y="5111115"/>
            <a:ext cx="11183111" cy="9525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502920" y="5120640"/>
            <a:ext cx="11183111" cy="484632"/>
          </a:xfrm>
          <a:prstGeom prst="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594360" y="5193792"/>
            <a:ext cx="1956816" cy="39319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222B35"/>
                </a:solidFill>
                <a:latin typeface="Malgun Gothic"/>
              </a:rPr>
              <a:t>§9 남은 개선 여지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2697480" y="5193792"/>
            <a:ext cx="4471416" cy="39319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222B35"/>
                </a:solidFill>
                <a:latin typeface="Malgun Gothic"/>
              </a:rPr>
              <a:t>레버 3종: reach · 원 kHz Mirnov · NBI 토크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7315200" y="5193792"/>
            <a:ext cx="2231136" cy="39319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222B35"/>
                </a:solidFill>
                <a:latin typeface="Malgun Gothic"/>
              </a:rPr>
              <a:t>—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9692640" y="5193792"/>
            <a:ext cx="1938527" cy="39319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222B35"/>
                </a:solidFill>
                <a:latin typeface="Malgun Gothic"/>
              </a:rPr>
              <a:t>17</a:t>
            </a:r>
          </a:p>
        </p:txBody>
      </p:sp>
      <p:sp>
        <p:nvSpPr>
          <p:cNvPr id="58" name="Rectangle 57"/>
          <p:cNvSpPr/>
          <p:nvPr/>
        </p:nvSpPr>
        <p:spPr>
          <a:xfrm>
            <a:off x="502920" y="5595747"/>
            <a:ext cx="11183111" cy="9525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594360" y="5678424"/>
            <a:ext cx="1956816" cy="39319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222B35"/>
                </a:solidFill>
                <a:latin typeface="Malgun Gothic"/>
              </a:rPr>
              <a:t>§10–11 한계·결론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2697480" y="5678424"/>
            <a:ext cx="4471416" cy="39319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222B35"/>
                </a:solidFill>
                <a:latin typeface="Malgun Gothic"/>
              </a:rPr>
              <a:t>두 주장(오프라인 vs 인과)의 분리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7315200" y="5678424"/>
            <a:ext cx="2231136" cy="39319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222B35"/>
                </a:solidFill>
                <a:latin typeface="Malgun Gothic"/>
              </a:rPr>
              <a:t>표 stress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9692640" y="5678424"/>
            <a:ext cx="1938527" cy="39319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222B35"/>
                </a:solidFill>
                <a:latin typeface="Malgun Gothic"/>
              </a:rPr>
              <a:t>18</a:t>
            </a:r>
          </a:p>
        </p:txBody>
      </p:sp>
      <p:sp>
        <p:nvSpPr>
          <p:cNvPr id="63" name="Rectangle 62"/>
          <p:cNvSpPr/>
          <p:nvPr/>
        </p:nvSpPr>
        <p:spPr>
          <a:xfrm>
            <a:off x="502920" y="6080379"/>
            <a:ext cx="11183111" cy="9525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Rounded Rectangle 63"/>
          <p:cNvSpPr/>
          <p:nvPr/>
        </p:nvSpPr>
        <p:spPr>
          <a:xfrm>
            <a:off x="502920" y="5632704"/>
            <a:ext cx="11183112" cy="713232"/>
          </a:xfrm>
          <a:prstGeom prst="roundRect">
            <a:avLst/>
          </a:prstGeom>
          <a:solidFill>
            <a:srgbClr val="1333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777240" y="5724144"/>
            <a:ext cx="10634472" cy="53035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1" i="0">
                <a:solidFill>
                  <a:srgbClr val="1B9E8A"/>
                </a:solidFill>
                <a:latin typeface="Malgun Gothic"/>
              </a:rPr>
              <a:t>이 덱을 쓰는 법 — </a:t>
            </a:r>
            <a:r>
              <a:rPr sz="1300" b="0" i="0">
                <a:solidFill>
                  <a:srgbClr val="FFFFFF"/>
                </a:solidFill>
                <a:latin typeface="Malgun Gothic"/>
              </a:rPr>
              <a:t>논문의 한 절을 쓸 차례가 되면 대응 슬라이드를 열고 카드의 수치를 그대로 인용한다. 수치를 고쳐야 하면 먼저 collect_paper_numbers.py를 돌려 paper_numbers.json을 갱신한다.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201168" cy="1170432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82880"/>
            <a:ext cx="1124712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C0392B"/>
                </a:solidFill>
                <a:latin typeface="Malgun Gothic"/>
              </a:rPr>
              <a:t>논문의 중심 논리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5488" y="457200"/>
            <a:ext cx="11338560" cy="65836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2700" b="1" i="0">
                <a:solidFill>
                  <a:srgbClr val="13335F"/>
                </a:solidFill>
                <a:latin typeface="Malgun Gothic"/>
              </a:rPr>
              <a:t>두 개의 주장을 절대 뭉개지 말 것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1078992"/>
            <a:ext cx="11201400" cy="25400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731520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AA5B1"/>
                </a:solidFill>
                <a:latin typeface="Malgun Gothic"/>
              </a:rPr>
              <a:t>KSTAR CES Nowcasting — 다중진단 기반 CES 결측 구간 예측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455664"/>
            <a:ext cx="1097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 i="0">
                <a:solidFill>
                  <a:srgbClr val="9AA5B1"/>
                </a:solidFill>
                <a:latin typeface="Malgun Gothic"/>
              </a:rPr>
              <a:t>2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920" y="1325880"/>
            <a:ext cx="11183112" cy="402336"/>
          </a:xfrm>
          <a:prstGeom prst="rect">
            <a:avLst/>
          </a:prstGeom>
          <a:solidFill>
            <a:srgbClr val="1333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94360" y="1389888"/>
            <a:ext cx="4014216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FFFFFF"/>
                </a:solidFill>
                <a:latin typeface="Malgun Gothic"/>
              </a:rPr>
              <a:t>평가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754880" y="1389888"/>
            <a:ext cx="3465576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FFFFFF"/>
                </a:solidFill>
                <a:latin typeface="Malgun Gothic"/>
              </a:rPr>
              <a:t>PCHIP 대비 (오프라인 · 미래 사용)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366760" y="1389888"/>
            <a:ext cx="3264408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FFFFFF"/>
                </a:solidFill>
                <a:latin typeface="Malgun Gothic"/>
              </a:rPr>
              <a:t>persistence 대비 (인과)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94360" y="1801368"/>
            <a:ext cx="4014216" cy="42062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 i="0">
                <a:solidFill>
                  <a:srgbClr val="222B35"/>
                </a:solidFill>
                <a:latin typeface="Malgun Gothic"/>
              </a:rPr>
              <a:t>무작위 분할 · 관측 지점 (헤드라인)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754880" y="1801368"/>
            <a:ext cx="3465576" cy="42062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2E9E5B"/>
                </a:solidFill>
                <a:latin typeface="Malgun Gothic"/>
              </a:rPr>
              <a:t>+0.18~+0.28,  4/4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366760" y="1801368"/>
            <a:ext cx="3264408" cy="42062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 i="0">
                <a:solidFill>
                  <a:srgbClr val="222B35"/>
                </a:solidFill>
                <a:latin typeface="Malgun Gothic"/>
              </a:rPr>
              <a:t>+0.35~+0.42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2920" y="2230755"/>
            <a:ext cx="11183112" cy="9525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02920" y="2240280"/>
            <a:ext cx="11183112" cy="512064"/>
          </a:xfrm>
          <a:prstGeom prst="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94360" y="2313432"/>
            <a:ext cx="4014216" cy="42062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 i="0">
                <a:solidFill>
                  <a:srgbClr val="222B35"/>
                </a:solidFill>
                <a:latin typeface="Malgun Gothic"/>
              </a:rPr>
              <a:t>결측 지점으로 재가중 (§6.4)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754880" y="2313432"/>
            <a:ext cx="3465576" cy="42062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C0392B"/>
                </a:solidFill>
                <a:latin typeface="Malgun Gothic"/>
              </a:rPr>
              <a:t>+0.06~+0.21,  1/4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366760" y="2313432"/>
            <a:ext cx="3264408" cy="42062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2E9E5B"/>
                </a:solidFill>
                <a:latin typeface="Malgun Gothic"/>
              </a:rPr>
              <a:t>+0.29,  4/4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02920" y="2742819"/>
            <a:ext cx="11183112" cy="9525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94360" y="2825496"/>
            <a:ext cx="4014216" cy="42062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 i="0">
                <a:solidFill>
                  <a:srgbClr val="222B35"/>
                </a:solidFill>
                <a:latin typeface="Malgun Gothic"/>
              </a:rPr>
              <a:t>시간 캠페인 분할 (§6.5)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754880" y="2825496"/>
            <a:ext cx="3465576" cy="42062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C0392B"/>
                </a:solidFill>
                <a:latin typeface="Malgun Gothic"/>
              </a:rPr>
              <a:t>−0.15~+0.05,  0/4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366760" y="2825496"/>
            <a:ext cx="3264408" cy="42062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 i="0">
                <a:solidFill>
                  <a:srgbClr val="222B35"/>
                </a:solidFill>
                <a:latin typeface="Malgun Gothic"/>
              </a:rPr>
              <a:t>+0.12~+0.28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02920" y="3254883"/>
            <a:ext cx="11183112" cy="9525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502920" y="3310128"/>
            <a:ext cx="5513832" cy="1874519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502920" y="3310128"/>
            <a:ext cx="91440" cy="1874519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40664" y="3419856"/>
            <a:ext cx="5148072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C0392B"/>
                </a:solidFill>
                <a:latin typeface="Malgun Gothic"/>
              </a:rPr>
              <a:t>본문에 쓸 문장 형태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40664" y="3822191"/>
            <a:ext cx="5129784" cy="1234439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· 헤드라인(관측 모집단 한정):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  “사전등록된 보간들을 이긴다”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· 배치 주장: “진짜 결측·도메인 내 시점에서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  어떤 인과적 CES 전용 방법보다 유의하게 낫다”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· 두 주장은 상대가 다르다. 뭉개는 것이 이 결과가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  과대 판매되는 주된 경로다(§11이 명시).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172200" y="3310128"/>
            <a:ext cx="5513832" cy="1874519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6172200" y="3310128"/>
            <a:ext cx="91440" cy="1874519"/>
          </a:xfrm>
          <a:prstGeom prst="rect">
            <a:avLst/>
          </a:prstGeom>
          <a:solidFill>
            <a:srgbClr val="2B6C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409944" y="3419856"/>
            <a:ext cx="5148072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2B6CB0"/>
                </a:solidFill>
                <a:latin typeface="Malgun Gothic"/>
              </a:rPr>
              <a:t>novelty는 부재가 아니라 확장으로 (§1–2)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409944" y="3822191"/>
            <a:ext cx="5129784" cy="1234439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① 계보 인정 — NN 기반 CES/CER 피팅(JET ’93~),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   교차진단 추론, 시간 밀도화(COMPASS 초해상)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② 3축 확장 — 전자→희소 이온 / 동시각·무기억→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   인과 이력 / 재구성 가정→사전등록 타겟별 검정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③ 한정은 한 문장만 — “우리가 아는 한 이 조합은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   아직 다뤄지지 않았다”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502920" y="5349240"/>
            <a:ext cx="11183112" cy="713232"/>
          </a:xfrm>
          <a:prstGeom prst="roundRect">
            <a:avLst/>
          </a:prstGeom>
          <a:solidFill>
            <a:srgbClr val="1333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777240" y="5440679"/>
            <a:ext cx="10634472" cy="53035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300"/>
              </a:spcAft>
            </a:pPr>
            <a:r>
              <a:rPr sz="1350" b="1" i="0">
                <a:solidFill>
                  <a:srgbClr val="1B9E8A"/>
                </a:solidFill>
                <a:latin typeface="Malgun Gothic"/>
              </a:rPr>
              <a:t>한 문장 — </a:t>
            </a:r>
            <a:r>
              <a:rPr sz="1350" b="0" i="0">
                <a:solidFill>
                  <a:srgbClr val="FFFFFF"/>
                </a:solidFill>
                <a:latin typeface="Malgun Gothic"/>
              </a:rPr>
              <a:t>온라인 가상 센서는 미래를 읽는 보간이 아니라 persistence와 경쟁한다. 그 비교에서 이 나우캐스터는 중요한 지점에서 작동한다.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201168" cy="1170432"/>
          </a:xfrm>
          <a:prstGeom prst="rect">
            <a:avLst/>
          </a:prstGeom>
          <a:solidFill>
            <a:srgbClr val="1B9E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82880"/>
            <a:ext cx="1124712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1B9E8A"/>
                </a:solidFill>
                <a:latin typeface="Malgun Gothic"/>
              </a:rPr>
              <a:t>§3  sec:data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5488" y="457200"/>
            <a:ext cx="11338560" cy="65836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2700" b="1" i="0">
                <a:solidFill>
                  <a:srgbClr val="13335F"/>
                </a:solidFill>
                <a:latin typeface="Malgun Gothic"/>
              </a:rPr>
              <a:t>데이터와 문제 설정 — 논문 §3.1–3.3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1078992"/>
            <a:ext cx="11201400" cy="25400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731520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AA5B1"/>
                </a:solidFill>
                <a:latin typeface="Malgun Gothic"/>
              </a:rPr>
              <a:t>KSTAR CES Nowcasting — 다중진단 기반 CES 결측 구간 예측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455664"/>
            <a:ext cx="1097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 i="0">
                <a:solidFill>
                  <a:srgbClr val="9AA5B1"/>
                </a:solidFill>
                <a:latin typeface="Malgun Gothic"/>
              </a:rPr>
              <a:t>3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" y="1325880"/>
            <a:ext cx="3657600" cy="2331720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02920" y="1325880"/>
            <a:ext cx="91440" cy="2331720"/>
          </a:xfrm>
          <a:prstGeom prst="rect">
            <a:avLst/>
          </a:prstGeom>
          <a:solidFill>
            <a:srgbClr val="1B9E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40664" y="1435607"/>
            <a:ext cx="329184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1B9E8A"/>
                </a:solidFill>
                <a:latin typeface="Malgun Gothic"/>
              </a:rPr>
              <a:t>데이터셋 (§3.1)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40664" y="1837943"/>
            <a:ext cx="3273552" cy="1691639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22B35"/>
                </a:solidFill>
                <a:latin typeface="Malgun Gothic"/>
              </a:rPr>
              <a:t>· 641개 KSTAR 방전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22B35"/>
                </a:solidFill>
                <a:latin typeface="Malgun Gothic"/>
              </a:rPr>
              <a:t>  shot 30801–32751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22B35"/>
                </a:solidFill>
                <a:latin typeface="Malgun Gothic"/>
              </a:rPr>
              <a:t>· H-mode ELM 억제(RMP) 구간,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22B35"/>
                </a:solidFill>
                <a:latin typeface="Malgun Gothic"/>
              </a:rPr>
              <a:t>  Dα 활동 부근 ~100 ms 절단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22B35"/>
                </a:solidFill>
                <a:latin typeface="Malgun Gothic"/>
              </a:rPr>
              <a:t>· 공통 10 ms 격자: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22B35"/>
                </a:solidFill>
                <a:latin typeface="Malgun Gothic"/>
              </a:rPr>
              <a:t>  BES 9ch + ECEI 4ch + MC 2ch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22B35"/>
                </a:solidFill>
                <a:latin typeface="Malgun Gothic"/>
              </a:rPr>
              <a:t>  + time + [CES_TI, CES_VT]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22B35"/>
                </a:solidFill>
                <a:latin typeface="Malgun Gothic"/>
              </a:rPr>
              <a:t>· 결측은 타겟별로 독립: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22B35"/>
                </a:solidFill>
                <a:latin typeface="Malgun Gothic"/>
              </a:rPr>
              <a:t>  Tᵢ ≈ 8% · V_rot ≈ 24%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315968" y="1325880"/>
            <a:ext cx="3657600" cy="2331720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315968" y="1325880"/>
            <a:ext cx="91440" cy="2331720"/>
          </a:xfrm>
          <a:prstGeom prst="rect">
            <a:avLst/>
          </a:prstGeom>
          <a:solidFill>
            <a:srgbClr val="2B6C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553712" y="1435607"/>
            <a:ext cx="329184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2B6CB0"/>
                </a:solidFill>
                <a:latin typeface="Malgun Gothic"/>
              </a:rPr>
              <a:t>샘플 구성 (§3.2)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53712" y="1837943"/>
            <a:ext cx="3273552" cy="1691639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22B35"/>
                </a:solidFill>
                <a:latin typeface="Malgun Gothic"/>
              </a:rPr>
              <a:t>W = 4, 타겟 행이 윈도의 마지막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22B35"/>
                </a:solidFill>
                <a:latin typeface="Malgun Gothic"/>
              </a:rPr>
              <a:t>· bes (W,9) · ecei (W,4)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22B35"/>
                </a:solidFill>
                <a:latin typeface="Malgun Gothic"/>
              </a:rPr>
              <a:t>· mc (W,2) · time_features (W,4)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22B35"/>
                </a:solidFill>
                <a:latin typeface="Malgun Gothic"/>
              </a:rPr>
              <a:t>· ces_history (W,4)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22B35"/>
                </a:solidFill>
                <a:latin typeface="Malgun Gothic"/>
              </a:rPr>
              <a:t>· 타겟 (2) + 관측 마스크 m (2)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22B35"/>
                </a:solidFill>
                <a:latin typeface="Malgun Gothic"/>
              </a:rPr>
              <a:t>시간 특징 = lookback·delta 초와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22B35"/>
                </a:solidFill>
                <a:latin typeface="Malgun Gothic"/>
              </a:rPr>
              <a:t>각 log1p. 과거 CES의 신뢰도는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22B35"/>
                </a:solidFill>
                <a:latin typeface="Malgun Gothic"/>
              </a:rPr>
              <a:t>10 ms 전인지 200 ms 전인지에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22B35"/>
                </a:solidFill>
                <a:latin typeface="Malgun Gothic"/>
              </a:rPr>
              <a:t>강하게 의존하기 때문.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129016" y="1325880"/>
            <a:ext cx="3557016" cy="2331720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129016" y="1325880"/>
            <a:ext cx="91440" cy="2331720"/>
          </a:xfrm>
          <a:prstGeom prst="rect">
            <a:avLst/>
          </a:prstGeom>
          <a:solidFill>
            <a:srgbClr val="E874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366760" y="1435607"/>
            <a:ext cx="3191256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E8743B"/>
                </a:solidFill>
                <a:latin typeface="Malgun Gothic"/>
              </a:rPr>
              <a:t>설계 원칙 3종 (§3.3)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366760" y="1837943"/>
            <a:ext cx="3172968" cy="1691639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22B35"/>
                </a:solidFill>
                <a:latin typeface="Malgun Gothic"/>
              </a:rPr>
              <a:t>· 가짜 라벨 금지 — impute 없음.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22B35"/>
                </a:solidFill>
                <a:latin typeface="Malgun Gothic"/>
              </a:rPr>
              <a:t>  입력이 완전하고 CES 중 최소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22B35"/>
                </a:solidFill>
                <a:latin typeface="Malgun Gothic"/>
              </a:rPr>
              <a:t>  하나가 관측된 행만 유지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22B35"/>
                </a:solidFill>
                <a:latin typeface="Malgun Gothic"/>
              </a:rPr>
              <a:t>· 타겟별 마스킹 손실 —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22B35"/>
                </a:solidFill>
                <a:latin typeface="Malgun Gothic"/>
              </a:rPr>
              <a:t>  ℒ = Σₖ mₖ(ŷₖ−yₖ)² / Σₖ mₖ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22B35"/>
                </a:solidFill>
                <a:latin typeface="Malgun Gothic"/>
              </a:rPr>
              <a:t>  (옛 필터는 라벨 28%를 폐기)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22B35"/>
                </a:solidFill>
                <a:latin typeface="Malgun Gothic"/>
              </a:rPr>
              <a:t>· 누수 방지 3중 — 파일 단위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22B35"/>
                </a:solidFill>
                <a:latin typeface="Malgun Gothic"/>
              </a:rPr>
              <a:t>  분할 · 학습 파일 전용 z-score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22B35"/>
                </a:solidFill>
                <a:latin typeface="Malgun Gothic"/>
              </a:rPr>
              <a:t>  · 타겟 시점 완전 마스킹</a:t>
            </a:r>
          </a:p>
        </p:txBody>
      </p:sp>
      <p:pic>
        <p:nvPicPr>
          <p:cNvPr id="22" name="Picture 21" descr="fig_missin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3876733"/>
            <a:ext cx="6675120" cy="2167774"/>
          </a:xfrm>
          <a:prstGeom prst="rect">
            <a:avLst/>
          </a:prstGeom>
        </p:spPr>
      </p:pic>
      <p:sp>
        <p:nvSpPr>
          <p:cNvPr id="23" name="Rounded Rectangle 22"/>
          <p:cNvSpPr/>
          <p:nvPr/>
        </p:nvSpPr>
        <p:spPr>
          <a:xfrm>
            <a:off x="7360920" y="3794760"/>
            <a:ext cx="4325112" cy="2331720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7360920" y="3794760"/>
            <a:ext cx="91440" cy="2331720"/>
          </a:xfrm>
          <a:prstGeom prst="rect">
            <a:avLst/>
          </a:prstGeom>
          <a:solidFill>
            <a:srgbClr val="1333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598664" y="3904488"/>
            <a:ext cx="3959352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13335F"/>
                </a:solidFill>
                <a:latin typeface="Malgun Gothic"/>
              </a:rPr>
              <a:t>이 그림이 논문에서 하는 일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598664" y="4306824"/>
            <a:ext cx="3941064" cy="1691639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22B35"/>
                </a:solidFill>
                <a:latin typeface="Malgun Gothic"/>
              </a:rPr>
              <a:t>fig_missing = 논문 그림 1.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22B35"/>
                </a:solidFill>
                <a:latin typeface="Malgun Gothic"/>
              </a:rPr>
              <a:t/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22B35"/>
                </a:solidFill>
                <a:latin typeface="Malgun Gothic"/>
              </a:rPr>
              <a:t>Tᵢ와 V_rot이 독립적으로 결측된다는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22B35"/>
                </a:solidFill>
                <a:latin typeface="Malgun Gothic"/>
              </a:rPr>
              <a:t>사실이 “행 필터링이 아니라 타겟별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22B35"/>
                </a:solidFill>
                <a:latin typeface="Malgun Gothic"/>
              </a:rPr>
              <a:t>마스킹”이라는 설계 논거를 그림 하나로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22B35"/>
                </a:solidFill>
                <a:latin typeface="Malgun Gothic"/>
              </a:rPr>
              <a:t>세운다.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22B35"/>
                </a:solidFill>
                <a:latin typeface="Malgun Gothic"/>
              </a:rPr>
              <a:t/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22B35"/>
                </a:solidFill>
                <a:latin typeface="Malgun Gothic"/>
              </a:rPr>
              <a:t>이 그림이 없으면 §3.3의 마스킹 손실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22B35"/>
                </a:solidFill>
                <a:latin typeface="Malgun Gothic"/>
              </a:rPr>
              <a:t>항목은 설계 취향처럼 읽힌다.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201168" cy="1170432"/>
          </a:xfrm>
          <a:prstGeom prst="rect">
            <a:avLst/>
          </a:prstGeom>
          <a:solidFill>
            <a:srgbClr val="E874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82880"/>
            <a:ext cx="1124712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E8743B"/>
                </a:solidFill>
                <a:latin typeface="Malgun Gothic"/>
              </a:rPr>
              <a:t>§3.4  sec:stuck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5488" y="457200"/>
            <a:ext cx="11338560" cy="65836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2700" b="1" i="0">
                <a:solidFill>
                  <a:srgbClr val="13335F"/>
                </a:solidFill>
                <a:latin typeface="Malgun Gothic"/>
              </a:rPr>
              <a:t>데이터 품질 감사 — 유지(forward-fill)된 V_rot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1078992"/>
            <a:ext cx="11201400" cy="25400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731520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AA5B1"/>
                </a:solidFill>
                <a:latin typeface="Malgun Gothic"/>
              </a:rPr>
              <a:t>KSTAR CES Nowcasting — 다중진단 기반 CES 결측 구간 예측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455664"/>
            <a:ext cx="1097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 i="0">
                <a:solidFill>
                  <a:srgbClr val="9AA5B1"/>
                </a:solidFill>
                <a:latin typeface="Malgun Gothic"/>
              </a:rPr>
              <a:t>4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" y="1325880"/>
            <a:ext cx="3611880" cy="2148840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02920" y="1325880"/>
            <a:ext cx="91440" cy="2148840"/>
          </a:xfrm>
          <a:prstGeom prst="rect">
            <a:avLst/>
          </a:prstGeom>
          <a:solidFill>
            <a:srgbClr val="E874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40664" y="1435607"/>
            <a:ext cx="324612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E8743B"/>
                </a:solidFill>
                <a:latin typeface="Malgun Gothic"/>
              </a:rPr>
              <a:t>① 무엇을 발견했나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40664" y="1837943"/>
            <a:ext cx="3227832" cy="1508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150" b="0" i="0">
                <a:solidFill>
                  <a:srgbClr val="222B35"/>
                </a:solidFill>
                <a:latin typeface="Malgun Gothic"/>
              </a:rPr>
              <a:t>관측된 V_rot 값의 54%가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150" b="0" i="0">
                <a:solidFill>
                  <a:srgbClr val="222B35"/>
                </a:solidFill>
                <a:latin typeface="Malgun Gothic"/>
              </a:rPr>
              <a:t>계기 유지값 — 같은 연속 블록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150" b="0" i="0">
                <a:solidFill>
                  <a:srgbClr val="222B35"/>
                </a:solidFill>
                <a:latin typeface="Malgun Gothic"/>
              </a:rPr>
              <a:t>안에서 직전 관측과 비트 단위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150" b="0" i="0">
                <a:solidFill>
                  <a:srgbClr val="222B35"/>
                </a:solidFill>
                <a:latin typeface="Malgun Gothic"/>
              </a:rPr>
              <a:t>동일한 반복.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150" b="0" i="0">
                <a:solidFill>
                  <a:srgbClr val="222B35"/>
                </a:solidFill>
                <a:latin typeface="Malgun Gothic"/>
              </a:rPr>
              <a:t>최대 1,214행 연속,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150" b="0" i="0">
                <a:solidFill>
                  <a:srgbClr val="222B35"/>
                </a:solidFill>
                <a:latin typeface="Malgun Gothic"/>
              </a:rPr>
              <a:t>641개 중 499개 파일 영향.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150" b="0" i="0">
                <a:solidFill>
                  <a:srgbClr val="222B35"/>
                </a:solidFill>
                <a:latin typeface="Malgun Gothic"/>
              </a:rPr>
              <a:t>Tᵢ는 영향 없음(0.0%).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315968" y="1325880"/>
            <a:ext cx="3611880" cy="2148840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315968" y="1325880"/>
            <a:ext cx="91440" cy="2148840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553712" y="1435607"/>
            <a:ext cx="324612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C0392B"/>
                </a:solidFill>
                <a:latin typeface="Malgun Gothic"/>
              </a:rPr>
              <a:t>② 평가에서 제외한 결과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53712" y="1837943"/>
            <a:ext cx="3227832" cy="1508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150" b="0" i="0">
                <a:solidFill>
                  <a:srgbClr val="222B35"/>
                </a:solidFill>
                <a:latin typeface="Malgun Gothic"/>
              </a:rPr>
              <a:t>유지값은 전 구간에서 채점에서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150" b="0" i="0">
                <a:solidFill>
                  <a:srgbClr val="222B35"/>
                </a:solidFill>
                <a:latin typeface="Malgun Gothic"/>
              </a:rPr>
              <a:t>제외한다.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150" b="0" i="0">
                <a:solidFill>
                  <a:srgbClr val="222B35"/>
                </a:solidFill>
                <a:latin typeface="Malgun Gothic"/>
              </a:rPr>
              <a:t>물리 단위 V_rot RMSE가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150" b="0" i="0">
                <a:solidFill>
                  <a:srgbClr val="222B35"/>
                </a:solidFill>
                <a:latin typeface="Malgun Gothic"/>
              </a:rPr>
              <a:t>35–55% 커진다(22–33 → 35–46).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150" b="0" i="0">
                <a:solidFill>
                  <a:srgbClr val="222B35"/>
                </a:solidFill>
                <a:latin typeface="Malgun Gothic"/>
              </a:rPr>
              <a:t>유지 타겟의 기준선 오차가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150" b="0" i="0">
                <a:solidFill>
                  <a:srgbClr val="222B35"/>
                </a:solidFill>
                <a:latin typeface="Malgun Gothic"/>
              </a:rPr>
              <a:t>0에 가까웠기 때문 — 보정은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150" b="0" i="0">
                <a:solidFill>
                  <a:srgbClr val="222B35"/>
                </a:solidFill>
                <a:latin typeface="Malgun Gothic"/>
              </a:rPr>
              <a:t>우리에게 불리한 방향이다.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129016" y="1325880"/>
            <a:ext cx="3557016" cy="2148840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129016" y="1325880"/>
            <a:ext cx="91440" cy="2148840"/>
          </a:xfrm>
          <a:prstGeom prst="rect">
            <a:avLst/>
          </a:prstGeom>
          <a:solidFill>
            <a:srgbClr val="2E9E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366760" y="1435607"/>
            <a:ext cx="3191256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2E9E5B"/>
                </a:solidFill>
                <a:latin typeface="Malgun Gothic"/>
              </a:rPr>
              <a:t>③ 학습도 오염시킨다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366760" y="1837943"/>
            <a:ext cx="3172968" cy="1508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150" b="0" i="0">
                <a:solidFill>
                  <a:srgbClr val="222B35"/>
                </a:solidFill>
                <a:latin typeface="Malgun Gothic"/>
              </a:rPr>
              <a:t>학습에서도 제거하면(타겟·이력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150" b="0" i="0">
                <a:solidFill>
                  <a:srgbClr val="222B35"/>
                </a:solidFill>
                <a:latin typeface="Malgun Gothic"/>
              </a:rPr>
              <a:t>값과 플래그·정규화 통계·보간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150" b="0" i="0">
                <a:solidFill>
                  <a:srgbClr val="222B35"/>
                </a:solidFill>
                <a:latin typeface="Malgun Gothic"/>
              </a:rPr>
              <a:t>앵커 전부) 진짜 측정 V_rot이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150" b="0" i="0">
                <a:solidFill>
                  <a:srgbClr val="222B35"/>
                </a:solidFill>
                <a:latin typeface="Malgun Gothic"/>
              </a:rPr>
              <a:t>4개 분할 전부에서 개선: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150" b="0" i="0">
                <a:solidFill>
                  <a:srgbClr val="222B35"/>
                </a:solidFill>
                <a:latin typeface="Malgun Gothic"/>
              </a:rPr>
              <a:t>평균 +0.039 (MSE ≈4% 감소),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150" b="0" i="0">
                <a:solidFill>
                  <a:srgbClr val="222B35"/>
                </a:solidFill>
                <a:latin typeface="Malgun Gothic"/>
              </a:rPr>
              <a:t>3/4 CI가 0 제외, 역방향 없음.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150" b="0" i="0">
                <a:solidFill>
                  <a:srgbClr val="222B35"/>
                </a:solidFill>
                <a:latin typeface="Malgun Gothic"/>
              </a:rPr>
              <a:t>Tᵢ는 무영향(+0.004).</a:t>
            </a:r>
          </a:p>
        </p:txBody>
      </p:sp>
      <p:pic>
        <p:nvPicPr>
          <p:cNvPr id="22" name="Picture 21" descr="fig_stuckfree_pai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80013" y="3611880"/>
            <a:ext cx="3046614" cy="2331720"/>
          </a:xfrm>
          <a:prstGeom prst="rect">
            <a:avLst/>
          </a:prstGeom>
        </p:spPr>
      </p:pic>
      <p:sp>
        <p:nvSpPr>
          <p:cNvPr id="23" name="Rounded Rectangle 22"/>
          <p:cNvSpPr/>
          <p:nvPr/>
        </p:nvSpPr>
        <p:spPr>
          <a:xfrm>
            <a:off x="7086600" y="3611880"/>
            <a:ext cx="4599432" cy="2487168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7086600" y="3611880"/>
            <a:ext cx="91440" cy="2487168"/>
          </a:xfrm>
          <a:prstGeom prst="rect">
            <a:avLst/>
          </a:prstGeom>
          <a:solidFill>
            <a:srgbClr val="1333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324344" y="3721608"/>
            <a:ext cx="4233672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13335F"/>
                </a:solidFill>
                <a:latin typeface="Malgun Gothic"/>
              </a:rPr>
              <a:t>본문에 함께 쓸 두 문장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324344" y="4123944"/>
            <a:ext cx="4215384" cy="184708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· 한 번도 시험된 적 없는 축에서 같은 효과가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  재현된다: 유지값 제거 이득이 W = 2,3,4,6,8에서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  +0.088 → +0.048 → +0.035 → +0.003 → +0.006로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  단조 감소. 유지값은 긴 window에 상을 준 게 아니라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  짧은 window를 벌하고 있었다.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· 헤드라인은 이 처리에 불변이다: 재학습해도 Tᵢ는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  4/4 PASS(+0.184 / +0.291 / +0.238 / +0.221),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  V_rot 점추정은 전부 상승하나 3/4은 여전히 n.s.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201168" cy="1170432"/>
          </a:xfrm>
          <a:prstGeom prst="rect">
            <a:avLst/>
          </a:prstGeom>
          <a:solidFill>
            <a:srgbClr val="2B6C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82880"/>
            <a:ext cx="1124712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2B6CB0"/>
                </a:solidFill>
                <a:latin typeface="Malgun Gothic"/>
              </a:rPr>
              <a:t>§4  sec:model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5488" y="457200"/>
            <a:ext cx="11338560" cy="65836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2700" b="1" i="0">
                <a:solidFill>
                  <a:srgbClr val="13335F"/>
                </a:solidFill>
                <a:latin typeface="Malgun Gothic"/>
              </a:rPr>
              <a:t>모델 — 201,258 파라미터, 병목은 용량이 아니라 정보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1078992"/>
            <a:ext cx="11201400" cy="25400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731520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AA5B1"/>
                </a:solidFill>
                <a:latin typeface="Malgun Gothic"/>
              </a:rPr>
              <a:t>KSTAR CES Nowcasting — 다중진단 기반 CES 결측 구간 예측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455664"/>
            <a:ext cx="1097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 i="0">
                <a:solidFill>
                  <a:srgbClr val="9AA5B1"/>
                </a:solidFill>
                <a:latin typeface="Malgun Gothic"/>
              </a:rPr>
              <a:t>5</a:t>
            </a:r>
          </a:p>
        </p:txBody>
      </p:sp>
      <p:pic>
        <p:nvPicPr>
          <p:cNvPr id="10" name="Picture 9" descr="fig_architectu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019693"/>
            <a:ext cx="6035040" cy="3230094"/>
          </a:xfrm>
          <a:prstGeom prst="rect">
            <a:avLst/>
          </a:prstGeom>
        </p:spPr>
      </p:pic>
      <p:sp>
        <p:nvSpPr>
          <p:cNvPr id="11" name="Rounded Rectangle 10"/>
          <p:cNvSpPr/>
          <p:nvPr/>
        </p:nvSpPr>
        <p:spPr>
          <a:xfrm>
            <a:off x="6720840" y="1325880"/>
            <a:ext cx="4965192" cy="1417320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720840" y="1325880"/>
            <a:ext cx="91440" cy="1417320"/>
          </a:xfrm>
          <a:prstGeom prst="rect">
            <a:avLst/>
          </a:prstGeom>
          <a:solidFill>
            <a:srgbClr val="2B6C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958583" y="1435607"/>
            <a:ext cx="4599431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2B6CB0"/>
                </a:solidFill>
                <a:latin typeface="Malgun Gothic"/>
              </a:rPr>
              <a:t>진단별 인코더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58583" y="1837943"/>
            <a:ext cx="4581144" cy="7772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22B35"/>
                </a:solidFill>
                <a:latin typeface="Malgun Gothic"/>
              </a:rPr>
              <a:t>모달리티별(BES/ECEI/MC) 전용 시간 인지 1-D CNN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22B35"/>
                </a:solidFill>
                <a:latin typeface="Malgun Gothic"/>
              </a:rPr>
              <a:t>(Conv–BN–GELU 2블록, 전역 평균 풀링, 96차원).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22B35"/>
                </a:solidFill>
                <a:latin typeface="Malgun Gothic"/>
              </a:rPr>
              <a:t>시간 특징 전용 소형 CNN 하나 추가.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22B35"/>
                </a:solidFill>
                <a:latin typeface="Malgun Gothic"/>
              </a:rPr>
              <a:t>결측 제거로 샘플링이 불규칙해 순환 구조는 부적합.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720840" y="2798064"/>
            <a:ext cx="4965192" cy="1874519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720840" y="2798064"/>
            <a:ext cx="91440" cy="1874519"/>
          </a:xfrm>
          <a:prstGeom prst="rect">
            <a:avLst/>
          </a:prstGeom>
          <a:solidFill>
            <a:srgbClr val="1B9E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958583" y="2907792"/>
            <a:ext cx="4599431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1B9E8A"/>
                </a:solidFill>
                <a:latin typeface="Malgun Gothic"/>
              </a:rPr>
              <a:t>이력 인코더 — 관측 마스킹 어텐션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958583" y="3310128"/>
            <a:ext cx="4581144" cy="1234439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양방향 GRU(64) → 타겟별로 독립인 두 멀티헤드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가산 어텐션 readout.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softmax 이전에 그 타겟의 관측 플래그가 0인 시점을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−∞로 밀어, 어텐션 질량이 실제 측정된 행에만 놓인다.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= 보간의 귀납 편향을 파라미터 비용 0으로 주입.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윈도는 과거 전용 — 양방향성이 미래를 주지 않는다.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720840" y="4690872"/>
            <a:ext cx="4965192" cy="1435608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720840" y="4690872"/>
            <a:ext cx="91440" cy="1435608"/>
          </a:xfrm>
          <a:prstGeom prst="rect">
            <a:avLst/>
          </a:prstGeom>
          <a:solidFill>
            <a:srgbClr val="5B66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958583" y="4800600"/>
            <a:ext cx="4599431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5B6670"/>
                </a:solidFill>
                <a:latin typeface="Malgun Gothic"/>
              </a:rPr>
              <a:t>타겟별 라우팅 · 용량은 레버가 아니다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958583" y="5202936"/>
            <a:ext cx="4581144" cy="79552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 i="0">
                <a:solidFill>
                  <a:srgbClr val="222B35"/>
                </a:solidFill>
                <a:latin typeface="Malgun Gothic"/>
              </a:rPr>
              <a:t>Tᵢ 헤드 = 고속+시간+이력(72k) / V_rot 헤드 = 이력+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 i="0">
                <a:solidFill>
                  <a:srgbClr val="222B35"/>
                </a:solidFill>
                <a:latin typeface="Malgun Gothic"/>
              </a:rPr>
              <a:t>시간만(14k, 고속 차단 — §6.6이 근거). 출력은 정규화 단위.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 i="0">
                <a:solidFill>
                  <a:srgbClr val="222B35"/>
                </a:solidFill>
                <a:latin typeface="Malgun Gothic"/>
              </a:rPr>
              <a:t>~40회 통제 반복에서 용량 확대·복잡 스킵·추가 conv는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 i="0">
                <a:solidFill>
                  <a:srgbClr val="222B35"/>
                </a:solidFill>
                <a:latin typeface="Malgun Gothic"/>
              </a:rPr>
              <a:t>전부 무효였다(정규화 위치만이 안정성 전환점).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201168" cy="1170432"/>
          </a:xfrm>
          <a:prstGeom prst="rect">
            <a:avLst/>
          </a:prstGeom>
          <a:solidFill>
            <a:srgbClr val="1333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82880"/>
            <a:ext cx="1124712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13335F"/>
                </a:solidFill>
                <a:latin typeface="Malgun Gothic"/>
              </a:rPr>
              <a:t>§5  sec:eval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5488" y="457200"/>
            <a:ext cx="11338560" cy="65836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2700" b="1" i="0">
                <a:solidFill>
                  <a:srgbClr val="13335F"/>
                </a:solidFill>
                <a:latin typeface="Malgun Gothic"/>
              </a:rPr>
              <a:t>평가 방법론 — 스스로에게 불리하게 세운 bar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1078992"/>
            <a:ext cx="11201400" cy="25400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731520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AA5B1"/>
                </a:solidFill>
                <a:latin typeface="Malgun Gothic"/>
              </a:rPr>
              <a:t>KSTAR CES Nowcasting — 다중진단 기반 CES 결측 구간 예측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455664"/>
            <a:ext cx="1097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 i="0">
                <a:solidFill>
                  <a:srgbClr val="9AA5B1"/>
                </a:solidFill>
                <a:latin typeface="Malgun Gothic"/>
              </a:rPr>
              <a:t>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" y="1325880"/>
            <a:ext cx="5513832" cy="2148840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02920" y="1325880"/>
            <a:ext cx="91440" cy="2148840"/>
          </a:xfrm>
          <a:prstGeom prst="rect">
            <a:avLst/>
          </a:prstGeom>
          <a:solidFill>
            <a:srgbClr val="1333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40664" y="1435607"/>
            <a:ext cx="5148072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13335F"/>
                </a:solidFill>
                <a:latin typeface="Malgun Gothic"/>
              </a:rPr>
              <a:t>지표와 채점 모집단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40664" y="1837943"/>
            <a:ext cx="5129784" cy="1508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150" b="0" i="0">
                <a:solidFill>
                  <a:srgbClr val="222B35"/>
                </a:solidFill>
                <a:latin typeface="Malgun Gothic"/>
              </a:rPr>
              <a:t>· skill_PCHIP = 1 − MSE_model / MSE_PCHIP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150" b="0" i="0">
                <a:solidFill>
                  <a:srgbClr val="222B35"/>
                </a:solidFill>
                <a:latin typeface="Malgun Gothic"/>
              </a:rPr>
              <a:t>  (Murphy skill), 물리 단위로 역정규화 후 타겟별.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150" b="0" i="0">
                <a:solidFill>
                  <a:srgbClr val="222B35"/>
                </a:solidFill>
                <a:latin typeface="Malgun Gothic"/>
              </a:rPr>
              <a:t>· 모든 팔이 동일한 (파일, 행) 집합에서 동일한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150" b="0" i="0">
                <a:solidFill>
                  <a:srgbClr val="222B35"/>
                </a:solidFill>
                <a:latin typeface="Malgun Gothic"/>
              </a:rPr>
              <a:t>  타겟별 유지 마스크로 채점된다.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150" b="0" i="0">
                <a:solidFill>
                  <a:srgbClr val="222B35"/>
                </a:solidFill>
                <a:latin typeface="Malgun Gothic"/>
              </a:rPr>
              <a:t>· 보간은 타겟 자신의 값을 제외(누수 없음).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150" b="0" i="0">
                <a:solidFill>
                  <a:srgbClr val="222B35"/>
                </a:solidFill>
                <a:latin typeface="Malgun Gothic"/>
              </a:rPr>
              <a:t>· 세그먼트 경계를 넘지 않으며, 경계 너머가 필요한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150" b="0" i="0">
                <a:solidFill>
                  <a:srgbClr val="222B35"/>
                </a:solidFill>
                <a:latin typeface="Malgun Gothic"/>
              </a:rPr>
              <a:t>  시점은 persistence로 예측(PR2, 커버리지 불변).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72200" y="1325880"/>
            <a:ext cx="5513832" cy="2148840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172200" y="1325880"/>
            <a:ext cx="91440" cy="2148840"/>
          </a:xfrm>
          <a:prstGeom prst="rect">
            <a:avLst/>
          </a:prstGeom>
          <a:solidFill>
            <a:srgbClr val="2E9E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09944" y="1435607"/>
            <a:ext cx="5148072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2E9E5B"/>
                </a:solidFill>
                <a:latin typeface="Malgun Gothic"/>
              </a:rPr>
              <a:t>사전등록 PR1–PR4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9944" y="1837943"/>
            <a:ext cx="5129784" cy="1508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150" b="0" i="0">
                <a:solidFill>
                  <a:srgbClr val="222B35"/>
                </a:solidFill>
                <a:latin typeface="Malgun Gothic"/>
              </a:rPr>
              <a:t>PR1  헤드라인 상대는 PCHIP (사다리도 함께 보고)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150" b="0" i="0">
                <a:solidFill>
                  <a:srgbClr val="222B35"/>
                </a:solidFill>
                <a:latin typeface="Malgun Gothic"/>
              </a:rPr>
              <a:t>PR2  보간은 모델이 채점되는 모든 곳에서 예측,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150" b="0" i="0">
                <a:solidFill>
                  <a:srgbClr val="222B35"/>
                </a:solidFill>
                <a:latin typeface="Malgun Gothic"/>
              </a:rPr>
              <a:t>        미래 이웃이 없으면 persistence로 후퇴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150" b="0" i="0">
                <a:solidFill>
                  <a:srgbClr val="222B35"/>
                </a:solidFill>
                <a:latin typeface="Malgun Gothic"/>
              </a:rPr>
              <a:t>PR3  test 최소 규모 ≥15 shot, ≥3,000 Tᵢ 샘플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150" b="0" i="0">
                <a:solidFill>
                  <a:srgbClr val="222B35"/>
                </a:solidFill>
                <a:latin typeface="Malgun Gothic"/>
              </a:rPr>
              <a:t>PR4  유의 = shot 군집 bootstrap 95% CI가 0 제외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150" b="0" i="0">
                <a:solidFill>
                  <a:srgbClr val="222B35"/>
                </a:solidFill>
                <a:latin typeface="Malgun Gothic"/>
              </a:rPr>
              <a:t>test 셋은 탐색 이전에 예약되었고 선택 중 한 번도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150" b="0" i="0">
                <a:solidFill>
                  <a:srgbClr val="222B35"/>
                </a:solidFill>
                <a:latin typeface="Malgun Gothic"/>
              </a:rPr>
              <a:t>읽지 않았다 → 헤드라인에 winner’s curse가 없다.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02920" y="3611880"/>
            <a:ext cx="5513832" cy="1965960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502920" y="3611880"/>
            <a:ext cx="91440" cy="1965960"/>
          </a:xfrm>
          <a:prstGeom prst="rect">
            <a:avLst/>
          </a:prstGeom>
          <a:solidFill>
            <a:srgbClr val="2B6C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40664" y="3721608"/>
            <a:ext cx="5148072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2B6CB0"/>
                </a:solidFill>
                <a:latin typeface="Malgun Gothic"/>
              </a:rPr>
              <a:t>Shot 군집 paired bootstrap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40664" y="4123944"/>
            <a:ext cx="5129784" cy="13258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150" b="0" i="0">
                <a:solidFill>
                  <a:srgbClr val="222B35"/>
                </a:solidFill>
                <a:latin typeface="Malgun Gothic"/>
              </a:rPr>
              <a:t>한 방전 안의 인접 행은 강하게 상관 → 샘플을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150" b="0" i="0">
                <a:solidFill>
                  <a:srgbClr val="222B35"/>
                </a:solidFill>
                <a:latin typeface="Malgun Gothic"/>
              </a:rPr>
              <a:t>독립으로 보면 불확실성이 크게 과소평가된다.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150" b="0" i="0">
                <a:solidFill>
                  <a:srgbClr val="222B35"/>
                </a:solidFill>
                <a:latin typeface="Malgun Gothic"/>
              </a:rPr>
              <a:t>SE_model − SE_PCHIP를 shot 단위로 집계하고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150" b="0" i="0">
                <a:solidFill>
                  <a:srgbClr val="222B35"/>
                </a:solidFill>
                <a:latin typeface="Malgun Gothic"/>
              </a:rPr>
              <a:t>shot 전체를 복원추출(10,000회, 고정 시드).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150" b="0" i="0">
                <a:solidFill>
                  <a:srgbClr val="222B35"/>
                </a:solidFill>
                <a:latin typeface="Malgun Gothic"/>
              </a:rPr>
              <a:t>대가: 유효 표본이 shot 수(≈96) — 이것이 모든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150" b="0" i="0">
                <a:solidFill>
                  <a:srgbClr val="222B35"/>
                </a:solidFill>
                <a:latin typeface="Malgun Gothic"/>
              </a:rPr>
              <a:t>유의성 판정의 검정력을 제한한다(§10 첫 항목).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172200" y="3611880"/>
            <a:ext cx="5513832" cy="1965960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172200" y="3611880"/>
            <a:ext cx="91440" cy="1965960"/>
          </a:xfrm>
          <a:prstGeom prst="rect">
            <a:avLst/>
          </a:prstGeom>
          <a:solidFill>
            <a:srgbClr val="E874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409944" y="3721608"/>
            <a:ext cx="5148072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E8743B"/>
                </a:solidFill>
                <a:latin typeface="Malgun Gothic"/>
              </a:rPr>
              <a:t>두 채점 모집단 — 항상 함께 명시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09944" y="4123944"/>
            <a:ext cx="5129784" cy="13258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22B35"/>
                </a:solidFill>
                <a:latin typeface="Malgun Gothic"/>
              </a:rPr>
              <a:t>· genuine(진짜 측정만) = 유지값 제외. 헤드라인.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22B35"/>
                </a:solidFill>
                <a:latin typeface="Malgun Gothic"/>
              </a:rPr>
              <a:t>  시드 42 test: 33,693 샘플 / Tᵢ n = 32,787(96 shot)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22B35"/>
                </a:solidFill>
                <a:latin typeface="Malgun Gothic"/>
              </a:rPr>
              <a:t>  / 진짜 V_rot n = 10,729(61 shot)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22B35"/>
                </a:solidFill>
                <a:latin typeface="Malgun Gothic"/>
              </a:rPr>
              <a:t>· stuck0(유지값 포함) = 민감도 확인 전용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22B35"/>
                </a:solidFill>
                <a:latin typeface="Malgun Gothic"/>
              </a:rPr>
              <a:t>  (V_rot n이 27,437로 부푼다)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22B35"/>
                </a:solidFill>
                <a:latin typeface="Malgun Gothic"/>
              </a:rPr>
              <a:t>하나를 인용하며 다른 하나를 주장하는 것이 감사에서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22B35"/>
                </a:solidFill>
                <a:latin typeface="Malgun Gothic"/>
              </a:rPr>
              <a:t>실제로 발견된 오류다(§8h).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02920" y="5687568"/>
            <a:ext cx="11183112" cy="658368"/>
          </a:xfrm>
          <a:prstGeom prst="roundRect">
            <a:avLst/>
          </a:prstGeom>
          <a:solidFill>
            <a:srgbClr val="1333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77240" y="5779007"/>
            <a:ext cx="10634472" cy="47548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300"/>
              </a:spcAft>
            </a:pPr>
            <a:r>
              <a:rPr sz="1150" b="1" i="0">
                <a:solidFill>
                  <a:srgbClr val="1B9E8A"/>
                </a:solidFill>
                <a:latin typeface="Malgun Gothic"/>
              </a:rPr>
              <a:t>MNAR 예고 — </a:t>
            </a:r>
            <a:r>
              <a:rPr sz="1150" b="0" i="0">
                <a:solidFill>
                  <a:srgbClr val="FFFFFF"/>
                </a:solidFill>
                <a:latin typeface="Malgun Gothic"/>
              </a:rPr>
              <a:t>결측은 무작위가 아니므로 관측 시점 skill은 낙관적 추정이다. 명시하고 멈추면 핵심 수치에 크기를 모르는 보정항이 남으므로, §6.4에서 재가중해 얼마가 살아남는지 보고한다.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201168" cy="1170432"/>
          </a:xfrm>
          <a:prstGeom prst="rect">
            <a:avLst/>
          </a:prstGeom>
          <a:solidFill>
            <a:srgbClr val="2E9E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82880"/>
            <a:ext cx="1124712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2E9E5B"/>
                </a:solidFill>
                <a:latin typeface="Malgun Gothic"/>
              </a:rPr>
              <a:t>§6.1  결과 ①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5488" y="457200"/>
            <a:ext cx="11338560" cy="65836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2700" b="1" i="0">
                <a:solidFill>
                  <a:srgbClr val="13335F"/>
                </a:solidFill>
                <a:latin typeface="Malgun Gothic"/>
              </a:rPr>
              <a:t>모델은 모든 인과 기준선을 압도한다 — 가장 강건한 결과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1078992"/>
            <a:ext cx="11201400" cy="25400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731520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AA5B1"/>
                </a:solidFill>
                <a:latin typeface="Malgun Gothic"/>
              </a:rPr>
              <a:t>KSTAR CES Nowcasting — 다중진단 기반 CES 결측 구간 예측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455664"/>
            <a:ext cx="1097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 i="0">
                <a:solidFill>
                  <a:srgbClr val="9AA5B1"/>
                </a:solidFill>
                <a:latin typeface="Malgun Gothic"/>
              </a:rPr>
              <a:t>7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920" y="1325880"/>
            <a:ext cx="8823960" cy="402336"/>
          </a:xfrm>
          <a:prstGeom prst="rect">
            <a:avLst/>
          </a:prstGeom>
          <a:solidFill>
            <a:srgbClr val="1333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94360" y="1389888"/>
            <a:ext cx="2642616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FFFFFF"/>
                </a:solidFill>
                <a:latin typeface="Malgun Gothic"/>
              </a:rPr>
              <a:t>팔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383280" y="1389888"/>
            <a:ext cx="2688336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FFFFFF"/>
                </a:solidFill>
                <a:latin typeface="Malgun Gothic"/>
              </a:rPr>
              <a:t>정보 접근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217920" y="1389888"/>
            <a:ext cx="1453896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FFFFFF"/>
                </a:solidFill>
                <a:latin typeface="Malgun Gothic"/>
              </a:rPr>
              <a:t>Tᵢ RMSE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818120" y="1389888"/>
            <a:ext cx="1453896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FFFFFF"/>
                </a:solidFill>
                <a:latin typeface="Malgun Gothic"/>
              </a:rPr>
              <a:t>V_rot RMSE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94360" y="1801368"/>
            <a:ext cx="2642616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13335F"/>
                </a:solidFill>
                <a:latin typeface="Malgun Gothic"/>
              </a:rPr>
              <a:t>모델 (나우캐스터)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383280" y="1801368"/>
            <a:ext cx="2688336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222B35"/>
                </a:solidFill>
                <a:latin typeface="Malgun Gothic"/>
              </a:rPr>
              <a:t>고속 진단 + 과거 CES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217920" y="1801368"/>
            <a:ext cx="1453896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2E9E5B"/>
                </a:solidFill>
                <a:latin typeface="Malgun Gothic"/>
              </a:rPr>
              <a:t>407.0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818120" y="1801368"/>
            <a:ext cx="1453896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2E9E5B"/>
                </a:solidFill>
                <a:latin typeface="Malgun Gothic"/>
              </a:rPr>
              <a:t>35.0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02920" y="2175891"/>
            <a:ext cx="8823960" cy="9525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502920" y="2185416"/>
            <a:ext cx="8823960" cy="457200"/>
          </a:xfrm>
          <a:prstGeom prst="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94360" y="2258568"/>
            <a:ext cx="2642616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222B35"/>
                </a:solidFill>
                <a:latin typeface="Malgun Gothic"/>
              </a:rPr>
              <a:t>선형 보간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383280" y="2258568"/>
            <a:ext cx="2688336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222B35"/>
                </a:solidFill>
                <a:latin typeface="Malgun Gothic"/>
              </a:rPr>
              <a:t>과거 + 미래 CES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217920" y="2258568"/>
            <a:ext cx="1453896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222B35"/>
                </a:solidFill>
                <a:latin typeface="Malgun Gothic"/>
              </a:rPr>
              <a:t>441.0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818120" y="2258568"/>
            <a:ext cx="1453896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222B35"/>
                </a:solidFill>
                <a:latin typeface="Malgun Gothic"/>
              </a:rPr>
              <a:t>38.4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02920" y="2633091"/>
            <a:ext cx="8823960" cy="9525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94360" y="2715768"/>
            <a:ext cx="2642616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222B35"/>
                </a:solidFill>
                <a:latin typeface="Malgun Gothic"/>
              </a:rPr>
              <a:t>PCHIP 보간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383280" y="2715768"/>
            <a:ext cx="2688336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222B35"/>
                </a:solidFill>
                <a:latin typeface="Malgun Gothic"/>
              </a:rPr>
              <a:t>과거 + 미래 CES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217920" y="2715768"/>
            <a:ext cx="1453896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222B35"/>
                </a:solidFill>
                <a:latin typeface="Malgun Gothic"/>
              </a:rPr>
              <a:t>449.3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818120" y="2715768"/>
            <a:ext cx="1453896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222B35"/>
                </a:solidFill>
                <a:latin typeface="Malgun Gothic"/>
              </a:rPr>
              <a:t>39.2</a:t>
            </a:r>
          </a:p>
        </p:txBody>
      </p:sp>
      <p:sp>
        <p:nvSpPr>
          <p:cNvPr id="30" name="Rectangle 29"/>
          <p:cNvSpPr/>
          <p:nvPr/>
        </p:nvSpPr>
        <p:spPr>
          <a:xfrm>
            <a:off x="502920" y="3090291"/>
            <a:ext cx="8823960" cy="9525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502920" y="3099816"/>
            <a:ext cx="8823960" cy="457200"/>
          </a:xfrm>
          <a:prstGeom prst="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94360" y="3172968"/>
            <a:ext cx="2642616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222B35"/>
                </a:solidFill>
                <a:latin typeface="Malgun Gothic"/>
              </a:rPr>
              <a:t>Persistence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383280" y="3172968"/>
            <a:ext cx="2688336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222B35"/>
                </a:solidFill>
                <a:latin typeface="Malgun Gothic"/>
              </a:rPr>
              <a:t>마지막 관측 CES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217920" y="3172968"/>
            <a:ext cx="1453896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222B35"/>
                </a:solidFill>
                <a:latin typeface="Malgun Gothic"/>
              </a:rPr>
              <a:t>504.3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818120" y="3172968"/>
            <a:ext cx="1453896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222B35"/>
                </a:solidFill>
                <a:latin typeface="Malgun Gothic"/>
              </a:rPr>
              <a:t>44.4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02920" y="3547491"/>
            <a:ext cx="8823960" cy="9525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594360" y="3630168"/>
            <a:ext cx="2642616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222B35"/>
                </a:solidFill>
                <a:latin typeface="Malgun Gothic"/>
              </a:rPr>
              <a:t>AR (국소, 인과)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3383280" y="3630168"/>
            <a:ext cx="2688336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222B35"/>
                </a:solidFill>
                <a:latin typeface="Malgun Gothic"/>
              </a:rPr>
              <a:t>과거 CES만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217920" y="3630168"/>
            <a:ext cx="1453896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222B35"/>
                </a:solidFill>
                <a:latin typeface="Malgun Gothic"/>
              </a:rPr>
              <a:t>2425.9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818120" y="3630168"/>
            <a:ext cx="1453896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222B35"/>
                </a:solidFill>
                <a:latin typeface="Malgun Gothic"/>
              </a:rPr>
              <a:t>91.5</a:t>
            </a:r>
          </a:p>
        </p:txBody>
      </p:sp>
      <p:sp>
        <p:nvSpPr>
          <p:cNvPr id="41" name="Rectangle 40"/>
          <p:cNvSpPr/>
          <p:nvPr/>
        </p:nvSpPr>
        <p:spPr>
          <a:xfrm>
            <a:off x="502920" y="4004691"/>
            <a:ext cx="8823960" cy="9525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2" name="Picture 41" descr="fig_rmse_ladd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4014492"/>
            <a:ext cx="5486400" cy="2029414"/>
          </a:xfrm>
          <a:prstGeom prst="rect">
            <a:avLst/>
          </a:prstGeom>
        </p:spPr>
      </p:pic>
      <p:sp>
        <p:nvSpPr>
          <p:cNvPr id="43" name="Rounded Rectangle 42"/>
          <p:cNvSpPr/>
          <p:nvPr/>
        </p:nvSpPr>
        <p:spPr>
          <a:xfrm>
            <a:off x="6172200" y="1325880"/>
            <a:ext cx="5513832" cy="2148840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6172200" y="1325880"/>
            <a:ext cx="91440" cy="2148840"/>
          </a:xfrm>
          <a:prstGeom prst="rect">
            <a:avLst/>
          </a:prstGeom>
          <a:solidFill>
            <a:srgbClr val="2E9E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6409944" y="1435607"/>
            <a:ext cx="5148072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2E9E5B"/>
                </a:solidFill>
                <a:latin typeface="Malgun Gothic"/>
              </a:rPr>
              <a:t>본문에 쓸 논지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409944" y="1837943"/>
            <a:ext cx="5129784" cy="1508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150" b="0" i="0">
                <a:solidFill>
                  <a:srgbClr val="222B35"/>
                </a:solidFill>
                <a:latin typeface="Malgun Gothic"/>
              </a:rPr>
              <a:t>· 모델이 두 타겟 모두에서 최저 RMSE이며, 실시간에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150" b="0" i="0">
                <a:solidFill>
                  <a:srgbClr val="222B35"/>
                </a:solidFill>
                <a:latin typeface="Malgun Gothic"/>
              </a:rPr>
              <a:t>  실제 사용 가능한 모든 것(persistence·과거 전용 AR)을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150" b="0" i="0">
                <a:solidFill>
                  <a:srgbClr val="222B35"/>
                </a:solidFill>
                <a:latin typeface="Malgun Gothic"/>
              </a:rPr>
              <a:t>  큰 차이로 이긴다.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150" b="0" i="0">
                <a:solidFill>
                  <a:srgbClr val="222B35"/>
                </a:solidFill>
                <a:latin typeface="Malgun Gothic"/>
              </a:rPr>
              <a:t>· 미래 CES가 정의상 없는 온라인 환경에서 명백한 승자.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150" b="0" i="0">
                <a:solidFill>
                  <a:srgbClr val="222B35"/>
                </a:solidFill>
                <a:latin typeface="Malgun Gothic"/>
              </a:rPr>
              <a:t>· 이것이 논문에서 가장 강건한 결과 — 스트레스 테스트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150" b="0" i="0">
                <a:solidFill>
                  <a:srgbClr val="222B35"/>
                </a:solidFill>
                <a:latin typeface="Malgun Gothic"/>
              </a:rPr>
              <a:t>  두 종을 모두 통과하는 주장의 뿌리(§6.4·§6.5).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150" b="0" i="0">
                <a:solidFill>
                  <a:srgbClr val="222B35"/>
                </a:solidFill>
                <a:latin typeface="Malgun Gothic"/>
              </a:rPr>
              <a:t>· 표와 그림은 같은 동결 산출물에서 생성된다.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6172200" y="3611880"/>
            <a:ext cx="5513832" cy="2468880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6172200" y="3611880"/>
            <a:ext cx="91440" cy="2468880"/>
          </a:xfrm>
          <a:prstGeom prst="rect">
            <a:avLst/>
          </a:prstGeom>
          <a:solidFill>
            <a:srgbClr val="1333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6409944" y="3721608"/>
            <a:ext cx="5148072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13335F"/>
                </a:solidFill>
                <a:latin typeface="Malgun Gothic"/>
              </a:rPr>
              <a:t>캡션에 넣을 주의 세 가지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6409944" y="4123944"/>
            <a:ext cx="5129784" cy="18288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150" b="0" i="0">
                <a:solidFill>
                  <a:srgbClr val="222B35"/>
                </a:solidFill>
                <a:latin typeface="Malgun Gothic"/>
              </a:rPr>
              <a:t>· V_rot RMSE가 ≈23이 아니라 ≈35인 이유: 유지값 포함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150" b="0" i="0">
                <a:solidFill>
                  <a:srgbClr val="222B35"/>
                </a:solidFill>
                <a:latin typeface="Malgun Gothic"/>
              </a:rPr>
              <a:t>  모집단에서는 유지 타겟의 기준선 오차가 0에 가깝다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150" b="0" i="0">
                <a:solidFill>
                  <a:srgbClr val="222B35"/>
                </a:solidFill>
                <a:latin typeface="Malgun Gothic"/>
              </a:rPr>
              <a:t>  (§3.4). 이 표는 진짜 측정 기준이다.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150" b="0" i="0">
                <a:solidFill>
                  <a:srgbClr val="222B35"/>
                </a:solidFill>
                <a:latin typeface="Malgun Gothic"/>
              </a:rPr>
              <a:t>· AR의 2425.9는 오타가 아니다 — 국소 선형 외삽은 희소·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150" b="0" i="0">
                <a:solidFill>
                  <a:srgbClr val="222B35"/>
                </a:solidFill>
                <a:latin typeface="Malgun Gothic"/>
              </a:rPr>
              <a:t>  불규칙 격자에서 발산한다. 사다리에 남기는 이유는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150" b="0" i="0">
                <a:solidFill>
                  <a:srgbClr val="222B35"/>
                </a:solidFill>
                <a:latin typeface="Malgun Gothic"/>
              </a:rPr>
              <a:t>  ‘과거만 쓰는 단순 외삽’이 왜 대안이 못 되는지를 보이기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150" b="0" i="0">
                <a:solidFill>
                  <a:srgbClr val="222B35"/>
                </a:solidFill>
                <a:latin typeface="Malgun Gothic"/>
              </a:rPr>
              <a:t>  위함이다.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150" b="0" i="0">
                <a:solidFill>
                  <a:srgbClr val="222B35"/>
                </a:solidFill>
                <a:latin typeface="Malgun Gothic"/>
              </a:rPr>
              <a:t>· 어느 팔이 미래를 읽는지를 표 안에 명시할 것(정보 접근 열).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201168" cy="1170432"/>
          </a:xfrm>
          <a:prstGeom prst="rect">
            <a:avLst/>
          </a:prstGeom>
          <a:solidFill>
            <a:srgbClr val="2E9E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82880"/>
            <a:ext cx="1124712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2E9E5B"/>
                </a:solidFill>
                <a:latin typeface="Malgun Gothic"/>
              </a:rPr>
              <a:t>§6.2  sec:headline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5488" y="457200"/>
            <a:ext cx="11338560" cy="65836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2700" b="1" i="0">
                <a:solidFill>
                  <a:srgbClr val="13335F"/>
                </a:solidFill>
                <a:latin typeface="Malgun Gothic"/>
              </a:rPr>
              <a:t>헤드라인 — Tᵢ는 4개 독립 분할에서 미래를 쓰는 보간을 이긴다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1078992"/>
            <a:ext cx="11201400" cy="25400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731520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AA5B1"/>
                </a:solidFill>
                <a:latin typeface="Malgun Gothic"/>
              </a:rPr>
              <a:t>KSTAR CES Nowcasting — 다중진단 기반 CES 결측 구간 예측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455664"/>
            <a:ext cx="1097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 i="0">
                <a:solidFill>
                  <a:srgbClr val="9AA5B1"/>
                </a:solidFill>
                <a:latin typeface="Malgun Gothic"/>
              </a:rPr>
              <a:t>8</a:t>
            </a:r>
          </a:p>
        </p:txBody>
      </p:sp>
      <p:pic>
        <p:nvPicPr>
          <p:cNvPr id="10" name="Picture 9" descr="fig_fores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1774647"/>
            <a:ext cx="6035040" cy="2348585"/>
          </a:xfrm>
          <a:prstGeom prst="rect">
            <a:avLst/>
          </a:prstGeom>
        </p:spPr>
      </p:pic>
      <p:sp>
        <p:nvSpPr>
          <p:cNvPr id="11" name="Rounded Rectangle 10"/>
          <p:cNvSpPr/>
          <p:nvPr/>
        </p:nvSpPr>
        <p:spPr>
          <a:xfrm>
            <a:off x="6720840" y="1325880"/>
            <a:ext cx="4965192" cy="1874519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720840" y="1325880"/>
            <a:ext cx="91440" cy="1874519"/>
          </a:xfrm>
          <a:prstGeom prst="rect">
            <a:avLst/>
          </a:prstGeom>
          <a:solidFill>
            <a:srgbClr val="2E9E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958583" y="1435607"/>
            <a:ext cx="4599431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2E9E5B"/>
                </a:solidFill>
                <a:latin typeface="Malgun Gothic"/>
              </a:rPr>
              <a:t>인용할 수치 (genuine TEST)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58583" y="1837943"/>
            <a:ext cx="4581144" cy="1234439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· Tᵢ  +0.179 [+0.007, +0.302] · +0.197 [+0.091, +0.276]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  +0.280 [+0.192, +0.347] · +0.263 [+0.109, +0.348]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  → 4/4 PASS (유지값 포함에서도 4/4)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· 선형 보간 상대로도 3/4 생존 (시드 42만 +0.148 n.s.)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· V_rot  +0.203 / +0.162 / +0.100 / +0.183 —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  점추정 전부 양수, PASS는 시드 1뿐 → 동률로 보고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720840" y="3273552"/>
            <a:ext cx="4965192" cy="1298448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720840" y="3273552"/>
            <a:ext cx="91440" cy="1298448"/>
          </a:xfrm>
          <a:prstGeom prst="rect">
            <a:avLst/>
          </a:prstGeom>
          <a:solidFill>
            <a:srgbClr val="E874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958583" y="3383280"/>
            <a:ext cx="4599431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E8743B"/>
                </a:solidFill>
                <a:latin typeface="Malgun Gothic"/>
              </a:rPr>
              <a:t>사후 GP 팔 — 오프라인 주장의 상한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958583" y="3785616"/>
            <a:ext cx="4581144" cy="65836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GP는 Tᵢ 4개 분할 전부에서 PCHIP을 유의하게 이기는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(+0.21~+0.28) 가장 강한 오프라인 평활기이고,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모델은 그것과 동률(유의 승 1/4, 유의 패 0/4).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02920" y="4709160"/>
            <a:ext cx="6035040" cy="1371600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502920" y="4709160"/>
            <a:ext cx="91440" cy="1371600"/>
          </a:xfrm>
          <a:prstGeom prst="rect">
            <a:avLst/>
          </a:prstGeom>
          <a:solidFill>
            <a:srgbClr val="2B6C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40664" y="4818888"/>
            <a:ext cx="5669279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2B6CB0"/>
                </a:solidFill>
                <a:latin typeface="Malgun Gothic"/>
              </a:rPr>
              <a:t>§7과 함께 쓰는 ‘정직한 진행’ 문단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40664" y="5221224"/>
            <a:ext cx="5650992" cy="7315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초기 기준 모델은 유의하지 않았다(+0.088, CI [−0.221, +0.323]).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선택 게이트를 검증 손실 → 깨끗한 보간 대비 skill로 바꾼 것이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최종 모델을 낳았고 4개 분할 모두에서 유의하다(fig_progression).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720840" y="4709160"/>
            <a:ext cx="4965192" cy="1371600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720840" y="4709160"/>
            <a:ext cx="91440" cy="1371600"/>
          </a:xfrm>
          <a:prstGeom prst="rect">
            <a:avLst/>
          </a:prstGeom>
          <a:solidFill>
            <a:srgbClr val="1333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958583" y="4818888"/>
            <a:ext cx="4599431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13335F"/>
                </a:solidFill>
                <a:latin typeface="Malgun Gothic"/>
              </a:rPr>
              <a:t>동률을 해소할 지목된 측정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958583" y="5221224"/>
            <a:ext cx="4581144" cy="7315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· 더 많은 test shot — 시드 7은 이미 해소한다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· 아직 실행하지 않은 인과(과거 전용) GP 팔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배치 주장은 무관 — 미래 앵커 없는 GP는 온라인에 없다.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201168" cy="1170432"/>
          </a:xfrm>
          <a:prstGeom prst="rect">
            <a:avLst/>
          </a:prstGeom>
          <a:solidFill>
            <a:srgbClr val="2B6C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82880"/>
            <a:ext cx="1124712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2B6CB0"/>
                </a:solidFill>
                <a:latin typeface="Malgun Gothic"/>
              </a:rPr>
              <a:t>§6.3  sec:gap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5488" y="457200"/>
            <a:ext cx="11338560" cy="65836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2700" b="1" i="0">
                <a:solidFill>
                  <a:srgbClr val="13335F"/>
                </a:solidFill>
                <a:latin typeface="Malgun Gothic"/>
              </a:rPr>
              <a:t>간극 층화 — 큰 간극에서 올바른 상대는 persistence다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1078992"/>
            <a:ext cx="11201400" cy="25400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731520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AA5B1"/>
                </a:solidFill>
                <a:latin typeface="Malgun Gothic"/>
              </a:rPr>
              <a:t>KSTAR CES Nowcasting — 다중진단 기반 CES 결측 구간 예측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455664"/>
            <a:ext cx="1097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 i="0">
                <a:solidFill>
                  <a:srgbClr val="9AA5B1"/>
                </a:solidFill>
                <a:latin typeface="Malgun Gothic"/>
              </a:rPr>
              <a:t>9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920" y="1325880"/>
            <a:ext cx="11183112" cy="402336"/>
          </a:xfrm>
          <a:prstGeom prst="rect">
            <a:avLst/>
          </a:prstGeom>
          <a:solidFill>
            <a:srgbClr val="1333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94360" y="1389888"/>
            <a:ext cx="2002536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FFFFFF"/>
                </a:solidFill>
                <a:latin typeface="Malgun Gothic"/>
              </a:rPr>
              <a:t>Δt (4 분할 통합)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743200" y="1389888"/>
            <a:ext cx="1042416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FFFFFF"/>
                </a:solidFill>
                <a:latin typeface="Malgun Gothic"/>
              </a:rPr>
              <a:t>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931920" y="1389888"/>
            <a:ext cx="905256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FFFFFF"/>
                </a:solidFill>
                <a:latin typeface="Malgun Gothic"/>
              </a:rPr>
              <a:t>shot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983480" y="1389888"/>
            <a:ext cx="3282696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FFFFFF"/>
                </a:solidFill>
                <a:latin typeface="Malgun Gothic"/>
              </a:rPr>
              <a:t>PCHIP 대비 (미래 사용)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412480" y="1389888"/>
            <a:ext cx="3218688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FFFFFF"/>
                </a:solidFill>
                <a:latin typeface="Malgun Gothic"/>
              </a:rPr>
              <a:t>persistence 대비 (인과)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94360" y="1801368"/>
            <a:ext cx="2002536" cy="34747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13335F"/>
                </a:solidFill>
                <a:latin typeface="Malgun Gothic"/>
              </a:rPr>
              <a:t>Tᵢ  ≤ 15 ms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743200" y="1801368"/>
            <a:ext cx="1042416" cy="34747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134,629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931920" y="1801368"/>
            <a:ext cx="905256" cy="34747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298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983480" y="1801368"/>
            <a:ext cx="3282696" cy="34747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2E9E5B"/>
                </a:solidFill>
                <a:latin typeface="Malgun Gothic"/>
              </a:rPr>
              <a:t>+0.262 [+0.20, +0.31]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412480" y="1801368"/>
            <a:ext cx="3218688" cy="34747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2E9E5B"/>
                </a:solidFill>
                <a:latin typeface="Malgun Gothic"/>
              </a:rPr>
              <a:t>+0.407 [+0.36, +0.45]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2920" y="2157603"/>
            <a:ext cx="11183112" cy="9525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502920" y="2167128"/>
            <a:ext cx="11183112" cy="438912"/>
          </a:xfrm>
          <a:prstGeom prst="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94360" y="2240280"/>
            <a:ext cx="2002536" cy="34747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13335F"/>
                </a:solidFill>
                <a:latin typeface="Malgun Gothic"/>
              </a:rPr>
              <a:t>Tᵢ  전체 &gt; 15 ms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743200" y="2240280"/>
            <a:ext cx="1042416" cy="34747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4,496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931920" y="2240280"/>
            <a:ext cx="905256" cy="34747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272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983480" y="2240280"/>
            <a:ext cx="3282696" cy="34747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2E9E5B"/>
                </a:solidFill>
                <a:latin typeface="Malgun Gothic"/>
              </a:rPr>
              <a:t>+0.191 [+0.10, +0.28]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412480" y="2240280"/>
            <a:ext cx="3218688" cy="34747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2E9E5B"/>
                </a:solidFill>
                <a:latin typeface="Malgun Gothic"/>
              </a:rPr>
              <a:t>+0.388 [+0.32, +0.46]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02920" y="2596515"/>
            <a:ext cx="11183112" cy="9525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94360" y="2679192"/>
            <a:ext cx="2002536" cy="34747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13335F"/>
                </a:solidFill>
                <a:latin typeface="Malgun Gothic"/>
              </a:rPr>
              <a:t>Tᵢ  전체 &gt; 45 ms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743200" y="2679192"/>
            <a:ext cx="1042416" cy="34747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435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931920" y="2679192"/>
            <a:ext cx="905256" cy="34747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105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983480" y="2679192"/>
            <a:ext cx="3282696" cy="34747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−0.057 [−0.45, +0.21]  n.s.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412480" y="2679192"/>
            <a:ext cx="3218688" cy="34747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2E9E5B"/>
                </a:solidFill>
                <a:latin typeface="Malgun Gothic"/>
              </a:rPr>
              <a:t>+0.271 [+0.12, +0.41]</a:t>
            </a:r>
          </a:p>
        </p:txBody>
      </p:sp>
      <p:sp>
        <p:nvSpPr>
          <p:cNvPr id="34" name="Rectangle 33"/>
          <p:cNvSpPr/>
          <p:nvPr/>
        </p:nvSpPr>
        <p:spPr>
          <a:xfrm>
            <a:off x="502920" y="3035427"/>
            <a:ext cx="11183112" cy="9525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502920" y="3044952"/>
            <a:ext cx="11183112" cy="438912"/>
          </a:xfrm>
          <a:prstGeom prst="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594360" y="3118104"/>
            <a:ext cx="2002536" cy="34747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13335F"/>
                </a:solidFill>
                <a:latin typeface="Malgun Gothic"/>
              </a:rPr>
              <a:t>Tᵢ  &gt; 105 ms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2743200" y="3118104"/>
            <a:ext cx="1042416" cy="34747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167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3931920" y="3118104"/>
            <a:ext cx="905256" cy="34747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62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983480" y="3118104"/>
            <a:ext cx="3282696" cy="34747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C0392B"/>
                </a:solidFill>
                <a:latin typeface="Malgun Gothic"/>
              </a:rPr>
              <a:t>−0.542 [−2.07, −0.08]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412480" y="3118104"/>
            <a:ext cx="3218688" cy="34747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+0.266 [−0.00, +0.46]</a:t>
            </a:r>
          </a:p>
        </p:txBody>
      </p:sp>
      <p:sp>
        <p:nvSpPr>
          <p:cNvPr id="41" name="Rectangle 40"/>
          <p:cNvSpPr/>
          <p:nvPr/>
        </p:nvSpPr>
        <p:spPr>
          <a:xfrm>
            <a:off x="502920" y="3474339"/>
            <a:ext cx="11183112" cy="9525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594360" y="3557016"/>
            <a:ext cx="2002536" cy="34747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13335F"/>
                </a:solidFill>
                <a:latin typeface="Malgun Gothic"/>
              </a:rPr>
              <a:t>V_rot  ≤ 15 ms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743200" y="3557016"/>
            <a:ext cx="1042416" cy="34747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51,457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931920" y="3557016"/>
            <a:ext cx="905256" cy="34747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195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983480" y="3557016"/>
            <a:ext cx="3282696" cy="34747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+0.209 [−0.02, +0.29]  n.s.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412480" y="3557016"/>
            <a:ext cx="3218688" cy="34747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2E9E5B"/>
                </a:solidFill>
                <a:latin typeface="Malgun Gothic"/>
              </a:rPr>
              <a:t>+0.368 [+0.17, +0.45]</a:t>
            </a:r>
          </a:p>
        </p:txBody>
      </p:sp>
      <p:sp>
        <p:nvSpPr>
          <p:cNvPr id="47" name="Rectangle 46"/>
          <p:cNvSpPr/>
          <p:nvPr/>
        </p:nvSpPr>
        <p:spPr>
          <a:xfrm>
            <a:off x="502920" y="3913251"/>
            <a:ext cx="11183112" cy="9525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502920" y="3922776"/>
            <a:ext cx="11183112" cy="438912"/>
          </a:xfrm>
          <a:prstGeom prst="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594360" y="3995928"/>
            <a:ext cx="2002536" cy="34747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13335F"/>
                </a:solidFill>
                <a:latin typeface="Malgun Gothic"/>
              </a:rPr>
              <a:t>V_rot  전체 &gt; 15 ms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743200" y="3995928"/>
            <a:ext cx="1042416" cy="34747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1,756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931920" y="3995928"/>
            <a:ext cx="905256" cy="34747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161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983480" y="3995928"/>
            <a:ext cx="3282696" cy="34747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+0.027 [−0.20, +0.24]  n.s.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8412480" y="3995928"/>
            <a:ext cx="3218688" cy="34747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2E9E5B"/>
                </a:solidFill>
                <a:latin typeface="Malgun Gothic"/>
              </a:rPr>
              <a:t>+0.309 [+0.13, +0.47]</a:t>
            </a:r>
          </a:p>
        </p:txBody>
      </p:sp>
      <p:sp>
        <p:nvSpPr>
          <p:cNvPr id="54" name="Rectangle 53"/>
          <p:cNvSpPr/>
          <p:nvPr/>
        </p:nvSpPr>
        <p:spPr>
          <a:xfrm>
            <a:off x="502920" y="4352163"/>
            <a:ext cx="11183112" cy="9525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ounded Rectangle 54"/>
          <p:cNvSpPr/>
          <p:nvPr/>
        </p:nvSpPr>
        <p:spPr>
          <a:xfrm>
            <a:off x="502920" y="4343400"/>
            <a:ext cx="3657600" cy="1737360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502920" y="4343400"/>
            <a:ext cx="91440" cy="1737360"/>
          </a:xfrm>
          <a:prstGeom prst="rect">
            <a:avLst/>
          </a:prstGeom>
          <a:solidFill>
            <a:srgbClr val="2E9E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740664" y="4453128"/>
            <a:ext cx="329184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2E9E5B"/>
                </a:solidFill>
                <a:latin typeface="Malgun Gothic"/>
              </a:rPr>
              <a:t>① 우위는 인접 이력에 국한되지 않는다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740664" y="4855464"/>
            <a:ext cx="3273552" cy="10972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4개 분할을 통합하고 bootstrap을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방전 단위로 군집화해 처음으로 넓은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구간에 CI를 붙였다. Δt &gt; 15 ms 전체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+0.191, (15,25]·(25,35]·(55,105]가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각각 단독 유의.</a:t>
            </a:r>
          </a:p>
        </p:txBody>
      </p:sp>
      <p:sp>
        <p:nvSpPr>
          <p:cNvPr id="59" name="Rounded Rectangle 58"/>
          <p:cNvSpPr/>
          <p:nvPr/>
        </p:nvSpPr>
        <p:spPr>
          <a:xfrm>
            <a:off x="4315968" y="4343400"/>
            <a:ext cx="3657600" cy="1783080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Rectangle 59"/>
          <p:cNvSpPr/>
          <p:nvPr/>
        </p:nvSpPr>
        <p:spPr>
          <a:xfrm>
            <a:off x="4315968" y="4343400"/>
            <a:ext cx="91440" cy="1783080"/>
          </a:xfrm>
          <a:prstGeom prst="rect">
            <a:avLst/>
          </a:prstGeom>
          <a:solidFill>
            <a:srgbClr val="E874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4553712" y="4453128"/>
            <a:ext cx="329184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E8743B"/>
                </a:solidFill>
                <a:latin typeface="Malgun Gothic"/>
              </a:rPr>
              <a:t>② 가장 넓은 간극은 보간의 영역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4553712" y="4855464"/>
            <a:ext cx="3273552" cy="11430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22B35"/>
                </a:solidFill>
                <a:latin typeface="Malgun Gothic"/>
              </a:rPr>
              <a:t>105 ms 초과에서 모델은 PCHIP보다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22B35"/>
                </a:solidFill>
                <a:latin typeface="Malgun Gothic"/>
              </a:rPr>
              <a:t>유의하게 나쁘다(−0.542). 그대로 보고.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22B35"/>
                </a:solidFill>
                <a:latin typeface="Malgun Gothic"/>
              </a:rPr>
              <a:t>올바른 진술: “모델이 큰 간극에서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22B35"/>
                </a:solidFill>
                <a:latin typeface="Malgun Gothic"/>
              </a:rPr>
              <a:t>실패한다”가 아니라 “큰 간극은 양측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22B35"/>
                </a:solidFill>
                <a:latin typeface="Malgun Gothic"/>
              </a:rPr>
              <a:t>보간의 영역이고, 그것은 실시간이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22B35"/>
                </a:solidFill>
                <a:latin typeface="Malgun Gothic"/>
              </a:rPr>
              <a:t>가질 수 없는 바로 그것이다”.</a:t>
            </a:r>
          </a:p>
        </p:txBody>
      </p:sp>
      <p:sp>
        <p:nvSpPr>
          <p:cNvPr id="63" name="Rounded Rectangle 62"/>
          <p:cNvSpPr/>
          <p:nvPr/>
        </p:nvSpPr>
        <p:spPr>
          <a:xfrm>
            <a:off x="8129016" y="4343400"/>
            <a:ext cx="3557016" cy="1737360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Rectangle 63"/>
          <p:cNvSpPr/>
          <p:nvPr/>
        </p:nvSpPr>
        <p:spPr>
          <a:xfrm>
            <a:off x="8129016" y="4343400"/>
            <a:ext cx="91440" cy="1737360"/>
          </a:xfrm>
          <a:prstGeom prst="rect">
            <a:avLst/>
          </a:prstGeom>
          <a:solidFill>
            <a:srgbClr val="1B9E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8366760" y="4453128"/>
            <a:ext cx="3191256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1B9E8A"/>
                </a:solidFill>
                <a:latin typeface="Malgun Gothic"/>
              </a:rPr>
              <a:t>③ V_rot은 동률이되 인과는 전부 승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8366760" y="4855464"/>
            <a:ext cx="3172968" cy="10972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§6.2의 전역 동률은 미래를 쓰는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방법과의 동률이다.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persistence 대비로는 작은 간극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(+0.368)에서도, 15 ms를 넘어서도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(+0.309) 유의하게 우수하다.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201168" cy="1170432"/>
          </a:xfrm>
          <a:prstGeom prst="rect">
            <a:avLst/>
          </a:prstGeom>
          <a:solidFill>
            <a:srgbClr val="E874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82880"/>
            <a:ext cx="1124712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E8743B"/>
                </a:solidFill>
                <a:latin typeface="Malgun Gothic"/>
              </a:rPr>
              <a:t>§6.4  sec:mnar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5488" y="457200"/>
            <a:ext cx="11338560" cy="65836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2700" b="1" i="0">
                <a:solidFill>
                  <a:srgbClr val="13335F"/>
                </a:solidFill>
                <a:latin typeface="Malgun Gothic"/>
              </a:rPr>
              <a:t>실제로 결측인 지점에서 얼마나 살아남는가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1078992"/>
            <a:ext cx="11201400" cy="25400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731520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AA5B1"/>
                </a:solidFill>
                <a:latin typeface="Malgun Gothic"/>
              </a:rPr>
              <a:t>KSTAR CES Nowcasting — 다중진단 기반 CES 결측 구간 예측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455664"/>
            <a:ext cx="1097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 i="0">
                <a:solidFill>
                  <a:srgbClr val="9AA5B1"/>
                </a:solidFill>
                <a:latin typeface="Malgun Gothic"/>
              </a:rPr>
              <a:t>10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" y="1298448"/>
            <a:ext cx="11183112" cy="914400"/>
          </a:xfrm>
          <a:prstGeom prst="roundRect">
            <a:avLst/>
          </a:prstGeom>
          <a:solidFill>
            <a:srgbClr val="FFF3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02920" y="1298448"/>
            <a:ext cx="109728" cy="914400"/>
          </a:xfrm>
          <a:prstGeom prst="rect">
            <a:avLst/>
          </a:prstGeom>
          <a:solidFill>
            <a:srgbClr val="E874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77240" y="1380744"/>
            <a:ext cx="10607040" cy="8229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E8743B"/>
                </a:solidFill>
                <a:latin typeface="Malgun Gothic"/>
              </a:rPr>
              <a:t>먼저 적용 범위 사실 — </a:t>
            </a:r>
            <a:r>
              <a:rPr sz="1300" b="0" i="0">
                <a:solidFill>
                  <a:srgbClr val="222B35"/>
                </a:solidFill>
                <a:latin typeface="Malgun Gothic"/>
              </a:rPr>
              <a:t>표본이 예측 가능하려면 그 타겟의 관측값이 모델 window 안에 있어야 한다. 진짜 결측 행 중 도메인 내인 것은 </a:t>
            </a:r>
            <a:r>
              <a:rPr sz="1300" b="1" i="0">
                <a:solidFill>
                  <a:srgbClr val="C0392B"/>
                </a:solidFill>
                <a:latin typeface="Malgun Gothic"/>
              </a:rPr>
              <a:t>Tᵢ 54.1% · V_rot 4.8%</a:t>
            </a:r>
            <a:r>
              <a:rPr sz="1300" b="0" i="0">
                <a:solidFill>
                  <a:srgbClr val="222B35"/>
                </a:solidFill>
                <a:latin typeface="Malgun Gothic"/>
              </a:rPr>
              <a:t>뿐이다.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5B6670"/>
                </a:solidFill>
                <a:latin typeface="Malgun Gothic"/>
              </a:rPr>
              <a:t>정확도 한계가 아니라 커버리지 한계이며 구조적으로 고칠 수 있다(§9 레버 1).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02920" y="2286000"/>
            <a:ext cx="11183112" cy="402336"/>
          </a:xfrm>
          <a:prstGeom prst="rect">
            <a:avLst/>
          </a:prstGeom>
          <a:solidFill>
            <a:srgbClr val="1333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94360" y="2350008"/>
            <a:ext cx="2871216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FFFFFF"/>
                </a:solidFill>
                <a:latin typeface="Malgun Gothic"/>
              </a:rPr>
              <a:t>비교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11880" y="2350008"/>
            <a:ext cx="950976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FFFFFF"/>
                </a:solidFill>
                <a:latin typeface="Malgun Gothic"/>
              </a:rPr>
              <a:t>시드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709160" y="2350008"/>
            <a:ext cx="1956816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FFFFFF"/>
                </a:solidFill>
                <a:latin typeface="Malgun Gothic"/>
              </a:rPr>
              <a:t>관측 가중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12280" y="2350008"/>
            <a:ext cx="3099816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FFFFFF"/>
                </a:solidFill>
                <a:latin typeface="Malgun Gothic"/>
              </a:rPr>
              <a:t>결측 정합 (95% CI)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058400" y="2350008"/>
            <a:ext cx="1572768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FFFFFF"/>
                </a:solidFill>
                <a:latin typeface="Malgun Gothic"/>
              </a:rPr>
              <a:t>낙관 편향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94360" y="2761488"/>
            <a:ext cx="2871216" cy="2103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 i="0">
                <a:solidFill>
                  <a:srgbClr val="13335F"/>
                </a:solidFill>
                <a:latin typeface="Malgun Gothic"/>
              </a:rPr>
              <a:t>Tᵢ vs persistence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11880" y="2761488"/>
            <a:ext cx="950976" cy="2103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 i="0">
                <a:solidFill>
                  <a:srgbClr val="222B35"/>
                </a:solidFill>
                <a:latin typeface="Malgun Gothic"/>
              </a:rPr>
              <a:t>42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709160" y="2761488"/>
            <a:ext cx="1956816" cy="2103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 i="0">
                <a:solidFill>
                  <a:srgbClr val="222B35"/>
                </a:solidFill>
                <a:latin typeface="Malgun Gothic"/>
              </a:rPr>
              <a:t>+0.349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812280" y="2761488"/>
            <a:ext cx="3099816" cy="2103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 i="0">
                <a:solidFill>
                  <a:srgbClr val="2E9E5B"/>
                </a:solidFill>
                <a:latin typeface="Malgun Gothic"/>
              </a:rPr>
              <a:t>+0.292 [+0.162, +0.415]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058400" y="2761488"/>
            <a:ext cx="1572768" cy="2103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 i="0">
                <a:solidFill>
                  <a:srgbClr val="222B35"/>
                </a:solidFill>
                <a:latin typeface="Malgun Gothic"/>
              </a:rPr>
              <a:t>+0.056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02920" y="2980563"/>
            <a:ext cx="11183112" cy="9525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502920" y="2990088"/>
            <a:ext cx="11183112" cy="301752"/>
          </a:xfrm>
          <a:prstGeom prst="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94360" y="3063240"/>
            <a:ext cx="2871216" cy="2103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 i="0">
                <a:solidFill>
                  <a:srgbClr val="222B35"/>
                </a:solidFill>
                <a:latin typeface="Malgun Gothic"/>
              </a:rPr>
              <a:t/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611880" y="3063240"/>
            <a:ext cx="950976" cy="2103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 i="0">
                <a:solidFill>
                  <a:srgbClr val="222B35"/>
                </a:solidFill>
                <a:latin typeface="Malgun Gothic"/>
              </a:rPr>
              <a:t>1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709160" y="3063240"/>
            <a:ext cx="1956816" cy="2103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 i="0">
                <a:solidFill>
                  <a:srgbClr val="222B35"/>
                </a:solidFill>
                <a:latin typeface="Malgun Gothic"/>
              </a:rPr>
              <a:t>+0.380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812280" y="3063240"/>
            <a:ext cx="3099816" cy="2103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 i="0">
                <a:solidFill>
                  <a:srgbClr val="2E9E5B"/>
                </a:solidFill>
                <a:latin typeface="Malgun Gothic"/>
              </a:rPr>
              <a:t>+0.308 [+0.143, +0.429]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058400" y="3063240"/>
            <a:ext cx="1572768" cy="2103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 i="0">
                <a:solidFill>
                  <a:srgbClr val="222B35"/>
                </a:solidFill>
                <a:latin typeface="Malgun Gothic"/>
              </a:rPr>
              <a:t>+0.072</a:t>
            </a:r>
          </a:p>
        </p:txBody>
      </p:sp>
      <p:sp>
        <p:nvSpPr>
          <p:cNvPr id="31" name="Rectangle 30"/>
          <p:cNvSpPr/>
          <p:nvPr/>
        </p:nvSpPr>
        <p:spPr>
          <a:xfrm>
            <a:off x="502920" y="3282315"/>
            <a:ext cx="11183112" cy="9525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94360" y="3364992"/>
            <a:ext cx="2871216" cy="2103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 i="0">
                <a:solidFill>
                  <a:srgbClr val="222B35"/>
                </a:solidFill>
                <a:latin typeface="Malgun Gothic"/>
              </a:rPr>
              <a:t/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611880" y="3364992"/>
            <a:ext cx="950976" cy="2103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 i="0">
                <a:solidFill>
                  <a:srgbClr val="222B35"/>
                </a:solidFill>
                <a:latin typeface="Malgun Gothic"/>
              </a:rPr>
              <a:t>7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709160" y="3364992"/>
            <a:ext cx="1956816" cy="2103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 i="0">
                <a:solidFill>
                  <a:srgbClr val="222B35"/>
                </a:solidFill>
                <a:latin typeface="Malgun Gothic"/>
              </a:rPr>
              <a:t>+0.405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812280" y="3364992"/>
            <a:ext cx="3099816" cy="2103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 i="0">
                <a:solidFill>
                  <a:srgbClr val="2E9E5B"/>
                </a:solidFill>
                <a:latin typeface="Malgun Gothic"/>
              </a:rPr>
              <a:t>+0.293 [+0.192, +0.441]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058400" y="3364992"/>
            <a:ext cx="1572768" cy="2103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 i="0">
                <a:solidFill>
                  <a:srgbClr val="222B35"/>
                </a:solidFill>
                <a:latin typeface="Malgun Gothic"/>
              </a:rPr>
              <a:t>+0.112</a:t>
            </a:r>
          </a:p>
        </p:txBody>
      </p:sp>
      <p:sp>
        <p:nvSpPr>
          <p:cNvPr id="37" name="Rectangle 36"/>
          <p:cNvSpPr/>
          <p:nvPr/>
        </p:nvSpPr>
        <p:spPr>
          <a:xfrm>
            <a:off x="502920" y="3584067"/>
            <a:ext cx="11183112" cy="9525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502920" y="3593592"/>
            <a:ext cx="11183112" cy="301752"/>
          </a:xfrm>
          <a:prstGeom prst="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594360" y="3666744"/>
            <a:ext cx="2871216" cy="2103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 i="0">
                <a:solidFill>
                  <a:srgbClr val="222B35"/>
                </a:solidFill>
                <a:latin typeface="Malgun Gothic"/>
              </a:rPr>
              <a:t/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3611880" y="3666744"/>
            <a:ext cx="950976" cy="2103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 i="0">
                <a:solidFill>
                  <a:srgbClr val="222B35"/>
                </a:solidFill>
                <a:latin typeface="Malgun Gothic"/>
              </a:rPr>
              <a:t>123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709160" y="3666744"/>
            <a:ext cx="1956816" cy="2103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 i="0">
                <a:solidFill>
                  <a:srgbClr val="222B35"/>
                </a:solidFill>
                <a:latin typeface="Malgun Gothic"/>
              </a:rPr>
              <a:t>+0.415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812280" y="3666744"/>
            <a:ext cx="3099816" cy="2103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 i="0">
                <a:solidFill>
                  <a:srgbClr val="2E9E5B"/>
                </a:solidFill>
                <a:latin typeface="Malgun Gothic"/>
              </a:rPr>
              <a:t>+0.293 [+0.155, +0.392]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0058400" y="3666744"/>
            <a:ext cx="1572768" cy="2103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 i="0">
                <a:solidFill>
                  <a:srgbClr val="222B35"/>
                </a:solidFill>
                <a:latin typeface="Malgun Gothic"/>
              </a:rPr>
              <a:t>+0.121</a:t>
            </a:r>
          </a:p>
        </p:txBody>
      </p:sp>
      <p:sp>
        <p:nvSpPr>
          <p:cNvPr id="44" name="Rectangle 43"/>
          <p:cNvSpPr/>
          <p:nvPr/>
        </p:nvSpPr>
        <p:spPr>
          <a:xfrm>
            <a:off x="502920" y="3885819"/>
            <a:ext cx="11183112" cy="9525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594360" y="3968496"/>
            <a:ext cx="2871216" cy="2103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 i="0">
                <a:solidFill>
                  <a:srgbClr val="13335F"/>
                </a:solidFill>
                <a:latin typeface="Malgun Gothic"/>
              </a:rPr>
              <a:t>Tᵢ vs PCHIP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3611880" y="3968496"/>
            <a:ext cx="950976" cy="2103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 i="0">
                <a:solidFill>
                  <a:srgbClr val="222B35"/>
                </a:solidFill>
                <a:latin typeface="Malgun Gothic"/>
              </a:rPr>
              <a:t>42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4709160" y="3968496"/>
            <a:ext cx="1956816" cy="2103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 i="0">
                <a:solidFill>
                  <a:srgbClr val="222B35"/>
                </a:solidFill>
                <a:latin typeface="Malgun Gothic"/>
              </a:rPr>
              <a:t>+0.146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812280" y="3968496"/>
            <a:ext cx="3099816" cy="2103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 i="0">
                <a:solidFill>
                  <a:srgbClr val="222B35"/>
                </a:solidFill>
                <a:latin typeface="Malgun Gothic"/>
              </a:rPr>
              <a:t>+0.061 [−0.075, +0.267]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0058400" y="3968496"/>
            <a:ext cx="1572768" cy="2103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 i="0">
                <a:solidFill>
                  <a:srgbClr val="222B35"/>
                </a:solidFill>
                <a:latin typeface="Malgun Gothic"/>
              </a:rPr>
              <a:t>+0.084</a:t>
            </a:r>
          </a:p>
        </p:txBody>
      </p:sp>
      <p:sp>
        <p:nvSpPr>
          <p:cNvPr id="50" name="Rectangle 49"/>
          <p:cNvSpPr/>
          <p:nvPr/>
        </p:nvSpPr>
        <p:spPr>
          <a:xfrm>
            <a:off x="502920" y="4187571"/>
            <a:ext cx="11183112" cy="9525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502920" y="4197096"/>
            <a:ext cx="11183112" cy="301752"/>
          </a:xfrm>
          <a:prstGeom prst="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594360" y="4270248"/>
            <a:ext cx="2871216" cy="2103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 i="0">
                <a:solidFill>
                  <a:srgbClr val="222B35"/>
                </a:solidFill>
                <a:latin typeface="Malgun Gothic"/>
              </a:rPr>
              <a:t/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3611880" y="4270248"/>
            <a:ext cx="950976" cy="2103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 i="0">
                <a:solidFill>
                  <a:srgbClr val="222B35"/>
                </a:solidFill>
                <a:latin typeface="Malgun Gothic"/>
              </a:rPr>
              <a:t>1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4709160" y="4270248"/>
            <a:ext cx="1956816" cy="2103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 i="0">
                <a:solidFill>
                  <a:srgbClr val="222B35"/>
                </a:solidFill>
                <a:latin typeface="Malgun Gothic"/>
              </a:rPr>
              <a:t>+0.188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6812280" y="4270248"/>
            <a:ext cx="3099816" cy="2103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 i="0">
                <a:solidFill>
                  <a:srgbClr val="222B35"/>
                </a:solidFill>
                <a:latin typeface="Malgun Gothic"/>
              </a:rPr>
              <a:t>+0.132 [−0.064, +0.274]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0058400" y="4270248"/>
            <a:ext cx="1572768" cy="2103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 i="0">
                <a:solidFill>
                  <a:srgbClr val="222B35"/>
                </a:solidFill>
                <a:latin typeface="Malgun Gothic"/>
              </a:rPr>
              <a:t>+0.056</a:t>
            </a:r>
          </a:p>
        </p:txBody>
      </p:sp>
      <p:sp>
        <p:nvSpPr>
          <p:cNvPr id="57" name="Rectangle 56"/>
          <p:cNvSpPr/>
          <p:nvPr/>
        </p:nvSpPr>
        <p:spPr>
          <a:xfrm>
            <a:off x="502920" y="4489323"/>
            <a:ext cx="11183112" cy="9525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594360" y="4572000"/>
            <a:ext cx="2871216" cy="2103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 i="0">
                <a:solidFill>
                  <a:srgbClr val="222B35"/>
                </a:solidFill>
                <a:latin typeface="Malgun Gothic"/>
              </a:rPr>
              <a:t/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3611880" y="4572000"/>
            <a:ext cx="950976" cy="2103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 i="0">
                <a:solidFill>
                  <a:srgbClr val="222B35"/>
                </a:solidFill>
                <a:latin typeface="Malgun Gothic"/>
              </a:rPr>
              <a:t>7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4709160" y="4572000"/>
            <a:ext cx="1956816" cy="2103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 i="0">
                <a:solidFill>
                  <a:srgbClr val="222B35"/>
                </a:solidFill>
                <a:latin typeface="Malgun Gothic"/>
              </a:rPr>
              <a:t>+0.280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6812280" y="4572000"/>
            <a:ext cx="3099816" cy="2103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 i="0">
                <a:solidFill>
                  <a:srgbClr val="2E9E5B"/>
                </a:solidFill>
                <a:latin typeface="Malgun Gothic"/>
              </a:rPr>
              <a:t>+0.211 [+0.050, +0.374]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10058400" y="4572000"/>
            <a:ext cx="1572768" cy="2103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 i="0">
                <a:solidFill>
                  <a:srgbClr val="222B35"/>
                </a:solidFill>
                <a:latin typeface="Malgun Gothic"/>
              </a:rPr>
              <a:t>+0.069</a:t>
            </a:r>
          </a:p>
        </p:txBody>
      </p:sp>
      <p:sp>
        <p:nvSpPr>
          <p:cNvPr id="63" name="Rectangle 62"/>
          <p:cNvSpPr/>
          <p:nvPr/>
        </p:nvSpPr>
        <p:spPr>
          <a:xfrm>
            <a:off x="502920" y="4791075"/>
            <a:ext cx="11183112" cy="9525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Rectangle 63"/>
          <p:cNvSpPr/>
          <p:nvPr/>
        </p:nvSpPr>
        <p:spPr>
          <a:xfrm>
            <a:off x="502920" y="4800600"/>
            <a:ext cx="11183112" cy="301752"/>
          </a:xfrm>
          <a:prstGeom prst="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594360" y="4873752"/>
            <a:ext cx="2871216" cy="2103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 i="0">
                <a:solidFill>
                  <a:srgbClr val="222B35"/>
                </a:solidFill>
                <a:latin typeface="Malgun Gothic"/>
              </a:rPr>
              <a:t/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3611880" y="4873752"/>
            <a:ext cx="950976" cy="2103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 i="0">
                <a:solidFill>
                  <a:srgbClr val="222B35"/>
                </a:solidFill>
                <a:latin typeface="Malgun Gothic"/>
              </a:rPr>
              <a:t>123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4709160" y="4873752"/>
            <a:ext cx="1956816" cy="2103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 i="0">
                <a:solidFill>
                  <a:srgbClr val="222B35"/>
                </a:solidFill>
                <a:latin typeface="Malgun Gothic"/>
              </a:rPr>
              <a:t>+0.264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6812280" y="4873752"/>
            <a:ext cx="3099816" cy="2103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 i="0">
                <a:solidFill>
                  <a:srgbClr val="222B35"/>
                </a:solidFill>
                <a:latin typeface="Malgun Gothic"/>
              </a:rPr>
              <a:t>+0.175 [−0.025, +0.290]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10058400" y="4873752"/>
            <a:ext cx="1572768" cy="2103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 i="0">
                <a:solidFill>
                  <a:srgbClr val="222B35"/>
                </a:solidFill>
                <a:latin typeface="Malgun Gothic"/>
              </a:rPr>
              <a:t>+0.090</a:t>
            </a:r>
          </a:p>
        </p:txBody>
      </p:sp>
      <p:sp>
        <p:nvSpPr>
          <p:cNvPr id="70" name="Rectangle 69"/>
          <p:cNvSpPr/>
          <p:nvPr/>
        </p:nvSpPr>
        <p:spPr>
          <a:xfrm>
            <a:off x="502920" y="5092827"/>
            <a:ext cx="11183112" cy="9525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Rounded Rectangle 70"/>
          <p:cNvSpPr/>
          <p:nvPr/>
        </p:nvSpPr>
        <p:spPr>
          <a:xfrm>
            <a:off x="502920" y="5175504"/>
            <a:ext cx="5513832" cy="1133856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Rectangle 71"/>
          <p:cNvSpPr/>
          <p:nvPr/>
        </p:nvSpPr>
        <p:spPr>
          <a:xfrm>
            <a:off x="502920" y="5175504"/>
            <a:ext cx="91440" cy="1133856"/>
          </a:xfrm>
          <a:prstGeom prst="rect">
            <a:avLst/>
          </a:prstGeom>
          <a:solidFill>
            <a:srgbClr val="2B6C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740664" y="5285232"/>
            <a:ext cx="5148072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2B6CB0"/>
                </a:solidFill>
                <a:latin typeface="Malgun Gothic"/>
              </a:rPr>
              <a:t>방법 — 한 문단으로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740664" y="5687568"/>
            <a:ext cx="5129784" cy="49377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Δt × 국소 활동도로 사후 층화해 재가중. 활동 플래그는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자기 행을 제외한 이웃에서 계산되므로 결측 행에서도 정의된다.</a:t>
            </a:r>
          </a:p>
        </p:txBody>
      </p:sp>
      <p:sp>
        <p:nvSpPr>
          <p:cNvPr id="75" name="Rounded Rectangle 74"/>
          <p:cNvSpPr/>
          <p:nvPr/>
        </p:nvSpPr>
        <p:spPr>
          <a:xfrm>
            <a:off x="6172200" y="5175504"/>
            <a:ext cx="5513832" cy="1133856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Rectangle 75"/>
          <p:cNvSpPr/>
          <p:nvPr/>
        </p:nvSpPr>
        <p:spPr>
          <a:xfrm>
            <a:off x="6172200" y="5175504"/>
            <a:ext cx="91440" cy="1133856"/>
          </a:xfrm>
          <a:prstGeom prst="rect">
            <a:avLst/>
          </a:prstGeom>
          <a:solidFill>
            <a:srgbClr val="2E9E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409944" y="5285232"/>
            <a:ext cx="5148072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2E9E5B"/>
                </a:solidFill>
                <a:latin typeface="Malgun Gothic"/>
              </a:rPr>
              <a:t>결론 문장 (그대로 인용 가능)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6409944" y="5687568"/>
            <a:ext cx="5129784" cy="49377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진짜 결측·도메인 내 시점에서 이 나우캐스터는 어떤 인과적 CES 전용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방법보다 유의하게 낫고(4/4, +0.29), 오프라인 우위는 미입증(1/4).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201168" cy="1170432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82880"/>
            <a:ext cx="1124712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C0392B"/>
                </a:solidFill>
                <a:latin typeface="Malgun Gothic"/>
              </a:rPr>
              <a:t>§6.5  sec:campaign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5488" y="457200"/>
            <a:ext cx="11338560" cy="65836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2700" b="1" i="0">
                <a:solidFill>
                  <a:srgbClr val="13335F"/>
                </a:solidFill>
                <a:latin typeface="Malgun Gothic"/>
              </a:rPr>
              <a:t>캠페인 이동 — 실패를 측정하고, 지목한 수리를 실행했다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1078992"/>
            <a:ext cx="11201400" cy="25400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731520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AA5B1"/>
                </a:solidFill>
                <a:latin typeface="Malgun Gothic"/>
              </a:rPr>
              <a:t>KSTAR CES Nowcasting — 다중진단 기반 CES 결측 구간 예측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455664"/>
            <a:ext cx="1097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 i="0">
                <a:solidFill>
                  <a:srgbClr val="9AA5B1"/>
                </a:solidFill>
                <a:latin typeface="Malgun Gothic"/>
              </a:rPr>
              <a:t>11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" y="1325880"/>
            <a:ext cx="3657600" cy="2148840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02920" y="1325880"/>
            <a:ext cx="91440" cy="2148840"/>
          </a:xfrm>
          <a:prstGeom prst="rect">
            <a:avLst/>
          </a:prstGeom>
          <a:solidFill>
            <a:srgbClr val="1333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40664" y="1435607"/>
            <a:ext cx="329184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13335F"/>
                </a:solidFill>
                <a:latin typeface="Malgun Gothic"/>
              </a:rPr>
              <a:t>① 설계 — 시간으로 자른 분할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40664" y="1837943"/>
            <a:ext cx="3273552" cy="1508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22B35"/>
                </a:solidFill>
                <a:latin typeface="Malgun Gothic"/>
              </a:rPr>
              <a:t>shot 번호로 정렬해 엄격히 절단: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22B35"/>
                </a:solidFill>
                <a:latin typeface="Malgun Gothic"/>
              </a:rPr>
              <a:t>train 416 [30801, 31991]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22B35"/>
                </a:solidFill>
                <a:latin typeface="Malgun Gothic"/>
              </a:rPr>
              <a:t>val 128 [32002, 32310]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22B35"/>
                </a:solidFill>
                <a:latin typeface="Malgun Gothic"/>
              </a:rPr>
              <a:t>test 97 [32312, 32751]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22B35"/>
                </a:solidFill>
                <a:latin typeface="Malgun Gothic"/>
              </a:rPr>
              <a:t>어떤 test shot도 어떤 train shot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22B35"/>
                </a:solidFill>
                <a:latin typeface="Malgun Gothic"/>
              </a:rPr>
              <a:t>보다 앞서지 않는다. 바뀐 변수는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22B35"/>
                </a:solidFill>
                <a:latin typeface="Malgun Gothic"/>
              </a:rPr>
              <a:t>분할 규칙뿐이고, 네 실행은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22B35"/>
                </a:solidFill>
                <a:latin typeface="Malgun Gothic"/>
              </a:rPr>
              <a:t>초기화 시드만 다르다.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315968" y="1325880"/>
            <a:ext cx="3657600" cy="2148840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315968" y="1325880"/>
            <a:ext cx="91440" cy="2148840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553712" y="1435607"/>
            <a:ext cx="329184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C0392B"/>
                </a:solidFill>
                <a:latin typeface="Malgun Gothic"/>
              </a:rPr>
              <a:t>② 결과 — 오프라인 주장이 죽는다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53712" y="1837943"/>
            <a:ext cx="3273552" cy="1508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22B35"/>
                </a:solidFill>
                <a:latin typeface="Malgun Gothic"/>
              </a:rPr>
              <a:t>PCHIP 대비: +0.051 / +0.044 /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22B35"/>
                </a:solidFill>
                <a:latin typeface="Malgun Gothic"/>
              </a:rPr>
              <a:t>  −0.148 / −0.018 → 평균 −0.018,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22B35"/>
                </a:solidFill>
                <a:latin typeface="Malgun Gothic"/>
              </a:rPr>
              <a:t>  0/4 PASS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22B35"/>
                </a:solidFill>
                <a:latin typeface="Malgun Gothic"/>
              </a:rPr>
              <a:t>persistence 대비: +0.275 / +0.270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22B35"/>
                </a:solidFill>
                <a:latin typeface="Malgun Gothic"/>
              </a:rPr>
              <a:t>  / +0.123 / +0.223 → 평균 +0.222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22B35"/>
                </a:solidFill>
                <a:latin typeface="Malgun Gothic"/>
              </a:rPr>
              <a:t>test 구간은 모든 팔에게 더 어렵지만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22B35"/>
                </a:solidFill>
                <a:latin typeface="Malgun Gothic"/>
              </a:rPr>
              <a:t>skill이 그것을 정규화한다 — 즉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22B35"/>
                </a:solidFill>
                <a:latin typeface="Malgun Gothic"/>
              </a:rPr>
              <a:t>보간 ‘대비’ 손실이다.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129016" y="1325880"/>
            <a:ext cx="3557016" cy="2148840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129016" y="1325880"/>
            <a:ext cx="91440" cy="2148840"/>
          </a:xfrm>
          <a:prstGeom prst="rect">
            <a:avLst/>
          </a:prstGeom>
          <a:solidFill>
            <a:srgbClr val="E874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366760" y="1435607"/>
            <a:ext cx="3191256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E8743B"/>
                </a:solidFill>
                <a:latin typeface="Malgun Gothic"/>
              </a:rPr>
              <a:t>③ 원인 — 주장이 아니라 측정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366760" y="1837943"/>
            <a:ext cx="3172968" cy="1508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22B35"/>
                </a:solidFill>
                <a:latin typeface="Malgun Gothic"/>
              </a:rPr>
              <a:t>train→test 드리프트(정규화 단위,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22B35"/>
                </a:solidFill>
                <a:latin typeface="Malgun Gothic"/>
              </a:rPr>
              <a:t>중앙값):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22B35"/>
                </a:solidFill>
                <a:latin typeface="Malgun Gothic"/>
              </a:rPr>
              <a:t>· BES 1.22 σ (스케일비 0.75)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22B35"/>
                </a:solidFill>
                <a:latin typeface="Malgun Gothic"/>
              </a:rPr>
              <a:t>· ECEI 0.53 σ (0.62)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22B35"/>
                </a:solidFill>
                <a:latin typeface="Malgun Gothic"/>
              </a:rPr>
              <a:t>· CES 타겟 0.115 σ (1.06)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22B35"/>
                </a:solidFill>
                <a:latin typeface="Malgun Gothic"/>
              </a:rPr>
              <a:t>고속 진단이 예측 대상보다 5–11배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22B35"/>
                </a:solidFill>
                <a:latin typeface="Malgun Gothic"/>
              </a:rPr>
              <a:t>더 이동한다. 이력 경로는 온전해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22B35"/>
                </a:solidFill>
                <a:latin typeface="Malgun Gothic"/>
              </a:rPr>
              <a:t>persistence 마진은 유지된다.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02920" y="3520440"/>
            <a:ext cx="5513832" cy="2148840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502920" y="3520440"/>
            <a:ext cx="91440" cy="2148840"/>
          </a:xfrm>
          <a:prstGeom prst="rect">
            <a:avLst/>
          </a:prstGeom>
          <a:solidFill>
            <a:srgbClr val="2E9E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40664" y="3630168"/>
            <a:ext cx="5148072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2E9E5B"/>
                </a:solidFill>
                <a:latin typeface="Malgun Gothic"/>
              </a:rPr>
              <a:t>④ 수리 — 고속 진단의 shot별 표준화 (§8s)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40664" y="4032504"/>
            <a:ext cx="5129784" cy="1508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22B35"/>
                </a:solidFill>
                <a:latin typeface="Malgun Gothic"/>
              </a:rPr>
              <a:t>각 방전의 고속 진단을 그 방전 자신의 평균·분산으로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22B35"/>
                </a:solidFill>
                <a:latin typeface="Malgun Gothic"/>
              </a:rPr>
              <a:t>적재 시점에 표준화(타겟 불변 → 기준선도 불변).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22B35"/>
                </a:solidFill>
                <a:latin typeface="Malgun Gothic"/>
              </a:rPr>
              <a:t>· 캠페인 분할: 짝지은 Tᵢ가 4/4 초기화에서 +0.10~+0.29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22B35"/>
                </a:solidFill>
                <a:latin typeface="Malgun Gothic"/>
              </a:rPr>
              <a:t>  개선(평균 +0.155), 95% CI 모두 0 제외.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22B35"/>
                </a:solidFill>
                <a:latin typeface="Malgun Gothic"/>
              </a:rPr>
              <a:t>  PCHIP 관문 0/4 → 2/4 (+0.18, +0.14, +0.19, +0.08)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22B35"/>
                </a:solidFill>
                <a:latin typeface="Malgun Gothic"/>
              </a:rPr>
              <a:t>· V_rot 불변(−0.019) — 예상된 음성 대조군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22B35"/>
                </a:solidFill>
                <a:latin typeface="Malgun Gothic"/>
              </a:rPr>
              <a:t>· 헤드라인 분할 비용: 어느 시드도 유의한 손실 없음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22B35"/>
                </a:solidFill>
                <a:latin typeface="Malgun Gothic"/>
              </a:rPr>
              <a:t>  (평균 −0.036, 최악 −0.127이며 CI 상한 +0.008)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172200" y="3520440"/>
            <a:ext cx="5513832" cy="2148840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6172200" y="3520440"/>
            <a:ext cx="91440" cy="2148840"/>
          </a:xfrm>
          <a:prstGeom prst="rect">
            <a:avLst/>
          </a:prstGeom>
          <a:solidFill>
            <a:srgbClr val="1333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409944" y="3630168"/>
            <a:ext cx="5148072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13335F"/>
                </a:solidFill>
                <a:latin typeface="Malgun Gothic"/>
              </a:rPr>
              <a:t>⑤ ‘공짜’가 아니라 ‘측정 가능한 비용 없음’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409944" y="4032504"/>
            <a:ext cx="5129784" cy="1508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22B35"/>
                </a:solidFill>
                <a:latin typeface="Malgun Gothic"/>
              </a:rPr>
              <a:t>· 수리는 기제도 인과적으로 확정한다: 캠페인 손실이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22B35"/>
                </a:solidFill>
                <a:latin typeface="Malgun Gothic"/>
              </a:rPr>
              <a:t>  물리의 변화였다면 입력의 수준 이동을 제거하는 것으로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22B35"/>
                </a:solidFill>
                <a:latin typeface="Malgun Gothic"/>
              </a:rPr>
              <a:t>  회복될 수 없었다.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22B35"/>
                </a:solidFill>
                <a:latin typeface="Malgun Gothic"/>
              </a:rPr>
              <a:t>· 정직한 주의: shot별 표준화는 절대 수준 정보도 버리고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22B35"/>
                </a:solidFill>
                <a:latin typeface="Malgun Gothic"/>
              </a:rPr>
              <a:t>  그것이 Tᵢ 정보를 나를 수 있다(BES 높음 ↔ 밀도 높음).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22B35"/>
                </a:solidFill>
                <a:latin typeface="Malgun Gothic"/>
              </a:rPr>
              <a:t>  그래서 가정이 아니라 통제 실험으로 확인했다.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22B35"/>
                </a:solidFill>
                <a:latin typeface="Malgun Gothic"/>
              </a:rPr>
              <a:t>· 남은 미검증: 배치 가능한 형태(인과 running / EWMA).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22B35"/>
                </a:solidFill>
                <a:latin typeface="Malgun Gothic"/>
              </a:rPr>
              <a:t>  shot별 표준화는 이 계열의 오프라인 상한이다.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201168" cy="1170432"/>
          </a:xfrm>
          <a:prstGeom prst="rect">
            <a:avLst/>
          </a:prstGeom>
          <a:solidFill>
            <a:srgbClr val="E874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82880"/>
            <a:ext cx="1124712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E8743B"/>
                </a:solidFill>
                <a:latin typeface="Malgun Gothic"/>
              </a:rPr>
              <a:t>§6.6  sec:asym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5488" y="457200"/>
            <a:ext cx="11338560" cy="65836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2700" b="1" i="0">
                <a:solidFill>
                  <a:srgbClr val="13335F"/>
                </a:solidFill>
                <a:latin typeface="Malgun Gothic"/>
              </a:rPr>
              <a:t>Tᵢ ↔ V_rot 정보 비대칭 — 본 연구의 과학적 발견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1078992"/>
            <a:ext cx="11201400" cy="25400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731520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AA5B1"/>
                </a:solidFill>
                <a:latin typeface="Malgun Gothic"/>
              </a:rPr>
              <a:t>KSTAR CES Nowcasting — 다중진단 기반 CES 결측 구간 예측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455664"/>
            <a:ext cx="1097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 i="0">
                <a:solidFill>
                  <a:srgbClr val="9AA5B1"/>
                </a:solidFill>
                <a:latin typeface="Malgun Gothic"/>
              </a:rPr>
              <a:t>12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920" y="1325880"/>
            <a:ext cx="6583680" cy="402336"/>
          </a:xfrm>
          <a:prstGeom prst="rect">
            <a:avLst/>
          </a:prstGeom>
          <a:solidFill>
            <a:srgbClr val="1333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94360" y="1389888"/>
            <a:ext cx="3054096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FFFFFF"/>
                </a:solidFill>
                <a:latin typeface="Malgun Gothic"/>
              </a:rPr>
              <a:t>입력 모달리티 절제 (val, vs persistence)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794760" y="1389888"/>
            <a:ext cx="1545336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FFFFFF"/>
                </a:solidFill>
                <a:latin typeface="Malgun Gothic"/>
              </a:rPr>
              <a:t>Tᵢ skill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0" y="1389888"/>
            <a:ext cx="1545336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FFFFFF"/>
                </a:solidFill>
                <a:latin typeface="Malgun Gothic"/>
              </a:rPr>
              <a:t>V_rot skill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94360" y="1801368"/>
            <a:ext cx="3054096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 i="0">
                <a:solidFill>
                  <a:srgbClr val="222B35"/>
                </a:solidFill>
                <a:latin typeface="Malgun Gothic"/>
              </a:rPr>
              <a:t>전체 (이력 + 고속 진단 + 시간)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794760" y="1801368"/>
            <a:ext cx="1545336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 i="0">
                <a:solidFill>
                  <a:srgbClr val="222B35"/>
                </a:solidFill>
                <a:latin typeface="Malgun Gothic"/>
              </a:rPr>
              <a:t>+0.43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86400" y="1801368"/>
            <a:ext cx="1545336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 i="0">
                <a:solidFill>
                  <a:srgbClr val="222B35"/>
                </a:solidFill>
                <a:latin typeface="Malgun Gothic"/>
              </a:rPr>
              <a:t>+0.30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2920" y="2121027"/>
            <a:ext cx="6583680" cy="9525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02920" y="2130552"/>
            <a:ext cx="6583680" cy="402336"/>
          </a:xfrm>
          <a:prstGeom prst="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94360" y="2203704"/>
            <a:ext cx="3054096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 i="0">
                <a:solidFill>
                  <a:srgbClr val="222B35"/>
                </a:solidFill>
                <a:latin typeface="Malgun Gothic"/>
              </a:rPr>
              <a:t>이력만 (no_fast)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794760" y="2203704"/>
            <a:ext cx="1545336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 i="0">
                <a:solidFill>
                  <a:srgbClr val="222B35"/>
                </a:solidFill>
                <a:latin typeface="Malgun Gothic"/>
              </a:rPr>
              <a:t>+0.46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486400" y="2203704"/>
            <a:ext cx="1545336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 i="0">
                <a:solidFill>
                  <a:srgbClr val="222B35"/>
                </a:solidFill>
                <a:latin typeface="Malgun Gothic"/>
              </a:rPr>
              <a:t>+0.29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02920" y="2523363"/>
            <a:ext cx="6583680" cy="9525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502920" y="2532888"/>
            <a:ext cx="6583680" cy="402336"/>
          </a:xfrm>
          <a:prstGeom prst="rect">
            <a:avLst/>
          </a:prstGeom>
          <a:solidFill>
            <a:srgbClr val="FFF3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94360" y="2606040"/>
            <a:ext cx="3054096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222B35"/>
                </a:solidFill>
                <a:latin typeface="Malgun Gothic"/>
              </a:rPr>
              <a:t>고속 진단만 (no_history)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794760" y="2606040"/>
            <a:ext cx="1545336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2E9E5B"/>
                </a:solidFill>
                <a:latin typeface="Malgun Gothic"/>
              </a:rPr>
              <a:t>+0.37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486400" y="2606040"/>
            <a:ext cx="1545336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C0392B"/>
                </a:solidFill>
                <a:latin typeface="Malgun Gothic"/>
              </a:rPr>
              <a:t>−0.64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02920" y="2925699"/>
            <a:ext cx="6583680" cy="9525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02920" y="3063240"/>
            <a:ext cx="6035040" cy="9144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13335F"/>
                </a:solidFill>
                <a:latin typeface="Malgun Gothic"/>
              </a:rPr>
              <a:t>읽는 법: </a:t>
            </a:r>
            <a:r>
              <a:rPr sz="1250" b="0" i="0">
                <a:solidFill>
                  <a:srgbClr val="222B35"/>
                </a:solidFill>
                <a:latin typeface="Malgun Gothic"/>
              </a:rPr>
              <a:t>고속 진단만 주면 Tᵢ는 여전히 persistence를 크게 이기지만(+0.37 = 전체 +0.43의 대부분), V_rot은 −0.64이고 평균 예측 대비 R² = −0.06 — </a:t>
            </a:r>
            <a:r>
              <a:rPr sz="1250" b="1" i="0">
                <a:solidFill>
                  <a:srgbClr val="E8743B"/>
                </a:solidFill>
                <a:latin typeface="Malgun Gothic"/>
              </a:rPr>
              <a:t>입력을 무시하고 평균을 내놓는 것보다 엄격히 나쁘다.</a:t>
            </a:r>
          </a:p>
        </p:txBody>
      </p:sp>
      <p:pic>
        <p:nvPicPr>
          <p:cNvPr id="29" name="Picture 28" descr="fig_abla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1648" y="3977639"/>
            <a:ext cx="4348943" cy="2103120"/>
          </a:xfrm>
          <a:prstGeom prst="rect">
            <a:avLst/>
          </a:prstGeom>
        </p:spPr>
      </p:pic>
      <p:sp>
        <p:nvSpPr>
          <p:cNvPr id="30" name="Rounded Rectangle 29"/>
          <p:cNvSpPr/>
          <p:nvPr/>
        </p:nvSpPr>
        <p:spPr>
          <a:xfrm>
            <a:off x="6172200" y="1325880"/>
            <a:ext cx="5513832" cy="2148840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6172200" y="1325880"/>
            <a:ext cx="91440" cy="2148840"/>
          </a:xfrm>
          <a:prstGeom prst="rect">
            <a:avLst/>
          </a:prstGeom>
          <a:solidFill>
            <a:srgbClr val="E874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409944" y="1435607"/>
            <a:ext cx="5148072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E8743B"/>
                </a:solidFill>
                <a:latin typeface="Malgun Gothic"/>
              </a:rPr>
              <a:t>물리적 근거 — 절제 이전에 예측되었다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409944" y="1837943"/>
            <a:ext cx="5129784" cy="1508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150" b="0" i="0">
                <a:solidFill>
                  <a:srgbClr val="222B35"/>
                </a:solidFill>
                <a:latin typeface="Malgun Gothic"/>
              </a:rPr>
              <a:t>· Tᵢ: 충돌 전자–이온 결합 (t_ei ∝ Tₑ^{3/2}/nₑ).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150" b="0" i="0">
                <a:solidFill>
                  <a:srgbClr val="222B35"/>
                </a:solidFill>
                <a:latin typeface="Malgun Gothic"/>
              </a:rPr>
              <a:t>  ECEI가 Tₑ를, BES가 nₑ 구조를 공급한다.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150" b="0" i="0">
                <a:solidFill>
                  <a:srgbClr val="222B35"/>
                </a:solidFill>
                <a:latin typeface="Malgun Gothic"/>
              </a:rPr>
              <a:t>· V_rot: 토로이달 회전은 우리 입력이 관측하지 못하는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150" b="0" i="0">
                <a:solidFill>
                  <a:srgbClr val="222B35"/>
                </a:solidFill>
                <a:latin typeface="Malgun Gothic"/>
              </a:rPr>
              <a:t>  운동량 소스 — 외부 NBI 토크와 고유 회전 구동 —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150" b="0" i="0">
                <a:solidFill>
                  <a:srgbClr val="222B35"/>
                </a:solidFill>
                <a:latin typeface="Malgun Gothic"/>
              </a:rPr>
              <a:t>  이 지배한다.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150" b="0" i="0">
                <a:solidFill>
                  <a:srgbClr val="222B35"/>
                </a:solidFill>
                <a:latin typeface="Malgun Gothic"/>
              </a:rPr>
              <a:t>· Mirnov는 100 Hz로 샘플되어 회전을 대리할 수 있었던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150" b="0" i="0">
                <a:solidFill>
                  <a:srgbClr val="222B35"/>
                </a:solidFill>
                <a:latin typeface="Malgun Gothic"/>
              </a:rPr>
              <a:t>  kHz 모드 회전 주파수가 앨리어싱으로 사라진다.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6172200" y="3611880"/>
            <a:ext cx="5513832" cy="2468880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6172200" y="3611880"/>
            <a:ext cx="91440" cy="2468880"/>
          </a:xfrm>
          <a:prstGeom prst="rect">
            <a:avLst/>
          </a:prstGeom>
          <a:solidFill>
            <a:srgbClr val="1333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409944" y="3721608"/>
            <a:ext cx="5148072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13335F"/>
                </a:solidFill>
                <a:latin typeface="Malgun Gothic"/>
              </a:rPr>
              <a:t>이 절이 논문에서 하는 세 가지 일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409944" y="4123944"/>
            <a:ext cx="5129784" cy="18288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150" b="0" i="0">
                <a:solidFill>
                  <a:srgbClr val="222B35"/>
                </a:solidFill>
                <a:latin typeface="Malgun Gothic"/>
              </a:rPr>
              <a:t>· V_rot의 비-승리를 모델 실패가 아니라 진단 정보 내용에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150" b="0" i="0">
                <a:solidFill>
                  <a:srgbClr val="222B35"/>
                </a:solidFill>
                <a:latin typeface="Malgun Gothic"/>
              </a:rPr>
              <a:t>  관한 발견으로 재정의한다.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150" b="0" i="0">
                <a:solidFill>
                  <a:srgbClr val="222B35"/>
                </a:solidFill>
                <a:latin typeface="Malgun Gothic"/>
              </a:rPr>
              <a:t>· §4의 타겟별 라우팅(V_rot 헤드에서 고속 진단 차단)을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150" b="0" i="0">
                <a:solidFill>
                  <a:srgbClr val="222B35"/>
                </a:solidFill>
                <a:latin typeface="Malgun Gothic"/>
              </a:rPr>
              <a:t>  사후 합리화가 아닌 근거 기반 설계로 만든다.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150" b="0" i="0">
                <a:solidFill>
                  <a:srgbClr val="222B35"/>
                </a:solidFill>
                <a:latin typeface="Malgun Gothic"/>
              </a:rPr>
              <a:t>· §9 레버 2·3(원 kHz Mirnov, NBI 토크)의 출발점을 놓는다.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150" b="0" i="0">
                <a:solidFill>
                  <a:srgbClr val="222B35"/>
                </a:solidFill>
                <a:latin typeface="Malgun Gothic"/>
              </a:rPr>
              <a:t>인용 시 주의: 검증 분할 절제이며, 동일 학습 예산 · 한 번에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150" b="0" i="0">
                <a:solidFill>
                  <a:srgbClr val="222B35"/>
                </a:solidFill>
                <a:latin typeface="Malgun Gothic"/>
              </a:rPr>
              <a:t>한 모달리티 그룹만 0 · persistence는 항상 실제 이력에서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150" b="0" i="0">
                <a:solidFill>
                  <a:srgbClr val="222B35"/>
                </a:solidFill>
                <a:latin typeface="Malgun Gothic"/>
              </a:rPr>
              <a:t>계산한다.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201168" cy="1170432"/>
          </a:xfrm>
          <a:prstGeom prst="rect">
            <a:avLst/>
          </a:prstGeom>
          <a:solidFill>
            <a:srgbClr val="2E9E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82880"/>
            <a:ext cx="1124712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2E9E5B"/>
                </a:solidFill>
                <a:latin typeface="Malgun Gothic"/>
              </a:rPr>
              <a:t>§6.7–6.8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5488" y="457200"/>
            <a:ext cx="11338560" cy="65836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2700" b="1" i="0">
                <a:solidFill>
                  <a:srgbClr val="13335F"/>
                </a:solidFill>
                <a:latin typeface="Malgun Gothic"/>
              </a:rPr>
              <a:t>이력은 관측 하나면 충분하고, 복잡도가 사는 것은 정량화된다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1078992"/>
            <a:ext cx="11201400" cy="25400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731520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AA5B1"/>
                </a:solidFill>
                <a:latin typeface="Malgun Gothic"/>
              </a:rPr>
              <a:t>KSTAR CES Nowcasting — 다중진단 기반 CES 결측 구간 예측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455664"/>
            <a:ext cx="1097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 i="0">
                <a:solidFill>
                  <a:srgbClr val="9AA5B1"/>
                </a:solidFill>
                <a:latin typeface="Malgun Gothic"/>
              </a:rPr>
              <a:t>13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920" y="1325880"/>
            <a:ext cx="6446520" cy="402336"/>
          </a:xfrm>
          <a:prstGeom prst="rect">
            <a:avLst/>
          </a:prstGeom>
          <a:solidFill>
            <a:srgbClr val="1333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94360" y="1389888"/>
            <a:ext cx="1271016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FFFFFF"/>
                </a:solidFill>
                <a:latin typeface="Malgun Gothic"/>
              </a:rPr>
              <a:t>이력 관측 수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011680" y="1389888"/>
            <a:ext cx="950976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FFFFFF"/>
                </a:solidFill>
                <a:latin typeface="Malgun Gothic"/>
              </a:rPr>
              <a:t>W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108960" y="1389888"/>
            <a:ext cx="1042416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FFFFFF"/>
                </a:solidFill>
                <a:latin typeface="Malgun Gothic"/>
              </a:rPr>
              <a:t>Tᵢ skill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297680" y="1389888"/>
            <a:ext cx="630936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FFFFFF"/>
                </a:solidFill>
                <a:latin typeface="Malgun Gothic"/>
              </a:rPr>
              <a:t>PASS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74920" y="1389888"/>
            <a:ext cx="1042416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FFFFFF"/>
                </a:solidFill>
                <a:latin typeface="Malgun Gothic"/>
              </a:rPr>
              <a:t>V_rot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63640" y="1389888"/>
            <a:ext cx="630936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FFFFFF"/>
                </a:solidFill>
                <a:latin typeface="Malgun Gothic"/>
              </a:rPr>
              <a:t>PASS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94360" y="1801368"/>
            <a:ext cx="1271016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0 (no_history)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011680" y="1801368"/>
            <a:ext cx="950976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108960" y="1801368"/>
            <a:ext cx="1042416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C0392B"/>
                </a:solidFill>
                <a:latin typeface="Malgun Gothic"/>
              </a:rPr>
              <a:t>−0.026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297680" y="1801368"/>
            <a:ext cx="630936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0/4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074920" y="1801368"/>
            <a:ext cx="1042416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C0392B"/>
                </a:solidFill>
                <a:latin typeface="Malgun Gothic"/>
              </a:rPr>
              <a:t>−0.783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263640" y="1801368"/>
            <a:ext cx="630936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0/4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02920" y="2102739"/>
            <a:ext cx="6446520" cy="9525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502920" y="2112264"/>
            <a:ext cx="6446520" cy="384048"/>
          </a:xfrm>
          <a:prstGeom prst="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94360" y="2185416"/>
            <a:ext cx="1271016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1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011680" y="2185416"/>
            <a:ext cx="950976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2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108960" y="2185416"/>
            <a:ext cx="1042416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2E9E5B"/>
                </a:solidFill>
                <a:latin typeface="Malgun Gothic"/>
              </a:rPr>
              <a:t>+0.238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297680" y="2185416"/>
            <a:ext cx="630936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4/4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074920" y="2185416"/>
            <a:ext cx="1042416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2E9E5B"/>
                </a:solidFill>
                <a:latin typeface="Malgun Gothic"/>
              </a:rPr>
              <a:t>+0.206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263640" y="2185416"/>
            <a:ext cx="630936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0/4</a:t>
            </a:r>
          </a:p>
        </p:txBody>
      </p:sp>
      <p:sp>
        <p:nvSpPr>
          <p:cNvPr id="31" name="Rectangle 30"/>
          <p:cNvSpPr/>
          <p:nvPr/>
        </p:nvSpPr>
        <p:spPr>
          <a:xfrm>
            <a:off x="502920" y="2486787"/>
            <a:ext cx="6446520" cy="9525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94360" y="2569464"/>
            <a:ext cx="1271016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2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2011680" y="2569464"/>
            <a:ext cx="950976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3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108960" y="2569464"/>
            <a:ext cx="1042416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2E9E5B"/>
                </a:solidFill>
                <a:latin typeface="Malgun Gothic"/>
              </a:rPr>
              <a:t>+0.246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297680" y="2569464"/>
            <a:ext cx="630936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4/4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074920" y="2569464"/>
            <a:ext cx="1042416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+0.203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263640" y="2569464"/>
            <a:ext cx="630936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1/4</a:t>
            </a:r>
          </a:p>
        </p:txBody>
      </p:sp>
      <p:sp>
        <p:nvSpPr>
          <p:cNvPr id="38" name="Rectangle 37"/>
          <p:cNvSpPr/>
          <p:nvPr/>
        </p:nvSpPr>
        <p:spPr>
          <a:xfrm>
            <a:off x="502920" y="2870835"/>
            <a:ext cx="6446520" cy="9525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502920" y="2880360"/>
            <a:ext cx="6446520" cy="384048"/>
          </a:xfrm>
          <a:prstGeom prst="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594360" y="2953512"/>
            <a:ext cx="1271016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3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2011680" y="2953512"/>
            <a:ext cx="950976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4 (기본)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3108960" y="2953512"/>
            <a:ext cx="1042416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+0.221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297680" y="2953512"/>
            <a:ext cx="630936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3/4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5074920" y="2953512"/>
            <a:ext cx="1042416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+0.190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263640" y="2953512"/>
            <a:ext cx="630936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1/4</a:t>
            </a:r>
          </a:p>
        </p:txBody>
      </p:sp>
      <p:sp>
        <p:nvSpPr>
          <p:cNvPr id="46" name="Rectangle 45"/>
          <p:cNvSpPr/>
          <p:nvPr/>
        </p:nvSpPr>
        <p:spPr>
          <a:xfrm>
            <a:off x="502920" y="3254883"/>
            <a:ext cx="6446520" cy="9525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594360" y="3337560"/>
            <a:ext cx="1271016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5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2011680" y="3337560"/>
            <a:ext cx="950976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6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3108960" y="3337560"/>
            <a:ext cx="1042416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+0.190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4297680" y="3337560"/>
            <a:ext cx="630936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3/4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5074920" y="3337560"/>
            <a:ext cx="1042416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+0.205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6263640" y="3337560"/>
            <a:ext cx="630936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1/4</a:t>
            </a:r>
          </a:p>
        </p:txBody>
      </p:sp>
      <p:sp>
        <p:nvSpPr>
          <p:cNvPr id="53" name="Rectangle 52"/>
          <p:cNvSpPr/>
          <p:nvPr/>
        </p:nvSpPr>
        <p:spPr>
          <a:xfrm>
            <a:off x="502920" y="3638931"/>
            <a:ext cx="6446520" cy="9525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Rectangle 53"/>
          <p:cNvSpPr/>
          <p:nvPr/>
        </p:nvSpPr>
        <p:spPr>
          <a:xfrm>
            <a:off x="502920" y="3648456"/>
            <a:ext cx="6446520" cy="384048"/>
          </a:xfrm>
          <a:prstGeom prst="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594360" y="3721608"/>
            <a:ext cx="1271016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7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2011680" y="3721608"/>
            <a:ext cx="950976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8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3108960" y="3721608"/>
            <a:ext cx="1042416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+0.216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4297680" y="3721608"/>
            <a:ext cx="630936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4/4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5074920" y="3721608"/>
            <a:ext cx="1042416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+0.204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6263640" y="3721608"/>
            <a:ext cx="630936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2/4</a:t>
            </a:r>
          </a:p>
        </p:txBody>
      </p:sp>
      <p:sp>
        <p:nvSpPr>
          <p:cNvPr id="61" name="Rectangle 60"/>
          <p:cNvSpPr/>
          <p:nvPr/>
        </p:nvSpPr>
        <p:spPr>
          <a:xfrm>
            <a:off x="502920" y="4022979"/>
            <a:ext cx="6446520" cy="9525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2" name="Picture 61" descr="fig_window_swee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0" y="1554589"/>
            <a:ext cx="5120640" cy="2057182"/>
          </a:xfrm>
          <a:prstGeom prst="rect">
            <a:avLst/>
          </a:prstGeom>
        </p:spPr>
      </p:pic>
      <p:sp>
        <p:nvSpPr>
          <p:cNvPr id="63" name="Rounded Rectangle 62"/>
          <p:cNvSpPr/>
          <p:nvPr/>
        </p:nvSpPr>
        <p:spPr>
          <a:xfrm>
            <a:off x="502920" y="3959352"/>
            <a:ext cx="5513832" cy="2148840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Rectangle 63"/>
          <p:cNvSpPr/>
          <p:nvPr/>
        </p:nvSpPr>
        <p:spPr>
          <a:xfrm>
            <a:off x="502920" y="3959352"/>
            <a:ext cx="91440" cy="2148840"/>
          </a:xfrm>
          <a:prstGeom prst="rect">
            <a:avLst/>
          </a:prstGeom>
          <a:solidFill>
            <a:srgbClr val="2E9E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740664" y="4069080"/>
            <a:ext cx="5148072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2E9E5B"/>
                </a:solidFill>
                <a:latin typeface="Malgun Gothic"/>
              </a:rPr>
              <a:t>선택 규칙과 그 답 — W = 2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740664" y="4471416"/>
            <a:ext cx="5129784" cy="1508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22B35"/>
                </a:solidFill>
                <a:latin typeface="Malgun Gothic"/>
              </a:rPr>
              <a:t>· 이력을 완전히 제거하면 Tᵢ는 PCHIP 아래로(−0.026),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22B35"/>
                </a:solidFill>
                <a:latin typeface="Malgun Gothic"/>
              </a:rPr>
              <a:t>  V_rot은 −0.78. 마진 전체가 고속 진단과 과거 CES의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22B35"/>
                </a:solidFill>
                <a:latin typeface="Malgun Gothic"/>
              </a:rPr>
              <a:t>  결합에서 나온다.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22B35"/>
                </a:solidFill>
                <a:latin typeface="Malgun Gothic"/>
              </a:rPr>
              <a:t>· 단 하나의 과거 관측이 두 타겟을 동시에 최대치로 올리고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22B35"/>
                </a:solidFill>
                <a:latin typeface="Malgun Gothic"/>
              </a:rPr>
              <a:t>  이후 곡선은 평탄(Tᵢ 0.190–0.246, V_rot 폭 0.016).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22B35"/>
                </a:solidFill>
                <a:latin typeface="Malgun Gothic"/>
              </a:rPr>
              <a:t>  점 하나 안의 seed 산포 0.07–0.16이 곡선보다 넓다.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22B35"/>
                </a:solidFill>
                <a:latin typeface="Malgun Gothic"/>
              </a:rPr>
              <a:t>· 넓은 window의 유일한 근거는 skill이 아니라 커버리지: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22B35"/>
                </a:solidFill>
                <a:latin typeface="Malgun Gothic"/>
              </a:rPr>
              <a:t>  W=2→8에서 Δt&gt;15 ms 456→1,958, &gt;45 ms 14→135.</a:t>
            </a:r>
          </a:p>
        </p:txBody>
      </p:sp>
      <p:sp>
        <p:nvSpPr>
          <p:cNvPr id="67" name="Rounded Rectangle 66"/>
          <p:cNvSpPr/>
          <p:nvPr/>
        </p:nvSpPr>
        <p:spPr>
          <a:xfrm>
            <a:off x="6172200" y="3959352"/>
            <a:ext cx="5513832" cy="2148840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Rectangle 67"/>
          <p:cNvSpPr/>
          <p:nvPr/>
        </p:nvSpPr>
        <p:spPr>
          <a:xfrm>
            <a:off x="6172200" y="3959352"/>
            <a:ext cx="91440" cy="2148840"/>
          </a:xfrm>
          <a:prstGeom prst="rect">
            <a:avLst/>
          </a:prstGeom>
          <a:solidFill>
            <a:srgbClr val="2B6C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9944" y="4069080"/>
            <a:ext cx="5148072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2B6CB0"/>
                </a:solidFill>
                <a:latin typeface="Malgun Gothic"/>
              </a:rPr>
              <a:t>복잡도 사다리 (§6.8) — 앵커+Δ, 1,258 파라미터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409944" y="4471416"/>
            <a:ext cx="5129784" cy="1508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22B35"/>
                </a:solidFill>
                <a:latin typeface="Malgun Gothic"/>
              </a:rPr>
              <a:t>앵커(최근접 관측을 학습된 가중으로 평균 쪽 혼합)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22B35"/>
                </a:solidFill>
                <a:latin typeface="Malgun Gothic"/>
              </a:rPr>
              <a:t>+ 기울기(최근 2점 × 갭) + 진단별 변화율의 합.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22B35"/>
                </a:solidFill>
                <a:latin typeface="Malgun Gothic"/>
              </a:rPr>
              <a:t>학습 항이 전부 0 초기화 → persistence에서 정확히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22B35"/>
                </a:solidFill>
                <a:latin typeface="Malgun Gothic"/>
              </a:rPr>
              <a:t>출발하므로 도달 skill은 학습이 더한 값 그 자체다.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22B35"/>
                </a:solidFill>
                <a:latin typeface="Malgun Gothic"/>
              </a:rPr>
              <a:t>· Tᵢ: −0.272 → −0.113 → +0.234 ⇒ 격차의 31.5% 회수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22B35"/>
                </a:solidFill>
                <a:latin typeface="Malgun Gothic"/>
              </a:rPr>
              <a:t>· V_rot: 7.0%만 회수 — 그 신호는 국소 기울기가 아니다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22B35"/>
                </a:solidFill>
                <a:latin typeface="Malgun Gothic"/>
              </a:rPr>
              <a:t>· paired 비교는 앵커를 4/4 분할에서 기각한다.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22B35"/>
                </a:solidFill>
                <a:latin typeface="Malgun Gothic"/>
              </a:rPr>
              <a:t>  부족분은 모델이 아니라 문제에 대한 정보다.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201168" cy="1170432"/>
          </a:xfrm>
          <a:prstGeom prst="rect">
            <a:avLst/>
          </a:prstGeom>
          <a:solidFill>
            <a:srgbClr val="1B9E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82880"/>
            <a:ext cx="1124712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1B9E8A"/>
                </a:solidFill>
                <a:latin typeface="Malgun Gothic"/>
              </a:rPr>
              <a:t>§6.9  sec:peak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5488" y="457200"/>
            <a:ext cx="11338560" cy="65836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2700" b="1" i="0">
                <a:solidFill>
                  <a:srgbClr val="13335F"/>
                </a:solidFill>
                <a:latin typeface="Malgun Gothic"/>
              </a:rPr>
              <a:t>우위는 고변동 국소 구간에 집중된다 — 그리고 V_rot은 분해된다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1078992"/>
            <a:ext cx="11201400" cy="25400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731520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AA5B1"/>
                </a:solidFill>
                <a:latin typeface="Malgun Gothic"/>
              </a:rPr>
              <a:t>KSTAR CES Nowcasting — 다중진단 기반 CES 결측 구간 예측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455664"/>
            <a:ext cx="1097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 i="0">
                <a:solidFill>
                  <a:srgbClr val="9AA5B1"/>
                </a:solidFill>
                <a:latin typeface="Malgun Gothic"/>
              </a:rPr>
              <a:t>14</a:t>
            </a:r>
          </a:p>
        </p:txBody>
      </p:sp>
      <p:pic>
        <p:nvPicPr>
          <p:cNvPr id="10" name="Picture 9" descr="fig_pea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1515676"/>
            <a:ext cx="5760720" cy="2637928"/>
          </a:xfrm>
          <a:prstGeom prst="rect">
            <a:avLst/>
          </a:prstGeom>
        </p:spPr>
      </p:pic>
      <p:sp>
        <p:nvSpPr>
          <p:cNvPr id="11" name="Rounded Rectangle 10"/>
          <p:cNvSpPr/>
          <p:nvPr/>
        </p:nvSpPr>
        <p:spPr>
          <a:xfrm>
            <a:off x="6446520" y="1325880"/>
            <a:ext cx="5239512" cy="1600200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446520" y="1325880"/>
            <a:ext cx="91440" cy="1600200"/>
          </a:xfrm>
          <a:prstGeom prst="rect">
            <a:avLst/>
          </a:prstGeom>
          <a:solidFill>
            <a:srgbClr val="1B9E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684264" y="1435607"/>
            <a:ext cx="4873752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1B9E8A"/>
                </a:solidFill>
                <a:latin typeface="Malgun Gothic"/>
              </a:rPr>
              <a:t>수치 (검증 분할, shot 군집 CI)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84264" y="1837943"/>
            <a:ext cx="4855464" cy="9601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22B35"/>
                </a:solidFill>
                <a:latin typeface="Malgun Gothic"/>
              </a:rPr>
              <a:t>· Tᵢ  전역 +0.27 → 피크 +0.70 [+0.50, +0.85] PASS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22B35"/>
                </a:solidFill>
                <a:latin typeface="Malgun Gothic"/>
              </a:rPr>
              <a:t>  (124개 shot의 4,764행)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22B35"/>
                </a:solidFill>
                <a:latin typeface="Malgun Gothic"/>
              </a:rPr>
              <a:t>· V_rot  전역 +0.13 → 피크 +0.44 [+0.07, +0.73] PASS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22B35"/>
                </a:solidFill>
                <a:latin typeface="Malgun Gothic"/>
              </a:rPr>
              <a:t>· 피크 한정 절제: Tᵢ는 유의하게 나빠지고(멀티모달을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22B35"/>
                </a:solidFill>
                <a:latin typeface="Malgun Gothic"/>
              </a:rPr>
              <a:t>  실제로 사용) V_rot은 불변(이력 기반)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46520" y="3017520"/>
            <a:ext cx="5239512" cy="1325880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446520" y="3017520"/>
            <a:ext cx="91440" cy="1325880"/>
          </a:xfrm>
          <a:prstGeom prst="rect">
            <a:avLst/>
          </a:prstGeom>
          <a:solidFill>
            <a:srgbClr val="5B66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684264" y="3127248"/>
            <a:ext cx="4873752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5B6670"/>
                </a:solidFill>
                <a:latin typeface="Malgun Gothic"/>
              </a:rPr>
              <a:t>피크 선정이 순환 논리가 아닌 이유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684264" y="3529584"/>
            <a:ext cx="4855464" cy="6858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타겟 행을 제외하고 계산한 입력 측 활동 대리변수(이웃 괄호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기울기 / 국소 CES 이웃 분산)로 나눈다 — 타겟 자신의 값을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보지 않는다. 단 검증 분할이므로 헤드라인으로 쓰지 않는다.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02920" y="4480560"/>
            <a:ext cx="11183112" cy="1600200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502920" y="4480560"/>
            <a:ext cx="91440" cy="1600200"/>
          </a:xfrm>
          <a:prstGeom prst="rect">
            <a:avLst/>
          </a:prstGeom>
          <a:solidFill>
            <a:srgbClr val="E874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40664" y="4590288"/>
            <a:ext cx="10817352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E8743B"/>
                </a:solidFill>
                <a:latin typeface="Malgun Gothic"/>
              </a:rPr>
              <a:t>V_rot 결과의 분해 (§8r) — 전역 동률은 부호가 다른 세 영역의 평균이다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40664" y="4992624"/>
            <a:ext cx="10799064" cy="9601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22B35"/>
                </a:solidFill>
                <a:latin typeface="Malgun Gothic"/>
              </a:rPr>
              <a:t>· 예상과 반대인 사실: 피크가 벌크보다 유지값이 더 많다(4개 분할 전부 68/62/71/73% 대 58/51/48/46%).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22B35"/>
                </a:solidFill>
                <a:latin typeface="Malgun Gothic"/>
              </a:rPr>
              <a:t>  forward-fill 계단(평평–평평–도약) 자체가 큰 국소 기울기여서 활동 검출기가 계측기 패턴을 부분 검출한다.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22B35"/>
                </a:solidFill>
                <a:latin typeface="Malgun Gothic"/>
              </a:rPr>
              <a:t>· 진짜 측정된 고활동 행: PCHIP 대비 +0.55~+0.63 · 인과 기준선 대비 +0.75~+0.82로 4/4 유의.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22B35"/>
                </a:solidFill>
                <a:latin typeface="Malgun Gothic"/>
              </a:rPr>
              <a:t>  진짜 측정된 조용한 벌크: 보간과 동률(≈0). 유지값 행: −48 ~ −411 — 실패가 아니라 구조적이다.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22B35"/>
                </a:solidFill>
                <a:latin typeface="Malgun Gothic"/>
              </a:rPr>
              <a:t>· Tᵢ는 유지값이 사실상 없는 깨끗한 대조군으로 피크 집중을 4/4 재현한다(+0.59~+0.68, 전부 유의).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201168" cy="1170432"/>
          </a:xfrm>
          <a:prstGeom prst="rect">
            <a:avLst/>
          </a:prstGeom>
          <a:solidFill>
            <a:srgbClr val="2B6C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82880"/>
            <a:ext cx="1124712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2B6CB0"/>
                </a:solidFill>
                <a:latin typeface="Malgun Gothic"/>
              </a:rPr>
              <a:t>§8  sec:deploy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5488" y="457200"/>
            <a:ext cx="11338560" cy="65836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2700" b="1" i="0">
                <a:solidFill>
                  <a:srgbClr val="13335F"/>
                </a:solidFill>
                <a:latin typeface="Malgun Gothic"/>
              </a:rPr>
              <a:t>배치 가능한가 — 지연과 불확실성, 둘 다 예상 밖의 답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1078992"/>
            <a:ext cx="11201400" cy="25400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731520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AA5B1"/>
                </a:solidFill>
                <a:latin typeface="Malgun Gothic"/>
              </a:rPr>
              <a:t>KSTAR CES Nowcasting — 다중진단 기반 CES 결측 구간 예측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455664"/>
            <a:ext cx="1097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 i="0">
                <a:solidFill>
                  <a:srgbClr val="9AA5B1"/>
                </a:solidFill>
                <a:latin typeface="Malgun Gothic"/>
              </a:rPr>
              <a:t>15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" y="1325880"/>
            <a:ext cx="5513832" cy="2286000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02920" y="1325880"/>
            <a:ext cx="91440" cy="2286000"/>
          </a:xfrm>
          <a:prstGeom prst="rect">
            <a:avLst/>
          </a:prstGeom>
          <a:solidFill>
            <a:srgbClr val="2B6C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40664" y="1435607"/>
            <a:ext cx="5148072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2B6CB0"/>
                </a:solidFill>
                <a:latin typeface="Malgun Gothic"/>
              </a:rPr>
              <a:t>지연: CPU에서는 들어가고, GPU가 틀린 장치다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40664" y="1837943"/>
            <a:ext cx="5129784" cy="16459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· 측정: 순전파만(특징 조립 제외), warmup 후 1,000회,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  batch 1.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· CPU W=4: p99 6.4 ms, 중앙값 2.8 ms (W=2는 p99 8.7 ms)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  → 10 ms 격자 한 주기의 64–87%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· 같은 기계에서 CUDA batch-1은 약 8× 느리다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  (중앙값 21 ms, p99 43–72 ms). 20만 파라미터로는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  커널 실행 오버헤드를 상쇄할 것이 없다.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· 실무 지침은 기본값의 반대: 제어 컴퓨터의 CPU에서 돌려라.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72200" y="1325880"/>
            <a:ext cx="5513832" cy="2286000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172200" y="1325880"/>
            <a:ext cx="91440" cy="2286000"/>
          </a:xfrm>
          <a:prstGeom prst="rect">
            <a:avLst/>
          </a:prstGeom>
          <a:solidFill>
            <a:srgbClr val="1B9E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09944" y="1435607"/>
            <a:ext cx="5148072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1B9E8A"/>
                </a:solidFill>
                <a:latin typeface="Malgun Gothic"/>
              </a:rPr>
              <a:t>불확실성: 모델을 건드리지 않는 분포 무가정 구간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9944" y="1837943"/>
            <a:ext cx="5129784" cy="16459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· 분산/분위 헤드는 재학습이 필요하고 점 예측을 움직여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  위의 모든 수치를 교란한다 → split conformal.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  val에서 캘리브레이션, 예측기는 전혀 바꾸지 않는다.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· 두 변형: 단일 분위(global), Δt × 활동도 층별(Mondrian).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  두 기준선에도 동일 절차를 적용하므로 비교되는 것은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  캘리브레이션 기법이 아니라 구간 품질이다.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· α = 0.10에서 모델 구간이 모든 시드·타겟·변형에서 두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  기준선을 이긴다(각 8/8). Winkler로 persistence의 ≈0.80배.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02920" y="3749039"/>
            <a:ext cx="5513832" cy="1463040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502920" y="3749039"/>
            <a:ext cx="91440" cy="1463040"/>
          </a:xfrm>
          <a:prstGeom prst="rect">
            <a:avLst/>
          </a:prstGeom>
          <a:solidFill>
            <a:srgbClr val="E874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40664" y="3858768"/>
            <a:ext cx="5148072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E8743B"/>
                </a:solidFill>
                <a:latin typeface="Malgun Gothic"/>
              </a:rPr>
              <a:t>비대칭은 불확실성에도 약하게 나타난다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40664" y="4261104"/>
            <a:ext cx="5129784" cy="8229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커버리지를 맞춘 상태에서 모델은 구간을 Tᵢ에 대해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persistence 폭의 0.884배로 줄이지만 V_rot에 대해서는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0.937배에 그친다 — 점 예측과 같은 방향이되 크기는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훨씬 작다. 모델은 자기가 모르는 것을 부분적으로 안다.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172200" y="3749039"/>
            <a:ext cx="5513832" cy="1463040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172200" y="3749039"/>
            <a:ext cx="91440" cy="1463040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409944" y="3858768"/>
            <a:ext cx="5148072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C0392B"/>
                </a:solidFill>
                <a:latin typeface="Malgun Gothic"/>
              </a:rPr>
              <a:t>정직한 실패 — 주변 커버리지지 조건부가 아니다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09944" y="4261104"/>
            <a:ext cx="5129784" cy="8229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Tᵢ는 4개 중 2개 분할에서 목표 90%에 미달(87.0–88.9%),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shot별 커버리지는 10분위 ≈50–68%에서 90분위 100%까지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퍼진다. 캘리브레이션과 test가 서로 다른 방전이고 shot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수준 이동이 교환 가능성을 깬다.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02920" y="5394960"/>
            <a:ext cx="11183112" cy="713232"/>
          </a:xfrm>
          <a:prstGeom prst="roundRect">
            <a:avLst/>
          </a:prstGeom>
          <a:solidFill>
            <a:srgbClr val="1333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77240" y="5486400"/>
            <a:ext cx="10634472" cy="53035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1" i="0">
                <a:solidFill>
                  <a:srgbClr val="1B9E8A"/>
                </a:solidFill>
                <a:latin typeface="Malgun Gothic"/>
              </a:rPr>
              <a:t>이 절을 쓰는 이유 — </a:t>
            </a:r>
            <a:r>
              <a:rPr sz="1300" b="0" i="0">
                <a:solidFill>
                  <a:srgbClr val="FFFFFF"/>
                </a:solidFill>
                <a:latin typeface="Malgun Gothic"/>
              </a:rPr>
              <a:t>skill 점수와 쓸 수 있는 계측 사이에는 두 가지가 놓여 있다. 측정 주기 안에서 돌아야 하고, 얼마나 믿어야 하는지를 말해야 한다. 둘 다 이 문헌에서 보고된 적이 없다.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201168" cy="1170432"/>
          </a:xfrm>
          <a:prstGeom prst="rect">
            <a:avLst/>
          </a:prstGeom>
          <a:solidFill>
            <a:srgbClr val="E874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82880"/>
            <a:ext cx="1124712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E8743B"/>
                </a:solidFill>
                <a:latin typeface="Malgun Gothic"/>
              </a:rPr>
              <a:t>§9  sec:headroom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5488" y="457200"/>
            <a:ext cx="11338560" cy="65836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2700" b="1" i="0">
                <a:solidFill>
                  <a:srgbClr val="13335F"/>
                </a:solidFill>
                <a:latin typeface="Malgun Gothic"/>
              </a:rPr>
              <a:t>남은 개선 여지 — 음성 결과가 지목하는 레버 3종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1078992"/>
            <a:ext cx="11201400" cy="25400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731520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AA5B1"/>
                </a:solidFill>
                <a:latin typeface="Malgun Gothic"/>
              </a:rPr>
              <a:t>KSTAR CES Nowcasting — 다중진단 기반 CES 결측 구간 예측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455664"/>
            <a:ext cx="1097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 i="0">
                <a:solidFill>
                  <a:srgbClr val="9AA5B1"/>
                </a:solidFill>
                <a:latin typeface="Malgun Gothic"/>
              </a:rPr>
              <a:t>16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" y="1298448"/>
            <a:ext cx="11183112" cy="658368"/>
          </a:xfrm>
          <a:prstGeom prst="roundRect">
            <a:avLst/>
          </a:prstGeom>
          <a:solidFill>
            <a:srgbClr val="1333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77240" y="1389888"/>
            <a:ext cx="10634472" cy="47548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300"/>
              </a:spcAft>
            </a:pPr>
            <a:r>
              <a:rPr sz="1150" b="1" i="0">
                <a:solidFill>
                  <a:srgbClr val="1B9E8A"/>
                </a:solidFill>
                <a:latin typeface="Malgun Gothic"/>
              </a:rPr>
              <a:t>이 절의 규칙 — </a:t>
            </a:r>
            <a:r>
              <a:rPr sz="1150" b="0" i="0">
                <a:solidFill>
                  <a:srgbClr val="FFFFFF"/>
                </a:solidFill>
                <a:latin typeface="Malgun Gothic"/>
              </a:rPr>
              <a:t>음성 결과는 “어떤 변경이 문제를 움직이는가”를 말할 때만 실린다. 용량은 배제됐고(§4), 더 긴 이력도 배제됐다(§6.7). 남는 셋은 모두 추정기가 아니라 측정 또는 커버리지에 대한 변경이다.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02920" y="2103120"/>
            <a:ext cx="3611880" cy="3438144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502920" y="2103120"/>
            <a:ext cx="91440" cy="3438144"/>
          </a:xfrm>
          <a:prstGeom prst="rect">
            <a:avLst/>
          </a:prstGeom>
          <a:solidFill>
            <a:srgbClr val="2B6C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40664" y="2212848"/>
            <a:ext cx="324612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2B6CB0"/>
                </a:solidFill>
                <a:latin typeface="Malgun Gothic"/>
              </a:rPr>
              <a:t>1. 깊이가 아니라 도달 범위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40664" y="2615184"/>
            <a:ext cx="3227832" cy="2798063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 i="0">
                <a:solidFill>
                  <a:srgbClr val="222B35"/>
                </a:solidFill>
                <a:latin typeface="Malgun Gothic"/>
              </a:rPr>
              <a:t>진짜 결측 행 중 W=4 window 안에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 i="0">
                <a:solidFill>
                  <a:srgbClr val="222B35"/>
                </a:solidFill>
                <a:latin typeface="Malgun Gothic"/>
              </a:rPr>
              <a:t>관측값을 가진 것은 Tᵢ 54.1% ·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 i="0">
                <a:solidFill>
                  <a:srgbClr val="222B35"/>
                </a:solidFill>
                <a:latin typeface="Malgun Gothic"/>
              </a:rPr>
              <a:t>V_rot 4.8%뿐(§6.4).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 i="0">
                <a:solidFill>
                  <a:srgbClr val="222B35"/>
                </a:solidFill>
                <a:latin typeface="Malgun Gothic"/>
              </a:rPr>
              <a:t/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 i="0">
                <a:solidFill>
                  <a:srgbClr val="222B35"/>
                </a:solidFill>
                <a:latin typeface="Malgun Gothic"/>
              </a:rPr>
              <a:t>올바른 대응은 더 긴 연속 window가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 i="0">
                <a:solidFill>
                  <a:srgbClr val="222B35"/>
                </a:solidFill>
                <a:latin typeface="Malgun Gothic"/>
              </a:rPr>
              <a:t>아니다 — skill을 전혀 사지 못한다.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 i="0">
                <a:solidFill>
                  <a:srgbClr val="222B35"/>
                </a:solidFill>
                <a:latin typeface="Malgun Gothic"/>
              </a:rPr>
              <a:t>더 넓은 도달 범위다: W=2→8에서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 i="0">
                <a:solidFill>
                  <a:srgbClr val="222B35"/>
                </a:solidFill>
                <a:latin typeface="Malgun Gothic"/>
              </a:rPr>
              <a:t>총 채점 수는 그대로인데 Δt&gt;15 ms는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 i="0">
                <a:solidFill>
                  <a:srgbClr val="222B35"/>
                </a:solidFill>
                <a:latin typeface="Malgun Gothic"/>
              </a:rPr>
              <a:t>456→1,958, &gt;45 ms는 14→135.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 i="0">
                <a:solidFill>
                  <a:srgbClr val="222B35"/>
                </a:solidFill>
                <a:latin typeface="Malgun Gothic"/>
              </a:rPr>
              <a:t/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 i="0">
                <a:solidFill>
                  <a:srgbClr val="222B35"/>
                </a:solidFill>
                <a:latin typeface="Malgun Gothic"/>
              </a:rPr>
              <a:t>→ 슬롯은 2–3개로 유지하되 더 넓은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 i="0">
                <a:solidFill>
                  <a:srgbClr val="222B35"/>
                </a:solidFill>
                <a:latin typeface="Malgun Gothic"/>
              </a:rPr>
              <a:t>span에서 뽑는다. 실제 문제 중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 i="0">
                <a:solidFill>
                  <a:srgbClr val="222B35"/>
                </a:solidFill>
                <a:latin typeface="Malgun Gothic"/>
              </a:rPr>
              <a:t>다루는 비율을 직접 키우는 유일한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 i="0">
                <a:solidFill>
                  <a:srgbClr val="222B35"/>
                </a:solidFill>
                <a:latin typeface="Malgun Gothic"/>
              </a:rPr>
              <a:t>변경이다.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315968" y="2103120"/>
            <a:ext cx="3611880" cy="3438144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315968" y="2103120"/>
            <a:ext cx="91440" cy="3438144"/>
          </a:xfrm>
          <a:prstGeom prst="rect">
            <a:avLst/>
          </a:prstGeom>
          <a:solidFill>
            <a:srgbClr val="1B9E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553712" y="2212848"/>
            <a:ext cx="324612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1B9E8A"/>
                </a:solidFill>
                <a:latin typeface="Malgun Gothic"/>
              </a:rPr>
              <a:t>2. Mirnov 정보는 파괴됐다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53712" y="2615184"/>
            <a:ext cx="3227832" cy="2798063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22B35"/>
                </a:solidFill>
                <a:latin typeface="Malgun Gothic"/>
              </a:rPr>
              <a:t>같은 10 ms 격자에서 블록 내 lag-1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22B35"/>
                </a:solidFill>
                <a:latin typeface="Malgun Gothic"/>
              </a:rPr>
              <a:t>자기상관: BES +0.568 ·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22B35"/>
                </a:solidFill>
                <a:latin typeface="Malgun Gothic"/>
              </a:rPr>
              <a:t>ECEI +0.572 · Mirnov −0.009,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22B35"/>
                </a:solidFill>
                <a:latin typeface="Malgun Gothic"/>
              </a:rPr>
              <a:t>블록의 82%가 |r| &lt; 0.1.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22B35"/>
                </a:solidFill>
                <a:latin typeface="Malgun Gothic"/>
              </a:rPr>
              <a:t>즉 자기 채널은 이 격자 위에서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22B35"/>
                </a:solidFill>
                <a:latin typeface="Malgun Gothic"/>
              </a:rPr>
              <a:t>백색잡음이다.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22B35"/>
                </a:solidFill>
                <a:latin typeface="Malgun Gothic"/>
              </a:rPr>
              <a:t>원인: kHz dB/dt를 안티앨리어싱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22B35"/>
                </a:solidFill>
                <a:latin typeface="Malgun Gothic"/>
              </a:rPr>
              <a:t>없이 100 Hz로 데시메이션 →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22B35"/>
                </a:solidFill>
                <a:latin typeface="Malgun Gothic"/>
              </a:rPr>
              <a:t>상대 위상이 무작위. 회전을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22B35"/>
                </a:solidFill>
                <a:latin typeface="Malgun Gothic"/>
              </a:rPr>
              <a:t>대리할 수 있었던 모드 회전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22B35"/>
                </a:solidFill>
                <a:latin typeface="Malgun Gothic"/>
              </a:rPr>
              <a:t>주파수가 상류에서 폐기됐다.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22B35"/>
                </a:solidFill>
                <a:latin typeface="Malgun Gothic"/>
              </a:rPr>
              <a:t/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22B35"/>
                </a:solidFill>
                <a:latin typeface="Malgun Gothic"/>
              </a:rPr>
              <a:t>→ 해법은 전처리 변경: 원 kHz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22B35"/>
                </a:solidFill>
                <a:latin typeface="Malgun Gothic"/>
              </a:rPr>
              <a:t>시계열의 window별 RMS·대역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22B35"/>
                </a:solidFill>
                <a:latin typeface="Malgun Gothic"/>
              </a:rPr>
              <a:t>파워·모드 번호.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129016" y="2103120"/>
            <a:ext cx="3557016" cy="3438144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8129016" y="2103120"/>
            <a:ext cx="91440" cy="3438144"/>
          </a:xfrm>
          <a:prstGeom prst="rect">
            <a:avLst/>
          </a:prstGeom>
          <a:solidFill>
            <a:srgbClr val="E874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366760" y="2212848"/>
            <a:ext cx="3191256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E8743B"/>
                </a:solidFill>
                <a:latin typeface="Malgun Gothic"/>
              </a:rPr>
              <a:t>3. 구동기 채널이 아예 없다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366760" y="2615184"/>
            <a:ext cx="3172968" cy="2798063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22B35"/>
                </a:solidFill>
                <a:latin typeface="Malgun Gothic"/>
              </a:rPr>
              <a:t>토로이달 회전은 주입 토크가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22B35"/>
                </a:solidFill>
                <a:latin typeface="Malgun Gothic"/>
              </a:rPr>
              <a:t>결정하는데 이 데이터셋에 토크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22B35"/>
                </a:solidFill>
                <a:latin typeface="Malgun Gothic"/>
              </a:rPr>
              <a:t>신호가 없다.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22B35"/>
                </a:solidFill>
                <a:latin typeface="Malgun Gothic"/>
              </a:rPr>
              <a:t/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22B35"/>
                </a:solidFill>
                <a:latin typeface="Malgun Gothic"/>
              </a:rPr>
              <a:t>shot 간 ECE 유래 Tₑ 대리는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22B35"/>
                </a:solidFill>
                <a:latin typeface="Malgun Gothic"/>
              </a:rPr>
              <a:t>· Tᵢ와 r = +0.353 (p = 3×10⁻¹⁷)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22B35"/>
                </a:solidFill>
                <a:latin typeface="Malgun Gothic"/>
              </a:rPr>
              <a:t>· V_rot와 r = +0.024 (p = 0.58)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22B35"/>
                </a:solidFill>
                <a:latin typeface="Malgun Gothic"/>
              </a:rPr>
              <a:t>shot 내에서도 Tᵢ 상관은 부호가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22B35"/>
                </a:solidFill>
                <a:latin typeface="Malgun Gothic"/>
              </a:rPr>
              <a:t>일관되나 V_rot은 무작위다.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22B35"/>
                </a:solidFill>
                <a:latin typeface="Malgun Gothic"/>
              </a:rPr>
              <a:t>즉 파워는 토크가 아니다.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22B35"/>
                </a:solidFill>
                <a:latin typeface="Malgun Gothic"/>
              </a:rPr>
              <a:t/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22B35"/>
                </a:solidFill>
                <a:latin typeface="Malgun Gothic"/>
              </a:rPr>
              <a:t>→ NBI 토크(또는 빔별 파워·기하)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22B35"/>
                </a:solidFill>
                <a:latin typeface="Malgun Gothic"/>
              </a:rPr>
              <a:t>확보는 모델링이 아니라 데이터의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22B35"/>
                </a:solidFill>
                <a:latin typeface="Malgun Gothic"/>
              </a:rPr>
              <a:t>문제. 양성 대조군도 문헌에 있다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22B35"/>
                </a:solidFill>
                <a:latin typeface="Malgun Gothic"/>
              </a:rPr>
              <a:t>(DIII-D 전체-방전 시뮬레이터).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02920" y="5614416"/>
            <a:ext cx="11183112" cy="658368"/>
          </a:xfrm>
          <a:prstGeom prst="roundRect">
            <a:avLst/>
          </a:prstGeom>
          <a:solidFill>
            <a:srgbClr val="1333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77240" y="5705855"/>
            <a:ext cx="10634472" cy="47548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300"/>
              </a:spcAft>
            </a:pPr>
            <a:r>
              <a:rPr sz="1150" b="1" i="0">
                <a:solidFill>
                  <a:srgbClr val="1B9E8A"/>
                </a:solidFill>
                <a:latin typeface="Malgun Gothic"/>
              </a:rPr>
              <a:t>맺는 문장 — </a:t>
            </a:r>
            <a:r>
              <a:rPr sz="1150" b="0" i="0">
                <a:solidFill>
                  <a:srgbClr val="FFFFFF"/>
                </a:solidFill>
                <a:latin typeface="Malgun Gothic"/>
              </a:rPr>
              <a:t>이 중 어느 것도 현재 결과가 천장에 도달했다는 진술이 아니다. 시도 비용이 낮은 순으로 정렬돼 있고, 셋 모두 아카이브된 KSTAR 데이터에서 실행 가능하다.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201168" cy="1170432"/>
          </a:xfrm>
          <a:prstGeom prst="rect">
            <a:avLst/>
          </a:prstGeom>
          <a:solidFill>
            <a:srgbClr val="1333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82880"/>
            <a:ext cx="1124712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13335F"/>
                </a:solidFill>
                <a:latin typeface="Malgun Gothic"/>
              </a:rPr>
              <a:t>§10–11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5488" y="457200"/>
            <a:ext cx="11338560" cy="65836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2700" b="1" i="0">
                <a:solidFill>
                  <a:srgbClr val="13335F"/>
                </a:solidFill>
                <a:latin typeface="Malgun Gothic"/>
              </a:rPr>
              <a:t>한계와 결론 — 무엇을 인정하고 무엇을 주장하는가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1078992"/>
            <a:ext cx="11201400" cy="25400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731520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AA5B1"/>
                </a:solidFill>
                <a:latin typeface="Malgun Gothic"/>
              </a:rPr>
              <a:t>KSTAR CES Nowcasting — 다중진단 기반 CES 결측 구간 예측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455664"/>
            <a:ext cx="1097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 i="0">
                <a:solidFill>
                  <a:srgbClr val="9AA5B1"/>
                </a:solidFill>
                <a:latin typeface="Malgun Gothic"/>
              </a:rPr>
              <a:t>17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" y="1325880"/>
            <a:ext cx="5513832" cy="4754880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02920" y="1325880"/>
            <a:ext cx="91440" cy="4754880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40664" y="1435607"/>
            <a:ext cx="5148072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C0392B"/>
                </a:solidFill>
                <a:latin typeface="Malgun Gothic"/>
              </a:rPr>
              <a:t>§10 한계 — 논문이 먼저 인정하는 것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40664" y="1837943"/>
            <a:ext cx="5129784" cy="41148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 i="0">
                <a:solidFill>
                  <a:srgbClr val="222B35"/>
                </a:solidFill>
                <a:latin typeface="Malgun Gothic"/>
              </a:rPr>
              <a:t>· 통계적 검정력: 재현 단위는 shot이고 test에 ≈96(Tᵢ) /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 i="0">
                <a:solidFill>
                  <a:srgbClr val="222B35"/>
                </a:solidFill>
                <a:latin typeface="Malgun Gothic"/>
              </a:rPr>
              <a:t>  91(V_rot)개뿐이며 shot별 오차 차이는 꼬리가 두껍다.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 i="0">
                <a:solidFill>
                  <a:srgbClr val="222B35"/>
                </a:solidFill>
                <a:latin typeface="Malgun Gothic"/>
              </a:rPr>
              <a:t>· MNAR 낙관성: skill은 관측 시점에서만 측정된다.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 i="0">
                <a:solidFill>
                  <a:srgbClr val="222B35"/>
                </a:solidFill>
                <a:latin typeface="Malgun Gothic"/>
              </a:rPr>
              <a:t>· 오프라인 주장의 상한은 GP 동률 — “미래를 쓰는 보간을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 i="0">
                <a:solidFill>
                  <a:srgbClr val="222B35"/>
                </a:solidFill>
                <a:latin typeface="Malgun Gothic"/>
              </a:rPr>
              <a:t>  이긴다”는 “사전등록된 보간들을 이긴다”로 읽어야 한다.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 i="0">
                <a:solidFill>
                  <a:srgbClr val="222B35"/>
                </a:solidFill>
                <a:latin typeface="Malgun Gothic"/>
              </a:rPr>
              <a:t>· CES 적합실패 아티팩트는 헤드라인을 부풀리는 게 아니라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 i="0">
                <a:solidFill>
                  <a:srgbClr val="222B35"/>
                </a:solidFill>
                <a:latin typeface="Malgun Gothic"/>
              </a:rPr>
              <a:t>  끌어내린다: Tᵢ &gt; 3 keV 값(행의 0.4–0.6%)을 모든 팔에서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 i="0">
                <a:solidFill>
                  <a:srgbClr val="222B35"/>
                </a:solidFill>
                <a:latin typeface="Malgun Gothic"/>
              </a:rPr>
              <a:t>  동일하게 제거하면 4/4 PASS를 유지한 채 skill이 약 2배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 i="0">
                <a:solidFill>
                  <a:srgbClr val="222B35"/>
                </a:solidFill>
                <a:latin typeface="Malgun Gothic"/>
              </a:rPr>
              <a:t>  (+0.18~+0.28 → +0.36~+0.59) ⇒ 헤드라인은 보수적이다.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 i="0">
                <a:solidFill>
                  <a:srgbClr val="222B35"/>
                </a:solidFill>
                <a:latin typeface="Malgun Gothic"/>
              </a:rPr>
              <a:t>· 지표 비대칭: 보간은 shot 전체 이웃을, 모델은 W=4 이력만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 i="0">
                <a:solidFill>
                  <a:srgbClr val="222B35"/>
                </a:solidFill>
                <a:latin typeface="Malgun Gothic"/>
              </a:rPr>
              <a:t>  본다(의도적으로 불리하나 해석을 복잡하게 한다).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 i="0">
                <a:solidFill>
                  <a:srgbClr val="222B35"/>
                </a:solidFill>
                <a:latin typeface="Malgun Gothic"/>
              </a:rPr>
              <a:t>· 단일 장치·단일 계열. 우리 헤드라인에 대해서도 보고한다 —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 i="0">
                <a:solidFill>
                  <a:srgbClr val="222B35"/>
                </a:solidFill>
                <a:latin typeface="Malgun Gothic"/>
              </a:rPr>
              <a:t>  전체 격자 시퀀스 변형(동일 라우팅 + 유지값 제거 + shot별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 i="0">
                <a:solidFill>
                  <a:srgbClr val="222B35"/>
                </a:solidFill>
                <a:latin typeface="Malgun Gothic"/>
              </a:rPr>
              <a:t>  표준화)이 4개 분할 전부에서 더 높은 Tᵢ skill(평균 +0.045,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 i="0">
                <a:solidFill>
                  <a:srgbClr val="222B35"/>
                </a:solidFill>
                <a:latin typeface="Malgun Gothic"/>
              </a:rPr>
              <a:t>  1/4 유의), 학습 비용 ≈1/10. 사전등록이 모델을 미리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 i="0">
                <a:solidFill>
                  <a:srgbClr val="222B35"/>
                </a:solidFill>
                <a:latin typeface="Malgun Gothic"/>
              </a:rPr>
              <a:t>  지명하므로 헤드라인을 다시 쓰지는 않는다.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 i="0">
                <a:solidFill>
                  <a:srgbClr val="222B35"/>
                </a:solidFill>
                <a:latin typeface="Malgun Gothic"/>
              </a:rPr>
              <a:t>· 캠페인 수리의 배치 가능한 형태(인과 running)는 미검증.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 i="0">
                <a:solidFill>
                  <a:srgbClr val="222B35"/>
                </a:solidFill>
                <a:latin typeface="Malgun Gothic"/>
              </a:rPr>
              <a:t>· 불확실성은 주변적으로만 캘리브레이션된다(shot별 50–100%).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 i="0">
                <a:solidFill>
                  <a:srgbClr val="222B35"/>
                </a:solidFill>
                <a:latin typeface="Malgun Gothic"/>
              </a:rPr>
              <a:t>· 가장 넓은 간극은 여전히 62 shot의 167 표본이다.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 i="0">
                <a:solidFill>
                  <a:srgbClr val="222B35"/>
                </a:solidFill>
                <a:latin typeface="Malgun Gothic"/>
              </a:rPr>
              <a:t>· 범위: 페데스탈-상단 프레이밍은 데이터 선택에서 상속됐고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 i="0">
                <a:solidFill>
                  <a:srgbClr val="222B35"/>
                </a:solidFill>
                <a:latin typeface="Malgun Gothic"/>
              </a:rPr>
              <a:t>  반경 의존성·이벤트 위상 분석은 수행하지 않았다.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72200" y="1325880"/>
            <a:ext cx="5513832" cy="2697480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172200" y="1325880"/>
            <a:ext cx="91440" cy="2697480"/>
          </a:xfrm>
          <a:prstGeom prst="rect">
            <a:avLst/>
          </a:prstGeom>
          <a:solidFill>
            <a:srgbClr val="2E9E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09944" y="1435607"/>
            <a:ext cx="5148072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2E9E5B"/>
                </a:solidFill>
                <a:latin typeface="Malgun Gothic"/>
              </a:rPr>
              <a:t>§11 결론 — 세 문단의 뼈대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9944" y="1837943"/>
            <a:ext cx="5129784" cy="20574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22B35"/>
                </a:solidFill>
                <a:latin typeface="Malgun Gothic"/>
              </a:rPr>
              <a:t>① 관측 모집단: 이온온도에 대해 미래를 쓰는 PCHIP을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22B35"/>
                </a:solidFill>
                <a:latin typeface="Malgun Gothic"/>
              </a:rPr>
              <a:t>  유의하고 재현된 skill(+0.18~+0.28, 4개 독립 분할)로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22B35"/>
                </a:solidFill>
                <a:latin typeface="Malgun Gothic"/>
              </a:rPr>
              <a:t>  이기고 — 가장 강한 오프라인 평활기 GP와는 동률 —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22B35"/>
                </a:solidFill>
                <a:latin typeface="Malgun Gothic"/>
              </a:rPr>
              <a:t>  두 타겟 모두에서 모든 인과 기준선을 큰 차이로 이긴다.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22B35"/>
                </a:solidFill>
                <a:latin typeface="Malgun Gothic"/>
              </a:rPr>
              <a:t>  검정력이 없어 아무 말도 못 하던 Δt &gt; 15 ms를 포함해서.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22B35"/>
                </a:solidFill>
                <a:latin typeface="Malgun Gothic"/>
              </a:rPr>
              <a:t>② 배치 주장은 더 좁고 더 잘 뒷받침된다: 두 스트레스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22B35"/>
                </a:solidFill>
                <a:latin typeface="Malgun Gothic"/>
              </a:rPr>
              <a:t>  테스트가 같은 답을 준다 — 인과 대비는 둘 다 통과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22B35"/>
                </a:solidFill>
                <a:latin typeface="Malgun Gothic"/>
              </a:rPr>
              <a:t>  (+0.29, +0.22), 오프라인 대비는 어느 것도 통과 못 한다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22B35"/>
                </a:solidFill>
                <a:latin typeface="Malgun Gothic"/>
              </a:rPr>
              <a:t>  (1/4, 0/4). MNAR 보정 비용은 0.06–0.12.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22B35"/>
                </a:solidFill>
                <a:latin typeface="Malgun Gothic"/>
              </a:rPr>
              <a:t>③ 작동하지 않는 지점과 그 이유도 함께 보고하며, 각각은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22B35"/>
                </a:solidFill>
                <a:latin typeface="Malgun Gothic"/>
              </a:rPr>
              <a:t>  구체적이고 검증 가능한 변경을 지목한다.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172200" y="4160520"/>
            <a:ext cx="5513832" cy="1920240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172200" y="4160520"/>
            <a:ext cx="91440" cy="1920240"/>
          </a:xfrm>
          <a:prstGeom prst="rect">
            <a:avLst/>
          </a:prstGeom>
          <a:solidFill>
            <a:srgbClr val="1333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09944" y="4270248"/>
            <a:ext cx="5148072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13335F"/>
                </a:solidFill>
                <a:latin typeface="Malgun Gothic"/>
              </a:rPr>
              <a:t>결론 문단이 명시하는 기여 4가지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09944" y="4672583"/>
            <a:ext cx="5129784" cy="12801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① 보정된 V_rot 평가 — 관측값의 54%가 계기 유지값이며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  평가뿐 아니라 학습도 오염시킨다는 것을 4-seed로 입증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② 관측 마스킹 어텐션 풀링 — 보간의 귀납 편향을 무비용 주입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③ 복잡도 사다리 — 불투명성의 가격을 “해석 가능한 1,258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  파라미터가 회수하는 Tᵢ 마진의 31.5%”로 매긴다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④ 깨끗한 보간 대비 skill을 게이트로 삼는 선택 프로토콜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