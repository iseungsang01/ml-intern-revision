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덱의 목적: 결과를 설득하는 게 아니라 연구가 걸어온 경로를 보여주는 것.</a:t>
            </a:r>
          </a:p>
          <a:p>
            <a:r>
              <a:t>확정된 것 / 기각된 것 / 지금 막힌 것 / 다음 할 일을 한 번에 파악할 수 있게 구성했습니다.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왼쪽부터: 확정 / 배운 것 / 막힌 것. 발표에서 이 한 장만 봐도 현재 상태가 전달되어야 합니다.</a:t>
            </a:r>
          </a:p>
          <a:p>
            <a:r>
              <a:t>③의 "막힌 지점"은 실패가 아니라 다음 실험의 정의입니다 — 판정 기준까지 이미 정해져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타임라인은 날짜보다 '무엇이 바뀌었나'가 핵심입니다.</a:t>
            </a:r>
          </a:p>
          <a:p>
            <a:r>
              <a:t>07-14의 체크포인트 정합은 결과가 아니라 신뢰성 작업 — 이걸 안 했으면 이후 모든 비교가 무의미했습니다.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전환 모두 외부 피드백 또는 자체 검증에서 나왔습니다.</a:t>
            </a:r>
          </a:p>
          <a:p>
            <a:r>
              <a:t>특히 두 번째(평가 기준선 격상)가 이 연구의 방어력을 만든 결정입니다 — 이기기 쉬운 상대를 버렸습니다.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§4.1, §4.2.</a:t>
            </a:r>
          </a:p>
          <a:p>
            <a:r>
              <a:t>핵심은 '4개 split 재현' — 단일 split 결과였다면 주장하지 않았을 것입니다.</a:t>
            </a:r>
          </a:p>
          <a:p>
            <a:r>
              <a:t>CES_VT는 점추정이 4/4 양수인데도 n.s.로 보고합니다. 이게 이 프로젝트의 보고 기준입니다.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§5.2, §8b.2, §8b.3.</a:t>
            </a:r>
          </a:p>
          <a:p>
            <a:r>
              <a:t>"Mirnov를 더 잘 쓰면 되지 않나" / "Tₑ가 NBI를 대리하지 않나" 두 반론은 각각 실험으로 기각했습니다(슬라이드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§5.1.</a:t>
            </a:r>
          </a:p>
          <a:p>
            <a:r>
              <a:t>peak 선정이 순환 논리가 아니라는 점이 중요합니다 — 타깃 행의 값을 보지 않고 이웃만으로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§3, §6.</a:t>
            </a:r>
          </a:p>
          <a:p>
            <a:r>
              <a:t>①이 이 프로젝트에서 가장 큰 단일 개선입니다 — 모델이 아니라 '무엇을 보고 고르는가'를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§1, §8c.</a:t>
            </a:r>
          </a:p>
          <a:p>
            <a:r>
              <a:t>②→③이 이 프로젝트에서 '데이터가 레버'라는 걸 처음 증명한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§8c / §8d.</a:t>
            </a:r>
          </a:p>
          <a:p>
            <a:r>
              <a:t>seq v2(전체격자 프레이밍 + iter009의 V_rot 라우팅, held-free)가 이 라운드가 지목한 다음 후보입니다.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§8f / §8f-R.</a:t>
            </a:r>
          </a:p>
          <a:p>
            <a:r>
              <a:t>이 슬라이드는 결과와 '자기 실수 정정'을 함께 보여줍니다. 외부 피드백("왜 4인가")에 답하려다</a:t>
            </a:r>
          </a:p>
          <a:p>
            <a:r>
              <a:t>데이터 처리 기본값 함정을 하나 더 찾은 라운드입니다.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PROJECT_KNOWLEDGE.md "Avoid Repeating These Paths" + THESIS_RESULTS.md §8b/§8f.</a:t>
            </a:r>
          </a:p>
          <a:p>
            <a:r>
              <a:t>질문이 나오면: 각 행은 단일 run이 아니라 4-seed 페어드 판정으로 닫았습니다.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PROJECT_KNOWLEDGE.md "Checkpoint / Architecture Provenance" + §8f Windows note.</a:t>
            </a:r>
          </a:p>
          <a:p>
            <a:r>
              <a:t>발표에서는 빠르게 넘기되, "왜 결과 재생성에 시간이 걸렸나" 질문이 나오면 이 장으로 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THESIS_RESULTS.md §8n(캠페인)·§8i(MNAR 커버리지)·§8j(세 레버). 이전 판의 1순위(큰 gap causal</a:t>
            </a:r>
          </a:p>
          <a:p>
            <a:r>
              <a:t>재평가)와 3순위(앵커+Δ 배치)는 2026-08-05에 완료 — §8g·§8k로 기록됨.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장은 '지금 5단계 중 어디인지'를 못박습니다. 질문이 들어오면 슬라이드 2(현황)와 14(다음 작업)로 돌아갑니다.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연구 진행 흐름 · Research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8600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무엇을 했고, 무엇이 기각됐고,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지금 어디에 있는가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KSTAR CES nowcasting — 확정된 결과 · 기각된 경로 · 다음 실험을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한 번에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 보는 덱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결과 발표용 덱(60분 / 20분)과 달리, 음성 결과와 함정이 본문입니다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2026-08-04 기준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THESIS_RESULTS.md · PROJECT_KNOWLEDGE.md · docs/설명성_피드백_실험계획.md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지금 어디에 있나 — 한 장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611880" cy="3127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312724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확정 (논문 본문)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3227832" cy="2487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Tᵢ: 미래까지 보는 보간(PCHIP)을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4개 독립 split에서 모두 유의하게 능가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(genuine +0.18…+0.28, 4/4 PASS)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V_rot: 보간과 동률 (PASS 1/4 = 잡음)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→ Tᵢ↔V_rot 비대칭이 본 연구의 발견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배치 주장은 인과 우위로 좁힘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결측 재가중·캠페인 분할 두 스트레스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테스트를 생존 (+0.29 / +0.22)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417320"/>
            <a:ext cx="3611880" cy="3127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417320"/>
            <a:ext cx="91440" cy="312724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5270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② 최근 라운드에서 배운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929384"/>
            <a:ext cx="3227832" cy="2487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레버는 아키텍처가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데이터 처리 + 문제 프레이밍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held(forward-fill) 제거 학습이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V_rot을 4/4 seed 개선 → 새 기본값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W=4는 근거 없음 — W=2에서 plateau,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과거 관측 1개면 충분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17320"/>
            <a:ext cx="3557016" cy="3127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417320"/>
            <a:ext cx="91440" cy="312724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52704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다음 작업 (우선순위)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929384"/>
            <a:ext cx="3172968" cy="2487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고속 진단 shot별(인과) 표준화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캠페인 전이 수리 (BES 1.22σ 드리프트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실측, 통제 실험 설계 완료)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이력 reach 확장 (슬롯≠span)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커버리지 54.1%/4.8% 직접 개선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원 kHz Mirnov window 특징 (V_rot 레버)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NBI 토크 데이터 확보 (원인 변수)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18304"/>
            <a:ext cx="11183112" cy="93268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91456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한 문장: </a:t>
            </a:r>
            <a:r>
              <a:rPr sz="1350" b="0" i="0">
                <a:solidFill>
                  <a:srgbClr val="FFFFFF"/>
                </a:solidFill>
                <a:latin typeface="Malgun Gothic"/>
              </a:rPr>
              <a:t>Tᵢ 결과는 4개 split에서 재현되어 확정됐고, 배치 주장은 두 스트레스 테스트로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'인과 우위'로 좁혀 확정</a:t>
            </a:r>
            <a:r>
              <a:rPr sz="1350" b="0" i="0">
                <a:solidFill>
                  <a:srgbClr val="FFFFFF"/>
                </a:solidFill>
                <a:latin typeface="Malgun Gothic"/>
              </a:rPr>
              <a:t>됐다. 다음 레버는 아키텍처가 아니라 데이터다.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남은 리스크: 캠페인 전이(오프라인 우위 소멸 — 수리 실험 대기) · V_rot 근본 한계 = 미관측 NBI 토크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경로 — 6개 분기점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41447"/>
            <a:ext cx="10927080" cy="381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0180" y="2331719"/>
            <a:ext cx="164592" cy="164592"/>
          </a:xfrm>
          <a:prstGeom prst="ellipse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38428" y="1892807"/>
            <a:ext cx="768096" cy="2743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" y="1929383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06-22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15767"/>
            <a:ext cx="1764792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15767"/>
            <a:ext cx="1764792" cy="5486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843783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입력 ablation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72967"/>
            <a:ext cx="1545336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fast 진단은 Tᵢ 정보를 나르고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 정보는 거의 없다</a:t>
            </a:r>
          </a:p>
        </p:txBody>
      </p:sp>
      <p:sp>
        <p:nvSpPr>
          <p:cNvPr id="18" name="Oval 17"/>
          <p:cNvSpPr/>
          <p:nvPr/>
        </p:nvSpPr>
        <p:spPr>
          <a:xfrm>
            <a:off x="3259836" y="2331719"/>
            <a:ext cx="164592" cy="164592"/>
          </a:xfrm>
          <a:prstGeom prst="ellipse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58084" y="1892807"/>
            <a:ext cx="768096" cy="2743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8084" y="1929383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06-23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59736" y="2715767"/>
            <a:ext cx="1764792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59736" y="2715767"/>
            <a:ext cx="1764792" cy="5486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9464" y="2843783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peak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3172967"/>
            <a:ext cx="1545336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모델의 우위는 고변동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구간에 집중된다</a:t>
            </a:r>
          </a:p>
        </p:txBody>
      </p:sp>
      <p:sp>
        <p:nvSpPr>
          <p:cNvPr id="25" name="Oval 24"/>
          <p:cNvSpPr/>
          <p:nvPr/>
        </p:nvSpPr>
        <p:spPr>
          <a:xfrm>
            <a:off x="5079492" y="2331719"/>
            <a:ext cx="164592" cy="164592"/>
          </a:xfrm>
          <a:prstGeom prst="ellipse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77740" y="1892807"/>
            <a:ext cx="768096" cy="2743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7740" y="1929383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07-14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715767"/>
            <a:ext cx="1764792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715767"/>
            <a:ext cx="1764792" cy="54864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843783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체크포인트 정합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172967"/>
            <a:ext cx="1545336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저장 가중치가 표류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소스에서 재현해 통일</a:t>
            </a:r>
          </a:p>
        </p:txBody>
      </p:sp>
      <p:sp>
        <p:nvSpPr>
          <p:cNvPr id="32" name="Oval 31"/>
          <p:cNvSpPr/>
          <p:nvPr/>
        </p:nvSpPr>
        <p:spPr>
          <a:xfrm>
            <a:off x="6899148" y="2331719"/>
            <a:ext cx="164592" cy="164592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97396" y="1892807"/>
            <a:ext cx="768096" cy="2743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7396" y="1929383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07-30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2715767"/>
            <a:ext cx="1764792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8" y="2715767"/>
            <a:ext cx="1764792" cy="5486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08776" y="2843783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3연발 실험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08776" y="3172967"/>
            <a:ext cx="1545336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held 제거 = KEEP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seq = Tᵢ만 · CT = 전부 기각</a:t>
            </a:r>
          </a:p>
        </p:txBody>
      </p:sp>
      <p:sp>
        <p:nvSpPr>
          <p:cNvPr id="39" name="Oval 38"/>
          <p:cNvSpPr/>
          <p:nvPr/>
        </p:nvSpPr>
        <p:spPr>
          <a:xfrm>
            <a:off x="8718804" y="2331719"/>
            <a:ext cx="164592" cy="16459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417052" y="1892807"/>
            <a:ext cx="768096" cy="27432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7052" y="1929383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08-04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18704" y="2715767"/>
            <a:ext cx="1764792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18704" y="2715767"/>
            <a:ext cx="1764792" cy="5486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28432" y="2843783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window sweep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28432" y="3172967"/>
            <a:ext cx="1545336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과거 관측 1개면 충분,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W=4는 근거 없음</a:t>
            </a:r>
          </a:p>
        </p:txBody>
      </p:sp>
      <p:sp>
        <p:nvSpPr>
          <p:cNvPr id="46" name="Oval 45"/>
          <p:cNvSpPr/>
          <p:nvPr/>
        </p:nvSpPr>
        <p:spPr>
          <a:xfrm>
            <a:off x="10538460" y="2331719"/>
            <a:ext cx="164592" cy="164592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236708" y="1892807"/>
            <a:ext cx="768096" cy="2743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36708" y="1929383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08-05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38360" y="2715767"/>
            <a:ext cx="1764792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738360" y="2715767"/>
            <a:ext cx="1764792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48088" y="2843783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스트레스 2종+감사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8088" y="3172967"/>
            <a:ext cx="1545336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재가중·캠페인 분할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배치 주장은 인과 우위로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4892040"/>
            <a:ext cx="10927080" cy="1234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4892040"/>
            <a:ext cx="91440" cy="12344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" y="502920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경로가 말해주는 것 —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연구의 무게 중심이 '모델을 어떻게 바꿀까'에서 '데이터와 평가가 정직한가'로 옮겨갔다.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Malgun Gothic"/>
              </a:rPr>
              <a:t>6~7월 초의 AutoML 아키텍처 탐색(18 iteration)은 검증 손실을 안정적으로 낮추지 못했고, 실제로 지표를 움직인 것은 held 제거(데이터)와 전체격자 재프레이밍(문제 정의)이었다.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질문은 어떻게 바뀌었나 — 세 번의 전환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11183112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81328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609344"/>
            <a:ext cx="1554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문제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91056"/>
            <a:ext cx="36118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AA5B1"/>
                </a:solidFill>
                <a:latin typeface="Malgun Gothic"/>
              </a:rPr>
              <a:t>이전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670"/>
                </a:solidFill>
                <a:latin typeface="Malgun Gothic"/>
              </a:rPr>
              <a:t>고해상도 CES를 복원한다 (super-resolution)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719072"/>
            <a:ext cx="36576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743B"/>
                </a:solidFill>
                <a:latin typeface="Malgun Gothi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591056"/>
            <a:ext cx="50292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8743B"/>
                </a:solidFill>
                <a:latin typeface="Malgun Gothic"/>
              </a:rPr>
              <a:t>현재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10 ms 격자에서 비어 있는 CES를 과거만 보고 채운다 (causal gap-filling / nowcasting)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68880"/>
            <a:ext cx="92354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왜: </a:t>
            </a:r>
            <a:r>
              <a:rPr sz="1100" b="0" i="0">
                <a:solidFill>
                  <a:srgbClr val="5B6670"/>
                </a:solidFill>
                <a:latin typeface="Malgun Gothic"/>
              </a:rPr>
              <a:t>CES는 애초에 저해상도가 아니라 '자주 비는' 진단이다. 해상도 문제가 아니라 결측 문제.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54096"/>
            <a:ext cx="11183112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054096"/>
            <a:ext cx="91440" cy="14813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182112"/>
            <a:ext cx="1554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평가 기준선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163824"/>
            <a:ext cx="36118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AA5B1"/>
                </a:solidFill>
                <a:latin typeface="Malgun Gothic"/>
              </a:rPr>
              <a:t>이전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670"/>
                </a:solidFill>
                <a:latin typeface="Malgun Gothic"/>
              </a:rPr>
              <a:t>persistence(직전값)를 이기면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3291839"/>
            <a:ext cx="36576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6CB0"/>
                </a:solidFill>
                <a:latin typeface="Malgun Gothic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163824"/>
            <a:ext cx="50292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B6CB0"/>
                </a:solidFill>
                <a:latin typeface="Malgun Gothic"/>
              </a:rPr>
              <a:t>현재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미래까지 보는 오프라인 보간(PCHIP)을 이겨야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041648"/>
            <a:ext cx="92354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B6CB0"/>
                </a:solidFill>
                <a:latin typeface="Malgun Gothic"/>
              </a:rPr>
              <a:t>왜: </a:t>
            </a:r>
            <a:r>
              <a:rPr sz="1100" b="0" i="0">
                <a:solidFill>
                  <a:srgbClr val="5B6670"/>
                </a:solidFill>
                <a:latin typeface="Malgun Gothic"/>
              </a:rPr>
              <a:t>persistence는 너무 쉬운 상대. 일부러 불리한 bar를 세워야 주장이 방어된다.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26864"/>
            <a:ext cx="11183112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626864"/>
            <a:ext cx="91440" cy="148132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54879"/>
            <a:ext cx="1554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개선 레버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736592"/>
            <a:ext cx="36118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9AA5B1"/>
                </a:solidFill>
                <a:latin typeface="Malgun Gothic"/>
              </a:rPr>
              <a:t>이전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670"/>
                </a:solidFill>
                <a:latin typeface="Malgun Gothic"/>
              </a:rPr>
              <a:t>아키텍처를 더 크게 · 더 복잡하게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864607"/>
            <a:ext cx="365760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9E5B"/>
                </a:solidFill>
                <a:latin typeface="Malgun Gothic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736592"/>
            <a:ext cx="50292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현재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데이터 처리(held 제거)와 문제 프레이밍(전체 격자)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614416"/>
            <a:ext cx="92354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왜: </a:t>
            </a:r>
            <a:r>
              <a:rPr sz="1100" b="0" i="0">
                <a:solidFill>
                  <a:srgbClr val="5B6670"/>
                </a:solidFill>
                <a:latin typeface="Malgun Gothic"/>
              </a:rPr>
              <a:t>18 iteration 아키텍처 탐색은 안정적 개선 실패. 데이터·프레이밍 변경은 4/4 seed 개선.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확정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헤드라인 — 4개 독립 split에서 재현된 Tᵢ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91420"/>
            <a:ext cx="6903720" cy="2686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371600"/>
            <a:ext cx="4050791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37160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72984" y="1481328"/>
            <a:ext cx="36850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무엇이 확정됐나 (genuine 평가)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2984" y="1883664"/>
            <a:ext cx="3666743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CES_TI: +0.179 / +0.197 / +0.280 / +0.263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4개 held-out TEST split 모두 PR4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(held 포함 +0.19…+0.28도 4/4;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seed 1/7/123은 선택 밖 진짜 복제)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CES_VT: +0.203 / +0.162 / +0.100 / +0.183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점추정 전부 양수, PASS는 seed 1뿐 → 동률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675887"/>
            <a:ext cx="4050791" cy="2221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3675887"/>
            <a:ext cx="91440" cy="222199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2984" y="3785615"/>
            <a:ext cx="36850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이 결과가 강한 이유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4187951"/>
            <a:ext cx="3666743" cy="1581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상대가 미래를 보는 보간이다. 실시간에서는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쓸 수 없는 상대를 과거만 보는 모델이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RMSE 사다리 전 구간 1위 (genuine, Tᵢ eV):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모델 407.0 &lt; 선형 441.0 &lt; PCHIP 449.3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&lt; persistence 504.3 &lt; AR 2425.9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확정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65836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2704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입력 ablation (val, vs persistence)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52704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52704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3852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Full (이력 + 빠른진단 + 시간)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9385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+0.428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9385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+0.296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58187"/>
            <a:ext cx="6583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67712"/>
            <a:ext cx="658368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34086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no_fast (이력만)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340864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+0.458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40864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+0.295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6583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6583680" cy="402336"/>
          </a:xfrm>
          <a:prstGeom prst="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22B35"/>
                </a:solidFill>
                <a:latin typeface="Malgun Gothic"/>
              </a:rPr>
              <a:t>no_history (빠른진단만)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2743200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+0.372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743200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−0.642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62859"/>
            <a:ext cx="6583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246120"/>
            <a:ext cx="6675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읽는 법: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진단만 주면 Tᵢ는 여전히 persistence를 이기지만(+0.372), V_rot은 persistence보다 나빠진다(−0.642). </a:t>
            </a:r>
            <a:r>
              <a:rPr sz="1250" b="1" i="0">
                <a:solidFill>
                  <a:srgbClr val="E8743B"/>
                </a:solidFill>
                <a:latin typeface="Malgun Gothic"/>
              </a:rPr>
              <a:t>V_rot 정보는 사실상 전부 과거 CES 이력에서 온다.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114800"/>
            <a:ext cx="5486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114800"/>
            <a:ext cx="91440" cy="1828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2245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물리적 근거 — 예측되고 확인된 비대칭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4626864"/>
            <a:ext cx="510235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Tᵢ: 충돌 e–i 결합 (τ_ei ∝ Tₑ^{3/2}/nₑ)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→ ECEI(Tₑ) + BES(nₑ)가 Tᵢ 정보를 나른다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V_rot: 주로 NBI 토크가 결정하는데 NBI는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데이터에 없다. Mirnov는 10 ms(100 Hz)로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샘플링돼 kHz 모드 회전이 aliasing으로 소실.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14800"/>
            <a:ext cx="5486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4114800"/>
            <a:ext cx="91440" cy="18288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2245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이것이 왜 '실패'가 아닌가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4626864"/>
            <a:ext cx="5102352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물리에서 먼저 예측되고 ablation이 확인했다.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문헌 검토 2회에서도 같은 비대칭이 지지됐다.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n.s.는 모델 부족이 아니라 측정되지 않은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입력의 한계다.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다음 레버는 NBI 토크 확보이지 더 큰 모델이 아니다.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확정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모델의 가치는 '고변동 구간'에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62621"/>
            <a:ext cx="6766560" cy="309851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43800" y="1371600"/>
            <a:ext cx="4142232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1371600"/>
            <a:ext cx="91440" cy="2286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81544" y="1481328"/>
            <a:ext cx="3776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수치 (val split)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1883664"/>
            <a:ext cx="3758184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CES_TI  전체 +0.272 → peak +0.702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 95% CI [+0.503, +0.851] 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CES_VT  전체 +0.131 → peak +0.438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 95% CI [+0.068, +0.726] 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peak = 타깃 자신의 값을 배제한 입력 기반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프록시로 고른 '주변이 요동치는' 구간.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3813048"/>
            <a:ext cx="4142232" cy="20848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3813048"/>
            <a:ext cx="91440" cy="2084831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1544" y="3922776"/>
            <a:ext cx="3776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해석 — 그리고 남은 함정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325112"/>
            <a:ext cx="3758184" cy="14447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보간은 매끄러운 구간에서 이미 최적에 가깝다.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모델의 값어치는 급변 구간에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전체적으로 n.s.인 V_rot조차 peak에서는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PASS → 비대칭은 '지역적'이다.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단, val split이고 관측점만 채점(MNAR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낙관 상한)이므로 헤드라인으로 쓰지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평가가 단단해진 과정 — 스스로에게 불리하게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722376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107899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B6CB0"/>
                </a:solidFill>
                <a:latin typeface="Malgun Gothic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536192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B6CB0"/>
                </a:solidFill>
                <a:latin typeface="Malgun Gothic"/>
              </a:rPr>
              <a:t>선택 게이트 교체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554480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AA5B1"/>
                </a:solidFill>
                <a:latin typeface="Malgun Gothic"/>
              </a:rPr>
              <a:t>val loss → clean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874519"/>
            <a:ext cx="6309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AutoML 유지/폐기 기준을 검증손실에서 깨끗한 skill로 바꾸자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n.s.(+0.088) → 유의(+0.257)로 이동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78608"/>
            <a:ext cx="722376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578608"/>
            <a:ext cx="91440" cy="107899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852928"/>
            <a:ext cx="457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B9E8A"/>
                </a:solidFill>
                <a:latin typeface="Malgun Gothic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697480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3-way split + 사전등록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715768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AA5B1"/>
                </a:solidFill>
                <a:latin typeface="Malgun Gothic"/>
              </a:rPr>
              <a:t>선택과 보고의 분리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035808"/>
            <a:ext cx="6309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선택은 val에서만. TEST 수치를 보기 전에 판정 규칙(PR1–PR4)을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문서에 고정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39896"/>
            <a:ext cx="722376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739896"/>
            <a:ext cx="91440" cy="107899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014215"/>
            <a:ext cx="457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3335F"/>
                </a:solidFill>
                <a:latin typeface="Malgun Gothic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5876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shot-clustered bootstrap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877056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AA5B1"/>
                </a:solidFill>
                <a:latin typeface="Malgun Gothic"/>
              </a:rPr>
              <a:t>재표집 단위 = 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197096"/>
            <a:ext cx="6309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한 shot 안의 행은 자기상관 → 행 단위 CI는 과신.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shot을 단위로 페어드 부트스트랩(B=10,000)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901183"/>
            <a:ext cx="722376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901183"/>
            <a:ext cx="91440" cy="10789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75503"/>
            <a:ext cx="457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E9E5B"/>
                </a:solidFill>
                <a:latin typeface="Malgun Gothic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020055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4-seed paired bar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038344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9AA5B1"/>
                </a:solidFill>
                <a:latin typeface="Malgun Gothic"/>
              </a:rPr>
              <a:t>단일 run 금지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358383"/>
            <a:ext cx="6309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 관련 주장은 4개 split 페어드 비교를 통과해야 인정.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단일 seed 결과는 증거로 쓰지 않는다</a:t>
            </a:r>
          </a:p>
        </p:txBody>
      </p:sp>
      <p:pic>
        <p:nvPicPr>
          <p:cNvPr id="34" name="Picture 33" descr="fig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443640"/>
            <a:ext cx="3794760" cy="160496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7909560" y="5029200"/>
            <a:ext cx="3776472" cy="10972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5138928"/>
            <a:ext cx="33832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정직한 진전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iter2 +0.088 [−0.221, +0.323] n.s.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→ 최종 +0.257 [+0.118, +0.360] PASS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데이터를 정직하게 만든 세 번의 수정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61188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① per-target 마스킹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322783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기존: Tᵢ·V_rot 둘 다 관측된 행만 학습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라벨 행의 약 28%를 조용히 폐기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수정: 행별 target_mask + per-target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masked MSE. 하나만 관측돼도 그 타깃은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학습에 기여한다.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417320"/>
            <a:ext cx="361188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41732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5270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held(stuck) 감사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929384"/>
            <a:ext cx="322783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관측된 V_rot의 54%가 직전값 복사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(장비의 forward-fill padding)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이 값들이 학습 타깃과 이력 입력에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함께 들어가 '이력 복사가 최적'이라고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가르치고 있었다 → 순환 논리.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17320"/>
            <a:ext cx="3557016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417320"/>
            <a:ext cx="91440" cy="2103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52704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③ held-free 학습 (KEEP)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929384"/>
            <a:ext cx="3172968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held를 학습·평가에서 모두 제거하고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4-seed 페어드 비교: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 4/4 양수 · 3/4 CI가 0 제외,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평균 +0.039 (MSE 약 4% 감소).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Tᵢ는 영향 없음(평균 +0.004).</a:t>
            </a:r>
          </a:p>
        </p:txBody>
      </p:sp>
      <p:pic>
        <p:nvPicPr>
          <p:cNvPr id="22" name="Picture 21" descr="fig_stuckfree_pa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041" y="3657600"/>
            <a:ext cx="2986877" cy="2286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657600"/>
            <a:ext cx="4325112" cy="254203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657600"/>
            <a:ext cx="91440" cy="25420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767328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무엇이 바뀌었나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169664"/>
            <a:ext cx="3941064" cy="19019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학습 기본값 변경: CES_DROP_STUCK_TARGETS=1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(V_rot 관련 모든 새 학습에 적용)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persistence 이야기의 부분적 탈-순환화: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V_rot의 이력 의존은 진짜 물리이면서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동시에 장비 padding으로 부풀려져 있었다.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교훈: 데이터 처리를 기본값에 맡기지 말 것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모든 새 run에서 명시적으로 고정.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2026-07-30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같은 날 돌린 두 실험 — 레버는 데이터와 프레이밍이었다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11183111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8132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실험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48132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가설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481328"/>
            <a:ext cx="3557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결과 (4-seed paired)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1481328"/>
            <a:ext cx="1938527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92808"/>
            <a:ext cx="2002536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held-free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892808"/>
            <a:ext cx="3099816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held가 학습을 오염시킨다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892808"/>
            <a:ext cx="3557016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 4/4 양수 · 3/4 유의, 평균 +0.039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1892808"/>
            <a:ext cx="1938527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KEEP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96515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606040"/>
            <a:ext cx="11183111" cy="7863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679192"/>
            <a:ext cx="2002536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seq 재프레이밍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9192"/>
            <a:ext cx="3099816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전체 격자 LSTM + loss 마스킹으로 윈도·증강을 없앤다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2679192"/>
            <a:ext cx="3557016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4/4 개선(평균 +0.042) · V_rot은 held-free 대조에서 4/4 악화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679192"/>
            <a:ext cx="1938527" cy="6949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부분 KEEP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82899"/>
            <a:ext cx="11183111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160520"/>
            <a:ext cx="553212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160520"/>
            <a:ext cx="91440" cy="17830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79392"/>
            <a:ext cx="51206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seq의 V_rot 격차는 완전히 분해됐다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(1) held 오염 — held-free로 학습하면 유의한 악화가 전부 사라짐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(2) 라우팅 부재 — 동일 held-free 조건에서도 공유 인코더 LSTM은 V_rot을 4/4 잃는다. iter009의 V_rot head 설계(빠른진단 차단 + 관측마스킹 어텐션)가 그 우위의 원천임을 역으로 확인.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160520"/>
            <a:ext cx="5513832" cy="17830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279392"/>
            <a:ext cx="51206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이 라운드의 한 줄 교훈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데이터 처리(held 제거)와 문제 프레이밍(전체 격자)은 지표를 움직였고, 앞선 라운드의 아키텍처 미세변형은 움직이지 않았다.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→ 다음 통제 변경도 '더 좋은 인코더'가 아니라 데이터·프레이밍·평가 쪽에서 찾는다.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2026-08-04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window sweep — 'W=4여야 하는가'에 답하다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pic>
        <p:nvPicPr>
          <p:cNvPr id="10" name="Picture 9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57162"/>
            <a:ext cx="6858000" cy="275515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89520" y="1371600"/>
            <a:ext cx="4096512" cy="26700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371600"/>
            <a:ext cx="91440" cy="267004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7264" y="1481328"/>
            <a:ext cx="3730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24 run이 말한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1883664"/>
            <a:ext cx="3712464" cy="2029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과거 관측 1개가 전부다. history-0이면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Tᵢ −0.026(보간 이하), V_rot −0.783.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하나만 주면 둘 다 즉시 최대치.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W=2…8에서 평평하다 (Tᵢ 0.190–0.246,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V_rot 0.190–0.206). seed 산포가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곡선 전체보다 넓다 → W=4는 근거 없음.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W&gt;2의 이점은 skill이 아니라 커버리지.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(긴 gap 표본 채점 수 4~10배)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4187952"/>
            <a:ext cx="4096512" cy="1755648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4187952"/>
            <a:ext cx="91440" cy="17556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4261104"/>
            <a:ext cx="370332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함정 — 첫 패스는 틀렸다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held 처리가 기본값에 맡겨져(§8c 위반) 'V_rot은 긴 이력 필요' 결론이 나왔다.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실제론 held가 짧은 윈도를 벌준 것 — 빼면 W=2가 따라잡고 기울기가 사라진다.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교훈: 윈도 길이 비례 결론은 held-free로 재확인.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Negative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기각된 경로 — 다시 시도하지 않기 위한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35608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435608"/>
            <a:ext cx="3968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무엇을 기대했나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1435608"/>
            <a:ext cx="408736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왜 기각했나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47088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AutoML 아키텍처 탐색 (18 iter)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1847088"/>
            <a:ext cx="39684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구조를 바꾸면 검증손실이 내려간다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1847088"/>
            <a:ext cx="4087368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안정적 하강 추세 없음. 용량 확대·복잡 skip·local conv 모두 무효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13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40864"/>
            <a:ext cx="11183112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14016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Mirnov 재가공 특징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414016"/>
            <a:ext cx="39684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적분·pchip·burst 특징이 V_rot을 살린다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414016"/>
            <a:ext cx="4087368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4-seed 페어드에서 전부 무효. MC는 무작위 위상 dB/dt 스냅샷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982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980944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 → NBI 대리 가설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980944"/>
            <a:ext cx="39684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Tₑ가 NBI 가열을 대리하니 토크도 담긴다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980944"/>
            <a:ext cx="4087368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데이터 수준에서 기각. 가열과 토크는 분리된다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6519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474720"/>
            <a:ext cx="11183112" cy="56692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47872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W &gt; 2 (넓은 윈도)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547872"/>
            <a:ext cx="39684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긴 이력이 V_rot에 도움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3547872"/>
            <a:ext cx="4087368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held 오염 artifact였다. held-free에서 기울기 소멸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0321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114800"/>
            <a:ext cx="268833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 단독 (공유 인코더)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114800"/>
            <a:ext cx="3968496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전체 격자면 라우팅 없이도 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4114800"/>
            <a:ext cx="4087368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Tᵢ는 개선, V_rot은 4/4 유의 악화 → 라우팅은 필수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5990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230368"/>
            <a:ext cx="11183112" cy="8686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49240"/>
            <a:ext cx="106070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이 목록이 자산인 이유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다섯 경로 모두 사전등록된 통제 실험으로 닫혔고, 각각 '무엇이 달라야 재시도할 수 있는지'가 함께 기록돼 있다. 덕분에 남은 탐색 공간이 좁고 명확하다.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Traps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함정 4종 — 시간을 가장 많이 쓴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513832" cy="22128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2128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체크포인트 표류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29784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model.py는 AutoML이 Transformer로 재작성돼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저장된 45개 가중치를 하나도 못 불러온다.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논문 아키텍처는 아카이브된 model_iter009.py뿐.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.improve_final_out 가중치는 기록 지표 미재현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(V_rot +0.056 vs 기록 +0.161).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해결: 소스 재학습 → .vt_repro_* 패밀리로 통일.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513832" cy="22128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21284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데이터 처리 기본값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29784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held 처리를 명시하지 않으면 train.py 기본값 0이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조용히 선택된다.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window sweep 첫 패스의 잘못된 결론이 여기서 나왔다.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해결: 모든 run에서 CES_DROP_STUCK_TARGETS를 명시.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513832" cy="22128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21284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split manifest 파괴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29784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train.py는 CES_SPLIT_DIR/split_manifest.json을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다시 쓴다. CES_TEST_FRACTION=0(기본)이면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3-way split의 test_files를 지워버린다.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해결: manifest 백업 또는 복사본을 가리키게 할 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513832" cy="22128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21284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Windows/MKL 콘솔 핸들러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29784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부모 콘솔이 닫히면 MKL이 학습을 중단시킨다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(forrtl 200, exit 3221225786).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해결: FOR_DISABLE_CONSOLE_CTRL_HANDLER=1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KMP_HANDLE_SIGNALS=0, detached 실행 + --resume.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바로 다음 작업 — 우선순위와 판정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1118311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2148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481328"/>
            <a:ext cx="106070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1순위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고속 진단의 shot별(인과) 표준화 — 캠페인 전이 수리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   — 정규화 env 1곳 변경 · 4-seed · 두 분할 규칙 채점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20240"/>
            <a:ext cx="530352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캠페인 시간 분할에서 오프라인 보간 대비 우위가 소멸(0/4). 원인은 실측됨 — train→test 드리프트가 BES 1.22σ·ECEI 0.53σ인데 CES 타겟은 0.115σ.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train-file-only 정규화(무작위 분할에선 올바른 선택)가 캠페인 이동에서 깨지는 바로 그 지점이다.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20240"/>
            <a:ext cx="512064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할 일 · 판정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shot 자신의 데이터만 쓰는 표준화(누수 없음·실행 시점 가용)로 교체 후 무작위·캠페인 두 분할 규칙에서 4-seed 채점.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판정: 캠페인 분할 vs PCHIP 회복 여부 + 무작위 분할 skill 비용. 절대 수준 정보(BES↔밀도) 상실이 Tᵢ를 해칠 수 있음 — 가정 아닌 측정 대상.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75887"/>
            <a:ext cx="5513832" cy="23957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675887"/>
            <a:ext cx="91440" cy="2395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785615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2순위 — 이력 reach 확장 (슬롯≠span)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187951"/>
            <a:ext cx="5129784" cy="17556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동기: 진짜 결측 중 도메인 내가 Tᵢ 54.1%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4.8%뿐 (W=4). 커버리지가 binding limit.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슬롯은 2~3개로 두고 더 넓은 span에서 뽑는다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(dataset.py의 미사용 max_window_span 자리)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sweep 근거: W는 skill을 안 사고 커버리지만 산다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완전 무작위 금지 — 기준선 정의가 바뀌면 비교가 깨짐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75887"/>
            <a:ext cx="5513832" cy="23957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675887"/>
            <a:ext cx="91440" cy="23957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3785615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3순위 — 데이터 확보 2종 (V_rot의 진짜 레버)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187951"/>
            <a:ext cx="5129784" cy="17556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원 kHz Mirnov의 window별 RMS·대역 파워·모드 번호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— 무필터 100 Hz 데시메이션이 파괴한 정보의 상류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NBI 토크(빔별 파워·기하) — 회전의 원인 변수.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액추에이터 입력 시 회전 예측 가능(양성 대조군 문헌)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완료(이번 라운드): 큰 gap causal 재평가 · 앵커+Δ 사다리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MNAR 재가중 · 캠페인 분할 · conformal · latency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연구 흐름 한 장 요약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713232"/>
          </a:xfrm>
          <a:prstGeom prst="roundRect">
            <a:avLst/>
          </a:prstGeom>
          <a:solidFill>
            <a:srgbClr val="1A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82296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347472" cy="347472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48256"/>
            <a:ext cx="347472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75104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algun Gothic"/>
              </a:rPr>
              <a:t>문제를 다시 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993392"/>
            <a:ext cx="5760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초해상 → 10 ms causal gap-filling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395728"/>
            <a:ext cx="2743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AA5B1"/>
                </a:solidFill>
                <a:latin typeface="Malgun Gothic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79192"/>
            <a:ext cx="10835640" cy="713232"/>
          </a:xfrm>
          <a:prstGeom prst="roundRect">
            <a:avLst/>
          </a:prstGeom>
          <a:solidFill>
            <a:srgbClr val="1A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679192"/>
            <a:ext cx="82296" cy="7132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2862072"/>
            <a:ext cx="347472" cy="347472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898648"/>
            <a:ext cx="347472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82549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algun Gothic"/>
              </a:rPr>
              <a:t>기준선을 격상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843784"/>
            <a:ext cx="5760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persistence → 미래를 보는 보간(PCHIP)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3246120"/>
            <a:ext cx="2743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AA5B1"/>
                </a:solidFill>
                <a:latin typeface="Malgun Gothic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29584"/>
            <a:ext cx="10835640" cy="713232"/>
          </a:xfrm>
          <a:prstGeom prst="roundRect">
            <a:avLst/>
          </a:prstGeom>
          <a:solidFill>
            <a:srgbClr val="1A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529584"/>
            <a:ext cx="82296" cy="7132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3712464"/>
            <a:ext cx="347472" cy="347472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49040"/>
            <a:ext cx="347472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6758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algun Gothic"/>
              </a:rPr>
              <a:t>Tᵢ 확정 · V_rot 진단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694176"/>
            <a:ext cx="5760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4/4 PASS  |  비대칭 = 미관측 NBI 토크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4096512"/>
            <a:ext cx="2743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AA5B1"/>
                </a:solidFill>
                <a:latin typeface="Malgun Gothic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379976"/>
            <a:ext cx="10835640" cy="713232"/>
          </a:xfrm>
          <a:prstGeom prst="roundRect">
            <a:avLst/>
          </a:prstGeom>
          <a:solidFill>
            <a:srgbClr val="1A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379976"/>
            <a:ext cx="82296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4562856"/>
            <a:ext cx="347472" cy="347472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599432"/>
            <a:ext cx="347472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26280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algun Gothic"/>
              </a:rPr>
              <a:t>레버를 재조준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544568"/>
            <a:ext cx="5760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아키텍처 → 데이터(held) · 프레이밍(전체격자)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" y="4946904"/>
            <a:ext cx="2743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9AA5B1"/>
                </a:solidFill>
                <a:latin typeface="Malgun Gothic"/>
              </a:rPr>
              <a:t>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5230368"/>
            <a:ext cx="10835640" cy="713232"/>
          </a:xfrm>
          <a:prstGeom prst="roundRect">
            <a:avLst/>
          </a:prstGeom>
          <a:solidFill>
            <a:srgbClr val="1A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5230368"/>
            <a:ext cx="82296" cy="7132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5413248"/>
            <a:ext cx="347472" cy="347472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49824"/>
            <a:ext cx="347472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376672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Malgun Gothic"/>
              </a:rPr>
              <a:t>배치 주장을 좁혀 확정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0" y="5394959"/>
            <a:ext cx="5760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결측 재가중·캠페인 분할 → 인과 우위만 생존 ← 지금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6108192"/>
            <a:ext cx="10835640" cy="502920"/>
          </a:xfrm>
          <a:prstGeom prst="round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6181344"/>
            <a:ext cx="104241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결론: 모델을 더 키우는 단계는 끝났다. 남은 것은 </a:t>
            </a:r>
            <a:r>
              <a:rPr sz="1250" b="1" i="0">
                <a:solidFill>
                  <a:srgbClr val="E8743B"/>
                </a:solidFill>
                <a:latin typeface="Malgun Gothic"/>
              </a:rPr>
              <a:t>평가가 공정한지 확인하고, 측정되지 않은 입력(NBI)을 확보하는 것</a:t>
            </a:r>
            <a:r>
              <a:rPr sz="1250" b="0" i="0">
                <a:solidFill>
                  <a:srgbClr val="E8ECF1"/>
                </a:solidFill>
                <a:latin typeface="Malgun Gothic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