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용도: 논문을 쓰는 동안 옆에 두는 참조판이다. 수치는 전부 main_ko.tex(= 동결 산출물 paper_numbers.json)와</a:t>
            </a:r>
          </a:p>
          <a:p>
            <a:r>
              <a:t>THESIS_RESULTS.md §8ac–§8ap의 표에서 그대로 옮겼으므로 여기서 인용하면 본문과 어긋나지 않는다.</a:t>
            </a:r>
          </a:p>
          <a:p/>
          <a:p>
            <a:r>
              <a:t>폐기된 이전 판(W=4 시대) 수치는 인용하지 않는다: iter2→iter9 progression, seq +0.045, anchor+Δ가 마진의</a:t>
            </a:r>
          </a:p>
          <a:p>
            <a:r>
              <a:t>31.5% 회수, MNAR 1/4, 캠페인 0/4, held 포함/제외 이중 보고, CPU p99 6.4 ms, 윈도 W=2 p99 18.9 ms(§8ac</a:t>
            </a:r>
          </a:p>
          <a:p>
            <a:r>
              <a:t>오염 판정). 대응 그림(fig_progression, fig_seq_paired, fig_stuckfree_paired, fig_window_sweep_heldkept,</a:t>
            </a:r>
          </a:p>
          <a:p>
            <a:r>
              <a:t>W=4 fig_transient_*)도 쓰지 않는다.</a:t>
            </a:r>
          </a:p>
          <a:p/>
          <a:p>
            <a:r>
              <a:t>이 덱에서 의도적으로 제외한 것은 날짜 타임라인, 연구 질문이 바뀐 경위(초해상 → gap-filling), AutoML 탐색</a:t>
            </a:r>
          </a:p>
          <a:p>
            <a:r>
              <a:t>경위, 체크포인트/재현성 함정, 운영용 다음-작업 우선순위이다. 논문에 한 줄도 들어가지 않는 과정 서사이며,</a:t>
            </a:r>
          </a:p>
          <a:p>
            <a:r>
              <a:t>기록은 THESIS_RESULTS.md §8과 PROJECT_KNOWLEDGE.md에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label 목록(전수): sec:intro, sec:related, sec:data, sec:framing, sec:stuck, sec:spikes,</a:t>
            </a:r>
          </a:p>
          <a:p>
            <a:r>
              <a:t>sec:model, sec:eval, sec:results, sec:headline, sec:gate, sec:gap, sec:mnar, sec:campaign, sec:asym,</a:t>
            </a:r>
          </a:p>
          <a:p>
            <a:r>
              <a:t>sec:window, sec:ladder, sec:peak, sec:cutsens, sec:selection, sec:deploy, sec:headroom, sec:limits,</a:t>
            </a:r>
          </a:p>
          <a:p>
            <a:r>
              <a:t>sec:conclusion. 표: tab:ladder, tab:headline, tab:gap, tab:mnar, tab:campaign, tab:stress, tab:ablation,</a:t>
            </a:r>
          </a:p>
          <a:p>
            <a:r>
              <a:t>tab:window, tab:ladder2. 그림: fig:missing, fig:ladder, fig:forest, fig:campaign, fig:ablation,</a:t>
            </a:r>
          </a:p>
          <a:p>
            <a:r>
              <a:t>fig:ladder_scaling, fig:peak.</a:t>
            </a:r>
          </a:p>
          <a:p/>
          <a:p>
            <a:r>
              <a:t>§6.1(RMSE 사다리)에는 소절 label이 없으므로 §sec:results 첫 소절 + tab:ladder / fig:ladder로 인용한다.</a:t>
            </a:r>
          </a:p>
          <a:p/>
          <a:p>
            <a:r>
              <a:t>§6.12는 아직 본문에 없다. 2026-08-16 이후의 B.9 기록을 담을 절이며, 20번 슬라이드가 그 초안 골격이다.</a:t>
            </a:r>
          </a:p>
          <a:p>
            <a:r>
              <a:t>그림은 docs/paper/figures/fig_context_family_ladder.png(이미 생성됨, 본문 미참조)이다.</a:t>
            </a:r>
          </a:p>
          <a:p/>
          <a:p>
            <a:r>
              <a:t>그림 파이프라인: collect_paper_numbers.py → docs/paper/paper_numbers.json → make_figures_en.py(논문) /</a:t>
            </a:r>
          </a:p>
          <a:p>
            <a:r>
              <a:t>make_figures.py(덱)이다. B.9 수치는 data/.b9_*.json에서 읽으며 collector v3에 통합하는 것이 후속이다.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표 \label{tab:stress}(§sec:campaign 끝), \label{sec:spikes}, \label{sec:conclusion} 2문단.</a:t>
            </a:r>
          </a:p>
          <a:p/>
          <a:p>
            <a:r>
              <a:t>인용 시 유의점</a:t>
            </a:r>
          </a:p>
          <a:p>
            <a:r>
              <a:t>· tab:stress는 seq_v2 · Tᵢ에 대한 표이다. 윈도 대조군 판본(이전 초안이 보고하였던 것)에서는 오프라인 우위가</a:t>
            </a:r>
          </a:p>
          <a:p>
            <a:r>
              <a:t>  두 스트레스 테스트를 모두 견디지 못하였다. 그 사실을 본문에서 그대로 밝힌다.</a:t>
            </a:r>
          </a:p>
          <a:p>
            <a:r>
              <a:t>· "2/4 / 4/4"는 컷 2/4, 포함 4/4를 뜻한다. 표기 순서를 덱·본문·그림에서 뒤집지 않는다.</a:t>
            </a:r>
          </a:p>
          <a:p>
            <a:r>
              <a:t>· 무조건부 Tᵢ 주장은 headline(4/4+4/4) · 간극 &gt;15 ms · peak(8/8) · 캠페인(4/4+4/4)이다. 무조건부 V_rot</a:t>
            </a:r>
          </a:p>
          <a:p>
            <a:r>
              <a:t>  주장은 간극 &gt;15 ms(+0.418 / +0.432) 하나이다.</a:t>
            </a:r>
          </a:p>
          <a:p>
            <a:r>
              <a:t>· B.9는 세 번째 문장을 더한다: 약 50 ms의 연속 인과 문맥이 인과 GP 대비 우위를 전형적으로 만들며(승률</a:t>
            </a:r>
          </a:p>
          <a:p>
            <a:r>
              <a:t>  0.52 → 0.66), 계열은 skill이 아니라 비용을 정한다(20번 슬라이드).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\label{sec:data} · \label{sec:framing}, 그림 \label{fig:missing}.</a:t>
            </a:r>
          </a:p>
          <a:p/>
          <a:p>
            <a:r>
              <a:t>인용 시 유의점</a:t>
            </a:r>
          </a:p>
          <a:p>
            <a:r>
              <a:t>· 결측률은 '행 기준·타깃별 독립'이며 두 타깃이 함께 결측되는 비율이 아니다.</a:t>
            </a:r>
          </a:p>
          <a:p>
            <a:r>
              <a:t>· 0.5 s 임계값은 이봉 delta 분포의 골이다. 약 247k개 delta 중 (0.1, 0.5) s 구간은 82개뿐이다.</a:t>
            </a:r>
          </a:p>
          <a:p>
            <a:r>
              <a:t>· 옛 초고의 "캠페인 #24000–#33000 · ~100 ms 절편"은 현재 데이터와 맞지 않아 폐기되었다. 이 슬라이드의</a:t>
            </a:r>
          </a:p>
          <a:p>
            <a:r>
              <a:t>  사양이 641파일 실측이다.</a:t>
            </a:r>
          </a:p>
          <a:p>
            <a:r>
              <a:t>· 타깃 시점 마스킹은 값과 관측 플래그를 '모두' 0으로 만든다. 플래그만 남기면 누수이다.</a:t>
            </a:r>
          </a:p>
          <a:p>
            <a:r>
              <a:t>· ces_history 4채널은 직전 정규화 Tᵢ, 직전 정규화 V_rot, Tᵢ 관측 플래그, V_rot 관측 플래그이다.</a:t>
            </a:r>
          </a:p>
          <a:p>
            <a:r>
              <a:t>· 시퀀스 22채널은 고속 15(BES 9 + ECEI 4 + MC 2) + log(1+Δt_prev) + 타깃 2개 × 3채널이다.</a:t>
            </a:r>
          </a:p>
          <a:p>
            <a:r>
              <a:t>· 현재 격자는 99.46% 균일(Δt = 0.01 s)이므로 "불규칙 샘플링을 다룬다"는 주장은 이 데이터로 뒷받침되지</a:t>
            </a:r>
          </a:p>
          <a:p>
            <a:r>
              <a:t>  않는다(§9.5). 다중 속도 획득(B.6)이 그것을 실재하게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\label{sec:stuck}(§3.4) · \label{sec:spikes}(§3.5). THESIS_RESULTS.md §8w, §8y, §8ab.</a:t>
            </a:r>
          </a:p>
          <a:p/>
          <a:p>
            <a:r>
              <a:t>인용 시 유의점</a:t>
            </a:r>
          </a:p>
          <a:p>
            <a:r>
              <a:t>· 유지값 제거는 민감도 한 줄이 아니라 '프로토콜'이다. 유지값은 평가뿐 아니라 학습도 오염시킨다</a:t>
            </a:r>
          </a:p>
          <a:p>
            <a:r>
              <a:t>  (forward-fill 계단은 "이력을 복사하는 것이 거의 최적"이라고 모델에 가르친다). 짝지은 재학습 근거는</a:t>
            </a:r>
          </a:p>
          <a:p>
            <a:r>
              <a:t>  프로젝트 기록에 있고 논문 본문은 프로토콜만 진술한다.</a:t>
            </a:r>
          </a:p>
          <a:p>
            <a:r>
              <a:t>· 두 모집단은 '공동 1차'이다. p100 단일 headline으로 합치지 않는다(2026-08-16 결정).</a:t>
            </a:r>
          </a:p>
          <a:p>
            <a:r>
              <a:t>· 컷은 로드 시점에 적용되고 전 arm이 비트 단위로 같은 모집단 키를 쓰는지 검증한다.</a:t>
            </a:r>
          </a:p>
          <a:p>
            <a:r>
              <a:t>· V_rot 프로토콜은 불변이다. 컷/점프 규칙도 재학습도 없고, anchored 비교마다 스파이크 행의 제곱오차 비중만</a:t>
            </a:r>
          </a:p>
          <a:p>
            <a:r>
              <a:t>  병기한다(2026-08-16 결정).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\label{sec:model}(§4). 그림은 fig_architecture_seq.png(주 모델 seq_v2 도식)이다.</a:t>
            </a:r>
          </a:p>
          <a:p>
            <a:r>
              <a:t>윈도 대조군 도식은 fig_architecture.png이며 필요하면 §6.3 슬라이드에서 함께 쓴다.</a:t>
            </a:r>
          </a:p>
          <a:p/>
          <a:p>
            <a:r>
              <a:t>인용 시 유의점</a:t>
            </a:r>
          </a:p>
          <a:p>
            <a:r>
              <a:t>· 주 모델은 seq_v2이다. 옛 주 모델(윈도 GRU + 관측마스킹 attention, 201,258, iter009)은 'W=2 윈도</a:t>
            </a:r>
          </a:p>
          <a:p>
            <a:r>
              <a:t>  대조군'이며 그렇게만 부른다.</a:t>
            </a:r>
          </a:p>
          <a:p>
            <a:r>
              <a:t>· b3k8의 z ∈ [-1,1]^K는 소형 인과 GRU(64/32)의 tanh 잠재이고 K=8(Tᵢ) / 4(V_rot)이며, readout이 0</a:t>
            </a:r>
          </a:p>
          <a:p>
            <a:r>
              <a:t>  초기화라 학습이 정확히 persistence에서 출발한다. 파라미터는 백본의 6%이다.</a:t>
            </a:r>
          </a:p>
          <a:p>
            <a:r>
              <a:t>· 탐색이 가르쳐 준 것(본문에 쓰는 유일한 탐색 서사): 윈도 계열 두 라운드의 통제 반복에서 살아남은</a:t>
            </a:r>
          </a:p>
          <a:p>
            <a:r>
              <a:t>  메커니즘은 어텐션 풀링 하나뿐이고 용량 확장·스킵·추가 추출기는 한 번도 돕지 않았다. 확정 프로토콜에서</a:t>
            </a:r>
          </a:p>
          <a:p>
            <a:r>
              <a:t>  같은 교훈이 반복된다(어텐션 후보 비유의 §7, 폭 스윕 평평 §6.9, 계열 동률 §6.12). 그래서 모델 절은 짧고</a:t>
            </a:r>
          </a:p>
          <a:p>
            <a:r>
              <a:t>  평가 절은 길다.</a:t>
            </a:r>
          </a:p>
          <a:p>
            <a:r>
              <a:t>· B.9 이후 모델 절에 추가할 문장: 아키텍처는 같은 문맥에서 skill로 구분되지 않으므로 비용(디스패치 연산자</a:t>
            </a:r>
          </a:p>
          <a:p>
            <a:r>
              <a:t>  수)으로 선택된다(§9.3). 순환은 도달 범위에 O(1)이며 이것이 백본이 LSTM인 이유이다.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\label{sec:eval}(§5).</a:t>
            </a:r>
          </a:p>
          <a:p/>
          <a:p>
            <a:r>
              <a:t>인용 시 유의점</a:t>
            </a:r>
          </a:p>
          <a:p>
            <a:r>
              <a:t>· "test 셋은 어떤 아키텍처 탐색 이전에 예약되었고 모델 선택 과정에서 절대 읽지 않았다"가 headline에</a:t>
            </a:r>
          </a:p>
          <a:p>
            <a:r>
              <a:t>  winner's curse가 없다는 근거이며 §7이 그 이행을 문서화한다.</a:t>
            </a:r>
          </a:p>
          <a:p>
            <a:r>
              <a:t>· V_rot의 PR2 폴백률 40–44%는 반드시 함께 인용한다. V_rot "vs PCHIP" 수치의 2/5는 사실상 "vs persistence"이다.</a:t>
            </a:r>
          </a:p>
          <a:p>
            <a:r>
              <a:t>· 검정력 한계(shot ≈96 / 60–66)를 방법론 절에서 미리 인정하고 §10 첫 항목에서 다시 받는 구조를 유지한다.</a:t>
            </a:r>
          </a:p>
          <a:p>
            <a:r>
              <a:t>· 모든 수치는 단일 수집 스크립트가 동결된 실행 디렉터리에서 읽으므로 본문·표·그림이 어긋나지 않는다.</a:t>
            </a:r>
          </a:p>
          <a:p>
            <a:r>
              <a:t>· B.9가 더한 방법: 통합 재채점(4 분할의 행별 제곱오차를 합쳐 물리적 방전을 군집으로 bootstrap, 301 방전)과</a:t>
            </a:r>
          </a:p>
          <a:p>
            <a:r>
              <a:t>  문맥 로그에 대한 skill 기울기 검정(각 재표본 안에서 재적합)이다(§8am). 단일 체크포인트의 배치 주장은</a:t>
            </a:r>
          </a:p>
          <a:p>
            <a:r>
              <a:t>  여전히 시간 분할이 담당한다.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§sec:results 첫 소절(소절 label 없음), 표 \label{tab:ladder}, 그림 \label{fig:ladder}.</a:t>
            </a:r>
          </a:p>
          <a:p/>
          <a:p>
            <a:r>
              <a:t>인용 시 유의점</a:t>
            </a:r>
          </a:p>
          <a:p>
            <a:r>
              <a:t>· 표는 시드 42 held-out test · 컷 모집단 · 진짜 측정만(n = 32,589 Tᵢ / 10,463 V_rot)이다.</a:t>
            </a:r>
          </a:p>
          <a:p>
            <a:r>
              <a:t>· 어느 팔이 미래를 읽는지를 표 안에 명시한다(정보 접근 열). 아래 세 행이 미래를 읽는다.</a:t>
            </a:r>
          </a:p>
          <a:p>
            <a:r>
              <a:t>· AR의 472.2는 오타가 아니다. 국소 선형 외삽은 희소·불규칙 격자에서 발산한다. 사다리에 남기는 이유는</a:t>
            </a:r>
          </a:p>
          <a:p>
            <a:r>
              <a:t>  '과거만 쓰는 단순 외삽'이 왜 대안이 못 되는지를 보이기 위함이다.</a:t>
            </a:r>
          </a:p>
          <a:p>
            <a:r>
              <a:t>· 표와 그림은 같은 동결 산출물에서 생성된다.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\label{sec:headline}(§6.2), 표 \label{tab:headline}, 그림 \label{fig:forest}.</a:t>
            </a:r>
          </a:p>
          <a:p/>
          <a:p>
            <a:r>
              <a:t>인용 시 유의점</a:t>
            </a:r>
          </a:p>
          <a:p>
            <a:r>
              <a:t>· 시드 1/7/123은 어떤 선택 단계에도 쓰이지 않은 진짜 복제이다.</a:t>
            </a:r>
          </a:p>
          <a:p>
            <a:r>
              <a:t>· 표기 순서는 언제나 "컷 / 포함"이며 한쪽만 인용하지 않는다.</a:t>
            </a:r>
          </a:p>
          <a:p>
            <a:r>
              <a:t>· V_rot은 점추정이 8/8 양수인데도 동률로 보고한다. 이 보고 기준 자체를 본문에 쓴다. PASS 셀은 컷 시드 42,</a:t>
            </a:r>
          </a:p>
          <a:p>
            <a:r>
              <a:t>  포함 시드 42와 1(1은 [+0.000, +0.286]로 경계에 있다)이다.</a:t>
            </a:r>
          </a:p>
          <a:p>
            <a:r>
              <a:t>· "미래를 쓰는 보간을 이긴다"는 §10에서 "사전등록된 보간들을 이긴다"로 한정된다(GP 동률).</a:t>
            </a:r>
          </a:p>
          <a:p>
            <a:r>
              <a:t>· V_rot의 PR2 폴백률 40–44%(§5)를 함께 기억한다. B.9(§8al §4·§8an)는 V_rot의 동률이 검정력 부족이 아니라</a:t>
            </a:r>
          </a:p>
          <a:p>
            <a:r>
              <a:t>  소수 방전에 집중된 우위임을 보였으며, 그 문장은 §6.12·§10에 들어간다.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\label{sec:gate}(§6.3). 그림은 fig_gate_b1.png(B.1 관문 16 run)이다. THESIS_RESULTS.md §8x.</a:t>
            </a:r>
          </a:p>
          <a:p/>
          <a:p>
            <a:r>
              <a:t>인용 시 유의점</a:t>
            </a:r>
          </a:p>
          <a:p>
            <a:r>
              <a:t>· 관문은 '컷 모집단'에서 채점한다. 내부 모델 선택이 수행되는 모집단이기 때문이며 그 사실을 밝힌다.</a:t>
            </a:r>
          </a:p>
          <a:p>
            <a:r>
              <a:t>· pooled +0.081의 CI는 shot 군집이 아니라 'run 군집'이다(16 run). 표기를 섞지 않는다.</a:t>
            </a:r>
          </a:p>
          <a:p>
            <a:r>
              <a:t>· 예산 균등화 팔이 이 이득이 학습 예산 효과가 아니라 아키텍처에서 온다는 증거이다.</a:t>
            </a:r>
          </a:p>
          <a:p>
            <a:r>
              <a:t>· 이 절은 §7 선택 프로토콜과 짝을 이룬다. 관문 4조건은 채점 이전에 문서로 고정되었다.</a:t>
            </a:r>
          </a:p>
          <a:p>
            <a:r>
              <a:t>· B.9의 분해(§8af): 20 ms 도달 범위에서 학습한 seq_v2는 전체 블록 대비 −0.065(4/4)이며, 윈도 대조군 대비</a:t>
            </a:r>
          </a:p>
          <a:p>
            <a:r>
              <a:t>  +0.081의 4/5가 도달 범위, 1/5가 구조이다. 이 문장은 §6.3 끝 또는 §6.12에 들어간다.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\label{sec:gap}(§6.4), 표 \label{tab:gap}.</a:t>
            </a:r>
          </a:p>
          <a:p/>
          <a:p>
            <a:r>
              <a:t>인용 시 유의점</a:t>
            </a:r>
          </a:p>
          <a:p>
            <a:r>
              <a:t>· Δt가 커질수록 PCHIP의 과제는 쉬워지고(간극 양쪽의 실제 관측을 잇기만 하면 된다) 본 모델의 과제는</a:t>
            </a:r>
          </a:p>
          <a:p>
            <a:r>
              <a:t>  어려워진다. 이 비대칭을 본문에 명시해야 이 층의 승리가 정직하게 읽힌다.</a:t>
            </a:r>
          </a:p>
          <a:p>
            <a:r>
              <a:t>· 분할별로는 넓은 층에 수백 개 표본뿐이라 4개 test 분할을 통합하고 bootstrap을 물리적 방전 단위로</a:t>
            </a:r>
          </a:p>
          <a:p>
            <a:r>
              <a:t>  군집하였다. 이 절을 가능하게 한 방법론적 변경이며 §8am의 통합 재채점과 같은 규칙이다.</a:t>
            </a:r>
          </a:p>
          <a:p>
            <a:r>
              <a:t>· 표본 50개 미만 층은 채점하지 않는다(V_rot &gt; 45 ms = 14행 / 7 shot).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\label{sec:mnar}(§6.5), 표 \label{tab:mnar}.</a:t>
            </a:r>
          </a:p>
          <a:p/>
          <a:p>
            <a:r>
              <a:t>인용 시 유의점</a:t>
            </a:r>
          </a:p>
          <a:p>
            <a:r>
              <a:t>· MNAR 보정이 앗아가는 skill은 인과 비교에 대해 많아야 0.12이고 어떤 분할에서는 전혀 없다.</a:t>
            </a:r>
          </a:p>
          <a:p>
            <a:r>
              <a:t>· PCHIP 대비 점추정은 +0.14~+0.28로 유지되지만 고정 가중치의 넓은 CI가 컷 2개 분할에서 0을 지난다.</a:t>
            </a:r>
          </a:p>
          <a:p>
            <a:r>
              <a:t>  결측 지점은 더 큰 Δt에 놓이는데 그곳이 바로 양쪽 앵커가 가장 크게 돕고 재가중 bootstrap이 가장 얇은</a:t>
            </a:r>
          </a:p>
          <a:p>
            <a:r>
              <a:t>  곳이며 §6.4와 기계적으로 일관된다.</a:t>
            </a:r>
          </a:p>
          <a:p>
            <a:r>
              <a:t>· 한 층 안에서 결측 행과 관측 행이 교환 가능하다는 가정은 명시한다.</a:t>
            </a:r>
          </a:p>
          <a:p>
            <a:r>
              <a:t>· 윈도 대조군도 같은 방식으로 거동한다(PCHIP 대비 2/4와 4/4, persistence 대비 4/4).</a:t>
            </a:r>
          </a:p>
          <a:p>
            <a:r>
              <a:t>· V_rot은 도메인 도달이 4–6%뿐이므로 회전에 대한 배치 결론은 내지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\label{sec:campaign}(§6.6), 표 \label{tab:campaign} · \label{tab:stress}, 그림 \label{fig:campaign}.</a:t>
            </a:r>
          </a:p>
          <a:p/>
          <a:p>
            <a:r>
              <a:t>인용 시 유의점</a:t>
            </a:r>
          </a:p>
          <a:p>
            <a:r>
              <a:t>· 분할이 고정이므로 네 실행은 '초기화' 시드만 다르다. "4개 시드"나 "4개 분할"로 제시하지 않는다.</a:t>
            </a:r>
          </a:p>
          <a:p>
            <a:r>
              <a:t>· 학습 파일 전용 정규화는 무작위 분할에서는 올바른 누수 방지 선택이지만 캠페인 이동에서 바로 그것이</a:t>
            </a:r>
          </a:p>
          <a:p>
            <a:r>
              <a:t>  깨진다. shot별 표준화는 그 방전 자신의 데이터만 쓰므로 누수가 없다.</a:t>
            </a:r>
          </a:p>
          <a:p>
            <a:r>
              <a:t>· seq_v2가 전이되는 이유는 둘이다: 정의상 shot별 표준화 + 도달 범위(§6.3).</a:t>
            </a:r>
          </a:p>
          <a:p>
            <a:r>
              <a:t>· 대조군 대비 V_rot 마진도 8/8 유의이다(+0.06~+0.18).</a:t>
            </a:r>
          </a:p>
          <a:p>
            <a:r>
              <a:t>· 남는 단서: 캠페인 4회는 하나의 시간 test 블록 위의 초기화들이며, 컷 모집단 seq_v2 실행 4개 중 2개는</a:t>
            </a:r>
          </a:p>
          <a:p>
            <a:r>
              <a:t>  30-epoch 상한에서 멈추었다. 이 두 단서를 §10에서 다시 받는다.</a:t>
            </a:r>
          </a:p>
          <a:p>
            <a:r>
              <a:t>· 이 절의 서사 구조 자체가 기여이다. 실패를 보고하고, 원인을 측정하고, 지목한 수리를 실행하였다. 새 열이</a:t>
            </a:r>
          </a:p>
          <a:p>
            <a:r>
              <a:t>  원래부터 거기 있었던 것처럼 제시하지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\label{sec:asym}(§6.7), 표 \label{tab:ablation}, 그림 \label{fig:ablation}.</a:t>
            </a:r>
          </a:p>
          <a:p/>
          <a:p>
            <a:r>
              <a:t>인용 시 유의점</a:t>
            </a:r>
          </a:p>
          <a:p>
            <a:r>
              <a:t>· 절제는 '윈도 대조군'에 대해 '평가 시점'에 수행한다. 재학습 없음, 한 번에 한 모달리티 그룹만 0,</a:t>
            </a:r>
          </a:p>
          <a:p>
            <a:r>
              <a:t>  persistence와 보간은 언제나 실제 이력에서 계산, TEST 두 모집단이다.</a:t>
            </a:r>
          </a:p>
          <a:p>
            <a:r>
              <a:t>· seq_v2와 b3k8의 V_rot 분기도 같은 교란 시험을 통과한다(비트 동일). 라우팅이 인코더 수준이라는 §4의</a:t>
            </a:r>
          </a:p>
          <a:p>
            <a:r>
              <a:t>  진술이 여기서 측정으로 확인된다.</a:t>
            </a:r>
          </a:p>
          <a:p>
            <a:r>
              <a:t>· 이 비대칭은 절제 이전에 물리로부터 예측되었고 절제로 확인되었다. 순서를 본문에서 그대로 밝힌다.</a:t>
            </a:r>
          </a:p>
          <a:p>
            <a:r>
              <a:t>· V_rot의 비승리는 모델 실패가 아니라 진단 정보량에 관한 발견이며 §9 레버 2·3의 출발점이다.</a:t>
            </a:r>
          </a:p>
          <a:p>
            <a:r>
              <a:t>· B.9(§8an)가 세 번째 독립 증거를 더한다: 방전 단위 승패에서 Tₑ 수준은 V_rot 승률을 예측하지 못하며</a:t>
            </a:r>
          </a:p>
          <a:p>
            <a:r>
              <a:t>  (ρ = -0.031), 승리 방전은 뜨거운 방전이 아니라 회전이 움직이는 방전이다. §6.12에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\label{sec:window}(§6.8), 표 \label{tab:window}. 그림은 fig_window_sweep.png(held-free 스윕)이다.</a:t>
            </a:r>
          </a:p>
          <a:p>
            <a:r>
              <a:t>fig_window_sweep_heldkept.png는 폐기되었으며 쓰지 않는다.</a:t>
            </a:r>
          </a:p>
          <a:p/>
          <a:p>
            <a:r>
              <a:t>인용 시 유의점</a:t>
            </a:r>
          </a:p>
          <a:p>
            <a:r>
              <a:t>· paired가 아닌 독립 실행이므로 곡선 위 차이는 전부 시드 잡음 안이다. 주장은 순위가 아니라 '효과의 부재'이다.</a:t>
            </a:r>
          </a:p>
          <a:p>
            <a:r>
              <a:t>· 파일당 상한 500이 시간 부분집합 증강(W=2의 240k 샘플 → W=8의 30.1M)이 소수의 긴 블록 방전에 지배되는</a:t>
            </a:r>
          </a:p>
          <a:p>
            <a:r>
              <a:t>  것을 막는다.</a:t>
            </a:r>
          </a:p>
          <a:p>
            <a:r>
              <a:t>· shot당 표본 상한 때문에 이 곡선의 절대 skill을 headline 계열과 직접 비교하지 않는다(곡선 내부 비교용).</a:t>
            </a:r>
          </a:p>
          <a:p>
            <a:r>
              <a:t>· 이 스윕은 스파이크 컷보다 앞선다. 컷 없음이며, 동결된 W=2 실행이 §6.2 포함 모집단의 윈도 대조군이다.</a:t>
            </a:r>
          </a:p>
          <a:p>
            <a:r>
              <a:t>· §9.2의 "두 자원" 프레이밍: §6.8(관측 수)과 §6.12(연속 문맥)는 충돌하지 않는다. 윈도 iter009 W=2의</a:t>
            </a:r>
          </a:p>
          <a:p>
            <a:r>
              <a:t>  +0.041(1/4)과 seq_v2 2스텝 절단의 +0.055(2/4)가 같은 굶주림의 같은 결과이다. 전체격자 재프레이밍은</a:t>
            </a:r>
          </a:p>
          <a:p>
            <a:r>
              <a:t>  모델링 선호가 아니라 두 번째 자원에 닿는 유일한 방법이었다.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\label{sec:ladder}(§6.9), 표 \label{tab:ladder2}, 그림 \label{fig:ladder_scaling}.</a:t>
            </a:r>
          </a:p>
          <a:p/>
          <a:p>
            <a:r>
              <a:t>인용 시 유의점</a:t>
            </a:r>
          </a:p>
          <a:p>
            <a:r>
              <a:t>· 앵커+Δ(1,258)는 W=2에서 persistence로 붕괴한다. 기울기 항이 관측된 이력 행 두 개를 요구하는데 결코</a:t>
            </a:r>
          </a:p>
          <a:p>
            <a:r>
              <a:t>  발화하지 않는다. 옛 초고의 "앵커+Δ가 마진의 31.5%를 회수" 문장은 폐기되었다.</a:t>
            </a:r>
          </a:p>
          <a:p>
            <a:r>
              <a:t>· b3k8의 학습된 보정은 예측 분산의 25–39%를 설명한다.</a:t>
            </a:r>
          </a:p>
          <a:p>
            <a:r>
              <a:t>· 사다리 칸 조건은 두 모집단 모두에서 성립하지만(앵커 대비 4/4) '백본 허용' 조건은 컷 조건부이며 본문도</a:t>
            </a:r>
          </a:p>
          <a:p>
            <a:r>
              <a:t>  그렇게 진술한다.</a:t>
            </a:r>
          </a:p>
          <a:p>
            <a:r>
              <a:t>· 남는 분산은 용량이 아니라 분할 분산이다(시드 42의 +0.14~+0.17 대 시드 123의 +0.23~+0.28).</a:t>
            </a:r>
          </a:p>
          <a:p>
            <a:r>
              <a:t>· 결론 문장: 상한은 추정기가 아니라 정보이다. {100 Hz BES/ECEI/MC + CES 이력 + 시간}에 든 Tᵢ 정보는</a:t>
            </a:r>
          </a:p>
          <a:p>
            <a:r>
              <a:t>  ~50k 파라미터의 인과 순환 상태로 소진된다. B.9(§8ai)는 이를 아래로 확장한다: 10k 파라미터 아래에서는</a:t>
            </a:r>
          </a:p>
          <a:p>
            <a:r>
              <a:t>  합성곱이 크기를 맞춘 순환 arm보다 +0.027~+0.040 나으며, 계열은 상한이 아니라 상한에 이르는 데 필요한</a:t>
            </a:r>
          </a:p>
          <a:p>
            <a:r>
              <a:t>  파라미터 수를 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\label{sec:peak}(§6.10), 그림 \label{fig:peak}.</a:t>
            </a:r>
          </a:p>
          <a:p/>
          <a:p>
            <a:r>
              <a:t>인용 시 유의점</a:t>
            </a:r>
          </a:p>
          <a:p>
            <a:r>
              <a:t>· peak/bulk 분할은 TEST 위에서, seq_v2에 대해 수행한다(옛 판의 '검증 분할' 단서는 더 이상 없다).</a:t>
            </a:r>
          </a:p>
          <a:p>
            <a:r>
              <a:t>· V_rot의 PASS 2/4는 각 모집단에서의 수이다. 점추정은 8/8 양수이다.</a:t>
            </a:r>
          </a:p>
          <a:p>
            <a:r>
              <a:t>· Tᵢ의 8/8 PASS가 이 절을 무조건부 진술로 만든다. 두 모집단 모두에서 성립하기 때문이다.</a:t>
            </a:r>
          </a:p>
          <a:p>
            <a:r>
              <a:t>· B.9(§8al §4·§8an)와의 관계: 행 단위 peak 비율은 방전 단위 승패를 예측하지 못하며(고-peak 절반 0.435 vs</a:t>
            </a:r>
          </a:p>
          <a:p>
            <a:r>
              <a:t>  저-peak 절반 0.528), 승패를 예측하는 변수는 방전 내 타깃의 산포이다. 두 양은 다르므로 이 절의 결과는</a:t>
            </a:r>
          </a:p>
          <a:p>
            <a:r>
              <a:t>  행 단위 PCHIP 대비 결과로 한정하여 인용한다.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\label{sec:cutsens}(§6.11).</a:t>
            </a:r>
          </a:p>
          <a:p/>
          <a:p>
            <a:r>
              <a:t>인용 시 유의점</a:t>
            </a:r>
          </a:p>
          <a:p>
            <a:r>
              <a:t>· 이 절은 §3.5(sec:spikes)의 "임계값은 2.5–4 keV 범위에서 무의미하다"는 문장의 근거이며 두 절을 상호</a:t>
            </a:r>
          </a:p>
          <a:p>
            <a:r>
              <a:t>  참조로 묶는다.</a:t>
            </a:r>
          </a:p>
          <a:p>
            <a:r>
              <a:t>· 각 임계값 팔은 '자기 모집단'에서 채점된다. 서로 다른 모집단의 skill을 직접 비교하는 것이 아니다.</a:t>
            </a:r>
          </a:p>
          <a:p>
            <a:r>
              <a:t>· 값 기준 컷이 프록시라는 한계는 §10에 남고, 그것을 결말짓는 것은 §9 레버 1(CES 피팅 품질 메타데이터)이다.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\label{sec:selection}(§7).</a:t>
            </a:r>
          </a:p>
          <a:p/>
          <a:p>
            <a:r>
              <a:t>인용 시 유의점</a:t>
            </a:r>
          </a:p>
          <a:p>
            <a:r>
              <a:t>· "본 논문의 모든 모델 결정은 검증 데이터 위에서, 또는 해당 TEST 채점 이전에 문서로 확정된 결정 규칙</a:t>
            </a:r>
          </a:p>
          <a:p>
            <a:r>
              <a:t>  아래에서 이루어졌고, TEST는 결정마다 한 번만 채점되었다"가 이 절의 첫 문장이다.</a:t>
            </a:r>
          </a:p>
          <a:p>
            <a:r>
              <a:t>· 승격되지 않은 어텐션 후보를 '싣는 것' 자체가 기여의 일부이다. val 2/2 유의 → TEST 1/4 유의는 선택 분할</a:t>
            </a:r>
          </a:p>
          <a:p>
            <a:r>
              <a:t>  낙관의 교과서적 사례이다. §8ak는 attention 계열이 70 ms에서 LSTM보다 -0.023 뒤짐을 더하였다.</a:t>
            </a:r>
          </a:p>
          <a:p>
            <a:r>
              <a:t>· 옛 판의 "게이트를 val loss → clean skill로 바꾼 것이 최종 모델을 낳았다(fig_progression)"는 W=4 시대</a:t>
            </a:r>
          </a:p>
          <a:p>
            <a:r>
              <a:t>  서사이며 폐기되었다. 진행(progression) 그림도 삭제되었다.</a:t>
            </a:r>
          </a:p>
          <a:p>
            <a:r>
              <a:t>· B.9의 H1은 효과 크기 경계와 유의 계수를 disjunction으로 묶어 작은 강건 효과(-0.065, 4/4)가 '약한 의존'</a:t>
            </a:r>
          </a:p>
          <a:p>
            <a:r>
              <a:t>  가설을 기각하게 하였다. 문서는 편집되지 않았고 결함은 §8af §3에 기록되었다. 이것도 절차의 증거로 인용한다.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절은 main_ko.tex에 아직 없다. THESIS_RESULTS.md §8ac–§8an과 §9 프레이밍을 담을 절이며, 그림은</a:t>
            </a:r>
          </a:p>
          <a:p>
            <a:r>
              <a:t>docs/paper/figures/fig_context_family_ladder.png(이미 생성)이다. 수치 원천은 data/.b9_reach_ladder.json ·</a:t>
            </a:r>
          </a:p>
          <a:p>
            <a:r>
              <a:t>.b9_family.json · .b9_minimal_family.json · .b9_pooled_ladder.json · .b9_op_counts.json · .b9_latency*.json ·</a:t>
            </a:r>
          </a:p>
          <a:p>
            <a:r>
              <a:t>shot_covariates.py 산출물이며, collector v3에 통합한 뒤 인용한다.</a:t>
            </a:r>
          </a:p>
          <a:p/>
          <a:p>
            <a:r>
              <a:t>절의 골격(§9 순서)</a:t>
            </a:r>
          </a:p>
          <a:p>
            <a:r>
              <a:t>1. 질문: 다중 센서 관행(합성곱) 대비 순환의 정당성, 윈도 계열이 충분하다면 무한 순환 상태의 필요성.</a:t>
            </a:r>
          </a:p>
          <a:p>
            <a:r>
              <a:t>   두 질문은 "학습된 모델이 실제로 몇 스텝의 연속 과거를 쓰는가"로 환원된다.</a:t>
            </a:r>
          </a:p>
          <a:p>
            <a:r>
              <a:t>2. 절단 사다리와 그 교정: §8ac(500 ms) → §8ae(warm-up ≥ 84%) → §8af(트레인-앳-리치, 70 ms) → §8al</a:t>
            </a:r>
          </a:p>
          <a:p>
            <a:r>
              <a:t>   (밀집, 50 ms). 세 교정을 순서대로 싣는다. 측정은 옳았고 읽기가 틀렸다는 문장을 그대로 쓴다.</a:t>
            </a:r>
          </a:p>
          <a:p>
            <a:r>
              <a:t>3. 통합 재채점(§8am): 4/4 계수의 요동을 이유로 문턱 추정기에서 퇴출하고, 301 방전 통합 CI + 추세 검정으로</a:t>
            </a:r>
          </a:p>
          <a:p>
            <a:r>
              <a:t>   대체한다. 승률·-top10 열을 CI 옆에 병기하는 규칙을 명시한다(V_rot는 좁은 CI가 곧 전형적 효과가 아님의</a:t>
            </a:r>
          </a:p>
          <a:p>
            <a:r>
              <a:t>   증거이다: 197 방전 +0.121, 승률 0.46, -top10 -0.022).</a:t>
            </a:r>
          </a:p>
          <a:p>
            <a:r>
              <a:t>4. 계열(§8ag·§8ak·§8ai): 같은 문맥 paired, 두 한정(10k 아래 합성곱 우세, 70 ms attention 열세), SSM 부록.</a:t>
            </a:r>
          </a:p>
          <a:p>
            <a:r>
              <a:t>5. 비용(§8ah·§8aj): 연산자 수 법칙, 계열별 O(1)/O(log R)/O(1)·큰 상수, 10 ms 비구속, 1 ms 보류(21.84배).</a:t>
            </a:r>
          </a:p>
          <a:p>
            <a:r>
              <a:t>6. 승패 방전(§8an): 타깃 산포 단일 변수, 3분위 표, V_rot 잔차 = 구동 변수 부재의 세 번째 증거.</a:t>
            </a:r>
          </a:p>
          <a:p>
            <a:r>
              <a:t>7. 쓰지 않는 문장(§9.6): "모든 오프라인 방법을 이긴다", "윈도 프레이밍은 정보로 기각된다", "1 ms 배치 판정",</a:t>
            </a:r>
          </a:p>
          <a:p>
            <a:r>
              <a:t>   "문맥은 길수록 좋다"(630 ms 유계가 무한보다 낫다).</a:t>
            </a:r>
          </a:p>
          <a:p/>
          <a:p>
            <a:r>
              <a:t>§6.8과의 관계는 §9.2 "두 자원"으로 쓴다. 관측 수(하나면 충분)와 연속 문맥(약 50 ms)은 다른 양이다.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\label{sec:deploy}(§8).</a:t>
            </a:r>
          </a:p>
          <a:p/>
          <a:p>
            <a:r>
              <a:t>인용 시 유의점</a:t>
            </a:r>
          </a:p>
          <a:p>
            <a:r>
              <a:t>· 지연은 유휴 노트북급 머신 한 대에서 워밍업 후 1,000회 호출, 네트워크 순전파만(특징 조립은 모델 밖) 잰</a:t>
            </a:r>
          </a:p>
          <a:p>
            <a:r>
              <a:t>  값이다. 세션 간 절댓값은 2×(§8ab), 4.2×(§8ac), 21.84×(§8aj)까지 달라졌으며 순서만 불변이었다.</a:t>
            </a:r>
          </a:p>
          <a:p>
            <a:r>
              <a:t>· 옛 판의 "CPU W=4 p99 6.4 ms · CUDA가 8× 느리다"와 "윈도 W=2 p99 18.9 ms"는 폐기되었다. 후자는 §8ac가</a:t>
            </a:r>
          </a:p>
          <a:p>
            <a:r>
              <a:t>  같은 세션 재측정(4.455 ms)으로 오염을 판정하였다. 본문의 배치 문단은 이 값으로 교체한다.</a:t>
            </a:r>
          </a:p>
          <a:p>
            <a:r>
              <a:t>· 32/32는 '모집단 × 타깃 × 변형 × 분할' 셀 수이다(2 × 2 × 2 × 4).</a:t>
            </a:r>
          </a:p>
          <a:p>
            <a:r>
              <a:t>· conformal 구간 우위는 더 나은 점추정에서 따라 나오는 것이 아니라 별개의 성질이며 그렇게 진술한다.</a:t>
            </a:r>
          </a:p>
          <a:p>
            <a:r>
              <a:t>· B.9 이후 추가할 문장: 비용 모델은 t ≈ N_ops × 2–3 µs이고, 순환은 도달 범위에 O(1)이며, 10 ms 예산은</a:t>
            </a:r>
          </a:p>
          <a:p>
            <a:r>
              <a:t>  어느 arm에도 구속 조건이 아니다(§8ah). 1 ms 판정은 조용한 기계의 5세션 재실행을 기다린다.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\label{sec:headroom}(§9). 보조 그림이 필요하면 fig_mirnov.png(자기상관 사실, 유효)이다.</a:t>
            </a:r>
          </a:p>
          <a:p/>
          <a:p>
            <a:r>
              <a:t>PROJECT_KNOWLEDGE "Framing Rules"(승상님 2026-08-05): 음성 결과는 그것을 뒤집을 측정을 함께 지목할 때만</a:t>
            </a:r>
          </a:p>
          <a:p>
            <a:r>
              <a:t>결론이 된다. "정보가 부족하다"는 결론이 아니다.</a:t>
            </a:r>
          </a:p>
          <a:p/>
          <a:p>
            <a:r>
              <a:t>· 레버 2가 시도한 모든 파생 MC 특징(적분, PCHIP 적분, |MC|, 이동 RMS)이 실패한 이유이다. 이미 잃은 정보는</a:t>
            </a:r>
          </a:p>
          <a:p>
            <a:r>
              <a:t>  하류에서 복구할 수 없다.</a:t>
            </a:r>
          </a:p>
          <a:p>
            <a:r>
              <a:t>· 레버 2는 V_rot에 대해 지목할 수 있는 가장 가치 높은 실험이며 아카이브 데이터로 검정 가능하다. B.6의 shot</a:t>
            </a:r>
          </a:p>
          <a:p>
            <a:r>
              <a:t>  집합(test 31921·31873·31114·31902 / pool 31097·31359·31747·32027·32092·32097 / companion 31923·31357)은</a:t>
            </a:r>
          </a:p>
          <a:p>
            <a:r>
              <a:t>  2026-08-21 동결되었고, #32092(EHO n = 1, ~4/~8 kHz)가 다섯 번째 양성 대조이다. §8an의 예측: V_rot 승률은</a:t>
            </a:r>
          </a:p>
          <a:p>
            <a:r>
              <a:t>  변동 3분위에서 먼저 올라야 하며, 균일하게 또는 조용한 3분위에서 오르면 메커니즘이 틀린 것이다.</a:t>
            </a:r>
          </a:p>
          <a:p>
            <a:r>
              <a:t>· 옛 판의 레버 1("깊이가 아니라 도달 범위 — W=2→8 커버리지")은 §6.3에서 '채택된 프레이밍'이므로 개선</a:t>
            </a:r>
          </a:p>
          <a:p>
            <a:r>
              <a:t>  여지가 아니며 목록에서 제외되었다. B.9는 문맥·계열 축도 닫았다.</a:t>
            </a:r>
          </a:p>
          <a:p>
            <a:r>
              <a:t>· 양자 가지(§8ap): VQC는 무잡음 시뮬레이터에서도 persistence에 지고(471.5 vs 449.6 eV), 예측당 22.9 s이며,</a:t>
            </a:r>
          </a:p>
          <a:p>
            <a:r>
              <a:t>  Forte의 탈분극 λ = 0.661 ± 0.040이다. 어떤 수치도 백본 옆에 인용되지 않으며 논문에는 한 문장으로만 남긴다.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main_ko.tex \label{sec:limits}(§10), \label{sec:conclusion}(§11).</a:t>
            </a:r>
          </a:p>
          <a:p/>
          <a:p>
            <a:r>
              <a:t>· 재현성 · 코드 가용성 · 데이터 가용성 문단은 이미 논문에 있으며 별도 슬라이드로 만들지 않는다. 코드 공개에</a:t>
            </a:r>
          </a:p>
          <a:p>
            <a:r>
              <a:t>  남은 TODO 하나는 투고본에 대한 아카이브 DOI(Zenodo) 발급 후 인용 추가이다.</a:t>
            </a:r>
          </a:p>
          <a:p>
            <a:r>
              <a:t>· 결론 2문단의 마지막 문장을 그대로 인용한다: "온라인 가상 센서는 미래를 읽는 보간이 아니라 persistence와</a:t>
            </a:r>
          </a:p>
          <a:p>
            <a:r>
              <a:t>  인과 평활기와 경쟁하며, 그 비교로 보면 나우캐스터는 중요한 지점에서 작동한다."</a:t>
            </a:r>
          </a:p>
          <a:p>
            <a:r>
              <a:t>· 결론 ③은 B.9 이후 추가되는 문단이다. §9의 lead claim을 그대로 쓰고, 두 한정(10k 아래 합성곱 우세,</a:t>
            </a:r>
          </a:p>
          <a:p>
            <a:r>
              <a:t>  70 ms attention 열세)은 한 문장으로 붙인다.</a:t>
            </a:r>
          </a:p>
          <a:p>
            <a:r>
              <a:t>· 결론이 나열하는 '안 되는 것': 회전은 전역 동률이며 우위는 회전이 변하는 방전에 집중(§8an), 값 컷은 한쪽</a:t>
            </a:r>
          </a:p>
          <a:p>
            <a:r>
              <a:t>  방향 대리 지표, 재가중은 결측 Tᵢ 54–68%와 결측 V_rot의 20분의 1에 닿음, 예측 구간은 주변적 보정, 45 ms를</a:t>
            </a:r>
          </a:p>
          <a:p>
            <a:r>
              <a:t>  넘어서면 포함 모집단은 동률, 1 ms 판정은 보류.</a:t>
            </a:r>
          </a:p>
          <a:p>
            <a:r>
              <a:t>· §9.6 "쓰지 않는 문장": "모든 오프라인 방법을 이긴다"(GP 동률), "윈도 프레이밍은 정보로 기각된다"(87%가</a:t>
            </a:r>
          </a:p>
          <a:p>
            <a:r>
              <a:t>  warm-up), "1 ms 배치 판정", "문맥은 길수록 좋다"(630 ms 유계가 무한보다 낫다), "V_rot는 검정력 부족".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0E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2011680" cy="5080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8FD6CB"/>
                </a:solidFill>
                <a:latin typeface="Malgun Gothic"/>
              </a:rPr>
              <a:t>논문 집필용 정리 · Paper-Writing Digest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03120"/>
            <a:ext cx="1069848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논문에 들어가는 것만: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확정된 주장 · 인용할 수치 · 근거의 위치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12463"/>
            <a:ext cx="10515600" cy="15727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8ECF1"/>
                </a:solidFill>
                <a:latin typeface="Malgun Gothic"/>
              </a:rPr>
              <a:t>슬라이드 한 장은 </a:t>
            </a:r>
            <a:r>
              <a:rPr sz="1600" b="1" i="0">
                <a:solidFill>
                  <a:srgbClr val="E8743B"/>
                </a:solidFill>
                <a:latin typeface="Malgun Gothic"/>
              </a:rPr>
              <a:t>main_ko.tex의 한 절</a:t>
            </a:r>
            <a:r>
              <a:rPr sz="1600" b="0" i="0">
                <a:solidFill>
                  <a:srgbClr val="E8ECF1"/>
                </a:solidFill>
                <a:latin typeface="Malgun Gothic"/>
              </a:rPr>
              <a:t>에 대응하며, 각 장의 노트에 그 절의 \label과 인용 시 유의점이 적혀 있다.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8FD6CB"/>
                </a:solidFill>
                <a:latin typeface="Malgun Gothic"/>
              </a:rPr>
              <a:t>확정 프로토콜은 W=2 · held-free(학습·평가) · 파일당 500 · 두 모집단 공동 1차 · 백본 seq_v2이다.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8ECF1"/>
                </a:solidFill>
                <a:latin typeface="Malgun Gothic"/>
              </a:rPr>
              <a:t>연구가 걸어온 경로·기각된 곁가지·재현성 이슈는 논문에 쓰지 않으므로 이 덱에서 제외되었다. B.9(§8ac–§8an)는 논문에 추가할 절로 정리하였다.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이승상  (Seungsang Lee)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AA5B1"/>
                </a:solidFill>
                <a:latin typeface="Malgun Gothic"/>
              </a:rPr>
              <a:t>서울대학교 · 원자핵공학  |  2026-09-03 기준 (main_ko.tex: §4 재구성 + §6.12 B.9 반영)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5B1"/>
                </a:solidFill>
                <a:latin typeface="Malgun Gothic"/>
              </a:rPr>
              <a:t>출처: docs/paper/main_ko.tex · paper_numbers.json · THESIS_RESULTS.md §8v–§8ap · §9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논문 골격 — 절 ↔ 확정한 것 ↔ 이 덱의 슬라이드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11183112" cy="402336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62456"/>
            <a:ext cx="195681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논문 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362456"/>
            <a:ext cx="419709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그 절이 확정한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362456"/>
            <a:ext cx="25511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근거 (label · 표 · 그림)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1362456"/>
            <a:ext cx="189280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이 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773936"/>
            <a:ext cx="195681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§1–2 서론·관련 연구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773936"/>
            <a:ext cx="41970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인과 전체격자 프레이밍 · 기여 8항 · 계보 위의 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773936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sec:intro · sec:related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1773936"/>
            <a:ext cx="1892808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038731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048256"/>
            <a:ext cx="11183112" cy="34747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121408"/>
            <a:ext cx="195681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§3.1–3.3 데이터·프레이밍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121408"/>
            <a:ext cx="41970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641 shot · 10 ms · 247,207행 · 두 프레이밍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121408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sec:data · fig:missing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121408"/>
            <a:ext cx="1892808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386203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468880"/>
            <a:ext cx="195681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§3.4–3.5 품질 감사 2종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2468880"/>
            <a:ext cx="41970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유지값 54% 제거 · Tᵢ&gt;3 keV로 두 공동 1차 모집단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468880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sec:stuck · sec:spikes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468880"/>
            <a:ext cx="1892808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733675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2743200"/>
            <a:ext cx="11183112" cy="34747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2816352"/>
            <a:ext cx="195681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§4 모델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2816352"/>
            <a:ext cx="41970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seq_v2 357,570 · 윈도 대조군 201,258 · b3k8 21,498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2816352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sec:model · fig:architecture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2816352"/>
            <a:ext cx="1892808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081147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163824"/>
            <a:ext cx="195681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§5 평가 방법론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3163824"/>
            <a:ext cx="41970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PR1–PR4 + 두 모집단 + 인과 GP · TEST 동결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163824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sec:eval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3163824"/>
            <a:ext cx="1892808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428619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3438144"/>
            <a:ext cx="11183112" cy="34747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3511296"/>
            <a:ext cx="195681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§6.1–6.3 결과 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480" y="3511296"/>
            <a:ext cx="41970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RMSE 사다리 · headline 4/4+4/4 · 백본 관문 +0.081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3511296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tab:ladder · headline · gate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38360" y="3511296"/>
            <a:ext cx="1892808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8–10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776091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858768"/>
            <a:ext cx="195681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§6.4–6.6 결과 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97480" y="3858768"/>
            <a:ext cx="41970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간극 &gt;15 ms · MNAR 재가중 · 캠페인 시간 분할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3858768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sec:gap · mnar · campaign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3858768"/>
            <a:ext cx="1892808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11–13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123563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4133088"/>
            <a:ext cx="11183112" cy="34747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4206240"/>
            <a:ext cx="195681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§6.7–6.9 결과 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97480" y="4206240"/>
            <a:ext cx="41970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Tᵢ↔V_rot 비대칭 · 윈도 스윕(W=2) · 사다리+폭 스윕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4206240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sec:asym · window · ladder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38360" y="4206240"/>
            <a:ext cx="1892808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14–16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471035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4553712"/>
            <a:ext cx="195681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§6.10–6.11 · §7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97480" y="4553712"/>
            <a:ext cx="41970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peak 집중 · 컷 문턱 무관 · TEST 전 결정 규칙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0" y="4553712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sec:peak · cutsens · selection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38360" y="4553712"/>
            <a:ext cx="1892808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17–19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4818507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2920" y="4828032"/>
            <a:ext cx="11183112" cy="34747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4901184"/>
            <a:ext cx="195681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335F"/>
                </a:solidFill>
                <a:latin typeface="Malgun Gothic"/>
              </a:rPr>
              <a:t>§6.12  sec:context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97480" y="4901184"/>
            <a:ext cx="41970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문맥 50 ms 포화 · 계열 동률 · 연산자 비용 · 승패 방전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80" y="4901184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335F"/>
                </a:solidFill>
                <a:latin typeface="Malgun Gothic"/>
              </a:rPr>
              <a:t>THESIS §8ac–§8an · fig_context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38360" y="4901184"/>
            <a:ext cx="1892808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335F"/>
                </a:solidFill>
                <a:latin typeface="Malgun Gothic"/>
              </a:rPr>
              <a:t>20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5165979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5248656"/>
            <a:ext cx="195681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§8–§11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97480" y="5248656"/>
            <a:ext cx="41970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배치(지연·conformal) · 레버 3종 · 한계 · 결론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40880" y="5248656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sec:deploy · headroom · limits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38360" y="5248656"/>
            <a:ext cx="1892808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21–23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5513451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02920" y="5596128"/>
            <a:ext cx="11183112" cy="713232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7240" y="5687568"/>
            <a:ext cx="10634472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B9E8A"/>
                </a:solidFill>
                <a:latin typeface="Malgun Gothic"/>
              </a:rPr>
              <a:t>이 덱을 쓰는 법 — </a:t>
            </a:r>
            <a:r>
              <a:rPr sz="1250" b="0" i="0">
                <a:solidFill>
                  <a:srgbClr val="FFFFFF"/>
                </a:solidFill>
                <a:latin typeface="Malgun Gothic"/>
              </a:rPr>
              <a:t>논문의 한 절을 쓸 차례가 되면 대응 슬라이드를 열고 카드의 수치를 그대로 인용한다. 수치를 고쳐야 하면 먼저 collect_paper_numbers.py를 돌려 paper_numbers.json을 갱신한 뒤 본문·그림·덱을 함께 재생성한다. 손으로 박아 넣은 수치가 §8h의 오류였다.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Malgun Gothic"/>
              </a:rPr>
              <a:t>논문의 중심 논리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두 개의 주장, 두 개의 모집단은 서로 뭉개지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11183112" cy="402336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34655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평가 (seq_v2, Tᵢ)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389888"/>
            <a:ext cx="36941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PCHIP 대비 (오프라인 · 미래 사용)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389888"/>
            <a:ext cx="358444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인과 기준선 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801368"/>
            <a:ext cx="3465576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무작위 분할 · 관측 지점 (§6.2)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801368"/>
            <a:ext cx="3694176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4/4 / 4/4,  +0.17~+0.32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801368"/>
            <a:ext cx="3584448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인과 GP 4/4 / 4/4,  +0.08~+0.17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12467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221992"/>
            <a:ext cx="11183112" cy="493776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295144"/>
            <a:ext cx="3465576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결측 지점으로 재가중 (§6.5)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295144"/>
            <a:ext cx="3694176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743B"/>
                </a:solidFill>
                <a:latin typeface="Malgun Gothic"/>
              </a:rPr>
              <a:t>2/4 / 4/4,  +0.14~+0.28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295144"/>
            <a:ext cx="3584448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persistence 4/4 / 4/4,  +0.28~+0.44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706243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788920"/>
            <a:ext cx="3465576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시간 캠페인 분할 (§6.6)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788920"/>
            <a:ext cx="3694176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4/4 / 4/4,  +0.17~+0.20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788920"/>
            <a:ext cx="3584448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인과 GP 4/4 / 4/4,  +0.11~+0.16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200019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291840"/>
            <a:ext cx="5513832" cy="2057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291840"/>
            <a:ext cx="91440" cy="205740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3401568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두 모집단 규칙 (§3.5 sec:spikes)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" y="3803904"/>
            <a:ext cx="5129784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컷은 Tᵢ &gt; 3 keV(1,197행, 0.53%)를 적재 시점에 결측 처리한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모집단이며 전 arm에 동일하다(지도·이력·정규화·앵커).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포함은 컷 없음이다. 둘은 공동 1차이며 사전등록되었다.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무조건부 주장은 두 모집단에서 모두 성립할 때만 하며,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한쪽만 성립하면 모집단을 명시해 보고한다.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표기 규약: 이 덱의 모든 수치는 “컷 / 포함” 순서이다.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문턱 2.5–4 keV는 무의미하며(§6.11) 두 모집단이 본질이다.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291840"/>
            <a:ext cx="5513832" cy="2057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3291840"/>
            <a:ext cx="91440" cy="2057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9944" y="3401568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0392B"/>
                </a:solidFill>
                <a:latin typeface="Malgun Gothic"/>
              </a:rPr>
              <a:t>본문에 쓰는 문장 형태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3803904"/>
            <a:ext cx="5129784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headline(관측 모집단): “사전등록된 보간들과 배치 가능한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모든 인과 방법을 이기고, 미래를 쓰며 표본별로 튜닝된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평활기(오프라인 GP)와는 대등하다.”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배치 주장: “진짜 결측이면서 도메인 안인 시점에서 CES 단독의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어떤 인과 방법보다 유의하게 낫다.”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두 주장은 상대가 다르다. 둘을 뭉개는 것이 이 결과가 과대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판매되는 주된 경로이며 §10이 이를 명시한다.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504688"/>
            <a:ext cx="11183112" cy="658368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596127"/>
            <a:ext cx="10634472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B9E8A"/>
                </a:solidFill>
                <a:latin typeface="Malgun Gothic"/>
              </a:rPr>
              <a:t>한 문장 — </a:t>
            </a:r>
            <a:r>
              <a:rPr sz="1150" b="0" i="0">
                <a:solidFill>
                  <a:srgbClr val="FFFFFF"/>
                </a:solidFill>
                <a:latin typeface="Malgun Gothic"/>
              </a:rPr>
              <a:t>온라인 가상 센서는 미래를 읽는 보간이 아니라 persistence와 인과 평활기와 경쟁한다. 그 비교로 보면 이 나우캐스터는 중요한 지점에서 작동한다.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9E8A"/>
                </a:solidFill>
                <a:latin typeface="Malgun Gothic"/>
              </a:rPr>
              <a:t>§3.1–3.3  sec:data · sec:framing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데이터와 문제 설정 — 641파일 실측 사양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3657600" cy="23317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91440" cy="233172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435607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9E8A"/>
                </a:solidFill>
                <a:latin typeface="Malgun Gothic"/>
              </a:rPr>
              <a:t>데이터셋 (§3.1)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837943"/>
            <a:ext cx="3273552" cy="16916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641 KSTAR 방전, shot 30801–32751이다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(제공 측 선정: 하드웨어 일관성 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H-mode ELM 억제(RMP) 구간).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공통 10 ms 격자, 총 247,207행이다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(파일당 중앙값 339행).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행당 BES 9 · ECEI 4 · Mirnov 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+ time + [CES_TI, CES_VT]이다.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세그먼트는 0.5 s 간극에서 분리된다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(안쪽 스텝의 99.4%가 10 ms).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325880"/>
            <a:ext cx="3657600" cy="23317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325880"/>
            <a:ext cx="91440" cy="233172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435607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세그먼트 구조 · 결측 (§3.1)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837943"/>
            <a:ext cx="3273552" cy="16916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전형적 파일은 주 세그먼트 1개이다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(중앙값 301행 ≈ 3.0 s, 10–90분위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1.3–7.0 s; 2개인 파일 28).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고립 단일행은 전체 1,279개(대개 t=0)이다.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Tᵢ 결측 8.2% · V_rot 결측 23.9%이며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서로 독립이다.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V_rot held 41.1%로 독립 관측은 35.0%이고,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관측 V_rot의 54.0%가 held이다.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격자의 65.0%에 독립 V_rot 정보가 없다.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1325880"/>
            <a:ext cx="3557016" cy="23317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1325880"/>
            <a:ext cx="91440" cy="23317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435607"/>
            <a:ext cx="319125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B6CB0"/>
                </a:solidFill>
                <a:latin typeface="Malgun Gothic"/>
              </a:rPr>
              <a:t>두 프레이밍 (§3.2)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837943"/>
            <a:ext cx="3172968" cy="16916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윈도(대조군), W=2: bes (W,9) 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ecei (W,4) · mc (W,2) 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time_features (W,4) 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ces_history (W,4) + 타깃별 마스크이다.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전체격자 시퀀스(주 모델): 세그먼트의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입력-완전 행 전부를 맥락으로 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스텝당 22채널 = z-score 고속 15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+ log(1+Δt) + 타깃별 3(이월값 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신선도 · 과거관측 flag)이다.</a:t>
            </a:r>
          </a:p>
        </p:txBody>
      </p:sp>
      <p:pic>
        <p:nvPicPr>
          <p:cNvPr id="22" name="Picture 21" descr="fig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53873"/>
            <a:ext cx="6675120" cy="216777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360920" y="3767328"/>
            <a:ext cx="4325112" cy="23317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20" y="3767328"/>
            <a:ext cx="91440" cy="233172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98664" y="3877056"/>
            <a:ext cx="395935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설계 원칙 3종 (§3.3)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8664" y="4279392"/>
            <a:ext cx="3941064" cy="16916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가짜 라벨 금지 — impute가 없다. 윈도에서는 입력이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완전하고 CES 중 최소 하나가 관측된 행만 유지하며,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시퀀스에서 라벨 없는 행은 맥락으로만 기여한다.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타깃별 마스킹 손실 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ℒ = Σₖ mₖ(ŷₖ-yₖ)² / Σₖ mₖ 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두-타깃-필수 필터는 라벨 행의 ≈28%를 버렸을 것이다.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누수 방지 3중 — 파일 단위 분할 · 학습 파일 전용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z-score(시퀀스는 + shot별 고속 표준화) 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타깃 시점 완전 마스킹이다.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743B"/>
                </a:solidFill>
                <a:latin typeface="Malgun Gothic"/>
              </a:rPr>
              <a:t>§3.4–3.5  sec:stuck · sec:spikes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데이터 품질 감사 2종 — 유지값, 그리고 두 모집단이 생긴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513832" cy="3977639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91440" cy="3977639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435607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감사 1: 유지(forward-fill)된 V_rot  §3.4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837943"/>
            <a:ext cx="5129784" cy="333755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· 관측된 V_rot 값의 54%가 계측기 유지값이다. 같은 연속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  블록 안에서 직전 관측과 비트 단위로 동일한 반복이며,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  최대 1,214행 연속, 641개 중 499개 파일이 영향을 받는다.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· V_rot의 고유 측정 주기가 행 주기보다 느려서 생기며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  독립적인 측정이 아니다.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· 위양성 통로는 없다. V_rot은 소수점 다섯 자리까지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  기록되고 서로 다른 값의 최소 간격이 4×10⁻⁵이다.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  Tᵢ는 영향이 없다(226,991행 중 1행).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확정 프로토콜: 유지값은 어디서나 제거된다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  ① 지도 타깃  ② 이력·이월 입력과 그 관측 플래그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  ③ 정규화 통계  ④ 모든 기준선의 보간 앵커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따라서 어떤 팔도 forward-fill로 점수를 받을 수 없으며,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본 논문의 모든 수치는 진짜 측정만 사용한다.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25880"/>
            <a:ext cx="5513832" cy="3977639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91440" cy="3977639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435607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0392B"/>
                </a:solidFill>
                <a:latin typeface="Malgun Gothic"/>
              </a:rPr>
              <a:t>감사 2: Tᵢ 피팅 실패와 두 모집단  §3.5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837943"/>
            <a:ext cx="5129784" cy="333755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· 관측 Tᵢ의 p99 = 2,089 eV, p99.9 = 9,601 eV,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  최댓값 14,984 eV이며 먼 꼬리는 실패한 스펙트럼 피팅이다.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· &gt;3 keV가 1,197행(0.53%) = 274 방전의 951개 run이다.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  run의 85%가 단일 행, 5행 이상은 2%이며,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  run 정점 중앙값은 관측 이웃 평균의 13×(IQR 6–26×)이다.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· 두 대응 모두 방어 가능하고 각각 비판 가능하다.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  제거는 “어려운 행을 없앴다”, 유지는 스파이크 앵커가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  오프라인 기준선을 오염시킨다.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따라서 두 개의 공동 1차 모집단(컷 / 포함)을 사전등록하였다.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· 값 컷은 한쪽 방향 프록시이다. 하향 급락(양쪽 이웃의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  ½ 이하) 4,965행은 건드리지 않고, ≥2× 상향 이상치의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  19%만 제거한다.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· V_rot 스파이크(&gt;1,000 km/s 119행 / 16 방전, 101행은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5"/>
                </a:solidFill>
                <a:latin typeface="Malgun Gothic"/>
              </a:rPr>
              <a:t>  한 방전의 한 블록)는 컷하지 않고 SSE 비중을 병기한다.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440680"/>
            <a:ext cx="11183112" cy="77724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34472" cy="59435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B9E8A"/>
                </a:solidFill>
                <a:latin typeface="Malgun Gothic"/>
              </a:rPr>
              <a:t>하나로 고르지 못하는 이유 — </a:t>
            </a:r>
            <a:r>
              <a:rPr sz="1300" b="0" i="0">
                <a:solidFill>
                  <a:srgbClr val="FFFFFF"/>
                </a:solidFill>
                <a:latin typeface="Malgun Gothic"/>
              </a:rPr>
              <a:t>컷 없이는 모든 팔이 PCHIP 대비 더 좋아 보인다(백본 +0.268 대 +0.236). 스파이크가 보간 앵커를 오염시키기 때문이며, 학습된 모델은 그것을 할인할 수 있지만 보간은 못 한다. §6.7이 그 성분을 정량화하므로 두 모집단을 항상 함께 보고한다.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B6CB0"/>
                </a:solidFill>
                <a:latin typeface="Malgun Gothic"/>
              </a:rPr>
              <a:t>§4  sec:model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모델 — 라우팅은 설계 선택이 아니라 보존식의 결과이다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5</a:t>
            </a:r>
          </a:p>
        </p:txBody>
      </p:sp>
      <p:pic>
        <p:nvPicPr>
          <p:cNvPr id="10" name="Picture 9" descr="fig_architecture_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81918"/>
            <a:ext cx="4937760" cy="264280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77840" y="1325880"/>
            <a:ext cx="6108192" cy="23317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1325880"/>
            <a:ext cx="91440" cy="23317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15583" y="1435607"/>
            <a:ext cx="5742431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B6CB0"/>
                </a:solidFill>
                <a:latin typeface="Malgun Gothic"/>
              </a:rPr>
              <a:t>주 모델: 전체격자 시퀀스 백본 seq_v2 (357,570)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5583" y="1837943"/>
            <a:ext cx="5724144" cy="16916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22채널 격자 시퀀스 위의 서로 독립인 인과 LSTM 2개이다.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Tᵢ 분기(2층, 160)는 전체 상태를 읽는다: 고속 진단 · 두 타깃의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이월값 · 신선도 플래그 · Δt.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V_rot 분기(1층, 64)는 비-고속 7채널만 읽는다: Δt와 타깃별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이월값 · 신선도 · 관측 플래그.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LayerNorm + 작은 GELU 헤드이며, 손실은 세그먼트의 모든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라벨 행에 대한 타깃별 마스킹 MSE이다.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AdamW 10⁻³, batch 16 세그먼트, 조기 종료(patience 6,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상한 30; 확정 실행은 14–25 epoch에서 종료)이다.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3749039"/>
            <a:ext cx="6108192" cy="23317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0" y="3749039"/>
            <a:ext cx="91440" cy="233172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15583" y="3858768"/>
            <a:ext cx="5742431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9E8A"/>
                </a:solidFill>
                <a:latin typeface="Malgun Gothic"/>
              </a:rPr>
              <a:t>§4의 골격 (2026-09-03 개정, 7개 소절 · 수식 5개)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5583" y="4261104"/>
            <a:ext cx="5724144" cy="16916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4.1 추정 대상·손실·하한: RMSE² = σ_meas² + b², σ_meas 46.4–129.9 eV.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   제곱질량의 46.6%가 상위 1%에 있어 손실은 꼬리 통계이다(§8aq).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4.2 두 보존식이 라우팅을 정한다: 각운동량 수지 항별 감사표.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   ∇·Π_turb만 미검정이었고 이번에 측정하여 널이다(§8ar).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4.3 시간 척도: Nyquist 50 Hz · τ_eq 8–59 ms ↔ 문맥 포화 약 50 ms.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   완화 시간 Tᵢ 159 / BES 161 / ECEI 147 ms, V_rot는 측정 불가.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4.4–4.6 백본 · 윈도 대조군(201,258) · b3k8(21,498) — 기존 유지.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4.7 최적화: 물려받은 값임을 명시하고 유도로 바꿀 측정을 지목한다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   (경사 잡음 척도 · μP).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§5  sec:eval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평가 방법론 — 모델에 불리하게 세운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513832" cy="21488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91440" cy="214884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435607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지표와 채점 모집단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837943"/>
            <a:ext cx="5129784" cy="1508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skill = 1 - MSE_model / MSE_PCHIP(Murphy)이며,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물리 CES 단위로 역정규화한 뒤 타깃별로 계산한다.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모든 팔이 동일한 (파일, 행) 집합에서 동일한 타깃별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마스크로 채점되고, 짝지은 비교 이전에 모집단 키가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비트 단위로 동일함을 검증한다.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보간은 타깃 자신의 값을 제외한다(누수 없음).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세그먼트 경계를 넘지 않으며, 경계 밖 이웃이 필요하면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보간이 persistence 값을 예측한다(PR2, 모집단 불변).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25880"/>
            <a:ext cx="5513832" cy="21488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91440" cy="214884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435607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9E8A"/>
                </a:solidFill>
                <a:latin typeface="Malgun Gothic"/>
              </a:rPr>
              <a:t>기준선 사다리 — 인과 GP가 새로 들어왔다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837943"/>
            <a:ext cx="5129784" cy="1508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인과: persistence · 국소 과거 전용 AR · 인과 GP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(같은 GP를 과거 이웃 16개로 제한, NaN 조건 동일 →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채점 모집단이 움직이지 않는다)이다.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오프라인(미래 사용): 선형 · PCHIP · GP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(Matérn-3/2 + 백색잡음, 최근접 16+16 국소 적합,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표본별 주변우도 격자 선택)이다.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인과 GP가 배치 가능한 가장 강한 기준선이다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(시드 42 Tᵢ RMSE 164.3 대 persistence 197.2, 컷).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66160"/>
            <a:ext cx="5513832" cy="25146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566160"/>
            <a:ext cx="91440" cy="25146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3675887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9E5B"/>
                </a:solidFill>
                <a:latin typeface="Malgun Gothic"/>
              </a:rPr>
              <a:t>사전등록 PR1–PR4 + 확정 프로토콜이 더한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4078224"/>
            <a:ext cx="5129784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PR1  headline 상대는 PCHIP이며 사다리 전체도 함께 보고한다.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PR2  보간은 모델이 채점되는 모든 곳에서 예측하며, 미래 이웃이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      없으면 persistence로 후퇴하고 후퇴율을 보고한다. Tᵢ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      0.3–0.4%, V_rot 40–44%이다(“vs PCHIP”의 2/5가 사실상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      “vs persistence”이다).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PR3  test 최소 규모는 ≥15 shot, ≥3,000 관측 Tᵢ이다(전부 충족).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PR4  유의는 shot 군집 bootstrap 95% CI가 0을 제외함이다.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＋ held-free · W=2 · 파일당 500 · 두 모집단 · 문턱 민감도 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   모든 결정 규칙을 TEST 채점 이전에 문서로 확정한다.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566160"/>
            <a:ext cx="5513832" cy="25146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566160"/>
            <a:ext cx="91440" cy="25146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675887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B6CB0"/>
                </a:solidFill>
                <a:latin typeface="Malgun Gothic"/>
              </a:rPr>
              <a:t>3-way 분할, TEST 동결, shot 군집 paired bootstrap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4078224"/>
            <a:ext cx="5129784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시드 42 test(컷): 관측 Tᵢ n = 32,589 / 96 shot,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진짜 V_rot n = 10,463 / 60 shot(포함 32,721 / 10,461)이다.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4개 분할(42·1·7·123): Tᵢ 32.6–35.9k행 / 96 shot,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V_rot 10.5–14.5k행 / 60–66 shot이다.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짝지은 SE 차이를 shot 단위로 집계하고 shot 전체를 복원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추출한다(10,000회, 고정 시드). 모델 대 모델 비교도 동일하다.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대가: 유효 표본은 shot 수이며 전체 검정력의 상한이다.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MNAR 예고: 결측은 무작위가 아니므로(저신호·ELM·천이에서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탈락) 관측 지점 skill은 낙관적 추정이다. §6.5에서 실제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결측 지점으로 재가중해 얼마가 살아남는지 보고한다.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9E5B"/>
                </a:solidFill>
                <a:latin typeface="Malgun Gothic"/>
              </a:rPr>
              <a:t>§6.1  tab:ladder · fig:ladder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나우캐스터는 모든 인과 기준선을 압도한다 — 가장 강건한 결과이다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7132320" cy="402336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168249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389888"/>
            <a:ext cx="25511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정보 접근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389888"/>
            <a:ext cx="113385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Tᵢ RMSE (eV)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89888"/>
            <a:ext cx="11795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V_rot (km/s)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801368"/>
            <a:ext cx="16824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335F"/>
                </a:solidFill>
                <a:latin typeface="Malgun Gothic"/>
              </a:rPr>
              <a:t>seq_v2 (나우캐스터)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1801368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고속 진단 + 과거 CES, 세그먼트 전체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801368"/>
            <a:ext cx="113385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157.8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01368"/>
            <a:ext cx="11795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23.6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066163"/>
            <a:ext cx="713232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075688"/>
            <a:ext cx="7132320" cy="34747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148840"/>
            <a:ext cx="16824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윈도 대조군 (W=2)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2148840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고속 진단 + 과거 CES 2행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148840"/>
            <a:ext cx="113385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169.2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48840"/>
            <a:ext cx="11795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26.1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413635"/>
            <a:ext cx="713232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496312"/>
            <a:ext cx="16824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인과 GP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2496312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과거 CES 이웃 16개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2496312"/>
            <a:ext cx="113385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164.3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96312"/>
            <a:ext cx="11795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28.8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761107"/>
            <a:ext cx="713232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2770632"/>
            <a:ext cx="7132320" cy="34747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2843784"/>
            <a:ext cx="16824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Persistence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843784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마지막 관측 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2843784"/>
            <a:ext cx="113385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197.2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843784"/>
            <a:ext cx="11795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33.4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108579"/>
            <a:ext cx="713232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191256"/>
            <a:ext cx="16824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AR (국소, 인과)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3191256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과거 CES만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191256"/>
            <a:ext cx="113385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472.2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191256"/>
            <a:ext cx="11795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51.0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456051"/>
            <a:ext cx="713232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3465576"/>
            <a:ext cx="7132320" cy="34747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3538728"/>
            <a:ext cx="16824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6670"/>
                </a:solidFill>
                <a:latin typeface="Malgun Gothic"/>
              </a:rPr>
              <a:t>GP (오프라인)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538728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과거 + 미래 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3538728"/>
            <a:ext cx="113385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153.8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538728"/>
            <a:ext cx="11795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24.7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803523"/>
            <a:ext cx="713232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886200"/>
            <a:ext cx="16824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6670"/>
                </a:solidFill>
                <a:latin typeface="Malgun Gothic"/>
              </a:rPr>
              <a:t>선형 보간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3886200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과거 + 미래 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3886200"/>
            <a:ext cx="113385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169.8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3886200"/>
            <a:ext cx="11795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29.0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150995"/>
            <a:ext cx="713232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4160520"/>
            <a:ext cx="7132320" cy="34747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4233672"/>
            <a:ext cx="168249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6670"/>
                </a:solidFill>
                <a:latin typeface="Malgun Gothic"/>
              </a:rPr>
              <a:t>PCHIP 보간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23160" y="4233672"/>
            <a:ext cx="25511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과거 + 미래 CES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0640" y="4233672"/>
            <a:ext cx="113385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173.6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4233672"/>
            <a:ext cx="11795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30.2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498467"/>
            <a:ext cx="713232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fig_rms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45027"/>
            <a:ext cx="3913632" cy="1567746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7772400" y="4023360"/>
            <a:ext cx="3913632" cy="2057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772400" y="4023360"/>
            <a:ext cx="91440" cy="205740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10144" y="4133088"/>
            <a:ext cx="35478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포함 모집단 — 순서는 불변이다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10144" y="4535424"/>
            <a:ext cx="3529584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seq_v2 363.0 / 23.7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PCHIP 412.4 / 30.2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인과 GP 394.6 / 28.8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persistence 478.0 / 33.4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피팅 실패 스파이크가 모든 Tᵢ RMSE를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두 배 이상으로 키우지만 사다리의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순서는 바꾸지 않는다.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920" y="4572000"/>
            <a:ext cx="7132320" cy="15087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" y="4572000"/>
            <a:ext cx="91440" cy="150876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0664" y="4681728"/>
            <a:ext cx="676655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9E5B"/>
                </a:solidFill>
                <a:latin typeface="Malgun Gothic"/>
              </a:rPr>
              <a:t>본문에 쓰는 논지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0664" y="5084064"/>
            <a:ext cx="6748272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seq_v2는 미래를 읽지 않는 모든 방법 중 두 타깃 최저 RMSE이고, 인과 GP를 4%(Tᵢ)·18%(V_rot) 이긴다.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유일한 동률 팔은 잡음 앵커를 통과하는 대신 평균해 내는 오프라인 GP이다(153.8 대 157.8).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미래 CES가 정의상 없는 온라인 환경에서 시퀀스 나우캐스터는 명백한 승자이며 가장 강건한 결과이다.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표와 그림은 같은 동결 산출물에서 생성된다. 두 스트레스 테스트를 통과하는 주장의 뿌리이다(§6.5·§6.6).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9E5B"/>
                </a:solidFill>
                <a:latin typeface="Malgun Gothic"/>
              </a:rPr>
              <a:t>§6.2  sec:headline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Headline — Tᵢ는 두 모집단 모두 4/4로 미래를 읽는 보간을 이긴다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6766560" cy="26974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91440" cy="269748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435607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9E5B"/>
                </a:solidFill>
                <a:latin typeface="Malgun Gothic"/>
              </a:rPr>
              <a:t>인용할 수치 — Tᵢ, held-out TEST (컷 / 포함)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837943"/>
            <a:ext cx="6382512" cy="2057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42     +0.174 [+0.097, +0.236]   /   +0.225 [+0.109, +0.293]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1       +0.248 [+0.188, +0.295]   /   +0.238 [+0.153, +0.302]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7       +0.257 [+0.199, +0.302]   /   +0.292 [+0.232, +0.344]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123   +0.264 [+0.188, +0.320]   /   +0.316 [+0.186, +0.392]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컷 4/4 · 포함 4/4 PASS이다. 8개 셀 전부가 인과 GP와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persistence(+0.36~+0.46)도 이긴다.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vs 인과 GP(컷 / 포함): +0.078/+0.154 · +0.133/+0.169 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+0.138/+0.123 · +0.105/+0.149이다.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두 모집단 모두에서 성립하므로 논문의 무조건부 주장이다.</a:t>
            </a:r>
          </a:p>
        </p:txBody>
      </p:sp>
      <p:pic>
        <p:nvPicPr>
          <p:cNvPr id="14" name="Picture 13" descr="fig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229" y="4160520"/>
            <a:ext cx="4473942" cy="19202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452360" y="1325880"/>
            <a:ext cx="4233672" cy="21488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325880"/>
            <a:ext cx="91440" cy="21488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0104" y="1435607"/>
            <a:ext cx="3867911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V_rot — 승리가 아니라 동률이다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0104" y="1837943"/>
            <a:ext cx="3849624" cy="1508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컷    +0.390* / +0.183 / +0.135 / +0.305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      → PR4 1/4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포함  +0.384* / +0.195* / +0.132 / +0.304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      → PR4 2/4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vs persistence 양쪽 3/4(+0.30~+0.50),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vs 인과 GP 2/4이다. 4개 중 1–2개 유의는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잡음이 만들 수 있는 수준이므로 회전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채널의 승리는 주장하지 않는다.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3611880"/>
            <a:ext cx="4233672" cy="24688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3611880"/>
            <a:ext cx="91440" cy="246888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0104" y="3721608"/>
            <a:ext cx="3867911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포함이 더 높은 이유 · 오프라인 상한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0104" y="4123944"/>
            <a:ext cx="3849624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컷이 없으면 모든 팔이 PCHIP 대비 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좋은 점수를 받는다(백본 평균 +0.268 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+0.236, 대조군 +0.238 대 +0.173).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스파이크가 보간 앵커를 오염시키며,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모델은 할인하고 보간은 못 한다(§6.7).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오프라인 GP와는 동률(-0.05~+0.11,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8개 중 1개 유의)이며 오프라인 주장의 상한이다.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headline은 “사전등록된 보간들을 이긴다”로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읽는다.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B6CB0"/>
                </a:solidFill>
                <a:latin typeface="Malgun Gothic"/>
              </a:rPr>
              <a:t>§6.3  sec:gate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백본 관문 — 전체격자 프레이밍이 산 것은 '도달 범위'이다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9</a:t>
            </a:r>
          </a:p>
        </p:txBody>
      </p:sp>
      <p:pic>
        <p:nvPicPr>
          <p:cNvPr id="10" name="Picture 9" descr="fig_gate_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96242"/>
            <a:ext cx="5852160" cy="230539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37960" y="1325880"/>
            <a:ext cx="5148072" cy="3246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1325880"/>
            <a:ext cx="91440" cy="32461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75704" y="1435607"/>
            <a:ext cx="478231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B6CB0"/>
                </a:solidFill>
                <a:latin typeface="Malgun Gothic"/>
              </a:rPr>
              <a:t>사전등록 4조건 관문 (컷 모집단, 한 번만 채점)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5704" y="1837943"/>
            <a:ext cx="4764024" cy="2606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분할 시드 × 초기화 시드의 4×4 격자를 돌리고 각 실행을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그 분할의 W=2 윈도 대조군과 행 단위로 짝지었다.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짝지은 Tᵢ skill은 16/16 실행 양수 · 13/16 개별 유의이다.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분할별 초기화 평균은 +0.129 / +0.059 / +0.078 / +0.058이다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(초기화 산포가 분할 산포보다 훨씬 작다).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통합 평균 +0.081, 실행 군집 95% CI [+0.067, +0.096]이다.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예산 균등화(고정 10 epoch, 최종 가중치, val 선택 없음)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에서도 4/4 부호가 유지된다: +0.063 / +0.033 / +0.045 / +0.030.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이 이득은 학습 예산이 아니라 아키텍처에서 온다.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V_rot 유의 열세 0/16(유의 우세 8/16)이다.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네 조건이 모두 성립하였다. 관문은 채점 이전에 고정되었다(§7).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709160"/>
            <a:ext cx="11183112" cy="13716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709160"/>
            <a:ext cx="91440" cy="13716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4818888"/>
            <a:ext cx="1081735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9E5B"/>
                </a:solidFill>
                <a:latin typeface="Malgun Gothic"/>
              </a:rPr>
              <a:t>확증 4 분할, 그리고 프레이밍이 '무엇을' 사는가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5221224"/>
            <a:ext cx="10799064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확증 4 분할의 같은 비교(seq_v2 − 대조군): 컷 +0.130 / +0.058 / +0.062 / +0.044, 포함 +0.053 / +0.024 / +0.047 / +0.029으로 8/8 양수, 각 2/4 유의이다.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윈도 대조군은 인과 GP와 동률(컷 1/4)인데 시퀀스 백본은 두 모집단 모두 4/4이다. 세그먼트 과거 전체로의 도달 범위가 최강 배치 기준선을 넘어서게 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B.9(§8af)는 이 +0.081을 도달 범위 −0.065와 구조 ≈ −0.016으로 분해하였다. 비용은 음수이며 학습비가 윈도 계열의 1/10이다.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B6CB0"/>
                </a:solidFill>
                <a:latin typeface="Malgun Gothic"/>
              </a:rPr>
              <a:t>§6.4  sec:gap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skill이 사는 곳 ① — 간극 영역 (4 분할 통합)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11183112" cy="402336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177393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389888"/>
            <a:ext cx="16367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n (컷 / 포함)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389888"/>
            <a:ext cx="90525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389888"/>
            <a:ext cx="305409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컷: PCHIP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389888"/>
            <a:ext cx="308152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포함: PCHIP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801368"/>
            <a:ext cx="177393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335F"/>
                </a:solidFill>
                <a:latin typeface="Malgun Gothic"/>
              </a:rPr>
              <a:t>Tᵢ  ≤ 15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1801368"/>
            <a:ext cx="16367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134,546 / 135,317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801368"/>
            <a:ext cx="90525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301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801368"/>
            <a:ext cx="305409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+0.239 [+0.197, +0.274]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801368"/>
            <a:ext cx="308152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+0.299 [+0.244, +0.347]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21027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130552"/>
            <a:ext cx="11183112" cy="402336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203704"/>
            <a:ext cx="177393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335F"/>
                </a:solidFill>
                <a:latin typeface="Malgun Gothic"/>
              </a:rPr>
              <a:t>Tᵢ  &gt; 15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2203704"/>
            <a:ext cx="16367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3,422 / 3,334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203704"/>
            <a:ext cx="90525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265 / 263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203704"/>
            <a:ext cx="305409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+0.268 [+0.187, +0.337]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203704"/>
            <a:ext cx="308152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+0.206 [+0.108, +0.290]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523363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606040"/>
            <a:ext cx="177393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335F"/>
                </a:solidFill>
                <a:latin typeface="Malgun Gothic"/>
              </a:rPr>
              <a:t>Tᵢ  &gt; 45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2606040"/>
            <a:ext cx="16367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460 / 429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2606040"/>
            <a:ext cx="90525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104 / 101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2606040"/>
            <a:ext cx="305409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+0.267 [+0.092, +0.414]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2606040"/>
            <a:ext cx="308152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743B"/>
                </a:solidFill>
                <a:latin typeface="Malgun Gothic"/>
              </a:rPr>
              <a:t>-0.004 [-0.304, +0.246]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25699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2935224"/>
            <a:ext cx="11183112" cy="402336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008376"/>
            <a:ext cx="177393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335F"/>
                </a:solidFill>
                <a:latin typeface="Malgun Gothic"/>
              </a:rPr>
              <a:t>V_rot  ≤ 15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3008376"/>
            <a:ext cx="16367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51,689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3008376"/>
            <a:ext cx="90525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197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3008376"/>
            <a:ext cx="305409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+0.233 [+0.020, +0.318]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3008376"/>
            <a:ext cx="308152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+0.233 [+0.020, +0.317]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328035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410712"/>
            <a:ext cx="177393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335F"/>
                </a:solidFill>
                <a:latin typeface="Malgun Gothic"/>
              </a:rPr>
              <a:t>V_rot  &gt; 15 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3410712"/>
            <a:ext cx="16367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466 / 456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3410712"/>
            <a:ext cx="90525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3410712"/>
            <a:ext cx="305409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+0.418 [+0.104, +0.680]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3410712"/>
            <a:ext cx="308152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+0.432 [+0.128, +0.696]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730371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3739896"/>
            <a:ext cx="11183112" cy="402336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3813048"/>
            <a:ext cx="177393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335F"/>
                </a:solidFill>
                <a:latin typeface="Malgun Gothic"/>
              </a:rPr>
              <a:t>V_rot  &gt; 45 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14600" y="3813048"/>
            <a:ext cx="16367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0" y="3813048"/>
            <a:ext cx="90525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49240" y="3813048"/>
            <a:ext cx="305409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미채점 (n &lt; 50)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9640" y="3813048"/>
            <a:ext cx="308152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미채점 (n &lt; 50)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132707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02920" y="4224528"/>
            <a:ext cx="3611880" cy="1856231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920" y="4224528"/>
            <a:ext cx="91440" cy="1856231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0664" y="4334256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9E5B"/>
                </a:solidFill>
                <a:latin typeface="Malgun Gothic"/>
              </a:rPr>
              <a:t>① 인접 이력에 국한되지 않는다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" y="4736592"/>
            <a:ext cx="3227832" cy="121615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채점 타깃의 ≥96%가 Δt ≤ 15 ms에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있지만, 15 ms를 넘어서도 백본은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두 모집단 모두에서 미래를 쓰는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PCHIP을 이긴다(+0.268 / +0.206).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같은 층에서 persistence 대비는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+0.40과 +0.43이다.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15968" y="4224528"/>
            <a:ext cx="3611880" cy="1856231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15968" y="4224528"/>
            <a:ext cx="91440" cy="1856231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53712" y="4334256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② &gt;45 ms는 모집단 조건부이다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53712" y="4736592"/>
            <a:ext cx="3227832" cy="121615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컷에서는 여전히 이기지만(+0.267)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포함에서는 동률이다(-0.004,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CI [-0.30, +0.25]).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101 shot의 429행은 소수의 스파이크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앵커 행이 한 계층을 지배할 수 있는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규모이므로 동률로 보고한다.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29016" y="4224528"/>
            <a:ext cx="3557016" cy="1856231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29016" y="4224528"/>
            <a:ext cx="91440" cy="1856231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66760" y="4334256"/>
            <a:ext cx="319125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9E8A"/>
                </a:solidFill>
                <a:latin typeface="Malgun Gothic"/>
              </a:rPr>
              <a:t>③ 논문 유일의 무조건부 V_rot 양성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66760" y="4736592"/>
            <a:ext cx="3172968" cy="121615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전역 V_rot 동률은 '인접 영역에서의'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동률이다. Δt &gt; 15 ms에서는 백본이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두 모집단 모두 PCHIP을 이긴다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(+0.418 / +0.432, 130 shot).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≤ 15 ms에서는 persistence를 이긴다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(+0.39). 가장 넓은 구간은 14행뿐이다.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743B"/>
                </a:solidFill>
                <a:latin typeface="Malgun Gothic"/>
              </a:rPr>
              <a:t>§6.5  sec:mnar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스트레스 ① — 실제로 결측인 지점에서 얼마가 살아남는가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1183112" cy="932688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109728" cy="932688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53312"/>
            <a:ext cx="10607040" cy="8778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743B"/>
                </a:solidFill>
                <a:latin typeface="Malgun Gothic"/>
              </a:rPr>
              <a:t>적용 범위 결과 — </a:t>
            </a:r>
            <a:r>
              <a:rPr sz="1300" b="0" i="0">
                <a:solidFill>
                  <a:srgbClr val="222B35"/>
                </a:solidFill>
                <a:latin typeface="Malgun Gothic"/>
              </a:rPr>
              <a:t>도메인은 “진짜 관측이 두 행 이내”(W=2)이다. 진짜 결측 행 중 도메인 안은 </a:t>
            </a:r>
            <a:r>
              <a:rPr sz="1300" b="1" i="0">
                <a:solidFill>
                  <a:srgbClr val="C0392B"/>
                </a:solidFill>
                <a:latin typeface="Malgun Gothic"/>
              </a:rPr>
              <a:t>Tᵢ 54–68% · V_rot 4–6%</a:t>
            </a:r>
            <a:r>
              <a:rPr sz="1300" b="0" i="0">
                <a:solidFill>
                  <a:srgbClr val="222B35"/>
                </a:solidFill>
                <a:latin typeface="Malgun Gothic"/>
              </a:rPr>
              <a:t>뿐이다.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70"/>
                </a:solidFill>
                <a:latin typeface="Malgun Gothic"/>
              </a:rPr>
              <a:t>살아남은 층의 커버리지는 Tᵢ 0.99 · V_rot 0.73–0.76이다. 재가중된 V_rot은 결측 질량의 20분의 1에 대한 답이므로 결론을 내지 않는다.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31720"/>
            <a:ext cx="11183112" cy="34747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95728"/>
            <a:ext cx="81381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모집단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395728"/>
            <a:ext cx="58521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분할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395728"/>
            <a:ext cx="127101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vs PCHIP 무가중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395728"/>
            <a:ext cx="314553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vs PCHIP 결측 정합 (95% CI)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395728"/>
            <a:ext cx="127101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vs persist. 무가중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95728"/>
            <a:ext cx="3218688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vs persist. 결측 정합 (95% CI)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752344"/>
            <a:ext cx="8138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3335F"/>
                </a:solidFill>
                <a:latin typeface="Malgun Gothic"/>
              </a:rPr>
              <a:t>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752344"/>
            <a:ext cx="5852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752344"/>
            <a:ext cx="12710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+0.174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752344"/>
            <a:ext cx="314553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+0.140 [-0.071, +0.290]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752344"/>
            <a:ext cx="12710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+0.360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752344"/>
            <a:ext cx="3218688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+0.398 [+0.278, +0.518]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971419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980944"/>
            <a:ext cx="11183112" cy="3017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054096"/>
            <a:ext cx="8138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054096"/>
            <a:ext cx="5852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3054096"/>
            <a:ext cx="12710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+0.248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3054096"/>
            <a:ext cx="314553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+0.164 [+0.062, +0.250]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054096"/>
            <a:ext cx="12710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+0.406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054096"/>
            <a:ext cx="3218688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+0.366 [+0.299, +0.448]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273171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355848"/>
            <a:ext cx="8138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3355848"/>
            <a:ext cx="5852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3355848"/>
            <a:ext cx="12710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+0.257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3355848"/>
            <a:ext cx="314553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+0.203 [-0.024, +0.346]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3355848"/>
            <a:ext cx="12710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+0.403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355848"/>
            <a:ext cx="3218688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+0.310 [+0.227, +0.398]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574923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3584448"/>
            <a:ext cx="11183112" cy="3017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3657600"/>
            <a:ext cx="8138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3657600"/>
            <a:ext cx="5852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123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3657600"/>
            <a:ext cx="12710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+0.264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03320" y="3657600"/>
            <a:ext cx="314553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+0.283 [+0.069, +0.392]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3657600"/>
            <a:ext cx="12710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+0.415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3657600"/>
            <a:ext cx="3218688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+0.381 [+0.246, +0.464]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876675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3959352"/>
            <a:ext cx="8138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3335F"/>
                </a:solidFill>
                <a:latin typeface="Malgun Gothic"/>
              </a:rPr>
              <a:t>포함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54480" y="3959352"/>
            <a:ext cx="5852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42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3959352"/>
            <a:ext cx="12710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+0.225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03320" y="3959352"/>
            <a:ext cx="314553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+0.140 [+0.033, +0.250]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3959352"/>
            <a:ext cx="12710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+0.423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3959352"/>
            <a:ext cx="3218688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+0.443 [+0.141, +0.623]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4178427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4187952"/>
            <a:ext cx="11183112" cy="3017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4261104"/>
            <a:ext cx="8138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54480" y="4261104"/>
            <a:ext cx="5852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86000" y="4261104"/>
            <a:ext cx="12710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+0.238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03320" y="4261104"/>
            <a:ext cx="314553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+0.217 [+0.086, +0.319]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95160" y="4261104"/>
            <a:ext cx="12710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+0.436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4261104"/>
            <a:ext cx="3218688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+0.383 [+0.273, +0.536]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4480179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4562856"/>
            <a:ext cx="8138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54480" y="4562856"/>
            <a:ext cx="5852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0" y="4562856"/>
            <a:ext cx="12710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+0.292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03320" y="4562856"/>
            <a:ext cx="314553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+0.167 [+0.067, +0.265]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562856"/>
            <a:ext cx="12710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+0.406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0" y="4562856"/>
            <a:ext cx="3218688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+0.283 [+0.172, +0.380]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4781931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2920" y="4791456"/>
            <a:ext cx="11183112" cy="3017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" y="4864608"/>
            <a:ext cx="8138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/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54480" y="4864608"/>
            <a:ext cx="5852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123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86000" y="4864608"/>
            <a:ext cx="12710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+0.316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03320" y="4864608"/>
            <a:ext cx="314553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+0.221 [+0.050, +0.320]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95160" y="4864608"/>
            <a:ext cx="1271016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+0.459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4864608"/>
            <a:ext cx="3218688" cy="2103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+0.337 [+0.164, +0.455]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5083683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02920" y="5166360"/>
            <a:ext cx="11183112" cy="91440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77240" y="5257800"/>
            <a:ext cx="10634472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B9E8A"/>
                </a:solidFill>
                <a:latin typeface="Malgun Gothic"/>
              </a:rPr>
              <a:t>방법 — </a:t>
            </a:r>
            <a:r>
              <a:rPr sz="1050" b="0" i="0">
                <a:solidFill>
                  <a:srgbClr val="FFFFFF"/>
                </a:solidFill>
                <a:latin typeface="Malgun Gothic"/>
              </a:rPr>
              <a:t>층은 Δt(15/25/45 ms) × 입력 전용 활동 플래그(자기 행 제외 → 결측 행에서도 정의)이다. 30 미만 층은 기각하고, 커버리지를 병기하며, 가중 격자에도 컷을 적용한다.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B9E8A"/>
                </a:solidFill>
                <a:latin typeface="Malgun Gothic"/>
              </a:rPr>
              <a:t>결론 문장 — </a:t>
            </a:r>
            <a:r>
              <a:rPr sz="1050" b="0" i="0">
                <a:solidFill>
                  <a:srgbClr val="FFFFFF"/>
                </a:solidFill>
                <a:latin typeface="Malgun Gothic"/>
              </a:rPr>
              <a:t>“진짜 결측·도메인 내 시점에서 나우캐스터는 두 모집단 모두 CES 단독의 어떤 인과 방법보다 유의하게 낫고(4/4+4/4, +0.28~+0.44), 오프라인 보간보다는 모집단 조건부(컷 2/4, 포함 4/4)로 낫다.”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Malgun Gothic"/>
              </a:rPr>
              <a:t>§6.6  sec:campaign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스트레스 ② — 캠페인(시간) 분할: 대조군은 붕괴하고 백본은 견딘다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11183112" cy="402336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7223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모집단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389888"/>
            <a:ext cx="218541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389888"/>
            <a:ext cx="309981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Tᵢ vs PCHIP (초기화 42 / 1 / 7 / 123)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89888"/>
            <a:ext cx="4937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389888"/>
            <a:ext cx="127101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vs 인과 GP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389888"/>
            <a:ext cx="253288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seq_v2 − 대조군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801368"/>
            <a:ext cx="7223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3335F"/>
                </a:solidFill>
                <a:latin typeface="Malgun Gothic"/>
              </a:rPr>
              <a:t>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1801368"/>
            <a:ext cx="21854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윈도 대조군 (OFF)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1801368"/>
            <a:ext cx="30998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+0.027 / +0.091 / -0.001 / +0.061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801368"/>
            <a:ext cx="4937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0392B"/>
                </a:solidFill>
                <a:latin typeface="Malgun Gothic"/>
              </a:rPr>
              <a:t>2/4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1801368"/>
            <a:ext cx="12710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0/4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801368"/>
            <a:ext cx="25328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084451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093976"/>
            <a:ext cx="11183112" cy="3657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67128"/>
            <a:ext cx="7223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2167128"/>
            <a:ext cx="21854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대조군, shot별 표준화 (ON)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2167128"/>
            <a:ext cx="30998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+0.103 / +0.107 / +0.094 / +0.107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167128"/>
            <a:ext cx="4937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4/4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167128"/>
            <a:ext cx="12710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2167128"/>
            <a:ext cx="25328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450211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2532888"/>
            <a:ext cx="7223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2532888"/>
            <a:ext cx="21854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3335F"/>
                </a:solidFill>
                <a:latin typeface="Malgun Gothic"/>
              </a:rPr>
              <a:t>seq_v2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2532888"/>
            <a:ext cx="30998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+0.187 / +0.174 / +0.181 / +0.177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2532888"/>
            <a:ext cx="4937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4/4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2532888"/>
            <a:ext cx="12710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4/4 (+0.11~+0.12)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2532888"/>
            <a:ext cx="25328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+0.164 / +0.091 / +0.182 / +0.124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815971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2825496"/>
            <a:ext cx="11183112" cy="3657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2898648"/>
            <a:ext cx="7223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3335F"/>
                </a:solidFill>
                <a:latin typeface="Malgun Gothic"/>
              </a:rPr>
              <a:t>포함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2898648"/>
            <a:ext cx="21854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윈도 대조군 (OFF)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60" y="2898648"/>
            <a:ext cx="30998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+0.014 / +0.047 / +0.055 / +0.089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2898648"/>
            <a:ext cx="4937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0392B"/>
                </a:solidFill>
                <a:latin typeface="Malgun Gothic"/>
              </a:rPr>
              <a:t>0/4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2898648"/>
            <a:ext cx="12710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0/4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2898648"/>
            <a:ext cx="25328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181731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3264408"/>
            <a:ext cx="7223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3264408"/>
            <a:ext cx="21854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3335F"/>
                </a:solidFill>
                <a:latin typeface="Malgun Gothic"/>
              </a:rPr>
              <a:t>seq_v2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94760" y="3264408"/>
            <a:ext cx="30998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+0.173 / +0.202 / +0.198 / +0.184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3264408"/>
            <a:ext cx="4937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4/4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3264408"/>
            <a:ext cx="127101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4/4 (+0.13~+0.16)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3264408"/>
            <a:ext cx="25328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+0.161 / +0.163 / +0.151 / +0.104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3547491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fig_campa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56301"/>
            <a:ext cx="4023360" cy="1580038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4709160" y="3611880"/>
            <a:ext cx="3429000" cy="24688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709160" y="3611880"/>
            <a:ext cx="91440" cy="246888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46904" y="3721608"/>
            <a:ext cx="3063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설계와 측정된 원인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46904" y="4123944"/>
            <a:ext cx="3044952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shot 번호로 시간 분할하였다: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train 416 [30801, 31991]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val 128 [32002, 32310]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test 97 [32312, 32751]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어떤 test shot도 어떤 train shot보다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앞서지 않는다. 네 실행은 초기화 시드만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다르다(분할 4개가 아니다).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train→test 드리프트(중앙값)는 BES 1.22 σ 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ECEI 0.53 σ 대 타깃 0.115 σ로 5–11×이다.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75320" y="3611880"/>
            <a:ext cx="3410712" cy="24688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75320" y="3611880"/>
            <a:ext cx="91440" cy="246888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13064" y="372160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9E5B"/>
                </a:solidFill>
                <a:latin typeface="Malgun Gothic"/>
              </a:rPr>
              <a:t>명시할 것 세 가지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13064" y="4123944"/>
            <a:ext cx="3026664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① 윈도의 오프라인 우위는 이동을 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 견딘다(2/4 · 0/4, 인과 GP 0/4).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② 지목되었던 수리가 작동하였다. shot별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 표준화로 컷 관문 2/4→4/4,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 paired +0.078/+0.018/+0.095/+0.049,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 V_rot 불변(-0.003~+0.008)이다.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③ 시퀀스는 붕괴하지 않는다. 대조군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 대비 8/8이며 V_rot은 persistence를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 양쪽 4/4로 이긴다(대조군 0/4).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743B"/>
                </a:solidFill>
                <a:latin typeface="Malgun Gothic"/>
              </a:rPr>
              <a:t>§6.7  sec:asym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Tᵢ ↔ V_rot 정보 비대칭 — 본 연구의 과학적 발견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11183112" cy="402336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25511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입력 (평가 시 절제, 재학습 없음)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389888"/>
            <a:ext cx="53949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타깃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1389888"/>
            <a:ext cx="7223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389888"/>
            <a:ext cx="250545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컷: paired (42/1/7/123)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1389888"/>
            <a:ext cx="7223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포함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389888"/>
            <a:ext cx="326440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포함: paired (42/1/7/123)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801368"/>
            <a:ext cx="25511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3335F"/>
                </a:solidFill>
                <a:latin typeface="Malgun Gothic"/>
              </a:rPr>
              <a:t>전체 (이력 + 고속 + 시간)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801368"/>
            <a:ext cx="5394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Tᵢ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1801368"/>
            <a:ext cx="7223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+0.173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801368"/>
            <a:ext cx="2505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1801368"/>
            <a:ext cx="7223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+0.238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801368"/>
            <a:ext cx="3264408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102739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112264"/>
            <a:ext cx="11183112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85416"/>
            <a:ext cx="25511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이력 + 시간만 (고속 없음)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2185416"/>
            <a:ext cx="5394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Tᵢ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2185416"/>
            <a:ext cx="7223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0392B"/>
                </a:solidFill>
                <a:latin typeface="Malgun Gothic"/>
              </a:rPr>
              <a:t>-0.125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2185416"/>
            <a:ext cx="2505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0392B"/>
                </a:solidFill>
                <a:latin typeface="Malgun Gothic"/>
              </a:rPr>
              <a:t>-0.25* / -0.38* / -0.42* / -0.43*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2185416"/>
            <a:ext cx="7223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+0.201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185416"/>
            <a:ext cx="3264408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-0.03* / -0.04 / -0.03 / -0.09*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486787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2569464"/>
            <a:ext cx="25511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고속 + 시간만 (이력 없음)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2569464"/>
            <a:ext cx="5394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Tᵢ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40" y="2569464"/>
            <a:ext cx="7223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0392B"/>
                </a:solidFill>
                <a:latin typeface="Malgun Gothic"/>
              </a:rPr>
              <a:t>-2.11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2569464"/>
            <a:ext cx="2505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0392B"/>
                </a:solidFill>
                <a:latin typeface="Malgun Gothic"/>
              </a:rPr>
              <a:t>-4.6* / -1.8* / -2.3* / -1.9*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2569464"/>
            <a:ext cx="7223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0392B"/>
                </a:solidFill>
                <a:latin typeface="Malgun Gothic"/>
              </a:rPr>
              <a:t>-1.16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2569464"/>
            <a:ext cx="3264408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0392B"/>
                </a:solidFill>
                <a:latin typeface="Malgun Gothic"/>
              </a:rPr>
              <a:t>-1.5* / -3.4* / -1.2* / -1.1*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870835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2880360"/>
            <a:ext cx="11183112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2953512"/>
            <a:ext cx="25511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3335F"/>
                </a:solidFill>
                <a:latin typeface="Malgun Gothic"/>
              </a:rPr>
              <a:t>전체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2953512"/>
            <a:ext cx="5394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V_rot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40" y="2953512"/>
            <a:ext cx="7223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+0.213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2953512"/>
            <a:ext cx="2505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2953512"/>
            <a:ext cx="7223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+0.206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2953512"/>
            <a:ext cx="3264408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254883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3337560"/>
            <a:ext cx="25511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이력 + 시간만 (고속 없음)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3337560"/>
            <a:ext cx="5394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V_rot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77640" y="3337560"/>
            <a:ext cx="7223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+0.213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3337560"/>
            <a:ext cx="2505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+0.000 ×4 (비트 동일)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0" y="3337560"/>
            <a:ext cx="7223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+0.206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3337560"/>
            <a:ext cx="3264408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9E5B"/>
                </a:solidFill>
                <a:latin typeface="Malgun Gothic"/>
              </a:rPr>
              <a:t>+0.000 ×4 (비트 동일)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3638931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" y="3648456"/>
            <a:ext cx="11183112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3721608"/>
            <a:ext cx="25511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고속 + 시간만 (이력 없음)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91840" y="3721608"/>
            <a:ext cx="5394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V_rot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77640" y="3721608"/>
            <a:ext cx="7223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0392B"/>
                </a:solidFill>
                <a:latin typeface="Malgun Gothic"/>
              </a:rPr>
              <a:t>-2.89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0" y="3721608"/>
            <a:ext cx="2505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0392B"/>
                </a:solidFill>
                <a:latin typeface="Malgun Gothic"/>
              </a:rPr>
              <a:t>-5.4* / -6.3* / -1.8* / -2.3*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0" y="3721608"/>
            <a:ext cx="7223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0392B"/>
                </a:solidFill>
                <a:latin typeface="Malgun Gothic"/>
              </a:rPr>
              <a:t>-3.51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3721608"/>
            <a:ext cx="3264408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0392B"/>
                </a:solidFill>
                <a:latin typeface="Malgun Gothic"/>
              </a:rPr>
              <a:t>-6.9* / -7.8* / -1.9* / -2.2*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022979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7262"/>
            <a:ext cx="4480560" cy="1961035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5166360" y="4114800"/>
            <a:ext cx="3246120" cy="1965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166360" y="4114800"/>
            <a:ext cx="91440" cy="196596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04104" y="4224528"/>
            <a:ext cx="2880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읽는 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04104" y="4626864"/>
            <a:ext cx="2862072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이력은 두 타깃 모두에 필수이며,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제거하면 -1에서 -4까지 떨어진다.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Tᵢ, 컷: 마진은 고속 진단 정보이다.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고속을 0으로 하면 보간 아래로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간다(-0.10~-0.18). 물리 채널은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충돌성 전자–이온 결합(ECEI Tₑ, BES nₑ)이다.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V_rot: 정보는 전적으로 CES 이력이다.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95360" y="4114800"/>
            <a:ext cx="3090672" cy="1965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595360" y="4114800"/>
            <a:ext cx="91440" cy="196596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33104" y="4224528"/>
            <a:ext cx="272491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포함 마진의 스파이크 성분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33104" y="4626864"/>
            <a:ext cx="2706624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포함 모집단에서는 이력 전용 모델도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PCHIP을 +0.15~+0.23으로 이기고,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고속이 더하는 것은 0.03–0.09뿐이다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(2/4 유의). 보간 앵커에 스파이크가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끼어 있고 학습된 모델은 그것을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할인하기 때문이며, 고속 기여를 분리하는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쪽은 컷 모집단이다.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9E5B"/>
                </a:solidFill>
                <a:latin typeface="Malgun Gothic"/>
              </a:rPr>
              <a:t>§6.8  sec:window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이력은 얼마나 필요한가 — 관측 하나 (W=2 선택 근거)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6309360" cy="402336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136245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이력 관측 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389888"/>
            <a:ext cx="90525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389888"/>
            <a:ext cx="99669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Tᵢ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389888"/>
            <a:ext cx="58521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389888"/>
            <a:ext cx="99669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V_rot 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389888"/>
            <a:ext cx="58521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801368"/>
            <a:ext cx="1362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0 (history-0)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1801368"/>
            <a:ext cx="9052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1801368"/>
            <a:ext cx="9966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0392B"/>
                </a:solidFill>
                <a:latin typeface="Malgun Gothic"/>
              </a:rPr>
              <a:t>-0.026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1801368"/>
            <a:ext cx="5852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0/4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801368"/>
            <a:ext cx="9966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0392B"/>
                </a:solidFill>
                <a:latin typeface="Malgun Gothic"/>
              </a:rPr>
              <a:t>-0.783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801368"/>
            <a:ext cx="5852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0/4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102739"/>
            <a:ext cx="630936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112264"/>
            <a:ext cx="630936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85416"/>
            <a:ext cx="1362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2185416"/>
            <a:ext cx="9052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335F"/>
                </a:solidFill>
                <a:latin typeface="Malgun Gothic"/>
              </a:rPr>
              <a:t>2 (확정)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2185416"/>
            <a:ext cx="9966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+0.238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2185416"/>
            <a:ext cx="5852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4/4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185416"/>
            <a:ext cx="9966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+0.206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185416"/>
            <a:ext cx="5852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0/4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486787"/>
            <a:ext cx="630936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2569464"/>
            <a:ext cx="1362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2569464"/>
            <a:ext cx="9052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2569464"/>
            <a:ext cx="9966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+0.246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2569464"/>
            <a:ext cx="5852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4/4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2569464"/>
            <a:ext cx="9966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+0.203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2569464"/>
            <a:ext cx="5852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1/4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870835"/>
            <a:ext cx="630936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2880360"/>
            <a:ext cx="630936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2953512"/>
            <a:ext cx="1362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2953512"/>
            <a:ext cx="9052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4 (구 기본값)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4680" y="2953512"/>
            <a:ext cx="9966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+0.221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2953512"/>
            <a:ext cx="5852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3/4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2953512"/>
            <a:ext cx="9966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+0.190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2953512"/>
            <a:ext cx="5852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1/4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254883"/>
            <a:ext cx="630936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3337560"/>
            <a:ext cx="1362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03120" y="3337560"/>
            <a:ext cx="9052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4680" y="3337560"/>
            <a:ext cx="9966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+0.190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3337560"/>
            <a:ext cx="5852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3/4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3337560"/>
            <a:ext cx="9966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+0.205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3337560"/>
            <a:ext cx="5852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1/4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3638931"/>
            <a:ext cx="630936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" y="3648456"/>
            <a:ext cx="630936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3721608"/>
            <a:ext cx="13624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03120" y="3721608"/>
            <a:ext cx="90525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54680" y="3721608"/>
            <a:ext cx="9966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+0.216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97680" y="3721608"/>
            <a:ext cx="5852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4/4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0" y="3721608"/>
            <a:ext cx="99669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+0.204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3721608"/>
            <a:ext cx="5852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2/4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022979"/>
            <a:ext cx="630936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fig_window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18601"/>
            <a:ext cx="4736592" cy="1902893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502920" y="4114800"/>
            <a:ext cx="5513832" cy="1965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2920" y="4114800"/>
            <a:ext cx="91440" cy="196596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0664" y="4224528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9E5B"/>
                </a:solidFill>
                <a:latin typeface="Malgun Gothic"/>
              </a:rPr>
              <a:t>선택 규칙과 그 답 — W = 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0664" y="4626864"/>
            <a:ext cx="5129784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24회 독립 실행(W ∈ {2,3,4,6,8} × 시드 4개) + history-0 ×4이다.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held-free · 파일당 500 · 컷 없음(동결 W=2 실행이 §6.2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포함 모집단의 윈도 대조군이다).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이력을 제거하면 Tᵢ는 PCHIP 아래로(-0.026), V_rot은 -0.78이다.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단 하나의 과거 관측이 두 타깃을 plateau로 올리고 곡선은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평평하다(Tᵢ 0.190–0.246, V_rot 0.190–0.206). 한 지점 안의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시드 산포 0.07–0.16이 곡선 전체보다 넓으므로 W = 2이다.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72200" y="4114800"/>
            <a:ext cx="5513832" cy="1965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72200" y="4114800"/>
            <a:ext cx="91440" cy="196596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9944" y="4224528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B6CB0"/>
                </a:solidFill>
                <a:latin typeface="Malgun Gothic"/>
              </a:rPr>
              <a:t>두 자원 — 관측 수와 연속 문맥은 다른 양이다 (§9.2)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9944" y="4626864"/>
            <a:ext cx="5129784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정확도를 근거로 더 긴 윈도의 비용을 치를 이유는 데이터 안에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없다. 구 기본값 W=4는 두 타깃 모두 W=2/W=3 아래이다.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과거 CES 관측은 하나면 충분하다(이 절). 연속 빠른 진단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문맥은 약 50 ms가 필요하다(§6.12, B.9).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윈도 계열은 구성상 두 번째 자원에 닿지 못한다(평균 풀링이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순서를 버리고, 시간 부분집합 증강이 비연속이며, 라벨 없는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행을 버린다). 이것이 §6.8이 평평하였던 이유를 소급 설명한다.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B6CB0"/>
                </a:solidFill>
                <a:latin typeface="Malgun Gothic"/>
              </a:rPr>
              <a:t>§6.9  sec:ladder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복잡도는 무엇을 사고, 크기는 돕는가 — 사다리와 폭 스윕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6309360" cy="402336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255117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389888"/>
            <a:ext cx="108813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파라미터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389888"/>
            <a:ext cx="104241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Tᵢ 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389888"/>
            <a:ext cx="104241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Tᵢ 포함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801368"/>
            <a:ext cx="25511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01368"/>
            <a:ext cx="108813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801368"/>
            <a:ext cx="10424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0392B"/>
                </a:solidFill>
                <a:latin typeface="Malgun Gothic"/>
              </a:rPr>
              <a:t>-0.264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1801368"/>
            <a:ext cx="10424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0392B"/>
                </a:solidFill>
                <a:latin typeface="Malgun Gothic"/>
              </a:rPr>
              <a:t>-0.288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102739"/>
            <a:ext cx="630936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112264"/>
            <a:ext cx="630936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185416"/>
            <a:ext cx="25511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앵커+Δ (명명된 항)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185416"/>
            <a:ext cx="108813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1,258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185416"/>
            <a:ext cx="10424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0392B"/>
                </a:solidFill>
                <a:latin typeface="Malgun Gothic"/>
              </a:rPr>
              <a:t>-0.261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185416"/>
            <a:ext cx="10424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0392B"/>
                </a:solidFill>
                <a:latin typeface="Malgun Gothic"/>
              </a:rPr>
              <a:t>-0.287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486787"/>
            <a:ext cx="630936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569464"/>
            <a:ext cx="25511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335F"/>
                </a:solidFill>
                <a:latin typeface="Malgun Gothic"/>
              </a:rPr>
              <a:t>b3k8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2569464"/>
            <a:ext cx="108813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335F"/>
                </a:solidFill>
                <a:latin typeface="Malgun Gothic"/>
              </a:rPr>
              <a:t>21,498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2569464"/>
            <a:ext cx="10424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+0.237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2569464"/>
            <a:ext cx="10424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743B"/>
                </a:solidFill>
                <a:latin typeface="Malgun Gothic"/>
              </a:rPr>
              <a:t>+0.126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870835"/>
            <a:ext cx="630936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2880360"/>
            <a:ext cx="630936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2953512"/>
            <a:ext cx="25511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윈도 대조군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2953512"/>
            <a:ext cx="108813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201,258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2953512"/>
            <a:ext cx="10424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+0.173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2953512"/>
            <a:ext cx="10424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+0.238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254883"/>
            <a:ext cx="630936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337560"/>
            <a:ext cx="25511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335F"/>
                </a:solidFill>
                <a:latin typeface="Malgun Gothic"/>
              </a:rPr>
              <a:t>seq_v2 백본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3337560"/>
            <a:ext cx="108813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335F"/>
                </a:solidFill>
                <a:latin typeface="Malgun Gothic"/>
              </a:rPr>
              <a:t>357,570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3337560"/>
            <a:ext cx="10424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+0.236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0" y="3337560"/>
            <a:ext cx="104241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9E5B"/>
                </a:solidFill>
                <a:latin typeface="Malgun Gothic"/>
              </a:rPr>
              <a:t>+0.268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638931"/>
            <a:ext cx="6309360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fig_ladder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91212"/>
            <a:ext cx="5010912" cy="2166815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502920" y="3749039"/>
            <a:ext cx="5971032" cy="23317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3749039"/>
            <a:ext cx="91440" cy="23317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0664" y="3858768"/>
            <a:ext cx="56052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9E5B"/>
                </a:solidFill>
                <a:latin typeface="Malgun Gothic"/>
              </a:rPr>
              <a:t>사전등록된 두 조건, 그 판정, 그리고 probe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" y="4261104"/>
            <a:ext cx="5586984" cy="16916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조건 ① b3k8 − 앵커+Δ: 컷 +0.35~+0.42 4/4* / 포함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+0.29~+0.34 4/4*이며 V_rot 손실 없이 4/4 승으로 충족(양쪽)이다.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조건 ② b3k8 − seq_v2: 컷 평균 +0.002(모든 CI가 0 포함) 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포함 평균 -0.194(4/4*)이므로 “백본 -0.05 이내”는 컷 조건부이다.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컷에서는 백본의 Tᵢ skill 전부가 유계 수 8개 + persistence로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압축된다: 짝지은 -0.009 / -0.005 / +0.026 / -0.004,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PCHIP 대비 PR4 4/4, 인과 GP 4/4이다.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선형 probe: Tᵢ 잠재는 직전 관측 Tᵢ(R² 0.47–0.75)와 ECEI Tₑ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대리(0.31–0.48)를 분산 부호화하며 활동 0.09–0.13은 거의 안 담는다.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75120" y="4114800"/>
            <a:ext cx="5010912" cy="1965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75120" y="4114800"/>
            <a:ext cx="91440" cy="196596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12864" y="4224528"/>
            <a:ext cx="464515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포함에서는 -0.16~-0.21 · 크기 축은 닫혔다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12864" y="4626864"/>
            <a:ext cx="4626864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컷이 없으면 백본 대비 -0.16~-0.21(4/4 유의), 3/4 분할에서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윈도 대조군 아래이다. 유계 보정이 스파이크 이월값을 못 살리기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때문이며, persistence 오차 &gt;2 keV 행은 포함 test의 0.6–1.3%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인데 b3k8 Tᵢ 제곱오차의 73–83%를 담는다(다른 팔 70–83%).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· 폭 24→260(34k / 49k / 114k / 358k / 879k): Tᵢ +0.230 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+0.236 / +0.235 / +0.236 / +0.230(컷), 358k 대비 ±0.008,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최대 폭 유의 우세 1/4, V_rot 불변(+0.250~+0.254)이다.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9E8A"/>
                </a:solidFill>
                <a:latin typeface="Malgun Gothic"/>
              </a:rPr>
              <a:t>§6.10  sec:peak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skill이 사는 곳 ② — 우위는 고변동 국소 구간에 집중된다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16</a:t>
            </a:r>
          </a:p>
        </p:txBody>
      </p:sp>
      <p:pic>
        <p:nvPicPr>
          <p:cNvPr id="10" name="Picture 9" descr="fig_p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08808"/>
            <a:ext cx="5760720" cy="218902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46520" y="1325880"/>
            <a:ext cx="5239512" cy="16916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325880"/>
            <a:ext cx="91440" cy="169164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84264" y="1435607"/>
            <a:ext cx="487375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9E8A"/>
                </a:solidFill>
                <a:latin typeface="Malgun Gothic"/>
              </a:rPr>
              <a:t>Tᵢ — 무조건부 진술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1837943"/>
            <a:ext cx="4855464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peak: 컷 +0.45~+0.61 / 포함 +0.62~+0.72로 8/8 PASS이다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(미래 이웃을 가진 보간을 상대로).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bulk: 컷 +0.09~+0.20(4/4) / 포함 +0.06~+0.19(2/4)이다.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“매끄러운 bulk에서는 보간이 거의 최적이고 모델의 가치는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활동 구간에 있다”는 무조건부 진술이다.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108960"/>
            <a:ext cx="5239512" cy="16916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3108960"/>
            <a:ext cx="91440" cy="16916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4264" y="3218688"/>
            <a:ext cx="487375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V_rot — 비대칭은 '지역적'이다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4264" y="3621024"/>
            <a:ext cx="4855464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peak: +0.54~+0.79(8/8 점추정 양수, 각 모집단 PASS 2/4;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persistence 대비 +0.75~+0.86에 8/8 PASS)이다.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bulk: ≈0(-0.07~+0.15, PASS 0/8)이다.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전역은 동률이지만 매끄러운 과거+미래 보간이 가장 나쁜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고활동 구간에서는 이력 기반 예측기도 가치를 더한다.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846320"/>
            <a:ext cx="5239512" cy="12344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4846320"/>
            <a:ext cx="91440" cy="1234440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4264" y="4956048"/>
            <a:ext cx="487375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B6670"/>
                </a:solidFill>
                <a:latin typeface="Malgun Gothic"/>
              </a:rPr>
              <a:t>peak 선정이 순환 논리가 아닌 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5358383"/>
            <a:ext cx="4855464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층은 타깃 행을 제외하고 계산한 입력 측 활동 대리(이웃 괄호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기울기 · 국소 CES 이웃 분산)로 나눈다. 규모는 분할당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peak Tᵢ 4.1–4.6k행 · V_rot 2.4–2.9k행이며 채점은 TEST이다.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743B"/>
                </a:solidFill>
                <a:latin typeface="Malgun Gothic"/>
              </a:rPr>
              <a:t>§6.11  sec:cutsens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컷 임계값 민감도 — 문턱은 무관하고, 두 모집단이 본질이다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11183112" cy="402336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195681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임계값 (재학습)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389888"/>
            <a:ext cx="218541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Tᵢ skill (4 분할 평균)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389888"/>
            <a:ext cx="218541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PCHIP 대비 PR4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389888"/>
            <a:ext cx="2002536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인과 GP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389888"/>
            <a:ext cx="212140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V_rot 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801368"/>
            <a:ext cx="1956816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2.5 keV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801368"/>
            <a:ext cx="2185416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+0.230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801368"/>
            <a:ext cx="2185416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4/4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1801368"/>
            <a:ext cx="2002536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4/4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1801368"/>
            <a:ext cx="2121408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+0.252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39315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148840"/>
            <a:ext cx="11183112" cy="42062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221992"/>
            <a:ext cx="1956816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3335F"/>
                </a:solidFill>
                <a:latin typeface="Malgun Gothic"/>
              </a:rPr>
              <a:t>3 keV (확정 프로토콜)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221992"/>
            <a:ext cx="2185416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+0.236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221992"/>
            <a:ext cx="2185416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4/4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221992"/>
            <a:ext cx="2002536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4/4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221992"/>
            <a:ext cx="2121408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+0.253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559939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642616"/>
            <a:ext cx="1956816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4 keV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2642616"/>
            <a:ext cx="2185416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+0.232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642616"/>
            <a:ext cx="2185416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4/4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2642616"/>
            <a:ext cx="2002536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9E5B"/>
                </a:solidFill>
                <a:latin typeface="Malgun Gothic"/>
              </a:rPr>
              <a:t>4/4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2642616"/>
            <a:ext cx="2121408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2B35"/>
                </a:solidFill>
                <a:latin typeface="Malgun Gothic"/>
              </a:rPr>
              <a:t>+0.257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80563"/>
            <a:ext cx="11183112" cy="9525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3154680"/>
            <a:ext cx="3611880" cy="21488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3154680"/>
            <a:ext cx="91440" cy="21488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" y="3264408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B6CB0"/>
                </a:solidFill>
                <a:latin typeface="Malgun Gothic"/>
              </a:rPr>
              <a:t>① 수행한 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" y="3666744"/>
            <a:ext cx="3227832" cy="1508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스파이크 임계값을 2.5와 4 keV로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두고 백본을 재학습하였다. 각각 4개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분할이고 각 팔은 자기 모집단에서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채점된다.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모든 임계값에서 PCHIP 대비 PR4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4/4, 인과 GP 대비 4/4이다. 물리적으로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방어할 만한 범위 안에서 임계값은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무의미하다.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15968" y="3154680"/>
            <a:ext cx="3611880" cy="21488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15968" y="3154680"/>
            <a:ext cx="91440" cy="214884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53712" y="3264408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9E5B"/>
                </a:solidFill>
                <a:latin typeface="Malgun Gothic"/>
              </a:rPr>
              <a:t>② 논문이 말하는 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3666744"/>
            <a:ext cx="3227832" cy="1508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중요한 것은 꼬리 안의 '어디에서'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자르느냐가 아니라 '두 모집단'이다.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컷/포함을 언제나 함께 보고하고,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무조건부 주장은 둘 다 성립할 때만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조건 없이 진술한다.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한쪽에서만 성립하는 결과는 모집단을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명시해 보고한다(예: 간극 &gt;45 ms,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b3k8의 백본 허용치).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29016" y="3154680"/>
            <a:ext cx="3557016" cy="21488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29016" y="3154680"/>
            <a:ext cx="91440" cy="21488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3264408"/>
            <a:ext cx="319125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③ V_rot 스파이크는 컷하지 않는다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3666744"/>
            <a:ext cx="3172968" cy="1508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V_rot에도 피팅 실패 스파이크가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있다. 16 shot에서 1,000 km/s를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넘는 119행이며 그중 101행은 한 방전의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한 블록이다.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프로토콜은 V_rot을 컷하지 않고,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persistence 기반 V_rot 비교마다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그 행들이 담는 제곱오차 비중을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함께 보고한다(§6.9와 같은 규칙).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440680"/>
            <a:ext cx="11183112" cy="73152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532120"/>
            <a:ext cx="10634472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B9E8A"/>
                </a:solidFill>
                <a:latin typeface="Malgun Gothic"/>
              </a:rPr>
              <a:t>결정 기록 — </a:t>
            </a:r>
            <a:r>
              <a:rPr sz="1250" b="0" i="0">
                <a:solidFill>
                  <a:srgbClr val="FFFFFF"/>
                </a:solidFill>
                <a:latin typeface="Malgun Gothic"/>
              </a:rPr>
              <a:t>08-16 ① 두 모집단 공동 1차 유지(p100 단일 headline 없음) ② V_rot 프로토콜 불변(컷·점프 규칙 없음, 재학습 없음, anchored 비교엔 스파이크 행 SSE 비중 병기) · 08-21 ③ B.6 μs shot 집합 동결(test 4 / pool 6 / companion 2) · 08-24 ④ 양자 가지 음성 종결.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§7  sec:selection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모델 선택 프로토콜 — 결정 규칙은 결정할 수치보다 먼저 적혔다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513832" cy="2103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91440" cy="21031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435607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B6CB0"/>
                </a:solidFill>
                <a:latin typeface="Malgun Gothic"/>
              </a:rPr>
              <a:t>윈도 계열 — 통제된 실험의 연속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837943"/>
            <a:ext cx="5129784" cy="1463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각 실험은 데이터 계약을 보존하는 '하나의' 변경이었고,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깨끗한 비증강 검증 skill로만 채점하였으며, 지금까지의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최고 점수를 개선할 때만 유지하였다.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증강된 검증 손실은 쓰지 않았다. 보간이 이미 강한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바로 그곳에서 평활화를 보상하기 때문이다.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이후 이력 길이는 §6.8의 스윕으로 정해졌고(W=2),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유지값은 §3.4의 감사에 따라 학습에서 제거되었다.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25880"/>
            <a:ext cx="5513832" cy="2103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91440" cy="21031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435607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9E5B"/>
                </a:solidFill>
                <a:latin typeface="Malgun Gothic"/>
              </a:rPr>
              <a:t>백본 관문 — 먼저 고정하고, 그 다음 충족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837943"/>
            <a:ext cx="5129784" cy="1463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시퀀스 프레이밍은 네 조건이 먼저 고정된 뒤에야 채택되었다: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① 4/4 분할에서 부호 유지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② 통합 실행 군집 CI가 0을 제외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③ 예산 균등화에서도 부호 유지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④ V_rot 손실 없음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네 조건은 §6.3에서 모두 성립하였다(16/16 양수, 13/16 유의,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pooled +0.081 [+0.067, +0.096], 균등화 4/4, V_rot 0/16).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38728"/>
            <a:ext cx="5513832" cy="2103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538728"/>
            <a:ext cx="91440" cy="210312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3648456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유일한 후속 후보는 승격되지 않았다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4050791"/>
            <a:ext cx="5129784" cy="1463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같은 규칙 아래 이후 탐색된 단 하나의 아키텍처 후보는 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타깃 자신의 과거 관측 스텝에 대한 관측 마스킹 인과 어텐션을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0으로 초기화된 사영과 함께 seq_v2에 추가한 것이다.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4/4 분할에서 양수: +0.009 / +0.013 / +0.033 / +0.020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사전 확정 기준(≥3/4 유의)에 대해 1/4에서만 유의 → 미승격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검증 이득은 탐색 분할에서 2/2 유의였다. 선택 분할 결과의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통상적 낙관이며 승격 기준을 TEST에 두는 이유이다.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538728"/>
            <a:ext cx="5513832" cy="210312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538728"/>
            <a:ext cx="91440" cy="210312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648456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9E8A"/>
                </a:solidFill>
                <a:latin typeface="Malgun Gothic"/>
              </a:rPr>
              <a:t>사다리 칸·폭 스윕·B.9도 같은 규율 아래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4050791"/>
            <a:ext cx="5129784" cy="1463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두 갈래 판정(사다리 칸이 앵커를 이길 것 · 백본 -0.05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이내)과 서술적 독법(천장 / 무릎)을 어떤 TEST 채점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이전에 적어 두었다.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구성상 이 스윕 위에서 백본을 재선택하는 것은 허용되지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않았다. 스윕은 서술이지 선택이 아니다.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· B.9는 PREREGISTRATION_B9.md(H1–H6, §3.2·§3.4·§4)로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  사전등록되었고, H1 규칙의 명세 오류는 사후 수정 없이 기록되었다.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742432"/>
            <a:ext cx="11183112" cy="603504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33872"/>
            <a:ext cx="10634472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B9E8A"/>
                </a:solidFill>
                <a:latin typeface="Malgun Gothic"/>
              </a:rPr>
              <a:t>이 절이 논문에서 하는 일 — </a:t>
            </a:r>
            <a:r>
              <a:rPr sz="1000" b="0" i="0">
                <a:solidFill>
                  <a:srgbClr val="FFFFFF"/>
                </a:solidFill>
                <a:latin typeface="Malgun Gothic"/>
              </a:rPr>
              <a:t>headline에 winner’s curse가 없다는 주장을 '절차'로 뒷받침한다. TEST는 결정마다 한 번만 채점되었고, 승격되지 않은 후보까지 그대로 보고한다는 사실이 그 증거이다.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9E8A"/>
                </a:solidFill>
                <a:latin typeface="Malgun Gothic"/>
              </a:rPr>
              <a:t>§6.12  sec:context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문맥·구조·비용 — 2026-09-03 본문 반영 완료 (§8ac–§8an)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19</a:t>
            </a:r>
          </a:p>
        </p:txBody>
      </p:sp>
      <p:pic>
        <p:nvPicPr>
          <p:cNvPr id="10" name="Picture 9" descr="fig_context_family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40" y="1298448"/>
            <a:ext cx="3928559" cy="32004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257800" y="1298448"/>
            <a:ext cx="6428232" cy="21488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57800" y="1298448"/>
            <a:ext cx="91440" cy="214884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95544" y="1408176"/>
            <a:ext cx="60624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9E8A"/>
                </a:solidFill>
                <a:latin typeface="Malgun Gothic"/>
              </a:rPr>
              <a:t>① 문맥 — 포화 약 50 ms, 문맥이 사는 것은 전형성이다 (§8af·§8al·§8am)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5544" y="1810512"/>
            <a:ext cx="6044184" cy="1508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seq_v2를 2·3·4·5·6·7·10·15·31·63 스텝에서 학습·채점하였다. 전체 대비 결손은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20 ms -0.066 → 50 ms -0.017 → 70 ms +0.002이며 §3.4 규칙은 50 ms를 반환한다.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301 방전 통합: 20 ms +0.057 [+0.027, +0.085] → 630 ms +0.143 [+0.118, +0.168].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승률은 0.52 → 0.66(70 ms)에서 평평해지고, 문맥 10배당 skill +0.050 [+0.036, +0.064]이다.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§8ac의 절단 사다리(500 ms)는 cold start였다. warm-up 비중 87%(§8ae·§8af).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V_rot는 20 ms에서만 -0.013(2/4)이며, 네 계열 전부에서 문맥이 길수록 나빠진다.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3538728"/>
            <a:ext cx="6428232" cy="16916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57800" y="3538728"/>
            <a:ext cx="91440" cy="1691640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95544" y="3648456"/>
            <a:ext cx="60624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② 계열 — 같은 문맥에서 동률, 비용은 연산자 수 (§8ag·§8ak·§8ai·§8aj)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95544" y="4050791"/>
            <a:ext cx="6044184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같은 도달 범위의 LSTM 대비 tcn3/7/15/63 -0.004/-0.004/+0.014/-0.016, xfmr7/15/63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-0.023*/+0.002/-0.019이며 '차이'는 xfmr7 하나이다. 최대 계열 효과 0.023 &lt; 문맥 효과 0.060.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10k 아래: 합성곱이 크기 맞춘 순환보다 +0.027~+0.040. tcn2k(1,808)가 인과 GP 4/4.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비용 t ≈ N_ops × 2–3 µs: 순환 111(O(1)) · 합성곱 +48/층(O(log R)) · attention 473.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90288"/>
            <a:ext cx="4572000" cy="15087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590288"/>
            <a:ext cx="91440" cy="150876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4700016"/>
            <a:ext cx="4206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③ 승패 방전 (§8al §4·§8an)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5102352"/>
            <a:ext cx="4187952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방전 단위 승률은 Tᵢ 0.695 / V_rot 0.481이다.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11개 공변량 중 타깃 산포만 승패를 예측한다(ρ +0.401 / +0.281).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3분위 승률은 Tᵢ 42/83/85%, V_rot 34/48/55%이다.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V_rot 잔차는 구동 변수(NBI 토크) 부재의 세 번째 증거이다.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7800" y="5321808"/>
            <a:ext cx="6428232" cy="77724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58968" y="5413248"/>
            <a:ext cx="6025896" cy="59435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B9E8A"/>
                </a:solidFill>
                <a:latin typeface="Malgun Gothic"/>
              </a:rPr>
              <a:t>본문에 쓰는 lead claim (§9) — </a:t>
            </a:r>
            <a:r>
              <a:rPr sz="950" b="0" i="0">
                <a:solidFill>
                  <a:srgbClr val="FFFFFF"/>
                </a:solidFill>
                <a:latin typeface="Malgun Gothic"/>
              </a:rPr>
              <a:t>약 50 ms의 연속 인과 문맥이 최강 배치 기준선에 대한 우위를 평균이 아니라 전형적으로 만들며, 그 문맥을 어떤 계열로 넘느냐는 skill이 아니라 비용을 정한다. "N ms가 있어야 인과 GP를 이긴다"는 쓰지 않는다(20 ms에서도 이긴다).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B6CB0"/>
                </a:solidFill>
                <a:latin typeface="Malgun Gothic"/>
              </a:rPr>
              <a:t>§8  sec:deploy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배치 가능한가 — 지연과 불확실성을 둘 다 측정하였다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513832" cy="22402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91440" cy="22402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435607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B6CB0"/>
                </a:solidFill>
                <a:latin typeface="Malgun Gothic"/>
              </a:rPr>
              <a:t>지연: 상태 유지 1-스텝은 여유를 두고 CPU에 들어간다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837943"/>
            <a:ext cx="5129784" cy="160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온라인에서는 은닉 상태가 격자를 따라 이월되고 새 행마다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배치 1의 순환 스텝 하나가 든다. 이것이 중요한 수치이다.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seq_v2 스텝: CPU 중앙값 1.05 ms / p99 1.61 ms(격자 주기의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16%, p95 1.35), GPU 1.21 / 2.31 ms이며 이 크기에서 GPU는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배치 1에서 아무것도 사주지 않는다.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세그먼트 재실행: 100행 2.9 / 5.6 ms, 300행 6.4 / 8.9 ms이다.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같은 세션에서 인과 GP p99 2.34 ms, 윈도 W=2 4.46 ms(44.6%)이며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순서 seq_v2 &lt; 인과 GP &lt; 윈도 W=2 &lt; W=4는 세션과 무관하다(§8ac).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25880"/>
            <a:ext cx="5513832" cy="22402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91440" cy="224028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435607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9E8A"/>
                </a:solidFill>
                <a:latin typeface="Malgun Gothic"/>
              </a:rPr>
              <a:t>불확실성: 모델을 건드리지 않는 분포 무가정 구간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837943"/>
            <a:ext cx="5129784" cy="160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분산·분위 헤드는 재학습이 필요하고 위의 모든 수치를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움직이므로 split conformal을 쓴다. 해당 실행 자신의 검증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분할에서 보정하고 예측기는 아무것도 바꾸지 않는다.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변형 둘: 단일 분위(global), Δt 구간별(Mondrian)이다. 동일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절차를 두 기준선에도 적용하므로 비교되는 것은 구간 품질이다.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α = 0.10, TEST, 두 모집단: 모델 구간이 32/32 셀에서 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기준선을 이긴다. Winkler는 Tᵢ 1,272 / 1,554(PCHIP) 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1,727(pers.) 컷, 포함 2,290 / 2,851 / 3,120이다.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57600"/>
            <a:ext cx="5513832" cy="16916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57600"/>
            <a:ext cx="91440" cy="16916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3767328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포함 모집단의 역설 — 더 넓은데 더 좋다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4169664"/>
            <a:ext cx="5129784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모델의 Tᵢ 구간은 PCHIP의 것보다 실제로 넓은데(반폭 224–255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대 211–241 eV) 그럼에도 점수는 더 좋다. 스파이크가 빗나감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벌점을 부풀리는데 모델이 덜 빗나가기 때문이다. Mondrian은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모든 Tᵢ 팔을 ≈4–5% 좁히고 판정은 바꾸지 않는다.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657600"/>
            <a:ext cx="5513832" cy="16916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657600"/>
            <a:ext cx="91440" cy="1691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767328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392B"/>
                </a:solidFill>
                <a:latin typeface="Malgun Gothic"/>
              </a:rPr>
              <a:t>인정하는 한계 — 커버리지는 주변적이고 지연 절댓값은 기계 종속이다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4169664"/>
            <a:ext cx="5129784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Tᵢ 커버리지는 목표 0.90에 대해 0.87–0.92(모든 팔에서 한 분할이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미달), V_rot은 0.91–0.94이며 shot별 커버리지는 넓게 흩어진다.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5세션 지연 프로토콜의 p99 산포가 21.84배에 이르러 1 ms 판정은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5"/>
                </a:solidFill>
                <a:latin typeface="Malgun Gothic"/>
              </a:rPr>
              <a:t>보류되었고, 밀리초 대신 순서와 연산자 수(2–3 µs/op)를 주장한다.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40680"/>
            <a:ext cx="11183112" cy="658368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32120"/>
            <a:ext cx="10634472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B9E8A"/>
                </a:solidFill>
                <a:latin typeface="Malgun Gothic"/>
              </a:rPr>
              <a:t>실무 지침 — </a:t>
            </a:r>
            <a:r>
              <a:rPr sz="1150" b="0" i="0">
                <a:solidFill>
                  <a:srgbClr val="FFFFFF"/>
                </a:solidFill>
                <a:latin typeface="Malgun Gothic"/>
              </a:rPr>
              <a:t>상태 유지형 나우캐스터를 제어 계산기의 CPU에서 실행하면 10 ms 예산의 80% 이상이 획득과 제어에 남는다. skill 점수와 쓸 만한 계측기 사이에 놓인 두 가지, 주기 안에서 도는가와 얼마나 믿어도 되는가를 이 절이 답한다.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743B"/>
                </a:solidFill>
                <a:latin typeface="Malgun Gothic"/>
              </a:rPr>
              <a:t>§9  sec:headroom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남은 개선 여지 — 음성 결과가 지목하는 레버 3종 (전부 데이터)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1183112" cy="768096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89888"/>
            <a:ext cx="10634472" cy="585215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B9E8A"/>
                </a:solidFill>
                <a:latin typeface="Malgun Gothic"/>
              </a:rPr>
              <a:t>이 절의 규칙 — </a:t>
            </a:r>
            <a:r>
              <a:rPr sz="1150" b="0" i="0">
                <a:solidFill>
                  <a:srgbClr val="FFFFFF"/>
                </a:solidFill>
                <a:latin typeface="Malgun Gothic"/>
              </a:rPr>
              <a:t>음성 결과는 “어떤 변경이 이를 움직이는가”를 말할 때만 실린다. 용량은 배제되었고(§6.9), 더 긴 윈도도 배제되었으며(§6.8), 도달 범위를 사는 프레이밍은 채택되었고(§6.3), 문맥은 약 50 ms에서 포화하며 계열은 동률이다(§6.12). 남은 것은 데이터이고, 각 레버는 이미 이 데이터셋 안의 증거로 지목된다.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94560"/>
            <a:ext cx="3611880" cy="33832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194560"/>
            <a:ext cx="91440" cy="33832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04288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B6CB0"/>
                </a:solidFill>
                <a:latin typeface="Malgun Gothic"/>
              </a:rPr>
              <a:t>1. CES 피팅 품질 메타데이터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706624"/>
            <a:ext cx="3227832" cy="274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두 모집단 보고가 존재하는 이유는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값 기준 컷이 “피팅이 실패했다”의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대리 지표이기 때문이다.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어떤 방법도 예측할 수 없는 단일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표본 상향 사건을 제거하지만 한쪽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방향뿐이고(하향 급락은 손대지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않는다) ≥2× 상향 이상치의 19%만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잡는다(§3.5).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표본별 피팅 χ²이나 신호 수준이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있다면 품질 컷이 모든 팔에서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값 컷을 대체하거나 동반할 수 있고,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두 모집단이 하나로 합쳐진다.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V_rot 자신의 스파이크(&gt;1,000 km/s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119행)도 같은 규칙으로 처리된다.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2194560"/>
            <a:ext cx="3611880" cy="33832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2194560"/>
            <a:ext cx="91440" cy="3383280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304288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9E8A"/>
                </a:solidFill>
                <a:latin typeface="Malgun Gothic"/>
              </a:rPr>
              <a:t>2. Mirnov 정보는 전처리가 파괴하였다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706624"/>
            <a:ext cx="3227832" cy="274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같은 10 ms 격자, 연속 블록 내 lag-1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자기상관은 BES +0.568 · ECEI +0.572 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Mirnov -0.009(블록의 82%가 |r| &lt; 0.1)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이다. 즉 이 격자 '위에서' 자기 채널은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백색잡음이다. kHz dB/dt를 안티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앨리어싱 없이 100 Hz로 데시메이션한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결과이며 연속 표본의 상대 위상이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무작위가 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해법은 모델이 아니라 전처리이다.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원시 kHz 시계열에서 윈도별 RMS 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대역 파워 · 모드 수 · 모드 회전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주파수를 뽑아 V_rot 분기로 라우팅한다.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B.6 shot 집합은 동결되었고(§8ao),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예측은 변동 3분위 승률의 선행 개선이다.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6" y="2194560"/>
            <a:ext cx="3557016" cy="33832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9016" y="2194560"/>
            <a:ext cx="91440" cy="338328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304288"/>
            <a:ext cx="319125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43B"/>
                </a:solidFill>
                <a:latin typeface="Malgun Gothic"/>
              </a:rPr>
              <a:t>3. 액추에이터 채널이 없다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706624"/>
            <a:ext cx="3172968" cy="274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토로이달 회전은 주입된 토크가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결정하는데 이 데이터셋에는 토크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신호가 존재하지 않는다.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데이터가 그 단절을 보여준다. shot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사이 ECE 유래 Tₑ 대리는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Tᵢ와 r = +0.353 (p = 3×10⁻¹⁷)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V_rot과 r = +0.024 (p = 0.58)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shot 내부에서도 Tᵢ 상관은 부호가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일관되나 V_rot은 무작위이며, 방전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단위 Tₑ 수준도 V_rot 승패를 예측하지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못한다(§8an). 즉 파워는 토크가 아니다.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NBI 토크(또는 빔별 파워·기하) 확보는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모델링이 아니라 데이터 획득 과제이며,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양성 대조는 DIII-D 전방전 시뮬레이터이다.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669280"/>
            <a:ext cx="11183112" cy="640080"/>
          </a:xfrm>
          <a:prstGeom prst="round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760720"/>
            <a:ext cx="10634472" cy="45719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B9E8A"/>
                </a:solidFill>
                <a:latin typeface="Malgun Gothic"/>
              </a:rPr>
              <a:t>맺는 문장 — </a:t>
            </a:r>
            <a:r>
              <a:rPr sz="1100" b="0" i="0">
                <a:solidFill>
                  <a:srgbClr val="FFFFFF"/>
                </a:solidFill>
                <a:latin typeface="Malgun Gothic"/>
              </a:rPr>
              <a:t>이 중 어느 것도 현재 결과가 천장에 있다는 진술이 아니다. 다음의 측정 가능한 이득이 있는 자리를 값싸게 시도할 수 있는 순서로 늘어놓은 것이며, 셋 모두 아카이브된 KSTAR 데이터에서 실행 가능하다. 양자 가지는 하드웨어 검증 후 음성으로 종결되었다(§8ap).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170432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12471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35F"/>
                </a:solidFill>
                <a:latin typeface="Malgun Gothic"/>
              </a:rPr>
              <a:t>§10–11  sec:limits · sec:conclusion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457200"/>
            <a:ext cx="11338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3335F"/>
                </a:solidFill>
                <a:latin typeface="Malgun Gothic"/>
              </a:rPr>
              <a:t>한계와 결론 — 무엇을 인정하고 무엇을 주장하는가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1"/>
                </a:solidFill>
                <a:latin typeface="Malgun Gothic"/>
              </a:rPr>
              <a:t>KSTAR CES Nowcasting — 다중진단 기반 CES 결측 구간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5B1"/>
                </a:solidFill>
                <a:latin typeface="Malgun Gothic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513832" cy="47548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91440" cy="4754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435607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0392B"/>
                </a:solidFill>
                <a:latin typeface="Malgun Gothic"/>
              </a:rPr>
              <a:t>§10 한계 — 논문이 먼저 인정하는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837943"/>
            <a:ext cx="5129784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통계적 검정력: 재현 단위는 shot이고 분할당 test shot이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96(Tᵢ) / 60–66(V_rot)뿐이며 shot별 제곱오차 차이는 꼬리가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두껍다. 포함 모집단에서는 행의 ≈1%가 모든 팔 Tᵢ 제곱오차의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70–83%를 담는다.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MNAR 낙관: skill은 관측 지점에서만 측정된다. 재가중은 인과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비교에 대해서는 양쪽, 오프라인 비교에 대해서는 모집단 조건부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유의성으로 상한을 정하며 결측 Tᵢ 54–68% · V_rot 4–6%만 포괄한다.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오프라인 주장의 상한은 GP 동률(8셀 중 1개 유의)이다.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“미래를 쓰는 보간을 이긴다”는 “사전등록된 보간들을 이긴다”를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뜻하며, 다만 배치 가능한 최강 방법인 인과 GP로는 확장된다.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값 기준 컷은 대리 지표이고 V_rot 스파이크는 컷되지 않는다.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캠페인 전이는 하나의 시간 블록에 기댄다(4개 분할이 아니라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4개 초기화, 컷 실행 2/4가 epoch 상한 종료). shot별 표준화는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오프라인 형태이며 인과 러닝/EWMA 판본은 측정되지 않았다.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B.9: 통합 재채점은 방법의 기대 skill이지 단일 체크포인트의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주장이 아니고, 승패 공변량 분석은 탐색적이며, 1 ms 판정은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세션 산포 21.84배로 보류되었다. V_rot 우위는 shot-general이 아니다.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단일 장치 · 단일 진단 집합 · 불확실성은 주변적 보정 · 지연은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네트워크만 · 격자는 99.46% 균일(불규칙 샘플링 주장 없음).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· 범위: 페데스탈 상단 프레이밍은 데이터 선정에서 물려받았고,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22B35"/>
                </a:solidFill>
                <a:latin typeface="Malgun Gothic"/>
              </a:rPr>
              <a:t>  반경 의존성·사건 위상(ELM, L–H) 분석은 수행하지 않았다.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25880"/>
            <a:ext cx="5513832" cy="26974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91440" cy="269748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435607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9E5B"/>
                </a:solidFill>
                <a:latin typeface="Malgun Gothic"/>
              </a:rPr>
              <a:t>§11 결론 — 네 문단의 뼈대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837943"/>
            <a:ext cx="5129784" cy="2057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① 관측 모집단: Tᵢ에 대해 미래를 쓰는 PCHIP을 유의하고 재현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가능한 skill로 이기고(4개 독립 분할 × 두 모집단, +0.17~+0.32),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가장 강한 오프라인 평활기와 동률이며, 두 타깃 모두에서 모든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인과 기준선을 이긴다(인과 GP 8개 셀 전부, Δt &gt; 15 ms 포함).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② 배치 주장은 두 스트레스 모두의 지지를 받는다: 진짜 결측·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도메인 내에서 인과 대비 8/8 생존, 캠페인 경계 너머 PCHIP·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인과 GP 대비 4/4+4/4이다. 그 차이는 측정이다.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③ 약 50 ms의 연속 인과 문맥이 우위를 전형적으로 만들며(승률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0.52 → 0.66), 계열은 skill이 아니라 비용을 정한다(§6.12).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④ 작동하지 않는 곳과 그 이유도 함께 보고하며, 각각은 구체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적이고 검정 가능한 변경을 지목한다. 크기·문맥·계열 축은 닫혔다.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096512"/>
            <a:ext cx="5513832" cy="198424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4096512"/>
            <a:ext cx="91440" cy="1984248"/>
          </a:xfrm>
          <a:prstGeom prst="rect">
            <a:avLst/>
          </a:prstGeom>
          <a:solidFill>
            <a:srgbClr val="13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4206240"/>
            <a:ext cx="51480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3335F"/>
                </a:solidFill>
                <a:latin typeface="Malgun Gothic"/>
              </a:rPr>
              <a:t>결론이 명시하는 기여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4608576"/>
            <a:ext cx="5129784" cy="1344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① 교정된 V_rot 평가 — 관측값의 54%가 계측기 유지값이며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학습·채점·앵커 전 구간에서 제거하였다.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② 스펙트럼 피팅 실패의 두-모집단 처리와, 어느 한쪽만으로는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왜 충분하지 않은지를 보이는 측정이다.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③ 최강 배치 기준선을 넘어서게 하는 도달 범위의 전체격자 프레이밍과,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  그 도달 범위가 실제로 약 50 ms임을 측정한 사다리이다.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B35"/>
                </a:solidFill>
                <a:latin typeface="Malgun Gothic"/>
              </a:rPr>
              <a:t>④ 모든 결정 규칙이 결정할 수치보다 먼저 적힌 test 동결 프로토콜이다.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