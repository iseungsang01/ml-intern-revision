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4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6"/>
    <p:sldId id="270" r:id="rId5"/>
    <p:sldId id="271" r:id="rId4"/>
    <p:sldId id="272" r:id="rId3"/>
    <p:sldId id="273" r:id="rId2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6E1794-A788-4134-BEF9-366545E25A22}">
          <p14:sldIdLst>
            <p14:sldId id="299"/>
            <p14:sldId id="325"/>
            <p14:sldId id="281"/>
            <p14:sldId id="318"/>
            <p14:sldId id="312"/>
            <p14:sldId id="316"/>
            <p14:sldId id="317"/>
            <p14:sldId id="259"/>
            <p14:sldId id="300"/>
            <p14:sldId id="284"/>
            <p14:sldId id="320"/>
            <p14:sldId id="319"/>
            <p14:sldId id="322"/>
            <p14:sldId id="315"/>
            <p14:sldId id="326"/>
            <p14:sldId id="288"/>
          </p14:sldIdLst>
        </p14:section>
        <p14:section name="질문 정리" id="{63306DBA-ED7F-46B9-8AE3-B122BD8D49F7}">
          <p14:sldIdLst>
            <p14:sldId id="323"/>
          </p14:sldIdLst>
        </p14:section>
        <p14:section name="기타" id="{04312123-6EEA-40BA-93F8-1778982C6DA3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88482" autoAdjust="0"/>
  </p:normalViewPr>
  <p:slideViewPr>
    <p:cSldViewPr snapToGrid="0">
      <p:cViewPr varScale="1">
        <p:scale>
          <a:sx n="73" d="100"/>
          <a:sy n="73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AF299-1A1E-6245-AEFA-AC1BD23D969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9D144-CCF1-644D-916F-034919B886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8697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논문: docs/paper/main_ko.tex. 이 덱의 모든 수치는 그 파일에서 그대로 옮겼다.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sec:intro, 그림 fig:missing. 결측률은 확정 프로토콜(유지값 제거)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sec:intro, '의도적으로 어려운 기준선' 문단.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sec:intro '기여' 열거. 논문은 아홉 항목이며 여기서는 다섯으로 묶었다.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sec:related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sec:related. 표현 규칙은 docs/paper/NOVELTY.md — 부재가 아니라 확장으로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sec:related, '교차 진단 재구성과 시간 조밀화' 문단의 (i)~(iv) 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sec:data 데이터셋 문단.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그림 fig:missing (docs/paper/figures/fig_missing.png).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sec:data 설계 원칙. (ii)의 shot별 표준화가 sec:campaign에서 결정적으로 작동한다.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sec:spikes, 민감도는 sec:cutsens.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sec:model:target, 식 (1)·(2). 재현성 상한 근거는 THESIS_RESULTS.md §8aq.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sec:model:physics, 표 tab:torque. 산출물은 data/.physics_scales.json (§8ar).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sec:model:scales, 식 (3)·(4).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sec:model:backbone / sec:model:window / sec:model:rung.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sec:model:optim, 식 (5).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sec:eval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sec:eval 지표·기준선 사다리 문단.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sec:eval 사전등록·bootstrap·MNAR 문단. 프로토콜 문서는 experiments/PREREGISTRATION_W2.md.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tab:ladder, 그림 fig:ladder. 포함 모집단은 순서를 바꾸지 않는다(seq_v2 363.0 / 23.7, PCHIP 412.4 / 30.2, 인과 GP 394.6 / 28.8).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tab:headline, sec:headline. 오프라인 GP에 대해서는 8개 중 1개 셀만 유의하므로 동률이다.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그림 fig:forest.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sec:gate. 이후 4개 확정 분할에서 같은 비교는 8/8 양수이고 각 모집단에서 2/4 유의다.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tab:gap, sec:gap.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tab:mnar, sec:mnar.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tab:campaign, 그림 fig:campaign, sec:campaign. 남는 단서: 하나의 시간 test 블록이며 컷 실행 4개 중 2개는 30-epoch 상한에서 멈췄다.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그림 fig:campaign.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tab:ablation, sec:asym.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그림 fig:ablation.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tab:window, sec:window. 이 스윕은 컷보다 앞서므로 포함 모집단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tab:ladder2, 그림 fig:ladder_scaling, sec:ladder. 선형 probe 결과도 같은 절에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그림 fig:peak, sec:peak. 계층 분류는 타겟 행을 제외한 입력 측 대리 지표로만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tab:pooled, sec:context. 4/4 계수는 한 스텝 간격에서 단조가 아니므로 판정은 결손으로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tab:family·tab:cost, sec:context. V_rot는 네 계열 모두에서 문맥이 길어질수록 나빠진다.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표 tab:stress.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sec:selection / sec:deploy / sec:headroom / sec:limits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sec:deploy. 지연시간은 전원 상태에 따라 실행 간 최대 2배 변동한다.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sec:headroom. 문헌의 양성 대조: 빔 액추에이터를 입력으로 받는 DIII-D 전방전 시뮬레이터.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sec:conclusion 뒤의 재현성·코드 가용성·데이터 가용성 소절.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부록 A. 시도한 모델의 계보와 닫은 이유, 그리고 2026-09-05 문헌 조사.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THESIS_RESULTS.md 8e / 8b.2 / 8f / 8k / 8u / 8x / 8ad.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8d / 8t / 8x / 8y / 8z / 8aa / 8ab / 8ai.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8ag / 8ai / 8ak / 8af / 8al / 8am 부록 / 8p / 8m / 8ap · 8at, 그리고 B.11.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8ag / 8ai / 8ak / 8af / 8al / 8am 부록 / 8p / 8m / 8ap · 8at, 그리고 B.11.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2026-09-05 조사한 핵융합 12편의 요약이다.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2026-09-05 조사한 핵융합 12편의 요약이다.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2026-09-05 조사한 핵융합 12편의 요약이다.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2026-09-05 조사한 핵융합 12편의 요약이다.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2026-09-05 조사한 핵융합 12편의 요약이다.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마지막 열은 본 저장소의 통제 실험 판정이며, 새 계열을 도입하기 전에 이 열을 먼저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마지막 열은 본 저장소의 통제 실험 판정이며, 새 계열을 도입하기 전에 이 열을 먼저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혼합주기 나우캐스팅 · 저가 센서 보정 · 커프리스 혈압 · 구조 가상 센싱 · 합성 진단 증강의 다섯 계열에서 같은 결론이 반복된다.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우선순위는 비용 대비 정보량 순이다.</a:t>
            </a:r>
          </a:p>
          <a:p>
            <a:r>
              <a:rPr>
                <a:ea typeface="맑은 고딕"/>
                <a:cs typeface="맑은 고딕"/>
              </a:rPr>
              <a:t>조사일 2026-09-05. 출처:</a:t>
            </a:r>
          </a:p>
          <a:p>
            <a:r>
              <a:rPr>
                <a:ea typeface="맑은 고딕"/>
                <a:cs typeface="맑은 고딕"/>
              </a:rPr>
              <a:t>- Diag2Diag: https://arxiv.org/html/2405.05908v4</a:t>
            </a:r>
          </a:p>
          <a:p>
            <a:r>
              <a:rPr>
                <a:ea typeface="맑은 고딕"/>
                <a:cs typeface="맑은 고딕"/>
              </a:rPr>
              <a:t>- Diag2Diag Nat. Comm.: https://www.nature.com/articles/s41467-025-63492-1</a:t>
            </a:r>
          </a:p>
          <a:p>
            <a:r>
              <a:rPr>
                <a:ea typeface="맑은 고딕"/>
                <a:cs typeface="맑은 고딕"/>
              </a:rPr>
              <a:t>- COMPASS 시간 초해상: https://iopscience.iop.org/article/10.1088/1361-6587/ae72c6</a:t>
            </a:r>
          </a:p>
          <a:p>
            <a:r>
              <a:rPr>
                <a:ea typeface="맑은 고딕"/>
                <a:cs typeface="맑은 고딕"/>
              </a:rPr>
              <a:t>- FusionMAE: https://arxiv.org/abs/2509.12945</a:t>
            </a:r>
          </a:p>
          <a:p>
            <a:r>
              <a:rPr>
                <a:ea typeface="맑은 고딕"/>
                <a:cs typeface="맑은 고딕"/>
              </a:rPr>
              <a:t>- TokaMind: https://arxiv.org/html/2602.15084v2</a:t>
            </a:r>
          </a:p>
          <a:p>
            <a:r>
              <a:rPr>
                <a:ea typeface="맑은 고딕"/>
                <a:cs typeface="맑은 고딕"/>
              </a:rPr>
              <a:t>- TokaMark: https://arxiv.org/html/2602.10132v2</a:t>
            </a:r>
          </a:p>
          <a:p>
            <a:r>
              <a:rPr>
                <a:ea typeface="맑은 고딕"/>
                <a:cs typeface="맑은 고딕"/>
              </a:rPr>
              <a:t>- PanoMHD: https://arxiv.org/html/2603.02672</a:t>
            </a:r>
          </a:p>
          <a:p>
            <a:r>
              <a:rPr>
                <a:ea typeface="맑은 고딕"/>
                <a:cs typeface="맑은 고딕"/>
              </a:rPr>
              <a:t>- TCV 멀티모달 VAE: https://arxiv.org/abs/2504.17710</a:t>
            </a:r>
          </a:p>
          <a:p>
            <a:r>
              <a:rPr>
                <a:ea typeface="맑은 고딕"/>
                <a:cs typeface="맑은 고딕"/>
              </a:rPr>
              <a:t>- EAST 지식증류: https://arxiv.org/html/2607.04241</a:t>
            </a:r>
          </a:p>
          <a:p>
            <a:r>
              <a:rPr>
                <a:ea typeface="맑은 고딕"/>
                <a:cs typeface="맑은 고딕"/>
              </a:rPr>
              <a:t>- WEST: https://arxiv.org/html/2602.19110</a:t>
            </a:r>
          </a:p>
          <a:p>
            <a:r>
              <a:rPr>
                <a:ea typeface="맑은 고딕"/>
                <a:cs typeface="맑은 고딕"/>
              </a:rPr>
              <a:t>- EAST XCS ANN: https://iopscience.iop.org/article/10.1088/1741-4326/ad73e8</a:t>
            </a:r>
          </a:p>
          <a:p>
            <a:r>
              <a:rPr>
                <a:ea typeface="맑은 고딕"/>
                <a:cs typeface="맑은 고딕"/>
              </a:rPr>
              <a:t>- Abbate 2025: https://iopscience.iop.org/article/10.1088/1741-4326/adc283</a:t>
            </a:r>
          </a:p>
          <a:p>
            <a:r>
              <a:rPr>
                <a:ea typeface="맑은 고딕"/>
                <a:cs typeface="맑은 고딕"/>
              </a:rPr>
              <a:t>- 합성 진단 증강: https://arxiv.org/abs/2606.08462</a:t>
            </a:r>
          </a:p>
          <a:p>
            <a:r>
              <a:rPr>
                <a:ea typeface="맑은 고딕"/>
                <a:cs typeface="맑은 고딕"/>
              </a:rPr>
              <a:t>- TokEye: https://arxiv.org/pdf/2602.20317</a:t>
            </a:r>
          </a:p>
          <a:p>
            <a:r>
              <a:rPr>
                <a:ea typeface="맑은 고딕"/>
                <a:cs typeface="맑은 고딕"/>
              </a:rPr>
              <a:t>- KSTAR EPED 재구성: https://link.springer.com/article/10.1007/s40042-026-01580-1</a:t>
            </a:r>
          </a:p>
          <a:p>
            <a:r>
              <a:rPr>
                <a:ea typeface="맑은 고딕"/>
                <a:cs typeface="맑은 고딕"/>
              </a:rPr>
              <a:t>- DIII-D 코일 shot-to-shot: https://www.ans.org/news/2026-08-18/article-8302/new-ml-framework-predicts-shifts-between-shots-at-diiid/</a:t>
            </a:r>
          </a:p>
          <a:p>
            <a:r>
              <a:rPr>
                <a:ea typeface="맑은 고딕"/>
                <a:cs typeface="맑은 고딕"/>
              </a:rPr>
              <a:t>- NN-CES (KSTAR CES 신경망 분석): https://doi.org/10.1016/j.fusengdes.2025.115518</a:t>
            </a:r>
          </a:p>
          <a:p>
            <a:r>
              <a:rPr>
                <a:ea typeface="맑은 고딕"/>
                <a:cs typeface="맑은 고딕"/>
              </a:rPr>
              <a:t>- SVMR+GPR KSTAR Ti 프로파일: https://doi.org/10.1088/1741-4326/ad7304</a:t>
            </a:r>
          </a:p>
          <a:p>
            <a:r>
              <a:rPr>
                <a:ea typeface="맑은 고딕"/>
                <a:cs typeface="맑은 고딕"/>
              </a:rPr>
              <a:t>- 이상치 강건 Bayesian mtanh 적합: https://arxiv.org/html/2607.14142</a:t>
            </a:r>
          </a:p>
          <a:p>
            <a:r>
              <a:rPr>
                <a:ea typeface="맑은 고딕"/>
                <a:cs typeface="맑은 고딕"/>
              </a:rPr>
              <a:t>- TSER 결측 Te 복원 (EAST): https://doi.org/10.1088/1741-4326/addb5f</a:t>
            </a:r>
          </a:p>
          <a:p>
            <a:r>
              <a:rPr>
                <a:ea typeface="맑은 고딕"/>
                <a:cs typeface="맑은 고딕"/>
              </a:rPr>
              <a:t>- 전 상태 복원 (희소 센서): https://arxiv.org/abs/2607.04390</a:t>
            </a:r>
          </a:p>
          <a:p>
            <a:r>
              <a:rPr>
                <a:ea typeface="맑은 고딕"/>
                <a:cs typeface="맑은 고딕"/>
              </a:rPr>
              <a:t>- 평형 재구성 챌린지: https://arxiv.org/html/2609.01750</a:t>
            </a:r>
          </a:p>
          <a:p>
            <a:r>
              <a:rPr>
                <a:ea typeface="맑은 고딕"/>
                <a:cs typeface="맑은 고딕"/>
              </a:rPr>
              <a:t>- 이분산 신경망 대리모델 (Thomson): https://arxiv.org/abs/2608.19377</a:t>
            </a:r>
          </a:p>
          <a:p>
            <a:r>
              <a:rPr>
                <a:ea typeface="맑은 고딕"/>
                <a:cs typeface="맑은 고딕"/>
              </a:rPr>
              <a:t>- KSTAR XICS 실시간 Ti 측정: https://doi.org/10.1016/j.fusengdes.2023.113570</a:t>
            </a:r>
          </a:p>
          <a:p>
            <a:r>
              <a:rPr>
                <a:ea typeface="맑은 고딕"/>
                <a:cs typeface="맑은 고딕"/>
              </a:rPr>
              <a:t>- TorbeamNN (KSTAR PCS 실장): https://arxiv.org/abs/2504.11648</a:t>
            </a:r>
          </a:p>
          <a:p>
            <a:r>
              <a:rPr>
                <a:ea typeface="맑은 고딕"/>
                <a:cs typeface="맑은 고딕"/>
              </a:rPr>
              <a:t>- KSTAR UFO 사건 예측 (NF 2026): https://doi.org/10.1088/1741-4326/ae91fc</a:t>
            </a:r>
          </a:p>
          <a:p>
            <a:r>
              <a:rPr>
                <a:ea typeface="맑은 고딕"/>
                <a:cs typeface="맑은 고딕"/>
              </a:rPr>
              <a:t>- JET CXRS 신경망 (1993, 계보의 시작): https://www.microsoft.com/en-us/research/wp-content/uploads/2016/02/bishop-cxrs-ppcf-93.pdf</a:t>
            </a:r>
          </a:p>
          <a:p>
            <a:r>
              <a:rPr>
                <a:ea typeface="맑은 고딕"/>
                <a:cs typeface="맑은 고딕"/>
              </a:rPr>
              <a:t>- ST40 교차 진단 grey-box: https://arxiv.org/abs/2407.18741</a:t>
            </a:r>
          </a:p>
          <a:p>
            <a:r>
              <a:rPr>
                <a:ea typeface="맑은 고딕"/>
                <a:cs typeface="맑은 고딕"/>
              </a:rPr>
              <a:t>- W7-X Bayesian Ti 추론: https://doi.org/10.1088/1361-6587/ad3c1d</a:t>
            </a:r>
          </a:p>
          <a:p>
            <a:r>
              <a:rPr>
                <a:ea typeface="맑은 고딕"/>
                <a:cs typeface="맑은 고딕"/>
              </a:rPr>
              <a:t>- TSI-Bench: https://arxiv.org/abs/2406.12747</a:t>
            </a:r>
          </a:p>
          <a:p>
            <a:r>
              <a:rPr>
                <a:ea typeface="맑은 고딕"/>
                <a:cs typeface="맑은 고딕"/>
              </a:rPr>
              <a:t>- STDiff: https://arxiv.org/html/2508.19011v1</a:t>
            </a:r>
          </a:p>
          <a:p>
            <a:r>
              <a:rPr>
                <a:ea typeface="맑은 고딕"/>
                <a:cs typeface="맑은 고딕"/>
              </a:rPr>
              <a:t>- iTimER: https://arxiv.org/html/2511.06854</a:t>
            </a:r>
          </a:p>
          <a:p>
            <a:r>
              <a:rPr>
                <a:ea typeface="맑은 고딕"/>
                <a:cs typeface="맑은 고딕"/>
              </a:rPr>
              <a:t>- Neural CDE 보정기: https://arxiv.org/html/2512.12116v3</a:t>
            </a:r>
          </a:p>
          <a:p>
            <a:r>
              <a:rPr>
                <a:ea typeface="맑은 고딕"/>
                <a:cs typeface="맑은 고딕"/>
              </a:rPr>
              <a:t>- TimeXer: https://github.com/thuml/TimeXer</a:t>
            </a:r>
          </a:p>
          <a:p>
            <a:r>
              <a:rPr>
                <a:ea typeface="맑은 고딕"/>
                <a:cs typeface="맑은 고딕"/>
              </a:rPr>
              <a:t>- TiRex-2: https://arxiv.org/html/2607.01204v1</a:t>
            </a:r>
          </a:p>
          <a:p>
            <a:r>
              <a:rPr>
                <a:ea typeface="맑은 고딕"/>
                <a:cs typeface="맑은 고딕"/>
              </a:rPr>
              <a:t>- TabPFN-TS: https://arxiv.org/abs/2501.02945</a:t>
            </a:r>
          </a:p>
          <a:p>
            <a:r>
              <a:rPr>
                <a:ea typeface="맑은 고딕"/>
                <a:cs typeface="맑은 고딕"/>
              </a:rPr>
              <a:t>- TSFM 벤치마크 경고: https://arxiv.org/html/2510.13654v1</a:t>
            </a:r>
          </a:p>
          <a:p>
            <a:r>
              <a:rPr>
                <a:ea typeface="맑은 고딕"/>
                <a:cs typeface="맑은 고딕"/>
              </a:rPr>
              <a:t>- TimeMAE: https://arxiv.org/html/2303.00320v4</a:t>
            </a:r>
          </a:p>
          <a:p>
            <a:r>
              <a:rPr>
                <a:ea typeface="맑은 고딕"/>
                <a:cs typeface="맑은 고딕"/>
              </a:rPr>
              <a:t>- RG-ResMoE: https://arxiv.org/html/2608.12251v1</a:t>
            </a:r>
          </a:p>
          <a:p>
            <a:r>
              <a:rPr>
                <a:ea typeface="맑은 고딕"/>
                <a:cs typeface="맑은 고딕"/>
              </a:rPr>
              <a:t>- KalmanNet: https://dl.acm.org/doi/abs/10.1109/tsp.2022.3158588</a:t>
            </a:r>
          </a:p>
          <a:p>
            <a:r>
              <a:rPr>
                <a:ea typeface="맑은 고딕"/>
                <a:cs typeface="맑은 고딕"/>
              </a:rPr>
              <a:t>- Unscented KalmanNet: https://arxiv.org/html/2608.04201</a:t>
            </a:r>
          </a:p>
          <a:p>
            <a:r>
              <a:rPr>
                <a:ea typeface="맑은 고딕"/>
                <a:cs typeface="맑은 고딕"/>
              </a:rPr>
              <a:t>- DLFM: https://link.springer.com/article/10.1007/s10994-025-06824-y</a:t>
            </a:r>
          </a:p>
          <a:p>
            <a:r>
              <a:rPr>
                <a:ea typeface="맑은 고딕"/>
                <a:cs typeface="맑은 고딕"/>
              </a:rPr>
              <a:t>- 이분산 회귀 병리: https://arxiv.org/pdf/2306.16717</a:t>
            </a:r>
          </a:p>
          <a:p>
            <a:r>
              <a:rPr>
                <a:ea typeface="맑은 고딕"/>
                <a:cs typeface="맑은 고딕"/>
              </a:rPr>
              <a:t>- 반지도 VAE 회귀: https://arxiv.org/pdf/2211.05979</a:t>
            </a:r>
          </a:p>
          <a:p>
            <a:r>
              <a:rPr>
                <a:ea typeface="맑은 고딕"/>
                <a:cs typeface="맑은 고딕"/>
              </a:rPr>
              <a:t>- GP-MIDAS: https://arxiv.org/html/2402.10574v2</a:t>
            </a:r>
          </a:p>
          <a:p>
            <a:r>
              <a:rPr>
                <a:ea typeface="맑은 고딕"/>
                <a:cs typeface="맑은 고딕"/>
              </a:rPr>
              <a:t>- 저가 센서 보정: https://arxiv.org/html/2604.21527v1</a:t>
            </a:r>
          </a:p>
          <a:p>
            <a:r>
              <a:rPr>
                <a:ea typeface="맑은 고딕"/>
                <a:cs typeface="맑은 고딕"/>
              </a:rPr>
              <a:t>- 커프리스 혈압 벤치마크: https://arxiv.org/html/2602.04725v1</a:t>
            </a:r>
          </a:p>
          <a:p>
            <a:r>
              <a:rPr>
                <a:ea typeface="맑은 고딕"/>
                <a:cs typeface="맑은 고딕"/>
              </a:rPr>
              <a:t>- PiGGO: https://arxiv.org/pdf/2604.26593</a:t>
            </a:r>
          </a:p>
          <a:p>
            <a:r>
              <a:rPr>
                <a:ea typeface="맑은 고딕"/>
                <a:cs typeface="맑은 고딕"/>
              </a:rPr>
              <a:t>- 멀티태스크 가상센서: https://arxiv.org/abs/2601.20634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ea typeface="맑은 고딕"/>
                <a:cs typeface="맑은 고딕"/>
              </a:rPr>
              <a:t>음성 결과는 그것을 뒤집을 측정을 지목할 때만 결론으로 인정한다는 규칙을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585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475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915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5"/>
            <a:ext cx="11300036" cy="8712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600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396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5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9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215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106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988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31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3644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4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792" y="868680"/>
            <a:ext cx="10954512" cy="1773936"/>
          </a:xfrm>
        </p:spPr>
        <p:txBody>
          <a:bodyPr wrap="square" anchor="ctr"/>
          <a:lstStyle/>
          <a:p>
            <a:r>
              <a:rPr sz="3000" b="1">
                <a:ea typeface="맑은 고딕"/>
                <a:cs typeface="맑은 고딕"/>
              </a:rPr>
              <a:t>KSTAR 희소 전하교환분광(CES) 신호의 멀티모달 나우캐스팅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6112" y="4965192"/>
            <a:ext cx="10451592" cy="1024128"/>
          </a:xfrm>
        </p:spPr>
        <p:txBody>
          <a:bodyPr wrap="square"/>
          <a:lstStyle/>
          <a:p>
            <a:r>
              <a:rPr sz="1700">
                <a:ea typeface="맑은 고딕"/>
                <a:cs typeface="맑은 고딕"/>
              </a:rPr>
              <a:t>고속 진단은 미래를 보는 보간을 넘어 이온온도를 복원하지만 토로이달 회전은 복원하지 못한다</a:t>
            </a:r>
          </a:p>
          <a:p>
            <a:r>
              <a:rPr sz="1400">
                <a:ea typeface="맑은 고딕"/>
                <a:cs typeface="맑은 고딕"/>
              </a:rPr>
              <a:t>Department of Nuclear Engineering, Seoul National University, Seoul, Korea</a:t>
            </a:r>
          </a:p>
          <a:p>
            <a:r>
              <a:rPr sz="1400">
                <a:ea typeface="맑은 고딕"/>
                <a:cs typeface="맑은 고딕"/>
              </a:rPr>
              <a:t>이승상 (Seungsang Lee)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발표 순서는 논문의 절 순서를 그대로 따른다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1. 서론 — CES 결측이라는 문제, 연구 질문, 그리고 의도적으로 불리하게 세운 기준선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2. 관련 연구 — 세 갈래의 선행 연구와 그 안에서 본 연구가 놓이는 자리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3. 데이터와 문제 설정 — 641개 방전, 두 가지 프레이밍, 두 번의 데이터 품질 감사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4. 모델 — 손실과 환원 불가능한 하한, 보존식이 정하는 입력 라우팅, 시퀀스 백본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5. 평가 방법론 — 사전등록 규칙, 기준선 사다리, shot 군집 paired bootstrap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6. 결과 — 헤드라인, 두 개의 스트레스 테스트, 정보 비대칭, 복잡도 사다리, 문맥과 비용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7. 모델 선택 프로토콜 — 모든 결정 규칙은 그것이 결정할 수치보다 먼저 적혔다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8. 배치 가능한가 — 상태 유지형 1-스텝 지연시간과 분포 무가정 예측 구간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9. 남은 개선 여지 · 10. 한계 — 부정 결과마다 그것을 뒤집을 측정을 지목한다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11.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CES는 이온온도와 회전을 재는 표준 진단이지만 느리고 간헐적으로 결측된다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전하교환분광(CES)은 전하교환 선방출의 도플러 확장에서 이온온도 T_i를, 도플러 이동에서 토로이달 회전 V_rot를 추정한다.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충분한 신호대잡음비를 위해 광자를 적분해야 하므로 본질적으로 느리고, 개별 시점 측정은 노출·신호품질 문제로 자주 소실된다.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본 연구의 균일한 10 ms 격자에서 T_i는 8.2 %, V_rot는 23.9 %가 서로 독립적으로 결측된다.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V_rot는 여기에 더해 41.1 %가 직전 관측을 반복하는 계측기 유지값이어서, 격자의 65.0 %가 독립적인 V_rot 정보를 갖지 않는다.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결측은 저신호 구간·ELM·천이에 집중되므로 무작위적이지 않다(MNAR).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한편 BES·ECEI·Mirnov 코일은 같은 플라즈마를 결측 없이 관측한다. 다만 이들 중 어느 것도 T_i나 V_rot를 직접 측정하지 않는다.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연구 질문과, 의도적으로 모델에 불리하게 세운 기준선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질문: CES가 결측된 10 ms 시점에서, 동시각 고속 진단과 불규칙한 과거 CES 이력만으로 CES 단독의 시간 보간이 복원할 수 없는 정보를 회복할 수 있는가.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비교는 모델에 불리하게 설계하였다. 보간 기준선(선형, PCHIP, 국소 AR, 가우시안 과정)은 오프라인으로 타겟 시점 양쪽의 CES 이웃을 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모델은 엄격히 인과적이며 타겟 시점까지의 고속 진단과 과거 CES 이력만 본다.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인과 모델이 미래를 쓰는 보간을 이긴다면, 고속 진단이 CES의 시간 구조만으로는 담을 수 없는 정보를 운반한다는 뜻이다.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배치 가능한 가장 강한 경쟁자는 persistence가 아니라 과거만 쓰는 평활기이므로, 인과 GP 팔을 추가하고 그에 대한 성능을 따로 보고한다.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긍정적 답은 강한 역산 가정 없이 CES 결측을 온라인으로 채우는 데이터 기반 가상 센서를 정당화한다.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기여는 다섯 가지로 요약된다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76"/>
              </a:spcAft>
            </a:pPr>
            <a:r>
              <a:rPr sz="1730">
                <a:ea typeface="맑은 고딕"/>
                <a:cs typeface="맑은 고딕"/>
              </a:rPr>
              <a:t>① 희소 타겟 나우캐스팅을 위한 인과적 전체격자 프레이밍. 라벨 없는 행을 버리는 대신 맥락으로 유지하고 희소성을 손실로 옮긴다.</a:t>
            </a:r>
          </a:p>
          <a:p>
            <a:pPr lvl="1">
              <a:spcAft>
                <a:spcPts val="288"/>
              </a:spcAft>
            </a:pPr>
            <a:r>
              <a:rPr sz="1540">
                <a:ea typeface="맑은 고딕"/>
                <a:cs typeface="맑은 고딕"/>
              </a:rPr>
              <a:t>짝지은 윈도 대조군 대비 통합 T_i skill +0.081(16회 실행, CI [+0.067, +0.096], 16/16 양수)이며 학습 비용은 오히려 더 싸다.</a:t>
            </a:r>
          </a:p>
          <a:p>
            <a:pPr>
              <a:spcAft>
                <a:spcPts val="576"/>
              </a:spcAft>
            </a:pPr>
            <a:r>
              <a:rPr sz="1730">
                <a:ea typeface="맑은 고딕"/>
                <a:cs typeface="맑은 고딕"/>
              </a:rPr>
              <a:t>② 사전등록된 두-모집단 shot 군집 평가 프로토콜. W=2, 유지값 전 구간 제거, 피팅 실패 0.53 %에 대한 두 공동 1차 모집단, 선택이 읽지 않는 test 셋.</a:t>
            </a:r>
          </a:p>
          <a:p>
            <a:pPr>
              <a:spcAft>
                <a:spcPts val="576"/>
              </a:spcAft>
            </a:pPr>
            <a:r>
              <a:rPr sz="1730">
                <a:ea typeface="맑은 고딕"/>
                <a:cs typeface="맑은 고딕"/>
              </a:rPr>
              <a:t>③ T_i에 대한 강건한 긍정 결과. 미래를 쓰는 PCHIP 대비 skill +0.17~+0.32로 두 모집단의 4개 분할 전부에서 PASS이고, 8개 셀 전부에서 인과 GP를 이긴다.</a:t>
            </a:r>
          </a:p>
          <a:p>
            <a:pPr>
              <a:spcAft>
                <a:spcPts val="576"/>
              </a:spcAft>
            </a:pPr>
            <a:r>
              <a:rPr sz="1730">
                <a:ea typeface="맑은 고딕"/>
                <a:cs typeface="맑은 고딕"/>
              </a:rPr>
              <a:t>④ V_rot에 대한 물리 기반 부정 결과. 동률이며(1/4·2/4 유의) 고속 진단을 0으로 만들어도 출력이 비트 단위로 동일하다.</a:t>
            </a:r>
          </a:p>
          <a:p>
            <a:pPr>
              <a:spcAft>
                <a:spcPts val="576"/>
              </a:spcAft>
            </a:pPr>
            <a:r>
              <a:rPr sz="1730">
                <a:ea typeface="맑은 고딕"/>
                <a:cs typeface="맑은 고딕"/>
              </a:rPr>
              <a:t>⑤ 두 개의 스트레스 테스트(MNAR 재가중·캠페인 이동), 복잡도와 크기 축의 종결, 문맥과 구조의 분리, 그리고 측정된 배치 가능성.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Related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650">
                <a:ea typeface="맑은 고딕"/>
                <a:cs typeface="맑은 고딕"/>
              </a:rPr>
              <a:t>선행 연구는 세 갈래이며, 세 갈래 모두 타겟이 측정되어 있다고 가정한다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프로파일 피팅과 결측 보간. 가우시안 과정 회귀는 핵융합 프로파일의 커뮤니티 표준이고, PCHIP 같은 단조 보간은 과도 현상 근방에서 선호된다.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본 연구는 persistence·선형·PCHIP·국소 AR 사다리를 사전등록 기준선으로 쓰고 PCHIP을 헤드라인 비교 대상으로 삼는다.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신경망 진단 추론. 스펙트럼 피팅 가속, 한 진단의 추론 파이프라인 대체, 느린 재구성 코드의 종단간 대리모형의 세 갈래가 있다.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이들은 분석 지연시간을 다루지 측정 가용성을 다루지 않는다. CES 노출이 결측되면 입력 자체가 없다.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교차 진단 재구성과 시간 조밀화. Diag2Diag, COMPASS 시간 초해상, FusionMAE, RTCAKENN이 활발한 계열을 이룬다.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본 연구는 이 계열을 이어받되, 자기 자신의 측정이 없는 시점을 대상으로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본 연구는 가장 가까운 계열을 세 축으로 확장한다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0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계보를 인정한 뒤 세 축으로 확장한다: 전자 채널에서 희소 이온 채널로, 동시각 매핑에서 인과 추정으로, 가정된 재구성 가능성에서 타겟별 검정으로.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605531"/>
          <a:ext cx="110276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532"/>
                <a:gridCol w="3675888"/>
                <a:gridCol w="2940710"/>
                <a:gridCol w="220553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선행 연구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타겟 채널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인과성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미래 사용 보간을 기준선으로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Diag2Diag (DIII-D)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Thomson T_e·n_e (조밀 전자 채널)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동시각, 기억 없음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COMPASS 시간 초해상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Thomson 프로파일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동시각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RTCAKENN (DIII-D)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운동학 프로파일 (입력 dropout 강건성)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실시간, 인과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EAST XCS 추론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T_i·회전 (같은 도플러 분광 입력)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순간 매핑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FusionMAE (HL-3)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임의 마스킹 채널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윈도 내 재구성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 EPED 재구성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프로파일 (CES를 입력으로 사용)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재구성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본 연구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희소 이온 채널 T_i·V_rot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타겟 자신의 불규칙 과거에 조건화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PCHIP·오프라인 GP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891532"/>
            <a:ext cx="11027664" cy="28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이 세 확장의 결합, 즉 희소 CXRS 이온 측정의 인과적 시간 결측 채움은 아직 다뤄지지 않았으며, 계열로부터의 이탈이 아니라 그 자연스러운 다음 단계다.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641개 KSTAR 방전을 공통 10 ms 격자에 정렬해 사용한다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데이터 제공 측이 하드웨어 일관성과 H-mode ELM 억제(RMP) 구간을 기준으로 선정한 641개 방전(shot 30801~32751), 총 247,207행(파일당 중앙값 339행)이다.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각 행은 BES 9채널, ECEI 4채널, Mirnov 코일 2채널, 시간, 그리고 두 CES 타겟 T_i·V_rot를 제공한다.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행은 0.5 s 이상의 시간 간극에서 연속 세그먼트로 묶인다. 이 임계값은 이봉 delta 분포의 골에 놓이며, 세그먼트 안에서 스텝의 99.4 %가 10 ms다.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전형적인 파일은 주 세그먼트 하나(중앙값 301행, 약 3.0 s)와 그로부터 멀리 떨어진 고립 단일행 몇 개로 이루어진다.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어떤 팔도, 보간이든 모델 입력이든 세그먼트 간극을 넘지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T_i와 V_rot는 독립적으로 결측되므로 행 필터링이 아니라 타겟별 마스킹을 요구한다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9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두 타겟이 함께 빠지지 않으므로, 두 타겟 모두를 요구하는 행 필터는 라벨 행의 약 28 %를 조용히 버린다.</a:t>
            </a:r>
          </a:p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계측기 유지값까지 세면 격자의 65.0 %가 독립적인 V_rot 정보를 갖지 않는다.</a:t>
            </a:r>
          </a:p>
        </p:txBody>
      </p:sp>
      <p:pic>
        <p:nvPicPr>
          <p:cNvPr id="4" name="Picture 3" descr="fig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737104"/>
            <a:ext cx="11027664" cy="28808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650">
                <a:ea typeface="맑은 고딕"/>
                <a:cs typeface="맑은 고딕"/>
              </a:rPr>
              <a:t>학습 예제에는 두 가지 프레이밍이 있고, 본 논문은 둘을 짝지어 비교한다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윈도 프레이밍(대조군)은 타겟 인덱스 t의 샘플을 직전 W개 격자 행으로 구성한다: bes (W,9), ecei (W,4), mc (W,2), 시간 특징 (W,4), CES 이력 (W,4).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시간 특징 넷은 lookback 초, 행간 delta 초와 각각의 log(1+x)이며, 과거 CES 값의 신뢰도가 10 ms 전인지 200 ms 전인지에 강하게 의존함을 노출한다.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CES 이력 넷은 직전 정규화 T_i, 직전 정규화 V_rot, 그리고 타겟마다 하나씩의 관측 플래그다. 본문 전체에서 W=2이다.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전체격자 시퀀스 프레이밍(주 모델)은 고속 진단에 결측이 없다는 점을 이용해, 입력이 완전한 모든 행을 라벨 유무와 무관하게 맥락으로 유지한다.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각 스텝은 엄격히 인과적인 22개 채널이다: z-score된 고속 15채널, log(1+Δt_prev), 그리고 타겟별 이월값·경과시간·과거 관측 플래그.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두 프레이밍 어느 쪽도 모델이 타겟 행 자신의 값을 읽게 하지 않는다.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설계 원칙은 셋이며, 셋 다 누수와 가짜 라벨을 막기 위한 것이다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가짜 라벨 금지. 학습 행을 만들기 위해 타겟을 대체(impute)하지 않는다. 윈도 프레이밍의 행은 입력이 완전하고 CES 타겟 중 적어도 하나가 실제로 관측된 경우에만 유지되며, 시퀀스 프레이밍에서 라벨 없는 행은 맥락으로만 기여한다.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타겟별 마스킹 손실. 손실은 관측된 타겟에 대해서만 계산되므로 한 타겟만 관측된 행도 그 타겟은 학습에 기여한다. 두-타겟-필수 필터를 제거한 것은 순수한 데이터 이득이다.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누수 방지 셋. (i) 파일 단위 분할을 디스크에 고정하고, (ii) 모든 z-score 통계를 학습 파일에서만 추정하며(시퀀스 모델은 여기에 각 방전 자신의 통계로 하는 입력 표준화를 더한다), (iii) 타겟 행 자신의 값과 관측 플래그는 입력에 결코 넣지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데이터 품질 감사 1: 관측된 V_rot의 54 %는 계측기 유지값이다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같은 연속 시간 블록 안에서 직전 관측과 비트 단위로 동일한 반복이 최대 1,214행 이어지며, 641개 중 499개 파일이 영향을 받는다.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V_rot의 고유 측정 주기가 행 주기보다 느려 생기는 현상으로, 독립적인 측정이 아니다.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V_rot는 소수점 다섯 자리까지 기록되고 서로 다른 값 사이의 최소 간격이 4e-5이므로 '연속 동일'에는 측정 가능한 위양성 통로가 없다. T_i는 226,991행 중 1행뿐이다.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확정 프로토콜은 유지값을 모든 곳에서 제거한다: 지도 타겟, 이력·이월 입력과 그 관측 플래그, 정규화 통계, 그리고 모든 기준선의 보간 앵커.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짝지은 재학습은 유지값이 학습도 오염시킴을 보였다. forward-fill 계단은 이력을 복사하는 것이 거의 최적이라고 모델에 가르친다. 그래서 민감도 한 줄이 아니라 프로토콜이다.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350">
                <a:ea typeface="맑은 고딕"/>
                <a:cs typeface="맑은 고딕"/>
              </a:rPr>
              <a:t>데이터 품질 감사 2: T_i 스펙트럼 피팅 실패가 두 개의 공동 1차 모집단을 만든다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관측된 T_i의 p99는 2,089 eV, p99.9는 9,601 eV, 최댓값은 14,984 eV다. 이 먼 꼬리는 플라즈마 물리가 아니라 실패한 스펙트럼 피팅이다.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1,197행(0.53 %)이 3 keV를 초과하며 274개 방전에서 951개의 런을 이룬다. 런의 85 %는 단일 행이고, 런 정점의 중앙값은 관측된 이웃 평균의 13배다.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두 대응이 모두 방어 가능하고 각각 비판의 여지가 있다. 컷은 어떤 방법도 예측할 수 없는 행을 제거하지만 '어려운 행을 없앴다'는 비판을 부르고, 포함은 스파이크 앵커를 먹인 채 오프라인 기준선에 핸디캡을 준다.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그래서 컷(모든 팔에서 결측 처리)과 포함(컷 없음)을 두 개의 공동 1차 모집단으로 사전등록하였다. 무조건적 주장은 두 모집단 모두에서 성립할 때만 조건 없이 진술한다.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임계값은 2.5~4 keV 범위에서 무의미하며, 값 기준 컷은 피팅 품질 메타데이터가 확보되기 전까지 쓰는 한쪽 방향 대리 지표다.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Methods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750">
                <a:ea typeface="맑은 고딕"/>
                <a:cs typeface="맑은 고딕"/>
              </a:rPr>
              <a:t>무엇을 추정하는가, 그리고 추정기가 제거할 수 없는 하한은 무엇인가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모델은 각 격자 시각 t에서 정규화 타겟을 그 시각까지의 관측 이력으로 추정한다. 손실은 타겟별 관측 마스크 위의 마스킹 MSE에, 정규화 영점 아래의 T_i 예측을 억제하는 물리 페널티(λ = 0.1)를 더한 것이다.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이 손실을 최소화하는 추정량은 조건부 기댓값이므로, 본 연구가 보고하는 것은 조건부 분포의 평균이지 그 분포 전체가 아니다. 불확실성은 모델을 건드리지 않는 분포 무가정 구간으로 따로 다룬다.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타겟 자신이 측정 잡음을 지니므로 RMSE² = σ_meas² + b²라는 하한이 있다. 차분 기반 추정기로 잰 σ_meas는 컷 모집단 T_i에서 46.4~129.9 eV이고, 백본의 RMSE 157.8 eV는 이 범위와 같은 자릿수다.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4차 차분 제곱질량의 46.6 %(V_rot는 65.6 %)가 상위 1 %의 한 스텝 변화에 몰려 있다. 따라서 총합 손실은 꼬리 통계이며, 폭과 계열이 평평하다는 뒤의 결과는 정보의 고갈이 아니라 이 사실의 귀결로 읽어야 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본류에서는 모델이 여전히 타겟 자체 산포의 2.3~3.4배 위에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V_rot 분기가 고속 진단을 보지 않는 것은 취향이 아니라 항별 감사의 결과다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두 전송식은 값이 아니라 변화율을 구속한다. 그러므로 물어야 할 것은 고속 진단이 V_rot와 상관되는가가 아니라 dV_rot/dt와 상관되는가이다.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4"/>
                <a:gridCol w="2389327"/>
                <a:gridCol w="4043476"/>
                <a:gridCol w="275691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운동량식의 항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물리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우리 데이터에 있는가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∂L/∂t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회전 변화율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연속 관측쌍의 차분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측정됨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T_NBI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빔 토크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0-D 채널이 존재하지 않음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부재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T_NTV ~ δB²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비축대칭 제동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Mirnov, 100 Hz 데시메이트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음성 종결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∇·Π_φ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난류 운동량 유속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BES가 밀도요동을 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측정 -&gt; 널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T_int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잔여응력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∇T_i 필요, 스칼라만 보유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도달 불가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13816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측정값: r(BES, dV_rot/dt) = -0.006, r(ECEI, ·) = -0.003 대 에너지식의 +0.070, +0.078. 값 수준도 +0.341 / +0.311 대 +0.027 / +0.005. 같은 측정이 에너지식에서는 신호를 잡으므로 회전의 널은 방법의 한계가 아니다.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세 개의 시간 척도가 이 문제를 규정한다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격자 간격이 10 ms이므로 Nyquist 주파수는 50 Hz다. Mirnov가 담아야 할 모드 회전은 kHz 대역이고(이 데이터셋의 방전들에서 보고된 EHO 조화파는 약 4·8 kHz), 반앨리어싱 필터 없이 100 Hz로 데시메이트된 dB/dt는 그것을 표현할 수 없다.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전자와 이온을 결합시키는 온도 평형화 시간은 관측 T_i 중앙값 593 eV에 대응하는 구석에서 8~59 ms다. 본 연구가 측정한 연속 인과 문맥의 포화점은 약 50 ms이며, 두 수는 같은 자릿수다.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이는 자릿수 정합성 진술이고 그 이상이 아니다. 플라즈마 파라미터는 인용값이며, BES와 ECEI는 계측기 단위이므로 n_e와 T_e를 물리 단위로 갖지 않는다.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신호가 스스로를 닮아 있는 시간은 T_i 159 ms, BES 161 ms, ECEI 147 ms로 서로 10 % 이내에서 일치한다.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V_rot는 그렇지 않다. 유지값을 제거하면 16 ms, 유지하면 300 ms를 넘어 19배 이상 벌어지므로, V_rot의 완화 시간은 이 데이터셋에서 측정 불가능하다.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350">
                <a:ea typeface="맑은 고딕"/>
                <a:cs typeface="맑은 고딕"/>
              </a:rPr>
              <a:t>주 모델은 전체격자 인과 시퀀스 백본이고, 대조군과 해석 가능한 칸이 함께 놓인다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seq_v2 (357,570 파라미터). 세그먼트의 22채널 격자 위에서 서로 독립인 두 인과 LSTM을 돌린다. T_i 분기(2층·160 유닛)는 전체 상태를 읽고, V_rot 분기(1층·64 유닛)는 고속이 아닌 7채널만 읽는다.</a:t>
            </a:r>
          </a:p>
          <a:p>
            <a:pPr lvl="1">
              <a:spcAft>
                <a:spcPts val="294"/>
              </a:spcAft>
            </a:pPr>
            <a:r>
              <a:rPr sz="1570">
                <a:ea typeface="맑은 고딕"/>
                <a:cs typeface="맑은 고딕"/>
              </a:rPr>
              <a:t>도달 범위가 고정 윈도가 아니라 세그먼트 전체이며, 라우팅이 인코더 수준에서 성립하므로 고속 15채널을 전부 교란해도 V_rot 출력이 비트 단위로 동일하다.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윈도 대조군 (201,258 파라미터). 모달리티별 시간 인지 1-D CNN과 양방향 GRU를 거쳐, 타겟마다 하나씩의 멀티헤드 가산 어텐션으로 풀링하되 그 타겟이 실제로 측정된 행에만 어텐션 질량이 놓이도록 하드 마스킹한다.</a:t>
            </a:r>
          </a:p>
          <a:p>
            <a:pPr lvl="1">
              <a:spcAft>
                <a:spcPts val="294"/>
              </a:spcAft>
            </a:pPr>
            <a:r>
              <a:rPr sz="1570">
                <a:ea typeface="맑은 고딕"/>
                <a:cs typeface="맑은 고딕"/>
              </a:rPr>
              <a:t>보간 자신의 귀납 편향(관측된 표본만 사용)을 파라미터 비용 0으로 어텐션에 써 넣은 것이다.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b3k8 (21,498 파라미터). 예측이 이월값 + Σ w_k z_k + b로 정확히 분해되고 readout이 0으로 초기화되어 학습이 정확히 persistence에서 시작한다.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두 모델이 공유하는 데이터 계약·유지값 처리·마스킹·분할·채점 모집단은 동일하게 고정되므로, 비교는 행 단위로 짝지어진다.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최적화 설정은 물려받은 것이며, 본 논문은 그 사실을 감추지 않는다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AdamW(η = 1e-3, weight decay 1e-4), 배치 16 세그먼트, gradient norm clipping 1.0, ReduceLROnPlateau와 조기 종료(최대 30 epoch, 확정 실행은 14~25에서 정지).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데이터와 구조의 축은 전부 통제 실험으로 닫혔지만 최적화 축은 그런 측정을 거치지 않았고, 이 설정은 윈도 파이프라인에서 물려받았다.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현재 이를 방어하는 증거는 간접적이다. 예산 균등화 조건(고정 10 epoch, 검증 기반 체크포인트 선택 금지)에서도 백본의 짝지은 T_i 이득은 4개 분할 전부 양수였다(+0.063, +0.033, +0.045, +0.030). 결론은 학습 일정의 인공물이 아니다.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'왜 배치 16인가'는 이제 측정된 답을 갖는다. 경사 잡음 척도를 학습 블록 452개 전부에 대해 계산하면 중앙값 33.6 블록이므로, 배치 16은 측정된 잡음 척도의 절반쯤에 있다.</a:t>
            </a:r>
          </a:p>
          <a:p>
            <a:pPr lvl="1">
              <a:spcAft>
                <a:spcPts val="270"/>
              </a:spcAft>
            </a:pPr>
            <a:r>
              <a:rPr sz="1440">
                <a:ea typeface="맑은 고딕"/>
                <a:cs typeface="맑은 고딕"/>
              </a:rPr>
              <a:t>첫 epoch 이후 블록 하나의 그래디언트 에너지 가운데 86~98 %가 잡음이다. 이는 계산 비용과 스텝 수의 교환에 관한 진술이지 최종 skill에 관한 것이 아니다.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μP는 아직 수행하지 않았다. 그것을 쓰면 폭 스윕이 평평한 이유가 용량인지 학습률인지의 구분이 구성상 불필요해진다.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Evaluation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지표는 PCHIP 대비 skill이고, 판정은 인과 GP에 대해 내린다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모든 오차는 물리 CES 단위로 역정규화되어 타겟별로 계산되며, 1차 점수는 skill = 1 - MSE_model / MSE_PCHIP이다(양수 = 모델 우위, 0 = 동률).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모든 팔은 동일한 (파일, 행) 집합에서 동일한 타겟별 유지 마스크로 채점되고, 어떤 짝지은 비교 이전에도 모집단 키가 비트 단위로 동일함을 검증한다.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인과 기준선은 persistence, 국소 AR, 그리고 같은 GP를 과거 이웃 16개로 제한한 인과 GP다. 미래를 읽는 팔은 선형·PCHIP·오프라인 GP다.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인과 GP가 배치 가능한 가장 강한 기준선이므로(T_i RMSE 164.3 대 persistence 197.2), '배치 가능한 모든 인과 방법을 이긴다'는 persistence가 아니라 이 기준선에 대해 판정한다.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보간도 모델 입력도 세그먼트 경계를 넘지 않으며, 경계 너머의 이웃이 필요한 지점에서 보간은 persistence 값을 대신 예측한다.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사전등록 규칙과, 유의성을 방전 단위로 세는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PR1 헤드라인 비교 대상은 PCHIP. PR2 보간은 모델이 채점되는 모든 곳에서 예측하고 미래 이웃이 없으면 persistence로 후퇴하며 그 비율을 보고한다. PR3 test 셋 최소 규모. PR4 유의성은 shot 군집 bootstrap 95 % CI가 0을 제외하는 것으로 정의한다.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확정 프로토콜은 여기에 유지값 제거 학습·채점, W=2, 윈도 계열의 파일당 상한 500, 두 공동 1차 모집단, 그리고 TEST 채점 이전에 확정한 모델 결정 규칙을 더한다.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표준 test 셋은 컷 모집단에서 96개 shot의 관측 T_i 32,589행과 60개 shot의 진짜 V_rot 10,463행을 담으며, 4개 분할(시드 42·1·7·123)이 각각 자기 test 셋을 갖는다.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한 방전 내 인접 CES 행은 강하게 상관되므로, 짝지은 오차를 shot 단위로 집계하고 shot 전체를 복원추출로 10,000회 재표본한다. 대가는 유효 표본 크기가 shot 수(T_i 약 96, V_rot 60~66)가 된다는 것이며, 이것이 전체 검정력을 제한한다.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채점된 V_rot 행의 40~44 %에서 PCHIP은 persistence로 후퇴하므로, V_rot의 'PCHIP 대비'는 5분의 2가 'persistence 대비'다.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결측이 MNAR이므로 관측 시점 skill은 낙관적 추정이며, 이를 재가중으로 따로 검정한다.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Results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결과 ①: 나우캐스터는 미래를 읽지 않는 모든 방법 가운데 최저 RMSE를 갖는다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표준 test 분할(시드 42), 컷 모집단, 진짜 측정만(T_i n = 32,589, V_rot n = 10,463). 아래 세 행은 미래를 읽는다.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718"/>
                <a:gridCol w="4556885"/>
                <a:gridCol w="2005029"/>
                <a:gridCol w="200502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정보 접근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T_i RMSE (eV)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V_rot RMSE (km/s)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seq_v2 (나우캐스터)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고속 진단 + 과거 CES, 세그먼트 전체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157.8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23.6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윈도 대조군 (W=2)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고속 진단 + 과거 CES 2행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169.2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26.1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인과 GP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과거 CES 이웃 16개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164.3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28.8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Persistence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마지막 관측 CES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197.2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33.4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AR (국소, 인과)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과거 CES만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472.2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51.0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GP (오프라인)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과거 + 미래 CES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153.8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24.7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선형 보간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과거 + 미래 CES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169.8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29.0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PCHIP 보간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과거 + 미래 CES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173.6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30.2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96112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유일한 동률 팔은 잡음 앵커를 평균해 내는 오프라인 GP다(153.8 대 157.8). 미래 CES가 정의상 없는 모든 온라인 환경에서 시퀀스 나우캐스터는 명백한 승자다.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350">
                <a:ea typeface="맑은 고딕"/>
                <a:cs typeface="맑은 고딕"/>
              </a:rPr>
              <a:t>결과 ②: T_i는 두 모집단 모두에서 4개 독립 분할 전부 미래를 쓰는 보간을 이긴다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held-out test skill과 shot 군집 95 % CI(10,000회 재표본). 시드 1·7·123은 어떤 선택 단계에도 쓰이지 않았다.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377"/>
                <a:gridCol w="820239"/>
                <a:gridCol w="3098682"/>
                <a:gridCol w="3098682"/>
                <a:gridCol w="309868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타겟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컷: skill (95 % CI)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포함: skill (95 % CI)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인과 GP 대비 (컷/포함)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+0.174 [+0.097, +0.236]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+0.225 [+0.109, +0.293]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+0.078 / +0.154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+0.248 [+0.188, +0.295]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+0.238 [+0.153, +0.302]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+0.133 / +0.169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+0.257 [+0.199, +0.302]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+0.292 [+0.232, +0.344]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+0.138 / +0.123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123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+0.264 [+0.188, +0.320]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+0.316 [+0.186, +0.392]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+0.105 / +0.149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+0.390 [+0.077, +0.591]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+0.384 [+0.066, +0.586]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+0.331 / +0.324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+0.183 [-0.028, +0.280]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+0.195 [+0.000, +0.286]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+0.130 / +0.143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+0.135 [-0.358, +0.269]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+0.132 [-0.362, +0.266]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+0.020 / +0.018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123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+0.305 [-0.049, +0.437]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+0.304 [-0.065, +0.433]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+0.134 / +0.132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96112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T_i는 8개 셀 전부 PASS이며 인과 GP와 persistence도 이긴다. V_rot는 점추정이 모두 양수지만 PR4 통과가 1/4(컷)·2/4(포함)이므로 승리가 아니라 동률로 보고한다.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550">
                <a:ea typeface="맑은 고딕"/>
                <a:cs typeface="맑은 고딕"/>
              </a:rPr>
              <a:t>forest plot: T_i는 8개 셀 전부에서, V_rot는 3개 셀에서만 CI가 0을 제외한다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81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포함 모집단의 수치가 더 높은 이유는 스파이크가 보간 앵커를 오염시키기 때문이다. 학습된 모델은 스파이크가 낀 이월값을 할인할 수 있지만 보간은 그럴 수 없다.</a:t>
            </a:r>
          </a:p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그래서 본 논문은 더 좋아 보이는 한쪽이 아니라 두 모집단을 함께 보고한다.</a:t>
            </a:r>
          </a:p>
        </p:txBody>
      </p:sp>
      <p:pic>
        <p:nvPicPr>
          <p:cNvPr id="4" name="Picture 3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880" y="2957576"/>
            <a:ext cx="7432334" cy="28945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150">
                <a:ea typeface="맑은 고딕"/>
                <a:cs typeface="맑은 고딕"/>
              </a:rPr>
              <a:t>결과 ③: 전체격자 프레이밍의 채택은 네 조건 관문을 먼저 고정하고 한 번만 채점하였다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분할 시드 × 초기화 시드의 4×4 격자를 돌리고 각 실행을 해당 분할의 W=2 윈도 대조군과 행 단위로 짝지었다. 짝지은 T_i skill은 16/16 실행에서 양수였고 13/16에서 개별적으로 유의했다.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통합 평균은 +0.081이며 실행 군집 95 % CI는 [+0.067, +0.096]이다. 초기화 산포가 분할 산포보다 훨씬 작다.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예산을 균등화한 팔도 4/4 분할에서 부호를 유지하므로 이 이득은 학습 예산 효과가 아니라 아키텍처에서 온다. 어떤 실행도 유의한 V_rot 손실을 보이지 않았다.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관문은 프레이밍이 무엇을 사는지도 확정한다. 윈도 대조군은 인과 GP와 동률인 반면 시퀀스 백본은 두 모집단 모두에서 4/4로 이긴다. 세그먼트의 과거 전체로 뻗는 도달 범위가 배치 가능한 가장 강한 기준선을 넘어서게 하는 요소다.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그 비용은 음수다. 샘플별 윈도 조립도 조합적 증강도 없으므로 백본은 윈도 계열의 학습 시간 중 일부만으로 학습된다.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결과 ④: skill은 간극 영역에서도 살아 있으며, V_rot는 바로 그곳에서만 이긴다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마지막 관측으로부터의 경과시간으로 계층화하고 4개 test 분할을 통합하였다. Δt가 커질수록 PCHIP의 과제는 쉬워지고 우리 과제는 어려워진다.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220"/>
                <a:gridCol w="2205532"/>
                <a:gridCol w="1357250"/>
                <a:gridCol w="2799330"/>
                <a:gridCol w="279933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Δt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n (컷 / 포함)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shot 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컷: PCHIP 대비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ea typeface="맑은 고딕"/>
                          <a:cs typeface="맑은 고딕"/>
                        </a:rPr>
                        <a:t>포함: PCHIP 대비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T_i,  ≤ 15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134,546 / 135,317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301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+0.239 [+0.197, +0.274]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+0.299 [+0.244, +0.347]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T_i,  &gt; 15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3,422 / 3,334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265 / 263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+0.268 [+0.187, +0.337]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+0.206 [+0.108, +0.290]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T_i,  &gt; 45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460 / 429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104 / 101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+0.267 [+0.092, +0.414]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-0.004 [-0.304, +0.246]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V_rot, ≤ 15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51,689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197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+0.233 [+0.020, +0.318]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+0.233 [+0.020, +0.317]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V_rot, &gt; 15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466 / 456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130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+0.418 [+0.104, +0.680]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+0.432 [+0.128, +0.696]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V_rot, &gt; 45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채점하지 않음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ea typeface="맑은 고딕"/>
                          <a:cs typeface="맑은 고딕"/>
                        </a:rPr>
                        <a:t>채점하지 않음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41248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Δt &gt; 15 ms에서 V_rot가 PCHIP을 이기는 것이 본 논문에서 유일한 무조건적 V_rot 긍정 판정이다. T_i는 45 ms를 넘어서면 포함 모집단에서 동률이 되며, 그대로 동률로 보고한다.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결과 ⑤: 진짜 결측 지점으로 재가중하면 두 비교가 갈라진다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참값이 없는 곳에서 오차를 잴 수는 없지만, 관측 행과 결측 행 모두에서 계산 가능한 공변량(경과시간 구간 × 입력 전용 국소 활동 플래그) 위에서 사후 계층화하고 재가중할 수는 있다.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먼저 적용 범위. 이 분석의 도메인은 'W=2 안에 진짜 관측이 있음'이며, 진짜 결측인 T_i 행의 54~68 %가 도메인 안이지만 V_rot는 4~6 %뿐이다. 따라서 재가중된 V_rot에서는 아무것도 끌어내지 않는다.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온라인 시스템이 실제로 돌리는 기준선인 persistence를 상대로는 T_i 우위가 두 모집단 모두에서 4개 분할 전부 재가중을 견딘다(+0.28~+0.44, 모든 CI가 0을 제외).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미래를 쓰는 PCHIP을 상대로는 재가중된 점추정이 +0.14~+0.28에 머물지만, 넓은 CI가 컷 모집단 2개 분할에서 0을 지난다(컷 2/4, 포함 4/4).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결측 지점은 더 큰 Δt에 놓이는데, 그곳이 바로 양쪽 앵커가 가장 크게 도움이 되고 재가중 bootstrap이 가장 얇은 곳이다.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한 계층 안에서 결측 행과 관측 행이 교환 가능하다는 가정은 없앤 척하지 않고 명시한다.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150">
                <a:ea typeface="맑은 고딕"/>
                <a:cs typeface="맑은 고딕"/>
              </a:rPr>
              <a:t>결과 ⑥: 캠페인을 가로지르면 윈도 모델의 오프라인 우위는 붕괴하고 시퀀스는 살아남는다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0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641개 방전을 shot 번호로 정렬해 시간으로 엄격히 잘랐다(train 416 / val 128 / test 97). 바뀐 변수는 분할 규칙 하나뿐이며, 네 실행은 분할이 아니라 초기화만 다르다.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605531"/>
          <a:ext cx="1102766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997"/>
                <a:gridCol w="2756916"/>
                <a:gridCol w="3963066"/>
                <a:gridCol w="947689"/>
                <a:gridCol w="2239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모집단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T_i PCHIP 대비 (초기화 42/1/7/123)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인과 GP 대비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컷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윈도 대조군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+0.027 / +0.091 / -0.001 / +0.061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컷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대조군 + shot별 표준화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+0.103 / +0.107 / +0.094 / +0.107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컷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seq_v2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+0.187 / +0.174 / +0.181 / +0.177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4/4 (+0.11~+0.12)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윈도 대조군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+0.014 / +0.047 / +0.055 / +0.089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seq_v2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+0.173 / +0.202 / +0.198 / +0.184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4/4 (+0.13~+0.16)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342891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이유는 단언이 아니라 측정이다. 고속 진단은 기간 사이에 BES 1.22 σ, ECEI 0.53 σ 이동하는데 타겟 자신은 0.115 σ에 그쳐, 예측 대상보다 5~11배 더 이동한다. 각 방전을 자기 통계로 표준화하면 누수 없이 그것이 수리된다.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같은 그림: 대조군은 무너지고, shot별 표준화가 복구하며, 시퀀스는 흔들리지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9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시퀀스 나우캐스터는 두 모집단 모두에서 4/4 초기화에 대해 PCHIP과 인과 GP를 앞서고 8/8에서 윈도 대조군을 이긴다.</a:t>
            </a:r>
          </a:p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V_rot도 대조군이 0/4인 자리에서 두 모집단 모두 4/4로 persistence를 이긴다.</a:t>
            </a:r>
          </a:p>
        </p:txBody>
      </p:sp>
      <p:pic>
        <p:nvPicPr>
          <p:cNvPr id="4" name="Picture 3" descr="fig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81" y="2737104"/>
            <a:ext cx="10476333" cy="31150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결과 ⑦: T_i와 V_rot의 정보 비대칭은 물리에서 예측되었고 절제로 확인되었다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평가 시점에 한 모달리티 그룹을 0으로 만들고 재학습은 하지 않는 통제된 절제를 윈도 대조군에 적용하였다.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이력은 두 타겟 모두에 필수불가결하다. CES 이력이 없으면 두 모집단의 두 타겟 모두에서 PCHIP 대비 -1에서 -4까지 떨어진다. 자기 앵커 없이 100 Hz 진단만으로 예측 가능한 타겟은 없다.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T_i의 보간 대비 마진은 고속 진단 정보다. 컷 모집단에서 BES/ECEI/MC를 0으로 만들면 대조군이 보간기 아래로 떨어진다(짝지은 변화 -0.25~-0.43, 4/4 유의).</a:t>
            </a:r>
          </a:p>
          <a:p>
            <a:pPr lvl="1">
              <a:spcAft>
                <a:spcPts val="294"/>
              </a:spcAft>
            </a:pPr>
            <a:r>
              <a:rPr sz="1570">
                <a:ea typeface="맑은 고딕"/>
                <a:cs typeface="맑은 고딕"/>
              </a:rPr>
              <a:t>포함 모집단에서는 같은 이력 전용 모델이 여전히 PCHIP을 +0.15~+0.23으로 이기며 고속 채널이 더하는 것은 0.03~0.09뿐이다. 즉 포함 마진에는 스파이크 강건성 성분이 섞여 있고, 고속 진단의 기여를 분리해 내는 쪽은 컷 모집단이다.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V_rot의 정보는 전적으로 CES 이력이다. 고속 진단을 0으로 만들어도 출력이 8/8 셀에서 비트 단위로 동일하다. 라우팅이 구조적이기 때문이다.</a:t>
            </a:r>
          </a:p>
          <a:p>
            <a:pPr>
              <a:spcAft>
                <a:spcPts val="588"/>
              </a:spcAft>
            </a:pPr>
            <a:r>
              <a:rPr sz="1760">
                <a:ea typeface="맑은 고딕"/>
                <a:cs typeface="맑은 고딕"/>
              </a:rPr>
              <a:t>토로이달 회전은 우리 입력 중 어느 것도 관측하지 않는 운동량 원천이 지배하며, Mirnov는 100 Hz 샘플링으로 kHz 모드 회전을 앨리어싱으로 잃는다.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절제 결과: 고속 진단을 0으로 만들면 V_rot는 비트 단위로 동일하다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326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이는 실패가 아니라 진단 정보량에 관한 발견이며, 모델의 타겟별 라우팅을 정당화한다.</a:t>
            </a:r>
          </a:p>
        </p:txBody>
      </p:sp>
      <p:pic>
        <p:nvPicPr>
          <p:cNvPr id="4" name="Picture 3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519" y="2465831"/>
            <a:ext cx="7737057" cy="33863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750">
                <a:ea typeface="맑은 고딕"/>
                <a:cs typeface="맑은 고딕"/>
              </a:rPr>
              <a:t>결과 ⑧: 이력은 필수적이며, 그 첫 관측 하나가 사실상 전부를 담는다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24회의 독립 실행(W 다섯 지점 × 4시드 + history-0 × 4시드). 검토되지 않은 기본값 W=4를 곡선과 명시된 선택 규칙으로 대체하였다.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453"/>
                <a:gridCol w="2281585"/>
                <a:gridCol w="1901321"/>
                <a:gridCol w="1330924"/>
                <a:gridCol w="2091453"/>
                <a:gridCol w="133092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이력 관측 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W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T_i skill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V_rot skill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-0.783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+0.238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+0.206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+0.246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+0.203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 (구 기본값)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+0.221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+0.190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+0.190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+0.216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+0.204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2/4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41248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한 지점 안에서의 시드 산포(0.07~0.16)가 곡선 전체보다 넓다. 'plateau에 도달하는 가장 작은 W'를 적용하면 W=2가 나온다. 더 넓게 갈 방어 가능한 이유는 커버리지 하나뿐이며, 그것은 도달 범위가 세그먼트 전체인 시퀀스 프레이밍의 근거다.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결과 ⑨: 복잡도 사다리와 폭 스윕이 모델 크기 축을 닫는다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0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held-out TEST T_i skill(4개 분할 평균). b3k8은 예측을 이월값 + 여덟 개의 유계 보정항으로 정확히 분해하며, 결정 규칙은 TEST 채점 이전에 고정되었다.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605531"/>
          <a:ext cx="1102766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476"/>
                <a:gridCol w="2205532"/>
                <a:gridCol w="2389327"/>
                <a:gridCol w="2389327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컷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Persistence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-0.264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-0.288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앵커+Δ (명명된 항)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1,258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-0.261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-0.287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b3k8 (잠재 8개 유계 보정)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21,498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+0.237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+0.126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윈도 대조군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201,258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+0.173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+0.238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seq_v2 백본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357,570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+0.236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+0.268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342891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컷에서는 백본의 T_i skill 전부가 유계 수 여덟 개로 압축된다(짝지은 평균 +0.002, 모든 CI가 0을 포함). 컷이 없으면 -0.19를 잃는데, 유계 보정으로는 스파이크가 낀 앵커를 복구할 수 없기 때문이다. 백본을 34k에서 879k로 넓혀도 skill은 ±0.01 미만으로 움직인다.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결과 ⑩: 우위는 보간이 가장 약한 고변동 국소 구간에 집중된다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103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T_i의 peak 계층 skill은 컷 +0.45~+0.61, 포함 +0.62~+0.72이며 8/8 셀에서 PASS다. bulk에서는 컷 +0.09~+0.20이다. 매끄러운 bulk에서는 보간이 거의 최적이며, 모델의 가치는 활동 구간에 있다.</a:t>
            </a:r>
          </a:p>
          <a:p>
            <a:pPr>
              <a:spcAft>
                <a:spcPts val="400"/>
              </a:spcAft>
            </a:pPr>
            <a:r>
              <a:rPr sz="1400">
                <a:ea typeface="맑은 고딕"/>
                <a:cs typeface="맑은 고딕"/>
              </a:rPr>
              <a:t>V_rot의 peak 계층 skill은 +0.54~+0.79로 8/8에서 점추정이 양수이고 bulk에서는 약 0이다. 즉 비대칭은 지역적이며, 이를 전역 영가설의 뒤집힘이 아니라 유의성 기반이 얇은 지역적 강점으로 보고한다.</a:t>
            </a:r>
          </a:p>
        </p:txBody>
      </p:sp>
      <p:pic>
        <p:nvPicPr>
          <p:cNvPr id="4" name="Picture 3" descr="fig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398" y="3178047"/>
            <a:ext cx="7037299" cy="267411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결과 ⑪: 문맥은 승리를 전형적으로 만들고, 계열은 skill이 아니라 값을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0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301개 방전 통합 재채점(순환 계열). 도달 범위는 절단이 아니라 각 문맥에서 다시 학습한 모델로 잰다. 사전등록 규칙이 반환하는 포화점은 5스텝, 즉 50 ms다.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605531"/>
          <a:ext cx="110276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149"/>
                <a:gridCol w="4043476"/>
                <a:gridCol w="2389327"/>
                <a:gridCol w="294071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문맥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T_i skill vs 인과 GP [95 % CI]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방전 단위 승률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ea typeface="맑은 고딕"/>
                          <a:cs typeface="맑은 고딕"/>
                        </a:rPr>
                        <a:t>상위 10개 방전 제거 후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20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+0.057 [+0.027, +0.085]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0.52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+0.028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30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+0.087 [+0.061, +0.111]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0.60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+0.060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50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+0.104 [+0.079, +0.128]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0.64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+0.077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70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+0.119 [+0.095, +0.142]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0.66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+0.092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150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+0.123 [+0.096, +0.148]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0.66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+0.096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630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+0.143 [+0.118, +0.168]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0.67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ea typeface="맑은 고딕"/>
                          <a:cs typeface="맑은 고딕"/>
                        </a:rPr>
                        <a:t>+0.116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617211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승률이 이 절의 결론이다. 20 ms에서 모델은 평균으로는 이기지만 방전의 절반에서만 이기고, 70 ms부터 3분의 2에서 이기며 평평해진다. 포화점을 '유용해지기 위해 필요한 문맥'으로 기술해서는 안 된다. 20 ms에서도 persistence를 +0.356으로 앞선다.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결과 ⑫: 같은 도달 범위에서 계열은 구별되지 않으므로 아키텍처는 비용으로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50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도달 범위를 맞추면 110배의 파라미터 범위와 서로 가장 다른 세 연산자가 구별되지 않는 결과를 낸다. 계열이 T_i를 움직이는 폭은 최대 0.023이고, 도달 범위를 20에서 70 ms로 옮기는 효과는 +0.060이다.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605531"/>
          <a:ext cx="1102766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087"/>
                <a:gridCol w="2756916"/>
                <a:gridCol w="1459543"/>
                <a:gridCol w="1459543"/>
                <a:gridCol w="243257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계열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R에 대한 비용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R = 15 (ops)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R = 63 (ops)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630 ms에서 skill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순환 (LSTM, 357,570)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O(1) - 상태가 나른다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111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111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+0.138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확장 인과 합성곱 (3,238)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O(log R), 층당 +48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305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+0.124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띠 attention (295,746)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O(1), 상수 4.3배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473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473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+0.122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대각 상태공간 (SSM)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O(1)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+0.105 (승률 0.58~0.60)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4068571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온라인 1스텝 지연은 파라미터 수가 아니라 디스패치되는 연산자 개수를 따라간다(약 2~3 μs/연산자). 이 문제에서 attention은 엄밀히 지배당한다. 10 ms 예산은 어느 팔에도 구속 조건이 아니며, 1 ms 판정은 세션 간 산포 때문에 사전등록 규칙에 따라 보류되었다.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550">
                <a:ea typeface="맑은 고딕"/>
                <a:cs typeface="맑은 고딕"/>
              </a:rPr>
              <a:t>결과 ⑬: 두 개의 스트레스 테스트가 오프라인 주장과 배치 주장을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seq_v2, T_i. 항목은 PR4 통과 수(컷 · 포함)와 점추정 범위다.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158"/>
                <a:gridCol w="3902096"/>
                <a:gridCol w="424140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ea typeface="맑은 고딕"/>
                          <a:cs typeface="맑은 고딕"/>
                        </a:rPr>
                        <a:t>평가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ea typeface="맑은 고딕"/>
                          <a:cs typeface="맑은 고딕"/>
                        </a:rPr>
                        <a:t>PCHIP 대비 (오프라인, 미래 사용)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ea typeface="맑은 고딕"/>
                          <a:cs typeface="맑은 고딕"/>
                        </a:rPr>
                        <a:t>인과 기준선 대비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무작위 분할, 관측 지점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4/4 · 4/4, +0.17~+0.32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인과 GP 대비 4/4 · 4/4, +0.08~+0.17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결측 지점으로 재가중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2/4 · 4/4, +0.14~+0.28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persistence 대비 4/4 · 4/4, +0.28~+0.44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시간 캠페인 분할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4/4 · 4/4, +0.17~+0.20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ea typeface="맑은 고딕"/>
                          <a:cs typeface="맑은 고딕"/>
                        </a:rPr>
                        <a:t>인과 GP 대비 4/4 · 4/4, +0.11~+0.16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" y="358952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실시간 시스템이 실제로 돌릴 수 있는 기준선에 대한 우위는 두 모집단 모두에서 두 테스트를 모두 견딘다. 이 표의 윈도 모델 판본에서는 오프라인 우위가 두 테스트 모두를 견디지 못했다. 그것을 바꾼 것이 시퀀스 프레이밍이며, 새 열이 원래부터 거기 있었던 것처럼 제시하지 않는다.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Discussion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모든 모델 결정은 그것이 결정할 수치보다 먼저 적혔다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윈도 계열의 아키텍처는 통제된 실험의 연속으로 도달하였다. 각 실험은 데이터 계약을 보존하는 하나의 변경이었고, 깨끗한 비증강 검증 skill로만 채점되었다.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증강된 검증 손실은 보간이 이미 강한 바로 그곳에서 평활화를 보상하므로 결코 쓰지 않았다.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시퀀스 프레이밍은 네 조건 관문이 먼저 고정되고 그 다음 충족된 뒤에야 채택되었다.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같은 규칙 아래에서 이후 탐색된 단 하나의 아키텍처 후보(관측 마스킹 인과 어텐션 추가)는 4/4 분할에서 양수였으나 사전 확정 기준 3/4에 대해 1/4에서만 유의했으므로 승격되지 않았다.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이 후보의 검증 이득은 탐색 분할에서 2/2 유의했으며, 이는 선택 분할 결과의 통상적 낙관이자 승격 기준을 TEST에 두는 이유다.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사다리 칸과 폭 스윕도 두 갈래 판정을 어떤 TEST 채점 이전에 적어 두었고, 구성상 이 스윕 위에서 백본을 재선택하는 것은 허용되지 않았다.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배치 가능성은 지연시간과 불확실성 두 가지로 판정한다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순환 나우캐스터는 온라인에서 상태를 유지한 채 실행되며, 새 행마다 배치 1의 순환 스텝 하나가 든다. 노트북급 CPU에서 중앙값 1.05 ms, p99 1.61 ms로 10 ms 격자의 16 %다.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이 크기에서 GPU는 배치 1에서 아무것도 사주지 않는다(1.21 / 2.31 ms). 실무 지침은 상태 유지형 나우캐스터를 제어 계산기의 CPU에서 돌리는 것이며, 예산의 80 % 이상이 획득과 제어에 남는다.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불확실성은 재학습 없이 다룬다. split conformal을 해당 실행 자신의 검증 분할에서 보정하고 예측기는 아무것도 바꾸지 않으며, 같은 절차를 PCHIP과 persistence에도 적용한다.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모델의 구간이 32개 셀 전부에서 두 기준선의 구간을 이긴다. 폭과 빗나감을 함께 벌하는 Winkler 점수로 컷 T_i는 1,272 대 1,554(PCHIP) 대 1,727(persistence)이다.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포함 모집단에서 모델의 T_i 구간은 PCHIP보다 오히려 넓은데도 점수가 좋다. 스파이크가 빗나감 벌점을 부풀리는데 모델이 덜 빗나가기 때문이다.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정직한 실패: 커버리지는 주변적이지 조건부가 아니다. shot 수준의 이동이 교환가능성 가정을 깨며, 이를 고치려면 현재 shot 수로는 지탱할 수 없는 shot 조건부 보정이 필요하다.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350">
                <a:ea typeface="맑은 고딕"/>
                <a:cs typeface="맑은 고딕"/>
              </a:rPr>
              <a:t>남은 개선 여지는 모델이 아니라 데이터에 있으며, 세 레버는 이름이 지목되어 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용량은 배제되었고 더 긴 윈도도 배제되었으며 도달 범위를 사는 프레이밍은 채택되었다. 남은 것은 데이터이고, 각 레버는 이미 이 데이터셋 안의 증거로 지목된다.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① CES 피팅 품질 메타데이터. 표본별 피팅 χ²이나 신호 수준이 있으면 품질 컷이 값 컷을 모든 팔에서 대체하고 두 모집단은 하나로 합쳐진다. V_rot 자신의 스파이크도 같은 규칙으로 처리된다.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② 원시 kHz Mirnov 스트림. 같은 격자에서 lag-1 자기상관은 BES +0.568, ECEI +0.572인 반면 Mirnov는 -0.009로, 이 격자 위에서 자기 채널은 백색잡음이다. 정보는 플라즈마에 없었던 것이 아니라 100 Hz 데시메이션이 모델보다 상류에서 파괴한 것이다.</a:t>
            </a:r>
          </a:p>
          <a:p>
            <a:pPr lvl="1">
              <a:spcAft>
                <a:spcPts val="270"/>
              </a:spcAft>
            </a:pPr>
            <a:r>
              <a:rPr sz="1440">
                <a:ea typeface="맑은 고딕"/>
                <a:cs typeface="맑은 고딕"/>
              </a:rPr>
              <a:t>해결책은 모델 변경이 아니라 전처리 변경이다. 원시 시계열에서 계산한 윈도별 RMS·대역 파워·모드 수·모드 회전 주파수를 V_rot 분기로 라우팅하는 것이 V_rot에 대해 지목할 수 있는 가장 가치 높은 실험이다.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③ 액추에이터 채널. shot 사이에서 ECE 유래 T_e 대리 지표는 T_i와 r = +0.353(p = 3e-17)로 상관되지만 V_rot와는 r = +0.024(p = 0.58)이다. 파워는 토크가 아니며, NBI 토크를 더하는 일은 모델링 과제가 아니라 데이터 획득 과제다.</a:t>
            </a:r>
          </a:p>
          <a:p>
            <a:pPr>
              <a:spcAft>
                <a:spcPts val="540"/>
              </a:spcAft>
            </a:pPr>
            <a:r>
              <a:rPr sz="1620">
                <a:ea typeface="맑은 고딕"/>
                <a:cs typeface="맑은 고딕"/>
              </a:rPr>
              <a:t>셋 모두 아카이브된 KSTAR 데이터에서 실행 가능하며, 어느 것도 현재 결과가 천장에 있다는 진술이 아니다.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한계는 결과와 같은 자리에 적는다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통계적 검정력. 재현의 단위는 shot이며 분할당 test shot이 96개(T_i) / 60~66개(V_rot)이므로 검정력이 모든 유의성 판정을 제약하고, shot별 제곱오차 차이는 두꺼운 꼬리를 갖는다.</a:t>
            </a:r>
          </a:p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MNAR 낙관. skill은 관측 지점에서만 측정되며, 재가중은 결측 T_i 행의 54~68 %와 결측 V_rot 행의 4~6 %에만 닿는다.</a:t>
            </a:r>
          </a:p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오프라인 주장의 상한은 GP 동률이다. '미래를 쓰는 보간을 이긴다'는 '사전등록된 보간들을 이긴다'를 뜻하며 모든 오프라인 방법으로 확장되지 않는다. 다만 인과 GP로는 확장된다.</a:t>
            </a:r>
          </a:p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값 기준 컷은 대리 지표이고, 캠페인 전이는 4개 분할이 아니라 하나의 시간 블록 위 4개 초기화에 기댄다. 대조군을 전이시키는 shot별 표준화는 오프라인 형태이며 인과적 러닝 판본은 여기서 측정되지 않았다.</a:t>
            </a:r>
          </a:p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지표의 비대칭. 보간은 shot 전체의 이웃을 쓰고 백본은 세그먼트의 과거를 본다. 이는 인과 모델에 의도적으로 불리하지만 직접적인 해석은 어렵게 만든다.</a:t>
            </a:r>
          </a:p>
          <a:p>
            <a:pPr>
              <a:spcAft>
                <a:spcPts val="564"/>
              </a:spcAft>
            </a:pPr>
            <a:r>
              <a:rPr sz="1689">
                <a:ea typeface="맑은 고딕"/>
                <a:cs typeface="맑은 고딕"/>
              </a:rPr>
              <a:t>단일 장치·단일 진단 집합이며, 불확실성은 조건부가 아니라 주변적으로 보정된다. 페데스탈 상단 프레이밍은 데이터 선정에서 물려받았고 사건 위상 분석은 향후 과제다.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Conclusion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인과적이고 누수 방지된 멀티모달 나우캐스터, 즉 V_rot 분기가 고속 진단을 결코 보지 않는 전체격자 2분기 순환 모델을 만들고, 사전등록된 shot 군집 두-모집단 프로토콜 아래에서 의도적으로 불리한 기준에 대해 평가하였다.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이온온도에 대해 모델은 미래를 쓰는 PCHIP을 +0.17~+0.32의 skill로 이기고, 4개 독립 분할과 두 모집단 전부에서 유의하며, 가장 강한 오프라인 평활기와는 동률이고, 두 타겟 모두에서 모든 인과 기준선을 이긴다.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배치 주장은 두 스트레스 테스트의 지지를 받는다. 진짜 결측이면서 도메인 안인 시점에서 모든 인과 방법 대비 우위는 8/8 셀에서 재가중을 견디고, 캠페인 경계를 가로질러서도 시퀀스 나우캐스터는 두 모집단 모두에서 4/4 초기화로 PCHIP과 인과 GP를 앞선다.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작동하지 않는 곳과 그 이유도 함께 보고한다. 회전은 전역적으로 보간과 동률이고 그 skill은 과도 구간에 산다. 값 기준 컷은 한쪽 방향 대리 지표이며, 예측 구간은 방전별이 아니라 주변적으로 보정된다.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이 중 어느 것도 천장 논변이 아니다. 각각은 구체적이고 검정 가능한 변경을 가리킨다: CES 피팅 품질 메타데이터, 원시 kHz Mirnov 스트림에서 다시 계산한 윈도별 특징, 그리고 회전의 물리적 원인인 NBI 토크 채널.</a:t>
            </a:r>
          </a:p>
          <a:p>
            <a:pPr>
              <a:spcAft>
                <a:spcPts val="527"/>
              </a:spcAft>
            </a:pPr>
            <a:r>
              <a:rPr sz="1580">
                <a:ea typeface="맑은 고딕"/>
                <a:cs typeface="맑은 고딕"/>
              </a:rPr>
              <a:t>모델 크기 축은 닫혔다. 21k 파라미터의 persistence+유계 보정 모델이 컷에서 백본과 대등하고 26배 폭 스윕은 평평하다. 총합 손실의 한계는 추정기가 아니라 정보다.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재현성과 가용성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분할은 디스크에 고정되고 재적재 시 검증된다. 정규화 통계는 학습 파일 전용이며, 시퀀스 계열은 여기에 shot별 입력 표준화가 더해진다.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모델 선택은 test 데이터를 결코 읽지 않는다. bootstrap은 고정 시드와 10,000회 재표본을 쓰고, 인용된 모든 수치는 단일 수집 스크립트가 동결된 평가 산출물에서 읽어온다.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전체 파이프라인, 사전등록 문서, 통제 실험 러너, 고정된 분할, 그리고 수집기가 공개 저장소에 있다: github.com/iseungsang01/ml-intern-revision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백본은 ces_prediction/experiments/seq/model_seq_v2.py, 해석 가능한 사다리 칸은 model_seq_b3.py, 윈도 대조군은 ces_prediction/model_iter009.py이며 테스트 스위트가 내용 해시로 보호한다.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KSTAR 진단 데이터 641개 방전은 코드와 함께 재배포되지 않으며 운영 기관의 데이터 정책을 따른다. 저장소에는 shot 파일이 갖춰진 뒤 분석을 재현하는 데 필요한 모든 것이 들어 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3128" y="1508760"/>
            <a:ext cx="7296912" cy="3703320"/>
          </a:xfrm>
        </p:spPr>
        <p:txBody>
          <a:bodyPr wrap="square" anchor="ctr"/>
          <a:lstStyle/>
          <a:p>
            <a:r>
              <a:rPr b="0" sz="4800">
                <a:solidFill>
                  <a:schemeClr val="accent1"/>
                </a:solidFill>
                <a:ea typeface="맑은 고딕"/>
                <a:cs typeface="맑은 고딕"/>
              </a:rPr>
              <a:t>Appendix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시도한 모델의 계보와 닫은 이유 (1/3): 윈도 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아래는 W = 4 시대의 잠정 수치이며 확정 프로토콜의 주장에는 쓰지 않는다.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2" cy="3201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718"/>
                <a:gridCol w="1002514"/>
                <a:gridCol w="2825269"/>
                <a:gridCol w="2551856"/>
                <a:gridCol w="218730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모델 · 시도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무엇을 바꿨나 (통제 변수)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닫은 이유 · 근거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AutoML 윈도 계열 iter2 → iter9 (GRU + 관측마스킹 multi-head attention)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18회 자동 탐색. Pre-LN · attention pooling은 채택, 용량 확대 · skip 변형 · 국소 1D conv는 열화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iter7의 val 0.483이 최선이었고 이후의 복잡도 증가는 열화하였다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 = 2 윈도 대조군으로 강등 (§8u · §8x)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연속시간 인코더 4종 (GRU-D형 감쇠 · ODE-RNN · Neural CDE · Δt 대각 SSM)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2026-07-30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이력 인코더만 교체, 4분할 짝지음 bootstrap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KEEP 없음. NCDE · SSM은 유의 열세 seed가 생겼다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규칙 10 ms 격자에서 Δt 진화는 정보를 더하지 않는다 (§8e, 코드 제거)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파생 Mirnov 특징 (적분 · PCHIP 적분 · |MC| · 이동 RMS)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입력 특징만 추가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 seed 짝지음에서 전부 무효. MC의 lag-1 자기상관 -0.009 (BES +0.568 · ECEI +0.572)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앨리어싱으로 이미 잃은 정보는 하류에서 복원되지 않는다 (§8b.2)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윈도 크기 스윕 W = 0 ... 6 (24 run × 2)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2026-08-04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과거 CES 관측 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Tᵢ는 W = 2에서 plateau, history 0은 둘 다 붕괴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 = 4는 정당화되지 않아 확정 프로토콜은 W = 2 (§8f)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명명항 anchor + Δ (1,258 파라미터)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완전히 설명 가능한 선형 항만 남김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 = 4 여백의 31.5 %를 회복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 = 2에서는 persistence로 붕괴 (§8k · §8z)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W-SLIM (25,602 파라미터로 축소한 윈도 모델)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CES_MODEL_FILE 하나. 201,258 → 25,602 파라미터, 57 → 21 연산자, 3.02 → 0.66 ms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 -0.087, 4/4 유의 열세. V_rot는 +0.005로 무차이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구조가 값을 하므로 비채택 (§8ad)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시도한 모델의 계보와 닫은 이유 (2/3): 시퀀스 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확정 프로토콜(W = 2 · held-free · 두 공동 1차 모집단) 아래에서 짝지어 채점하였다.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718"/>
                <a:gridCol w="1002514"/>
                <a:gridCol w="2825269"/>
                <a:gridCol w="2551856"/>
                <a:gridCol w="218730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모델 · 시도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무엇을 바꿨나 (통제 변수)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닫은 이유 · 근거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 v1 공유 LSTM (전체 격자 + 마스킹 손실)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2026-07-30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프레이밍만 교체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 4/4 개선, V_rot 4/4 유의 열세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라우팅 부재. v2의 두 갈래 설계로 이어짐 (§8d)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seq_v2 두 갈래 인과 LSTM + shot별 표준화 (357,570)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2026-08-09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V_rot 갈래를 인코더에서 차단 + 표준화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B.1 관문 16/16 양수, 인과 GP 대비 4/4 (+0.078 ... +0.138), 학습 비용 1/10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채택 백본 (§8t · §8x)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 v3 관측마스킹 attention 읽기 (396,930)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읽기 경로만 추가, 0 초기화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val +0.024* / +0.037*, TEST 4/4 양수 · 1/4 유의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승격 규칙(유의 ≥ 3/4) 미달 (§8y)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b3k8 해석 가능 칸 (21,498, K = 8 잠재)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인코더를 8차원 잠재 + persistence 앵커로 압축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컷 모집단에서 백본 +0.002, 포함에서 -0.16 ~ -0.21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해석 칸으로만 채택하며 백본을 대체하지 않음 (§8z · §8ab)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폭 스윕 hidden_ti 24 ... 260 (34k ... 879k)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 인코더 폭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평균 skill이 ±0.008 안에서 평평 (26배), 무릎 없음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크기 축 닫힘 (§8aa) — 단 총합 MSE에 한정된다(§8aq)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최소 모델 v2m · b3m (1k ... 10k)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모든 부분을 함께 축소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v2m4k(3,898)가 4/4 바닥, v2m2k는 -0.036에 유의 열세 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3.9k 아래에서 skill이 무너짐 (§8ai)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550">
                <a:ea typeface="맑은 고딕"/>
                <a:cs typeface="맑은 고딕"/>
              </a:rPr>
              <a:t>시도한 모델의 계보와 닫은 이유 (3/3, 1쪽): 계열 · 문맥 · 기준선 · 확장 가지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5216" y="2029967"/>
          <a:ext cx="11027662" cy="26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718"/>
                <a:gridCol w="1002514"/>
                <a:gridCol w="2825269"/>
                <a:gridCol w="2551856"/>
                <a:gridCol w="218730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모델 · 시도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무엇을 바꿨나 (통제 변수)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닫은 이유 · 근거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계열 비교 tcn15 · tcn63 · xfmr63 (확장 합성곱 · 밴드 어텐션)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같은 reach에서 연산자만 교체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±0.02 동률. 어텐션은 70 ms에서 -0.023 (3/4)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계열은 skill이 아니라 비용을 정한다 (§8ag · §8ak)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소형 합성곱 tcn8k · 3k · 2k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2026-08-19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10k 아래에서 계열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크기 맞춘 LSTM 대비 +0.027 ~ +0.040 (3 ~ 4/4)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10k 아래에선 conv 우세. tcn2k(1,808)도 인과 GP 4/4 (§8ai)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대각 SSM (S4형) 사다리 6칸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2026-08-21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상태공간 연산자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70 ms까지 문맥을 전환한 뒤 +0.105 천장. 같은 reach LSTM에 -0.022 / -0.044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낮은 천장으로 비채택 (§8am 부록)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reach 사다리 v2r2 ... r63 (20 ~ 630 ms)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2026-08-20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학습 시 문맥 길이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50 ~ 70 ms 포화. 승리 방전 비율 0.52 → 0.66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긴 문맥 축 닫힘 (§8af · §8al)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오프라인 GP · 인과 GP 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기준선 추가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GP는 PCHIP 4/4 이기고 모델과 동률. 인과 GP는 백본이 4/4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오프라인 주장의 상한 = GP 동률 (§8p · §8y)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550">
                <a:ea typeface="맑은 고딕"/>
                <a:cs typeface="맑은 고딕"/>
              </a:rPr>
              <a:t>시도한 모델의 계보와 닫은 이유 (3/3, 2쪽): 계열 · 문맥 · 기준선 · 확장 가지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5216" y="2029967"/>
          <a:ext cx="11027662" cy="2226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718"/>
                <a:gridCol w="1002514"/>
                <a:gridCol w="2825269"/>
                <a:gridCol w="2551856"/>
                <a:gridCol w="218730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모델 · 시도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무엇을 바꿨나 (통제 변수)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닫은 이유 · 근거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학습 분산 헤드 vs split conformal (Mondrian)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2026-08-05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불확실성 방식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conformal이 Winkler 32/32 최선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재학습이 헤드라인을 교란하므로 사후 보정 채택 (§8m)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양자 VQC · 고정 특징맵 · 저장소 · 커널 (IonQ Forte)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2026-07-26 → 08-24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추정기 계열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무잡음에서도 persistence에 짐(471.5 vs 449.6 eV). 22.9 s/예측, λ = 0.661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하드웨어 검증 후 음성 종결 (§8ap)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CES 결측이 빔 변조 주기인가 (§8at)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2026-09-05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모델 없음. 641파일 전수 기술 통계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두 타깃 마스크 일치 raw 72.8 % (3 keV 컷은 0.3 %p만 움직임), 마스크 자기상관은 잔물결 없이 감쇠, 우세 주기는 1.5 s · 3.0 s로 블록 포락선 규모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듀티 사이클 아님. 같은 날 적은 기대를 철회하고 적합 품질 요청으로 격하 (§8at)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B.11 VQ 코드북 게이팅 (b3vqC, C = 4 · 8 · 16)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2026-09-03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읽기 가중치를 이산 코드로 선택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사전등록 완료, val 선별 진행 중. 조용 3분위 Tᵢ 승률 42 %가 출발점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미판정 (PREREGISTRATION_B11.md)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5216" y="4347463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데이터 처리(held 제거)와 프레이밍(전체 격자 마스킹 손실)이 skill을 움직였고, 아키텍처 미세 변형 · 크기 · 문맥 · 계열은 움직이지 않았다. 이 문장은 총합 MSE에 한정된다(§8aq).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(1/4, 1/5쪽): 핵융합의 진단-대-진단 추정은 여전히 단순한 구조가 주류이다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장치와 연도를 따로 두었다.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332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31"/>
                <a:gridCol w="836032"/>
                <a:gridCol w="676788"/>
                <a:gridCol w="1473009"/>
                <a:gridCol w="2428474"/>
                <a:gridCol w="1234142"/>
                <a:gridCol w="282658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논문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우리에게 의미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Diag2Diag (Nat. Comm.)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DIII-D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Thomson 200 Hz를 500 kHz로 시간 초해상도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무기억 MLP 236→952→80, 1·2차 미분 특징으로 시간 문맥 대체, L1 손실, BNN 불확실성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4,000 방전, 13.5만 샘플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우리와 가장 가까운 문제가 가장 단순한 구조로 풀림. 저자 스스로 "TS 샘플링이 불규칙해서 RNN 대신 무기억"이라 밝힘. 우리 seq_v2는 이미 그 위 단계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COMPASS 시간 초해상도 (PPCF)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COMPASS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2025/26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SXR·AXUV로 Te/ne 프로파일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4×256 MLP, 측정 불확실성 1/σ 가중 Huber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2,764 방전, 방전 단위 5-fold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가중 Huber는 §8aq의 "상위 1 % 변화가 제곱질량 46.6 %" 발견과 직결. 우리는 MSE만 씀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FusionMAE (Comm. Phys.)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HL-3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88채널×10 ms 토큰의 마스크 오토인코더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Transformer MAE, 결측 채널 재구성 = "가상 백업 진단", 96.7 ~ 97.2 %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대규모 HL-3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우리 과제를 MAE의 결측 채널 복원으로 보는 프레임. 사전학습 축은 우리 repo에 없음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TokaMind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MAST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멀티모달 파운데이션 모델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7M 미만 트랜스포머, DCT 임베딩, 5 ms 청크로 0.2 ~ 500 kHz 다중 샘플링률 처리, 결측 마스크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11,573 방전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사전학습 후 미세조정 이득: 전체 +0.017 NRMSE, 프로파일 그룹은 -0.005, MHD만 +0.05. 프로파일류에는 사전학습이 거의 안 듦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TokaMark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MAST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14개 과제 벤치마크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다중 분기 conv 인코더-디코더 베이스라인, shot 단위 분할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위와 동일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프로파일 동역학 NRMSE 0.34, MHD 0.48. 커뮤니티 기준선도 conv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(1/4, 2/5쪽): 핵융합의 진단-대-진단 추정은 여전히 단순한 구조가 주류이다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장치와 연도를 따로 두었다.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280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31"/>
                <a:gridCol w="836032"/>
                <a:gridCol w="676788"/>
                <a:gridCol w="1473009"/>
                <a:gridCol w="2428474"/>
                <a:gridCol w="1234142"/>
                <a:gridCol w="282658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논문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우리에게 의미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PanoMHD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Mirnov만으로 βN·H89·L/H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VQ-VAE 토큰 + 457M GPT-2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978 방전, 2 MHz 원시 MC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KSTAR에서 이산 코드북이 작동한 선례. 단 원시 μs MC 기준이라 B.6가 전제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멀티모달 VAE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TCV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상태 감시·붕괴 유형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모달리티별 인코더의 순차 VAE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1,600 방전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VAE 용도는 회귀 정확도가 아니라 해석·이상탐지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TokaFormer, EAST 지식증류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EAST 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붕괴 예측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1D conv 임베딩 후 모달리티별 Transformer(dual tower), 후기 융합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 μs Mirnov + 1 ms 스칼라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CNN+Transformer가 주류인 곳은 붕괴 예측. 20 μs Mirnov와 1 ms 스칼라의 융합 문제이지 회귀 천장 문제가 아님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WEST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WEST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사전 방전 설정으로 전역 파라미터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Transformer 0.0096 &lt; LSTM 0.015 &lt; MLP 0.022 MSE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550 방전, 1.2만 윈도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작은 데이터에서 Transformer가 이긴 사례. 단 10 ~ 70 s 장기 의존 과제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EAST XCS ANN (NF)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EAST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스펙트럼으로 Ti·회전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2×9 DNN, 31k CNN, R² 0.96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530 방전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회전을 예측하는 유일한 논문도 입력이 회전 측정 자체(스펙트럼). 우리 V_rot 경로가 어떤 입력을 확보해야 하는지를 가리킴 — B.6 μs Mirnov · NBI 토크 채널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(1/4, 3/5쪽): 핵융합의 진단-대-진단 추정은 여전히 단순한 구조가 주류이다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장치와 연도를 따로 두었다.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32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31"/>
                <a:gridCol w="836032"/>
                <a:gridCol w="676788"/>
                <a:gridCol w="1473009"/>
                <a:gridCol w="2428474"/>
                <a:gridCol w="1234142"/>
                <a:gridCol w="282658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논문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우리에게 의미</a:t>
                      </a:r>
                    </a:p>
                  </a:txBody>
                  <a:tcPr marL="54864" marR="54864" marT="18288" marB="18288" anchor="ctr"/>
                </a:tc>
              </a:tr>
              <a:tr h="354075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Abbate 등 (NF)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DIII-D · AUG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물리+데이터 메타학습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두 모델을 메타학습으로 결합, 저전류 → 고전류 외삽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외삽 5 ~ 10 % 개선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물리 모델은 외삽 담당</a:t>
                      </a:r>
                    </a:p>
                  </a:txBody>
                  <a:tcPr marL="54864" marR="54864" marT="18288" marB="18288" anchor="ctr"/>
                </a:tc>
              </a:tr>
              <a:tr h="354075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코일 shot-to-shot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DIII-D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방전 간 하드웨어 이동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토로이달 자장 코일 디지털 트윈 + 온라인 학습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정적 모델 대비 오차 80 % 감소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캠페인 드리프트(§8n)의 처방이 우리 shot별 표준화와 같은 방향</a:t>
                      </a:r>
                    </a:p>
                  </a:txBody>
                  <a:tcPr marL="54864" marR="54864" marT="18288" marB="18288" anchor="ctr"/>
                </a:tc>
              </a:tr>
              <a:tr h="1251712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NN-CES (Fusion Eng. Des. 222:115518)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2025/26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CES 스펙트럼에서 Ti·회전을 직접 추출한다 (빔 변조 없이)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물리 제약을 넣은 신경망이 빔 변조 배경 차감을 대체한다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 약 150,000 프레임, L·H·locked·RMP 모드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우리 장치·우리 진단의 가장 가까운 선행 연구. 구분은 명확하다 — NN-CES는 측정이 있는 시각을 읽고 우리는 없는 시각을 채운다. 입력이 CES 스펙트럼 자신이므로 프레임이 없는 곳에는 쓸 수 없다. 우리 결측이 그 변조 주기일 것이라 적었다가 §8at에서 측정하여 철회하였다(두 타깃 마스크 일치 72.8 %, 주기 없음). 남는 이득은 프레임별 적합 품질이며 그것이 값 컷을 대체한다</a:t>
                      </a:r>
                    </a:p>
                  </a:txBody>
                  <a:tcPr marL="54864" marR="54864" marT="18288" marB="18288" anchor="ctr"/>
                </a:tc>
              </a:tr>
              <a:tr h="503681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SVMR + GPR 프로파일 추론 (NF 64:106052)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CES 측정에서 Ti 프로파일을 추론하며 이상치를 걸러낸다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SVMR 이상치 분류기 + 비모수 GPR, 초매개변수는 MAP와 MCMC 두 방식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 CES 측정 자료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이상치를 자동으로 골라내는 절차가 우리 3 keV 값 컷의 원리적 대체물이다. 값이 아니라 측정 품질로 거르면 두 공동 1차 모집단이 하나로 합쳐진다</a:t>
                      </a:r>
                    </a:p>
                  </a:txBody>
                  <a:tcPr marL="54864" marR="54864" marT="18288" marB="18288" anchor="ctr"/>
                </a:tc>
              </a:tr>
              <a:tr h="503681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이상치 강건 Bayesian mtanh 적합 (NF, arXiv 2607.14142)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TS·TCI·CES에서 ne·Te·Ti·v_T 프로파일을 동시에 적합한다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수정 tanh 7모수 + good-and-bad 가우시안 혼합 우도, MAP 초기화 후 MCMC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248 시간 조각을 24코어에서 78초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CES 항을 NN-CES 산출로 바꿔 끼울 수 있게 설계되어 있다. 프로파일 단위 불확실성이 우리 타깃 재현성 바닥(§8aq)의 독립 비교값이 된다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(1/4, 4/5쪽): 핵융합의 진단-대-진단 추정은 여전히 단순한 구조가 주류이다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장치와 연도를 따로 두었다.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3241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31"/>
                <a:gridCol w="836032"/>
                <a:gridCol w="676788"/>
                <a:gridCol w="1473009"/>
                <a:gridCol w="2428474"/>
                <a:gridCol w="1234142"/>
                <a:gridCol w="282658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논문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ea typeface="맑은 고딕"/>
                          <a:cs typeface="맑은 고딕"/>
                        </a:rPr>
                        <a:t>우리에게 의미</a:t>
                      </a:r>
                    </a:p>
                  </a:txBody>
                  <a:tcPr marL="54864" marR="54864" marT="18288" marB="18288" anchor="ctr"/>
                </a:tc>
              </a:tr>
              <a:tr h="503681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TSER 결측 Te 복원 (NF 65:076008)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EAST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센서 고장·진단 부재로 빠진 전자온도를 복원한다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시계열 외재 회귀(TSER)가 여러 신호의 상호관계를 학습한다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방전 전 구간에서 2σ 이내 신뢰수준 95.9 % 이상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결측 타깃 복원이라는 우리 문제 정의와 가장 가까운 프레이밍이다. 다만 타깃이 전자온도이고 인과성 제약도, 보간 기준선과의 비교도 없다</a:t>
                      </a:r>
                    </a:p>
                  </a:txBody>
                  <a:tcPr marL="54864" marR="54864" marT="18288" marB="18288" anchor="ctr"/>
                </a:tc>
              </a:tr>
              <a:tr h="503681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전 상태 복원 (arXiv 2607.04390)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kinetic 시뮬레이션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희소한 밀도 프로브 몇 개로 전 영역 플라즈마 장을 복원한다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희소 센서 이력의 시간 인코딩 + 공간 디코딩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고정밀 kinetic 시뮬레이션 자료 (실험 데이터 아님)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센서 몇 개로 전체 상태를 세우는 구조는 우리와 같으나 실험이 아니라 시뮬레이션에서 검증되었다</a:t>
                      </a:r>
                    </a:p>
                  </a:txBody>
                  <a:tcPr marL="54864" marR="54864" marT="18288" marB="18288" anchor="ctr"/>
                </a:tc>
              </a:tr>
              <a:tr h="653288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평형 재구성 챌린지 (arXiv 2609.01750)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DIII-D · MAST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자기 진단 없이 자기 기하를 추론하는 공개 벤치마크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PF 코일 전류 + Thomson으로 ψ(R,Z). 기준선 4종(PCA+Ridge / GBT / MLP / conv 디코더)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DIII-D 약 9,100 shot · MAST 약 2,400 shot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진단 하나가 없을 때 다른 진단으로 대신한다는 문제를 공개 벤치마크로 만든 사례. 이온 채널은 다루지 않으며 shot 단위 분할과 교차 장치 일반화를 요구한다</a:t>
                      </a:r>
                    </a:p>
                  </a:txBody>
                  <a:tcPr marL="54864" marR="54864" marT="18288" marB="18288" anchor="ctr"/>
                </a:tc>
              </a:tr>
              <a:tr h="653288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이분산 신경망 대리모델 (arXiv 2608.19377)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Thomson 산란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잡음이 지배하는 분광 측정에서 MCMC 파라미터 추정을 가속한다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이중 헤드 신경망이 기대 스펙트럼과 채널별 잡음 분산을 함께 내고 가우시안 NLL로 학습한다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정확 물리 모델 대비 1,500배 이상 가속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우리 열린 축 1번(이분산 손실)의 핵융합 도메인 선례. 등분산 기준선 대비 RMSE를 20 % 이상 줄였다 — 손실 형태를 바꾸는 것이 이 분야에서 실제로 값을 한다는 증거</a:t>
                      </a:r>
                    </a:p>
                  </a:txBody>
                  <a:tcPr marL="54864" marR="54864" marT="18288" marB="18288" anchor="ctr"/>
                </a:tc>
              </a:tr>
              <a:tr h="653288"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XICS ↔ CES 교차 검증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2009 ~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He 유사 아르곤 도플러로 Ti·토로이달 회전을 독립 측정한다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X선 결정 분광기(XICS). 최근 LabVIEW 실시간 처리로 준실시간화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코어 Ti·회전이 여러 방전에서 CES와 잘 일치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ea typeface="맑은 고딕"/>
                          <a:cs typeface="맑은 고딕"/>
                        </a:rPr>
                        <a:t>KSTAR에는 회전을 재는 두 번째 진단이 이미 있다. 우리 641 shot에 XICS가 있다면 V_rot 분기의 추가 입력이자 독립 라벨원이 된다 — B.6와 나란히 놓을 새 레버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(1/4, 5/5쪽): 핵융합의 진단-대-진단 추정은 여전히 단순한 구조가 주류이다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장치와 연도를 따로 두었다.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119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31"/>
                <a:gridCol w="836032"/>
                <a:gridCol w="676788"/>
                <a:gridCol w="1473009"/>
                <a:gridCol w="2428474"/>
                <a:gridCol w="1234142"/>
                <a:gridCol w="282658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논문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우리에게 의미</a:t>
                      </a:r>
                    </a:p>
                  </a:txBody>
                  <a:tcPr marL="54864" marR="54864" marT="18288" marB="18288" anchor="ctr"/>
                </a:tc>
              </a:tr>
              <a:tr h="921004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TorbeamNN (arXiv 2504.11648)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ECH 거울 조준을 위한 TORBEAM 광선추적 대리모델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신경망 대리모델이 실시간 제어계(PCS)에서 동작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실시간 구현 대비 100배 이상 가속, 흡수 위치 평균 오차 0.5 cm, 실험 중 검증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 PCS에 신경망이 이미 실장되어 돌고 있다. 우리 배치 주장(§8ah·§8aj)이 가정이 아니라 이 장치의 기존 관행임을 보여준다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문헌 조사 (2/4, 1쪽): 일반 시계열 · 센서 예측의 주류와 본 데이터에 대한 판정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5216" y="2029967"/>
          <a:ext cx="11027662" cy="349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87"/>
                <a:gridCol w="834763"/>
                <a:gridCol w="2284615"/>
                <a:gridCol w="3470858"/>
                <a:gridCol w="29436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방법군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대표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문헌의 주장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우리 데이터 판정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결측 대체 (imputation)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2024 ~ 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TSI-Bench 28개, STDiff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점 결측에선 선형보간이 딥러닝 전부를 이기는 데이터셋 존재(Electricity MAE 0.065 vs 최고 딥 0.102). 블록 결측에서만 딥이 필요. CSDI는 추론 417 s. 윈도 기반은 긴 공백에서 평탄화, 상태전이형이 나음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GP 동률(§8p)이 문헌에서 재확인됨. seq_v2는 이미 상태전이형. 확산 대체는 비용 대비 근거 없음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불규칙 샘플링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Neural CDE, mTAN, ContiFormer, iTimER, NCDE 보정기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연속시간 ODE와 어텐션이 주류, 재구성 오차 분포 정렬이 보완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우리 격자는 규칙적 10 ms이고 결측만 있다. staleness 채널로 이미 처리. 불필요 (§8e)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예측 백본 논쟁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2024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DLinear vs PatchTST/iTransformer, TimeXer(외생변수, NeurIPS 2024), Mamba 하이브리드, xLSTM 부활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계열 우열이 데이터마다 뒤집힘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B.9 결과와 정합. 위 150 ms · 10k 파라미터에선 계열 무관, 아래에선 conv 우세</a:t>
                      </a:r>
                    </a:p>
                  </a:txBody>
                  <a:tcPr marL="54864" marR="54864" marT="18288" marB="18288" anchor="ctr"/>
                </a:tc>
              </a:tr>
              <a:tr h="921004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파운데이션 모델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Chronos-2 (120M, 공변량), TiRex-2 (xLSTM, 과거 공변량, 스트리밍 O(1)), Toto (Student-t 혼합 헤드), TabPFN-TS (11M, 합성 사전학습)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제로샷으로 강함. 단 벤치마크 오염 경고 — 조사 데이터셋의 7 %만 어떤 사전학습에도 안 쓰였고, 유출 시 MAPE가 7.6 ~ 59 %p 좋아짐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KSTAR는 오염 불가능. 학습 없이 반나절에 돌릴 대조군. 지면 천장 재확인, 이기면 큰 발견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자기지도 사전학습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TimeMAE (WSDM 2026), Ti-MAE, TokEye (핵융합)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라벨 희소 시 이득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 라벨은 92 % 관측이고 TokaMind에서 프로파일 이득이 음수. 기대 낮음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450">
                <a:ea typeface="맑은 고딕"/>
                <a:cs typeface="맑은 고딕"/>
              </a:rPr>
              <a:t>문헌 조사 (2/4, 2쪽): 일반 시계열 · 센서 예측의 주류와 본 데이터에 대한 판정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5216" y="2029967"/>
          <a:ext cx="11027662" cy="349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87"/>
                <a:gridCol w="834763"/>
                <a:gridCol w="2284615"/>
                <a:gridCol w="3470858"/>
                <a:gridCol w="29436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방법군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대표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문헌의 주장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우리 데이터 판정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소프트센서 (공정)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반지도 VAE 회귀, Soft-Sensing Transformer, ConFormer(CNN+Transformer), 인과 특징 선택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반지도가 핵심. 2025년 한 연구는 MLP 백본 6 % 개선으로 Transformer와 동급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Tᵢ에는 반지도 이득 조건이 없다. V_rot는 라벨이 아니라 입력을 늘리는 문제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MoE · 레짐 게이팅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RG-ResMoE, Dynamic TMoE, AME-TS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동결 기저 + 잔차 전문가 + soft 게이트 + 보정 크기 페널티. hard top-1 라우팅이 soft보다 유의하게 나쁨(p &lt; 1e-4). 레짐 변수를 입력에 넣으면 30/30 붕괴, 라우팅에만 쓰면 안정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B.11의 직접 선례. B.11은 hard argmin VQ. soft 게이트 + persistence 축소 페널티 팔을 자매로 두면 §5-3 반증 시 다음 후보가 준비됨</a:t>
                      </a:r>
                    </a:p>
                  </a:txBody>
                  <a:tcPr marL="54864" marR="54864" marT="18288" marB="18288" anchor="ctr"/>
                </a:tc>
              </a:tr>
              <a:tr h="747776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학습 상태추정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2022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KalmanNet, KalmanFormer, Bayesian KalmanNet (TSP 2025), Unscented KalmanNet, DLFM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프로세스 모델은 두고 칼만 이득만 학습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"지금은 persistence를 믿는다 / 보정한다"의 원리적 형태가 칼만 이득. 인과 GP를 프로세스 모델로, 고속 채널을 관측으로, 이득을 소형 GRU로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이분산 · 강건 회귀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2023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가우시안 NLL 병리, β-NLL, Toto의 Student-t, 이분산 신경망 대리모델(Thomson, 2026)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예측 분산이 평균 그래디언트를 오염시키므로 stop-grad나 별도 헤드 필요. 핵융합 분광에서는 이중 헤드 이분산이 등분산 대비 RMSE 20 % 이상 개선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§8aq가 지목한 유일한 미개봉 축이고 이제 핵융합 도메인 선례도 있다. conformal은 사후 구간이지 학습 손실이 아님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표형 모델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벤치마크 111개 데이터셋 × 20개 모델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작은 표형 데이터에선 GBM이 딥을 자주 이김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b3k8 행 특징 위 LightGBM · TabPFN-v2 회귀는 하루짜리 대조군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문헌 조사 (3/4): 구조적으로 동형인 분야에서 반복되는 교훈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5216" y="2029967"/>
          <a:ext cx="1102766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376"/>
                <a:gridCol w="858711"/>
                <a:gridCol w="2124181"/>
                <a:gridCol w="2892502"/>
                <a:gridCol w="298289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동형 관계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주류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교훈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혼합주기 나우캐스팅 MIDAS (경제)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2023 ~ 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고빈도 입력으로 저빈도 타깃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U-MIDAS + 소형 NN 라그 가중, GP-MIDAS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파라메트릭 라그 구조로 충분. 우리 reach 사다리 · b3k8과 같은 결론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저가 센서 보정 (대기질)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밀집 저가 센서로 희소 기준 측정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LSTM · GBM, 기준국에서 먼 센서는 도메인 적응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캠페인 이동(§8n)과 shot별 표준화(§8s)가 같은 처방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커프리스 혈압 PPG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연속 파형으로 간헐 기준값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CNN+Transformer 병렬 등 다양. 보정 기반 &gt; 보정 없음, 전 구성이 BHS D등급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개체별 보정이 구조보다 큼. 우리의 §8s와 동일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구조 가상 센싱 SHM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2025 ~ 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희소 센서로 전체장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칼만 · 물리유도 그래프 칼만(PiGGO) · PDE 제약 최적화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상태추정 프레임이 주류. §8t의 프레이밍 재확인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멀티태스크 가상센서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수백 타깃 통합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입력 선택을 학습하는 단일 모델. 계산 415배 · 메모리 951배 절감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타깃 2개인 우리와 무관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붕괴 예측 합성 진단 (EAST → J-TEXT)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데이터 없는 장치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NIMROD 합성 진단 + 푸리에 도메인 적응, 50 → 57 %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V_rot에 NBI가 없다면 합성 토크 채널은 시뮬레이션에서만 올 수 있음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5216" y="4803647"/>
            <a:ext cx="11027664" cy="48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ea typeface="맑은 고딕"/>
                <a:cs typeface="맑은 고딕"/>
              </a:rPr>
              <a:t>동형 분야가 반복해 말하는 것은 표현력이 아니라 개체별 보정과 상태추정 프레임이며, 이는 본 연구의 shot별 표준화와 전체격자 인과 프레이밍이 이미 취한 선택이다.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250">
                <a:ea typeface="맑은 고딕"/>
                <a:cs typeface="맑은 고딕"/>
              </a:rPr>
              <a:t>문헌 조사 (4/4): 문헌이 지목하는 다음 팔은 표현력이 아니라 손실 · 게이팅 · 입력이다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29967"/>
            <a:ext cx="11027664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ea typeface="맑은 고딕"/>
                <a:cs typeface="맑은 고딕"/>
              </a:rPr>
              <a:t>각 행은 통제 변수가 하나이며, TEST를 여는 팔은 사전등록 뒤에만 실행한다.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2400807"/>
          <a:ext cx="11027661" cy="312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34"/>
                <a:gridCol w="3886799"/>
                <a:gridCol w="2350157"/>
                <a:gridCol w="1627032"/>
                <a:gridCol w="25309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실험 팔 (통제 변수 하나)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출처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ea typeface="맑은 고딕"/>
                          <a:cs typeface="맑은 고딕"/>
                        </a:rPr>
                        <a:t>사전등록 판정 지표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seq_v2 손실을 σ_meas 가중 Huber 또는 Student-t NLL로 교체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COMPASS · Toto · §8aq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재학습 4 × 3 seed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벌크 MAD skill 개선, 총합 MSE 비열세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B.11 자매 팔: soft 게이트 + persistence 축소 페널티, 기저 = 인과 GP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RG-ResMoE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b3k8 위 소형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조용 3분위 승률 +0.05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KalmanNet 팔: 프로세스 = 인과 GP, 관측 = 고속 15채널, 이득 = 소형 GRU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KalmanNet 계열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신규 코드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조용 3분위 승률 + 구간 보정</a:t>
                      </a:r>
                    </a:p>
                  </a:txBody>
                  <a:tcPr marL="54864" marR="54864" marT="18288" marB="18288" anchor="ctr"/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CES 재분석: NN-CES 산출과 적합 품질 메타데이터를 확보해 값 컷을 품질 컷으로 바꾼다 (결측 자체가 줄어든다는 기대는 §8at에서 철회)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NN-CES · SVMR+GPR · mtanh 적합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KFE 데이터 요청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두 공동 1차 모집단이 하나로 합쳐질 것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V_rot 입력 확장: 원시 kHz Mirnov 특징(B.6 A1) · NBI 토크 채널 · KSTAR XICS 회전 채널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EAST XCS · XICS↔CES 교차 검증 · PanoMHD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데이터 획득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변동 3분위 V_rot 승률이 먼저 오를 것</a:t>
                      </a:r>
                    </a:p>
                  </a:txBody>
                  <a:tcPr marL="54864" marR="54864" marT="18288" marB="18288" anchor="ctr"/>
                </a:tc>
              </a:tr>
              <a:tr h="401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제로샷 대조군: TabPFN-v2 회귀(행 특징) · TiRex-2 / Chronos-2(과거 공변량)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fev-bench · TSI-Bench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학습 없음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인과 GP 대비 4/4</a:t>
                      </a:r>
                    </a:p>
                  </a:txBody>
                  <a:tcPr marL="54864" marR="54864" marT="18288" marB="18288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FusionMAE식 사전학습 후 미세조정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FusionMAE · TokaMind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GPU 필요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ea typeface="맑은 고딕"/>
                          <a:cs typeface="맑은 고딕"/>
                        </a:rPr>
                        <a:t>기대 이득 ≈ 0, 순위 최하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04088"/>
            <a:ext cx="11027664" cy="1014984"/>
          </a:xfrm>
        </p:spPr>
        <p:txBody>
          <a:bodyPr wrap="square"/>
          <a:lstStyle/>
          <a:p>
            <a:r>
              <a:rPr b="0" sz="2800">
                <a:ea typeface="맑은 고딕"/>
                <a:cs typeface="맑은 고딕"/>
              </a:rPr>
              <a:t>권하지 않는 방향과, 열려 있는 V_rot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176272"/>
            <a:ext cx="11027664" cy="367588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권하지 않는 방향은 다음 셋이다.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CNN 뒤 Transformer와 VAE 잠재는 표현력 축이며 세 번 닫혔다(§8aa · §8ag · §8aq).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Neural CDE 계열은 규칙 10 ms 격자에서 이미 음성으로 판정되었다(§8e).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확산 대체는 추론이 느리고 점 결측 벤치마크에서 선형보간에 진다(TSI-Bench).</a:t>
            </a:r>
          </a:p>
          <a:p>
            <a:pPr>
              <a:spcAft>
                <a:spcPts val="600"/>
              </a:spcAft>
            </a:pPr>
            <a:r>
              <a:rPr sz="1800">
                <a:ea typeface="맑은 고딕"/>
                <a:cs typeface="맑은 고딕"/>
              </a:rPr>
              <a:t>회전은 닫힌 결론이 아니라 열린 과제이다.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V_rot는 열린 과제이며 닫힌 결론이 아니다.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§8ar의 항별 감사는 현재 입력이 닿는 항이 없음을 보였을 뿐이다.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그것을 뒤집을 측정이 함께 지목되어 있다: 원시 kHz Mirnov(B.6, shot 집합 동결),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NBI 토크 채널, CES 피팅 품질 메타데이터, 그리고 도플러 분광 입력의 확보이다.</a:t>
            </a:r>
          </a:p>
          <a:p>
            <a:pPr lvl="1">
              <a:spcAft>
                <a:spcPts val="300"/>
              </a:spcAft>
            </a:pPr>
            <a:r>
              <a:rPr sz="1600">
                <a:ea typeface="맑은 고딕"/>
                <a:cs typeface="맑은 고딕"/>
              </a:rPr>
              <a:t>지금도 Δt &gt; 15 ms와 peak 층에서는 +0.54 ~ +0.79로 이긴다.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분할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분할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분할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2801</TotalTime>
  <Words>931</Words>
  <Application>Microsoft Office PowerPoint</Application>
  <PresentationFormat>와이드스크린</PresentationFormat>
  <Paragraphs>94</Paragraphs>
  <Slides>18</Slides>
  <Notes>3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Google Sans Text</vt:lpstr>
      <vt:lpstr>맑은 고딕</vt:lpstr>
      <vt:lpstr>Gill Sans MT</vt:lpstr>
      <vt:lpstr>Helvetica</vt:lpstr>
      <vt:lpstr>Wingdings</vt:lpstr>
      <vt:lpstr>Wingdings 2</vt:lpstr>
      <vt:lpstr>분할</vt:lpstr>
      <vt:lpstr>Improvement of CES Terminal Resolution at KSTAR Pedestal Top via Multimodal Neural Networks Using Muti-Diagnostic Data (BES, ECEI, Mirnov Coil)</vt:lpstr>
      <vt:lpstr>PowerPoint 프레젠테이션</vt:lpstr>
      <vt:lpstr>Introduction</vt:lpstr>
      <vt:lpstr>구체적인 연구 계획과 목표</vt:lpstr>
      <vt:lpstr>왜 이 연구를 해야하는가</vt:lpstr>
      <vt:lpstr>왜 이 연구를 해야하는가</vt:lpstr>
      <vt:lpstr>연구를 통해 기대되는 효과</vt:lpstr>
      <vt:lpstr>Theoretical Backgrounds</vt:lpstr>
      <vt:lpstr>KstAr diagnostics layout</vt:lpstr>
      <vt:lpstr>methods</vt:lpstr>
      <vt:lpstr>데이터셋 수집 기준</vt:lpstr>
      <vt:lpstr>데이터셋 수집 기준</vt:lpstr>
      <vt:lpstr>Data 처리 pipeline</vt:lpstr>
      <vt:lpstr>DATASET</vt:lpstr>
      <vt:lpstr>시간 축 설정 방법</vt:lpstr>
      <vt:lpstr>REsults</vt:lpstr>
      <vt:lpstr>질문 정리</vt:lpstr>
      <vt:lpstr>월드 모델로의 전환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김하빈</dc:creator>
  <cp:lastModifiedBy>lss</cp:lastModifiedBy>
  <cp:revision>194</cp:revision>
  <dcterms:created xsi:type="dcterms:W3CDTF">2025-11-13T08:47:20Z</dcterms:created>
  <dcterms:modified xsi:type="dcterms:W3CDTF">2026-05-03T00:37:07Z</dcterms:modified>
</cp:coreProperties>
</file>