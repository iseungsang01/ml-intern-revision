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74" r:id="rId1"/>
  </p:sldMasterIdLst>
  <p:notesMasterIdLst>
    <p:notesMasterId r:id="rId20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6"/>
    <p:sldId id="270" r:id="rId5"/>
    <p:sldId id="271" r:id="rId4"/>
    <p:sldId id="272" r:id="rId3"/>
    <p:sldId id="273" r:id="rId2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C16E1794-A788-4134-BEF9-366545E25A22}">
          <p14:sldIdLst>
            <p14:sldId id="299"/>
            <p14:sldId id="325"/>
            <p14:sldId id="281"/>
            <p14:sldId id="318"/>
            <p14:sldId id="312"/>
            <p14:sldId id="316"/>
            <p14:sldId id="317"/>
            <p14:sldId id="259"/>
            <p14:sldId id="300"/>
            <p14:sldId id="284"/>
            <p14:sldId id="320"/>
            <p14:sldId id="319"/>
            <p14:sldId id="322"/>
            <p14:sldId id="315"/>
            <p14:sldId id="326"/>
            <p14:sldId id="288"/>
          </p14:sldIdLst>
        </p14:section>
        <p14:section name="질문 정리" id="{63306DBA-ED7F-46B9-8AE3-B122BD8D49F7}">
          <p14:sldIdLst>
            <p14:sldId id="323"/>
          </p14:sldIdLst>
        </p14:section>
        <p14:section name="기타" id="{04312123-6EEA-40BA-93F8-1778982C6DA3}">
          <p14:sldIdLst>
            <p14:sldId id="30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489"/>
    <p:restoredTop sz="88482" autoAdjust="0"/>
  </p:normalViewPr>
  <p:slideViewPr>
    <p:cSldViewPr snapToGrid="0">
      <p:cViewPr varScale="1">
        <p:scale>
          <a:sx n="73" d="100"/>
          <a:sy n="73" d="100"/>
        </p:scale>
        <p:origin x="542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8.xml"/><Relationship Id="rId3" Type="http://schemas.openxmlformats.org/officeDocument/2006/relationships/slide" Target="slides/slide17.xml"/><Relationship Id="rId4" Type="http://schemas.openxmlformats.org/officeDocument/2006/relationships/slide" Target="slides/slide16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0AF299-1A1E-6245-AEFA-AC1BD23D9692}" type="datetimeFigureOut">
              <a:rPr kumimoji="1" lang="ko-KR" altLang="en-US" smtClean="0"/>
              <a:t>2026-05-03</a:t>
            </a:fld>
            <a:endParaRPr kumimoji="1"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D9D144-CCF1-644D-916F-034919B88698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8286971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논문: docs/paper/main_ko.tex. 이 덱의 모든 수치는 그 파일에서 그대로 옮겼다.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sec:intro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sec:intro, 그림 fig:missing. 결측률은 확정 프로토콜(유지값 제거) 기준이다.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sec:intro, '의도적으로 어려운 기준선' 문단.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sec:intro '기여' 열거. 논문은 아홉 항목이며 여기서는 다섯으로 묶었다.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sec:related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sec:related. 표현 규칙은 docs/paper/NOVELTY.md — 부재가 아니라 확장으로 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sec:related, '교차 진단 재구성과 시간 조밀화' 문단의 (i)~(iv) 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sec:data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sec:data 데이터셋 문단.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그림 fig:missing (docs/paper/figures/fig_missing.png).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sec:framing.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sec:data 설계 원칙. (ii)의 shot별 표준화가 sec:campaign에서 결정적으로 작동한다.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sec:stuck.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sec:spikes, 민감도는 sec:cutsens.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sec:model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sec:model:target, 식 (1)·(2). 재현성 상한 근거는 THESIS_RESULTS.md §8aq.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sec:model:physics, 표 tab:torque. 산출물은 data/.physics_scales.json (§8ar).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sec:model:scales, 식 (3)·(4).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sec:model:backbone / sec:model:window / sec:model:rung.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sec:model:optim, 식 (5).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sec:eval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sec:eval 지표·기준선 사다리 문단.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sec:eval 사전등록·bootstrap·MNAR 문단. 프로토콜 문서는 experiments/PREREGISTRATION_W2.md.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sec:results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표 tab:ladder, 그림 fig:ladder. 포함 모집단은 순서를 바꾸지 않는다(seq_v2 363.0 / 23.7, PCHIP 412.4 / 30.2, 인과 GP 394.6 / 28.8).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표 tab:headline, sec:headline. 오프라인 GP에 대해서는 8개 중 1개 셀만 유의하므로 동률이다.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그림 fig:forest.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sec:gate. 이후 4개 확정 분할에서 같은 비교는 8/8 양수이고 각 모집단에서 2/4 유의다.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표 tab:gap, sec:gap.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표 tab:mnar, sec:mnar.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표 tab:campaign, 그림 fig:campaign, sec:campaign. 남는 단서: 하나의 시간 test 블록이며 컷 실행 4개 중 2개는 30-epoch 상한에서 멈췄다.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그림 fig:campaign.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표 tab:ablation, sec:asym.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그림 fig:ablation.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표 tab:window, sec:window. 이 스윕은 컷보다 앞서므로 포함 모집단 기준이다.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표 tab:ladder2, 그림 fig:ladder_scaling, sec:ladder. 선형 probe 결과도 같은 절에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그림 fig:peak, sec:peak. 계층 분류는 타겟 행을 제외한 입력 측 대리 지표로만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표 tab:pooled, sec:context. 4/4 계수는 한 스텝 간격에서 단조가 아니므로 판정은 결손으로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표 tab:family·tab:cost, sec:context. V_rot는 네 계열 모두에서 문맥이 길어질수록 나빠진다.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표 tab:stress.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sec:selection / sec:deploy / sec:headroom / sec:limits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sec:selection.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sec:deploy. 지연시간은 전원 상태에 따라 실행 간 최대 2배 변동한다.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sec:headroom. 문헌의 양성 대조: 빔 액추에이터를 입력으로 받는 DIII-D 전방전 시뮬레이터.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sec:limits.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sec:conclusion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sec:conclusion 뒤의 재현성·코드 가용성·데이터 가용성 소절.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3FB0B5F-097D-1940-8AD7-D9FADDA53E52}" type="datetimeFigureOut">
              <a:rPr kumimoji="1" lang="ko-KR" altLang="en-US" smtClean="0"/>
              <a:t>2026-05-03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F47C9037-D820-8C46-AFEF-63E722C5F974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6158550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B0B5F-097D-1940-8AD7-D9FADDA53E52}" type="datetimeFigureOut">
              <a:rPr kumimoji="1" lang="ko-KR" altLang="en-US" smtClean="0"/>
              <a:t>2026-05-03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F47C9037-D820-8C46-AFEF-63E722C5F974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8947524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3FB0B5F-097D-1940-8AD7-D9FADDA53E52}" type="datetimeFigureOut">
              <a:rPr kumimoji="1" lang="ko-KR" altLang="en-US" smtClean="0"/>
              <a:t>2026-05-03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F47C9037-D820-8C46-AFEF-63E722C5F974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4391574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5"/>
            <a:ext cx="11300036" cy="87126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60037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B0B5F-097D-1940-8AD7-D9FADDA53E52}" type="datetimeFigureOut">
              <a:rPr kumimoji="1" lang="ko-KR" altLang="en-US" smtClean="0"/>
              <a:t>2026-05-03</a:t>
            </a:fld>
            <a:endParaRPr kumimoji="1"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C9037-D820-8C46-AFEF-63E722C5F974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7439690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B0B5F-097D-1940-8AD7-D9FADDA53E52}" type="datetimeFigureOut">
              <a:rPr kumimoji="1" lang="ko-KR" altLang="en-US" smtClean="0"/>
              <a:t>2026-05-03</a:t>
            </a:fld>
            <a:endParaRPr kumimoji="1"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C9037-D820-8C46-AFEF-63E722C5F974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3415360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B0B5F-097D-1940-8AD7-D9FADDA53E52}" type="datetimeFigureOut">
              <a:rPr kumimoji="1" lang="ko-KR" altLang="en-US" smtClean="0"/>
              <a:t>2026-05-03</a:t>
            </a:fld>
            <a:endParaRPr kumimoji="1"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C9037-D820-8C46-AFEF-63E722C5F974}" type="slidenum">
              <a:rPr kumimoji="1" lang="ko-KR" altLang="en-US" smtClean="0"/>
              <a:t>‹#›</a:t>
            </a:fld>
            <a:endParaRPr kumimoji="1" lang="ko-KR" altLang="en-US"/>
          </a:p>
        </p:txBody>
      </p:sp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05986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B0B5F-097D-1940-8AD7-D9FADDA53E52}" type="datetimeFigureOut">
              <a:rPr kumimoji="1" lang="ko-KR" altLang="en-US" smtClean="0"/>
              <a:t>2026-05-03</a:t>
            </a:fld>
            <a:endParaRPr kumimoji="1"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C9037-D820-8C46-AFEF-63E722C5F974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6521577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3FB0B5F-097D-1940-8AD7-D9FADDA53E52}" type="datetimeFigureOut">
              <a:rPr kumimoji="1" lang="ko-KR" altLang="en-US" smtClean="0"/>
              <a:t>2026-05-03</a:t>
            </a:fld>
            <a:endParaRPr kumimoji="1"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kumimoji="1"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F47C9037-D820-8C46-AFEF-63E722C5F974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741065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B0B5F-097D-1940-8AD7-D9FADDA53E52}" type="datetimeFigureOut">
              <a:rPr kumimoji="1" lang="ko-KR" altLang="en-US" smtClean="0"/>
              <a:t>2026-05-03</a:t>
            </a:fld>
            <a:endParaRPr kumimoji="1"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C9037-D820-8C46-AFEF-63E722C5F974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3698843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B0B5F-097D-1940-8AD7-D9FADDA53E52}" type="datetimeFigureOut">
              <a:rPr kumimoji="1" lang="ko-KR" altLang="en-US" smtClean="0"/>
              <a:t>2026-05-03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C9037-D820-8C46-AFEF-63E722C5F974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415314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3FB0B5F-097D-1940-8AD7-D9FADDA53E52}" type="datetimeFigureOut">
              <a:rPr kumimoji="1" lang="ko-KR" altLang="en-US" smtClean="0"/>
              <a:t>2026-05-03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F47C9037-D820-8C46-AFEF-63E722C5F974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41536440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3FB0B5F-097D-1940-8AD7-D9FADDA53E52}" type="datetimeFigureOut">
              <a:rPr kumimoji="1" lang="ko-KR" altLang="en-US" smtClean="0"/>
              <a:t>2026-05-03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F47C9037-D820-8C46-AFEF-63E722C5F974}" type="slidenum">
              <a:rPr kumimoji="1" lang="ko-KR" altLang="en-US" smtClean="0"/>
              <a:t>‹#›</a:t>
            </a:fld>
            <a:endParaRPr kumimoji="1" lang="ko-KR" altLang="en-US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05419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75" r:id="rId1"/>
    <p:sldLayoutId id="2147484076" r:id="rId2"/>
    <p:sldLayoutId id="2147484077" r:id="rId3"/>
    <p:sldLayoutId id="2147484078" r:id="rId4"/>
    <p:sldLayoutId id="2147484079" r:id="rId5"/>
    <p:sldLayoutId id="2147484080" r:id="rId6"/>
    <p:sldLayoutId id="2147484081" r:id="rId7"/>
    <p:sldLayoutId id="2147484082" r:id="rId8"/>
    <p:sldLayoutId id="2147484083" r:id="rId9"/>
    <p:sldLayoutId id="2147484084" r:id="rId10"/>
    <p:sldLayoutId id="2147484085" r:id="rId11"/>
  </p:sldLayoutIdLst>
  <p:txStyles>
    <p:titleStyle>
      <a:lvl1pPr algn="l" defTabSz="457200" rtl="0" eaLnBrk="1" latinLnBrk="1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latinLnBrk="1" hangingPunct="1">
        <a:defRPr>
          <a:solidFill>
            <a:schemeClr val="tx2"/>
          </a:solidFill>
        </a:defRPr>
      </a:lvl2pPr>
      <a:lvl3pPr eaLnBrk="1" latinLnBrk="1" hangingPunct="1">
        <a:defRPr>
          <a:solidFill>
            <a:schemeClr val="tx2"/>
          </a:solidFill>
        </a:defRPr>
      </a:lvl3pPr>
      <a:lvl4pPr eaLnBrk="1" latinLnBrk="1" hangingPunct="1">
        <a:defRPr>
          <a:solidFill>
            <a:schemeClr val="tx2"/>
          </a:solidFill>
        </a:defRPr>
      </a:lvl4pPr>
      <a:lvl5pPr eaLnBrk="1" latinLnBrk="1" hangingPunct="1">
        <a:defRPr>
          <a:solidFill>
            <a:schemeClr val="tx2"/>
          </a:solidFill>
        </a:defRPr>
      </a:lvl5pPr>
      <a:lvl6pPr eaLnBrk="1" latinLnBrk="1" hangingPunct="1">
        <a:defRPr>
          <a:solidFill>
            <a:schemeClr val="tx2"/>
          </a:solidFill>
        </a:defRPr>
      </a:lvl6pPr>
      <a:lvl7pPr eaLnBrk="1" latinLnBrk="1" hangingPunct="1">
        <a:defRPr>
          <a:solidFill>
            <a:schemeClr val="tx2"/>
          </a:solidFill>
        </a:defRPr>
      </a:lvl7pPr>
      <a:lvl8pPr eaLnBrk="1" latinLnBrk="1" hangingPunct="1">
        <a:defRPr>
          <a:solidFill>
            <a:schemeClr val="tx2"/>
          </a:solidFill>
        </a:defRPr>
      </a:lvl8pPr>
      <a:lvl9pPr eaLnBrk="1" latin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1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1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1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1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1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1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1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1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1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1792" y="868680"/>
            <a:ext cx="10954512" cy="1773936"/>
          </a:xfrm>
        </p:spPr>
        <p:txBody>
          <a:bodyPr wrap="square" anchor="ctr"/>
          <a:lstStyle/>
          <a:p>
            <a:r>
              <a:rPr sz="3000" b="1">
                <a:ea typeface="맑은 고딕"/>
                <a:cs typeface="맑은 고딕"/>
              </a:rPr>
              <a:t>KSTAR 희소 전하교환분광(CES) 신호의 멀티모달 나우캐스팅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96112" y="4965192"/>
            <a:ext cx="10451592" cy="1024128"/>
          </a:xfrm>
        </p:spPr>
        <p:txBody>
          <a:bodyPr wrap="square"/>
          <a:lstStyle/>
          <a:p>
            <a:r>
              <a:rPr sz="1700">
                <a:ea typeface="맑은 고딕"/>
                <a:cs typeface="맑은 고딕"/>
              </a:rPr>
              <a:t>고속 진단은 미래를 보는 보간을 넘어 이온온도를 복원하지만 토로이달 회전은 복원하지 못한다</a:t>
            </a:r>
          </a:p>
          <a:p>
            <a:r>
              <a:rPr sz="1400">
                <a:ea typeface="맑은 고딕"/>
                <a:cs typeface="맑은 고딕"/>
              </a:rPr>
              <a:t>Department of Nuclear Engineering, Seoul National University, Seoul, Korea</a:t>
            </a:r>
          </a:p>
          <a:p>
            <a:r>
              <a:rPr sz="1400">
                <a:ea typeface="맑은 고딕"/>
                <a:cs typeface="맑은 고딕"/>
              </a:rPr>
              <a:t>이승상 (Seungsang Lee)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발표 순서는 논문의 절 순서를 그대로 따른다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1. 서론 — CES 결측이라는 문제, 연구 질문, 그리고 의도적으로 불리하게 세운 기준선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2. 관련 연구 — 세 갈래의 선행 연구와 그 안에서 본 연구가 놓이는 자리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3. 데이터와 문제 설정 — 641개 방전, 두 가지 프레이밍, 두 번의 데이터 품질 감사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4. 모델 — 손실과 환원 불가능한 하한, 보존식이 정하는 입력 라우팅, 시퀀스 백본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5. 평가 방법론 — 사전등록 규칙, 기준선 사다리, shot 군집 paired bootstrap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6. 결과 — 헤드라인, 두 개의 스트레스 테스트, 정보 비대칭, 복잡도 사다리, 문맥과 비용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7. 모델 선택 프로토콜 — 모든 결정 규칙은 그것이 결정할 수치보다 먼저 적혔다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8. 배치 가능한가 — 상태 유지형 1-스텝 지연시간과 분포 무가정 예측 구간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9. 남은 개선 여지 · 10. 한계 — 부정 결과마다 그것을 뒤집을 측정을 지목한다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11. 결론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53128" y="1508760"/>
            <a:ext cx="7296912" cy="3703320"/>
          </a:xfrm>
        </p:spPr>
        <p:txBody>
          <a:bodyPr wrap="square" anchor="ctr"/>
          <a:lstStyle/>
          <a:p>
            <a:r>
              <a:rPr b="0" sz="4800">
                <a:solidFill>
                  <a:schemeClr val="accent1"/>
                </a:solidFill>
                <a:ea typeface="맑은 고딕"/>
                <a:cs typeface="맑은 고딕"/>
              </a:rPr>
              <a:t>Introduction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450">
                <a:ea typeface="맑은 고딕"/>
                <a:cs typeface="맑은 고딕"/>
              </a:rPr>
              <a:t>CES는 이온온도와 회전을 재는 표준 진단이지만 느리고 간헐적으로 결측된다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전하교환분광(CES)은 전하교환 선방출의 도플러 확장에서 이온온도 T_i를, 도플러 이동에서 토로이달 회전 V_rot를 추정한다.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충분한 신호대잡음비를 위해 광자를 적분해야 하므로 본질적으로 느리고, 개별 시점 측정은 노출·신호품질 문제로 자주 소실된다.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본 연구의 균일한 10 ms 격자에서 T_i는 8.2 %, V_rot는 23.9 %가 서로 독립적으로 결측된다.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V_rot는 여기에 더해 41.1 %가 직전 관측을 반복하는 계측기 유지값이어서, 격자의 65.0 %가 독립적인 V_rot 정보를 갖지 않는다.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결측은 저신호 구간·ELM·천이에 집중되므로 무작위적이지 않다(MNAR).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한편 BES·ECEI·Mirnov 코일은 같은 플라즈마를 결측 없이 관측한다. 다만 이들 중 어느 것도 T_i나 V_rot를 직접 측정하지 않는다.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연구 질문과, 의도적으로 모델에 불리하게 세운 기준선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질문: CES가 결측된 10 ms 시점에서, 동시각 고속 진단과 불규칙한 과거 CES 이력만으로 CES 단독의 시간 보간이 복원할 수 없는 정보를 회복할 수 있는가.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비교는 모델에 불리하게 설계하였다. 보간 기준선(선형, PCHIP, 국소 AR, 가우시안 과정)은 오프라인으로 타겟 시점 양쪽의 CES 이웃을 쓴다.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모델은 엄격히 인과적이며 타겟 시점까지의 고속 진단과 과거 CES 이력만 본다.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인과 모델이 미래를 쓰는 보간을 이긴다면, 고속 진단이 CES의 시간 구조만으로는 담을 수 없는 정보를 운반한다는 뜻이다.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배치 가능한 가장 강한 경쟁자는 persistence가 아니라 과거만 쓰는 평활기이므로, 인과 GP 팔을 추가하고 그에 대한 성능을 따로 보고한다.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긍정적 답은 강한 역산 가정 없이 CES 결측을 온라인으로 채우는 데이터 기반 가상 센서를 정당화한다.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기여는 다섯 가지로 요약된다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576"/>
              </a:spcAft>
            </a:pPr>
            <a:r>
              <a:rPr sz="1730">
                <a:ea typeface="맑은 고딕"/>
                <a:cs typeface="맑은 고딕"/>
              </a:rPr>
              <a:t>① 희소 타겟 나우캐스팅을 위한 인과적 전체격자 프레이밍. 라벨 없는 행을 버리는 대신 맥락으로 유지하고 희소성을 손실로 옮긴다.</a:t>
            </a:r>
          </a:p>
          <a:p>
            <a:pPr lvl="1">
              <a:spcAft>
                <a:spcPts val="288"/>
              </a:spcAft>
            </a:pPr>
            <a:r>
              <a:rPr sz="1540">
                <a:ea typeface="맑은 고딕"/>
                <a:cs typeface="맑은 고딕"/>
              </a:rPr>
              <a:t>짝지은 윈도 대조군 대비 통합 T_i skill +0.081(16회 실행, CI [+0.067, +0.096], 16/16 양수)이며 학습 비용은 오히려 더 싸다.</a:t>
            </a:r>
          </a:p>
          <a:p>
            <a:pPr>
              <a:spcAft>
                <a:spcPts val="576"/>
              </a:spcAft>
            </a:pPr>
            <a:r>
              <a:rPr sz="1730">
                <a:ea typeface="맑은 고딕"/>
                <a:cs typeface="맑은 고딕"/>
              </a:rPr>
              <a:t>② 사전등록된 두-모집단 shot 군집 평가 프로토콜. W=2, 유지값 전 구간 제거, 피팅 실패 0.53 %에 대한 두 공동 1차 모집단, 선택이 읽지 않는 test 셋.</a:t>
            </a:r>
          </a:p>
          <a:p>
            <a:pPr>
              <a:spcAft>
                <a:spcPts val="576"/>
              </a:spcAft>
            </a:pPr>
            <a:r>
              <a:rPr sz="1730">
                <a:ea typeface="맑은 고딕"/>
                <a:cs typeface="맑은 고딕"/>
              </a:rPr>
              <a:t>③ T_i에 대한 강건한 긍정 결과. 미래를 쓰는 PCHIP 대비 skill +0.17~+0.32로 두 모집단의 4개 분할 전부에서 PASS이고, 8개 셀 전부에서 인과 GP를 이긴다.</a:t>
            </a:r>
          </a:p>
          <a:p>
            <a:pPr>
              <a:spcAft>
                <a:spcPts val="576"/>
              </a:spcAft>
            </a:pPr>
            <a:r>
              <a:rPr sz="1730">
                <a:ea typeface="맑은 고딕"/>
                <a:cs typeface="맑은 고딕"/>
              </a:rPr>
              <a:t>④ V_rot에 대한 물리 기반 부정 결과. 동률이며(1/4·2/4 유의) 고속 진단을 0으로 만들어도 출력이 비트 단위로 동일하다.</a:t>
            </a:r>
          </a:p>
          <a:p>
            <a:pPr>
              <a:spcAft>
                <a:spcPts val="576"/>
              </a:spcAft>
            </a:pPr>
            <a:r>
              <a:rPr sz="1730">
                <a:ea typeface="맑은 고딕"/>
                <a:cs typeface="맑은 고딕"/>
              </a:rPr>
              <a:t>⑤ 두 개의 스트레스 테스트(MNAR 재가중·캠페인 이동), 복잡도와 크기 축의 종결, 문맥과 구조의 분리, 그리고 측정된 배치 가능성.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53128" y="1508760"/>
            <a:ext cx="7296912" cy="3703320"/>
          </a:xfrm>
        </p:spPr>
        <p:txBody>
          <a:bodyPr wrap="square" anchor="ctr"/>
          <a:lstStyle/>
          <a:p>
            <a:r>
              <a:rPr b="0" sz="4800">
                <a:solidFill>
                  <a:schemeClr val="accent1"/>
                </a:solidFill>
                <a:ea typeface="맑은 고딕"/>
                <a:cs typeface="맑은 고딕"/>
              </a:rPr>
              <a:t>Related Works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650">
                <a:ea typeface="맑은 고딕"/>
                <a:cs typeface="맑은 고딕"/>
              </a:rPr>
              <a:t>선행 연구는 세 갈래이며, 세 갈래 모두 타겟이 측정되어 있다고 가정한다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프로파일 피팅과 결측 보간. 가우시안 과정 회귀는 핵융합 프로파일의 커뮤니티 표준이고, PCHIP 같은 단조 보간은 과도 현상 근방에서 선호된다.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본 연구는 persistence·선형·PCHIP·국소 AR 사다리를 사전등록 기준선으로 쓰고 PCHIP을 헤드라인 비교 대상으로 삼는다.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신경망 진단 추론. 스펙트럼 피팅 가속, 한 진단의 추론 파이프라인 대체, 느린 재구성 코드의 종단간 대리모형의 세 갈래가 있다.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이들은 분석 지연시간을 다루지 측정 가용성을 다루지 않는다. CES 노출이 결측되면 입력 자체가 없다.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교차 진단 재구성과 시간 조밀화. Diag2Diag, COMPASS 시간 초해상, FusionMAE, RTCAKENN이 활발한 계열을 이룬다.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본 연구는 이 계열을 이어받되, 자기 자신의 측정이 없는 시점을 대상으로 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본 연구는 가장 가까운 계열을 세 축으로 확장한다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502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계보를 인정한 뒤 세 축으로 확장한다: 전자 채널에서 희소 이온 채널로, 동시각 매핑에서 인과 추정으로, 가정된 재구성 가능성에서 타겟별 검정으로.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605531"/>
          <a:ext cx="11027662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5532"/>
                <a:gridCol w="3675888"/>
                <a:gridCol w="2940710"/>
                <a:gridCol w="2205532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선행 연구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타겟 채널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인과성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미래 사용 보간을 기준선으로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Diag2Diag (DIII-D)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Thomson T_e·n_e (조밀 전자 채널)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동시각, 기억 없음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없음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COMPASS 시간 초해상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Thomson 프로파일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동시각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없음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RTCAKENN (DIII-D)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운동학 프로파일 (입력 dropout 강건성)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실시간, 인과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없음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EAST XCS 추론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T_i·회전 (같은 도플러 분광 입력)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순간 매핑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없음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FusionMAE (HL-3)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임의 마스킹 채널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윈도 내 재구성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없음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KSTAR EPED 재구성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프로파일 (CES를 입력으로 사용)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재구성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없음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본 연구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희소 이온 채널 T_i·V_rot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타겟 자신의 불규칙 과거에 조건화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PCHIP·오프라인 GP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5216" y="4891532"/>
            <a:ext cx="11027664" cy="2898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>
                <a:ea typeface="맑은 고딕"/>
                <a:cs typeface="맑은 고딕"/>
              </a:rPr>
              <a:t>이 세 확장의 결합, 즉 희소 CXRS 이온 측정의 인과적 시간 결측 채움은 아직 다뤄지지 않았으며, 계열로부터의 이탈이 아니라 그 자연스러운 다음 단계다.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53128" y="1508760"/>
            <a:ext cx="7296912" cy="3703320"/>
          </a:xfrm>
        </p:spPr>
        <p:txBody>
          <a:bodyPr wrap="square" anchor="ctr"/>
          <a:lstStyle/>
          <a:p>
            <a:r>
              <a:rPr b="0" sz="4800">
                <a:solidFill>
                  <a:schemeClr val="accent1"/>
                </a:solidFill>
                <a:ea typeface="맑은 고딕"/>
                <a:cs typeface="맑은 고딕"/>
              </a:rPr>
              <a:t>Dataset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641개 KSTAR 방전을 공통 10 ms 격자에 정렬해 사용한다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데이터 제공 측이 하드웨어 일관성과 H-mode ELM 억제(RMP) 구간을 기준으로 선정한 641개 방전(shot 30801~32751), 총 247,207행(파일당 중앙값 339행)이다.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각 행은 BES 9채널, ECEI 4채널, Mirnov 코일 2채널, 시간, 그리고 두 CES 타겟 T_i·V_rot를 제공한다.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행은 0.5 s 이상의 시간 간극에서 연속 세그먼트로 묶인다. 이 임계값은 이봉 delta 분포의 골에 놓이며, 세그먼트 안에서 스텝의 99.4 %가 10 ms다.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전형적인 파일은 주 세그먼트 하나(중앙값 301행, 약 3.0 s)와 그로부터 멀리 떨어진 고립 단일행 몇 개로 이루어진다.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어떤 팔도, 보간이든 모델 입력이든 세그먼트 간극을 넘지 않는다.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250">
                <a:ea typeface="맑은 고딕"/>
                <a:cs typeface="맑은 고딕"/>
              </a:rPr>
              <a:t>T_i와 V_rot는 독립적으로 결측되므로 행 필터링이 아니라 타겟별 마스킹을 요구한다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597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ea typeface="맑은 고딕"/>
                <a:cs typeface="맑은 고딕"/>
              </a:rPr>
              <a:t>두 타겟이 함께 빠지지 않으므로, 두 타겟 모두를 요구하는 행 필터는 라벨 행의 약 28 %를 조용히 버린다.</a:t>
            </a:r>
          </a:p>
          <a:p>
            <a:pPr>
              <a:spcAft>
                <a:spcPts val="400"/>
              </a:spcAft>
            </a:pPr>
            <a:r>
              <a:rPr sz="1400">
                <a:ea typeface="맑은 고딕"/>
                <a:cs typeface="맑은 고딕"/>
              </a:rPr>
              <a:t>계측기 유지값까지 세면 격자의 65.0 %가 독립적인 V_rot 정보를 갖지 않는다.</a:t>
            </a:r>
          </a:p>
        </p:txBody>
      </p:sp>
      <p:pic>
        <p:nvPicPr>
          <p:cNvPr id="4" name="Picture 3" descr="fig_mis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" y="2737104"/>
            <a:ext cx="11027664" cy="288084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650">
                <a:ea typeface="맑은 고딕"/>
                <a:cs typeface="맑은 고딕"/>
              </a:rPr>
              <a:t>학습 예제에는 두 가지 프레이밍이 있고, 본 논문은 둘을 짝지어 비교한다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윈도 프레이밍(대조군)은 타겟 인덱스 t의 샘플을 직전 W개 격자 행으로 구성한다: bes (W,9), ecei (W,4), mc (W,2), 시간 특징 (W,4), CES 이력 (W,4).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시간 특징 넷은 lookback 초, 행간 delta 초와 각각의 log(1+x)이며, 과거 CES 값의 신뢰도가 10 ms 전인지 200 ms 전인지에 강하게 의존함을 노출한다.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CES 이력 넷은 직전 정규화 T_i, 직전 정규화 V_rot, 그리고 타겟마다 하나씩의 관측 플래그다. 본문 전체에서 W=2이다.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전체격자 시퀀스 프레이밍(주 모델)은 고속 진단에 결측이 없다는 점을 이용해, 입력이 완전한 모든 행을 라벨 유무와 무관하게 맥락으로 유지한다.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각 스텝은 엄격히 인과적인 22개 채널이다: z-score된 고속 15채널, log(1+Δt_prev), 그리고 타겟별 이월값·경과시간·과거 관측 플래그.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두 프레이밍 어느 쪽도 모델이 타겟 행 자신의 값을 읽게 하지 않는다.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설계 원칙은 셋이며, 셋 다 누수와 가짜 라벨을 막기 위한 것이다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가짜 라벨 금지. 학습 행을 만들기 위해 타겟을 대체(impute)하지 않는다. 윈도 프레이밍의 행은 입력이 완전하고 CES 타겟 중 적어도 하나가 실제로 관측된 경우에만 유지되며, 시퀀스 프레이밍에서 라벨 없는 행은 맥락으로만 기여한다.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타겟별 마스킹 손실. 손실은 관측된 타겟에 대해서만 계산되므로 한 타겟만 관측된 행도 그 타겟은 학습에 기여한다. 두-타겟-필수 필터를 제거한 것은 순수한 데이터 이득이다.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누수 방지 셋. (i) 파일 단위 분할을 디스크에 고정하고, (ii) 모든 z-score 통계를 학습 파일에서만 추정하며(시퀀스 모델은 여기에 각 방전 자신의 통계로 하는 입력 표준화를 더한다), (iii) 타겟 행 자신의 값과 관측 플래그는 입력에 결코 넣지 않는다.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데이터 품질 감사 1: 관측된 V_rot의 54 %는 계측기 유지값이다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같은 연속 시간 블록 안에서 직전 관측과 비트 단위로 동일한 반복이 최대 1,214행 이어지며, 641개 중 499개 파일이 영향을 받는다.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V_rot의 고유 측정 주기가 행 주기보다 느려 생기는 현상으로, 독립적인 측정이 아니다.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V_rot는 소수점 다섯 자리까지 기록되고 서로 다른 값 사이의 최소 간격이 4e-5이므로 '연속 동일'에는 측정 가능한 위양성 통로가 없다. T_i는 226,991행 중 1행뿐이다.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확정 프로토콜은 유지값을 모든 곳에서 제거한다: 지도 타겟, 이력·이월 입력과 그 관측 플래그, 정규화 통계, 그리고 모든 기준선의 보간 앵커.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짝지은 재학습은 유지값이 학습도 오염시킴을 보였다. forward-fill 계단은 이력을 복사하는 것이 거의 최적이라고 모델에 가르친다. 그래서 민감도 한 줄이 아니라 프로토콜이다.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350">
                <a:ea typeface="맑은 고딕"/>
                <a:cs typeface="맑은 고딕"/>
              </a:rPr>
              <a:t>데이터 품질 감사 2: T_i 스펙트럼 피팅 실패가 두 개의 공동 1차 모집단을 만든다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관측된 T_i의 p99는 2,089 eV, p99.9는 9,601 eV, 최댓값은 14,984 eV다. 이 먼 꼬리는 플라즈마 물리가 아니라 실패한 스펙트럼 피팅이다.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1,197행(0.53 %)이 3 keV를 초과하며 274개 방전에서 951개의 런을 이룬다. 런의 85 %는 단일 행이고, 런 정점의 중앙값은 관측된 이웃 평균의 13배다.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두 대응이 모두 방어 가능하고 각각 비판의 여지가 있다. 컷은 어떤 방법도 예측할 수 없는 행을 제거하지만 '어려운 행을 없앴다'는 비판을 부르고, 포함은 스파이크 앵커를 먹인 채 오프라인 기준선에 핸디캡을 준다.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그래서 컷(모든 팔에서 결측 처리)과 포함(컷 없음)을 두 개의 공동 1차 모집단으로 사전등록하였다. 무조건적 주장은 두 모집단 모두에서 성립할 때만 조건 없이 진술한다.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임계값은 2.5~4 keV 범위에서 무의미하며, 값 기준 컷은 피팅 품질 메타데이터가 확보되기 전까지 쓰는 한쪽 방향 대리 지표다.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53128" y="1508760"/>
            <a:ext cx="7296912" cy="3703320"/>
          </a:xfrm>
        </p:spPr>
        <p:txBody>
          <a:bodyPr wrap="square" anchor="ctr"/>
          <a:lstStyle/>
          <a:p>
            <a:r>
              <a:rPr b="0" sz="4800">
                <a:solidFill>
                  <a:schemeClr val="accent1"/>
                </a:solidFill>
                <a:ea typeface="맑은 고딕"/>
                <a:cs typeface="맑은 고딕"/>
              </a:rPr>
              <a:t>Methods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750">
                <a:ea typeface="맑은 고딕"/>
                <a:cs typeface="맑은 고딕"/>
              </a:rPr>
              <a:t>무엇을 추정하는가, 그리고 추정기가 제거할 수 없는 하한은 무엇인가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모델은 각 격자 시각 t에서 정규화 타겟을 그 시각까지의 관측 이력으로 추정한다. 손실은 타겟별 관측 마스크 위의 마스킹 MSE에, 정규화 영점 아래의 T_i 예측을 억제하는 물리 페널티(λ = 0.1)를 더한 것이다.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이 손실을 최소화하는 추정량은 조건부 기댓값이므로, 본 연구가 보고하는 것은 조건부 분포의 평균이지 그 분포 전체가 아니다. 불확실성은 모델을 건드리지 않는 분포 무가정 구간으로 따로 다룬다.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타겟 자신이 측정 잡음을 지니므로 RMSE² = σ_meas² + b²라는 하한이 있다. 차분 기반 추정기로 잰 σ_meas는 컷 모집단 T_i에서 46.4~129.9 eV이고, 백본의 RMSE 157.8 eV는 이 범위와 같은 자릿수다.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4차 차분 제곱질량의 46.6 %(V_rot는 65.6 %)가 상위 1 %의 한 스텝 변화에 몰려 있다. 따라서 총합 손실은 꼬리 통계이며, 폭과 계열이 평평하다는 뒤의 결과는 정보의 고갈이 아니라 이 사실의 귀결로 읽어야 한다.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본류에서는 모델이 여전히 타겟 자체 산포의 2.3~3.4배 위에 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450">
                <a:ea typeface="맑은 고딕"/>
                <a:cs typeface="맑은 고딕"/>
              </a:rPr>
              <a:t>V_rot 분기가 고속 진단을 보지 않는 것은 취향이 아니라 항별 감사의 결과다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297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두 전송식은 값이 아니라 변화율을 구속한다. 그러므로 물어야 할 것은 고속 진단이 V_rot와 상관되는가가 아니라 dV_rot/dt와 상관되는가이다.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400807"/>
          <a:ext cx="11027663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944"/>
                <a:gridCol w="2389327"/>
                <a:gridCol w="4043476"/>
                <a:gridCol w="2756916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운동량식의 항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물리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우리 데이터에 있는가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판정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∂L/∂t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회전 변화율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연속 관측쌍의 차분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측정됨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T_NBI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빔 토크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0-D 채널이 존재하지 않음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부재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T_NTV ~ δB²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비축대칭 제동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Mirnov, 100 Hz 데시메이트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음성 종결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∇·Π_φ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난류 운동량 유속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BES가 밀도요동을 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측정 -&gt; 널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T_int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잔여응력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∇T_i 필요, 스칼라만 보유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도달 불가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5216" y="4138167"/>
            <a:ext cx="11027664" cy="486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>
                <a:ea typeface="맑은 고딕"/>
                <a:cs typeface="맑은 고딕"/>
              </a:rPr>
              <a:t>측정값: r(BES, dV_rot/dt) = -0.006, r(ECEI, ·) = -0.003 대 에너지식의 +0.070, +0.078. 값 수준도 +0.341 / +0.311 대 +0.027 / +0.005. 같은 측정이 에너지식에서는 신호를 잡으므로 회전의 널은 방법의 한계가 아니다.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세 개의 시간 척도가 이 문제를 규정한다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격자 간격이 10 ms이므로 Nyquist 주파수는 50 Hz다. Mirnov가 담아야 할 모드 회전은 kHz 대역이고(이 데이터셋의 방전들에서 보고된 EHO 조화파는 약 4·8 kHz), 반앨리어싱 필터 없이 100 Hz로 데시메이트된 dB/dt는 그것을 표현할 수 없다.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전자와 이온을 결합시키는 온도 평형화 시간은 관측 T_i 중앙값 593 eV에 대응하는 구석에서 8~59 ms다. 본 연구가 측정한 연속 인과 문맥의 포화점은 약 50 ms이며, 두 수는 같은 자릿수다.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이는 자릿수 정합성 진술이고 그 이상이 아니다. 플라즈마 파라미터는 인용값이며, BES와 ECEI는 계측기 단위이므로 n_e와 T_e를 물리 단위로 갖지 않는다.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신호가 스스로를 닮아 있는 시간은 T_i 159 ms, BES 161 ms, ECEI 147 ms로 서로 10 % 이내에서 일치한다.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V_rot는 그렇지 않다. 유지값을 제거하면 16 ms, 유지하면 300 ms를 넘어 19배 이상 벌어지므로, V_rot의 완화 시간은 이 데이터셋에서 측정 불가능하다.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350">
                <a:ea typeface="맑은 고딕"/>
                <a:cs typeface="맑은 고딕"/>
              </a:rPr>
              <a:t>주 모델은 전체격자 인과 시퀀스 백본이고, 대조군과 해석 가능한 칸이 함께 놓인다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588"/>
              </a:spcAft>
            </a:pPr>
            <a:r>
              <a:rPr sz="1760">
                <a:ea typeface="맑은 고딕"/>
                <a:cs typeface="맑은 고딕"/>
              </a:rPr>
              <a:t>seq_v2 (357,570 파라미터). 세그먼트의 22채널 격자 위에서 서로 독립인 두 인과 LSTM을 돌린다. T_i 분기(2층·160 유닛)는 전체 상태를 읽고, V_rot 분기(1층·64 유닛)는 고속이 아닌 7채널만 읽는다.</a:t>
            </a:r>
          </a:p>
          <a:p>
            <a:pPr lvl="1">
              <a:spcAft>
                <a:spcPts val="294"/>
              </a:spcAft>
            </a:pPr>
            <a:r>
              <a:rPr sz="1570">
                <a:ea typeface="맑은 고딕"/>
                <a:cs typeface="맑은 고딕"/>
              </a:rPr>
              <a:t>도달 범위가 고정 윈도가 아니라 세그먼트 전체이며, 라우팅이 인코더 수준에서 성립하므로 고속 15채널을 전부 교란해도 V_rot 출력이 비트 단위로 동일하다.</a:t>
            </a:r>
          </a:p>
          <a:p>
            <a:pPr>
              <a:spcAft>
                <a:spcPts val="588"/>
              </a:spcAft>
            </a:pPr>
            <a:r>
              <a:rPr sz="1760">
                <a:ea typeface="맑은 고딕"/>
                <a:cs typeface="맑은 고딕"/>
              </a:rPr>
              <a:t>윈도 대조군 (201,258 파라미터). 모달리티별 시간 인지 1-D CNN과 양방향 GRU를 거쳐, 타겟마다 하나씩의 멀티헤드 가산 어텐션으로 풀링하되 그 타겟이 실제로 측정된 행에만 어텐션 질량이 놓이도록 하드 마스킹한다.</a:t>
            </a:r>
          </a:p>
          <a:p>
            <a:pPr lvl="1">
              <a:spcAft>
                <a:spcPts val="294"/>
              </a:spcAft>
            </a:pPr>
            <a:r>
              <a:rPr sz="1570">
                <a:ea typeface="맑은 고딕"/>
                <a:cs typeface="맑은 고딕"/>
              </a:rPr>
              <a:t>보간 자신의 귀납 편향(관측된 표본만 사용)을 파라미터 비용 0으로 어텐션에 써 넣은 것이다.</a:t>
            </a:r>
          </a:p>
          <a:p>
            <a:pPr>
              <a:spcAft>
                <a:spcPts val="588"/>
              </a:spcAft>
            </a:pPr>
            <a:r>
              <a:rPr sz="1760">
                <a:ea typeface="맑은 고딕"/>
                <a:cs typeface="맑은 고딕"/>
              </a:rPr>
              <a:t>b3k8 (21,498 파라미터). 예측이 이월값 + Σ w_k z_k + b로 정확히 분해되고 readout이 0으로 초기화되어 학습이 정확히 persistence에서 시작한다.</a:t>
            </a:r>
          </a:p>
          <a:p>
            <a:pPr>
              <a:spcAft>
                <a:spcPts val="588"/>
              </a:spcAft>
            </a:pPr>
            <a:r>
              <a:rPr sz="1760">
                <a:ea typeface="맑은 고딕"/>
                <a:cs typeface="맑은 고딕"/>
              </a:rPr>
              <a:t>두 모델이 공유하는 데이터 계약·유지값 처리·마스킹·분할·채점 모집단은 동일하게 고정되므로, 비교는 행 단위로 짝지어진다.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최적화 설정은 물려받은 것이며, 본 논문은 그 사실을 감추지 않는다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540"/>
              </a:spcAft>
            </a:pPr>
            <a:r>
              <a:rPr sz="1620">
                <a:ea typeface="맑은 고딕"/>
                <a:cs typeface="맑은 고딕"/>
              </a:rPr>
              <a:t>AdamW(η = 1e-3, weight decay 1e-4), 배치 16 세그먼트, gradient norm clipping 1.0, ReduceLROnPlateau와 조기 종료(최대 30 epoch, 확정 실행은 14~25에서 정지).</a:t>
            </a:r>
          </a:p>
          <a:p>
            <a:pPr>
              <a:spcAft>
                <a:spcPts val="540"/>
              </a:spcAft>
            </a:pPr>
            <a:r>
              <a:rPr sz="1620">
                <a:ea typeface="맑은 고딕"/>
                <a:cs typeface="맑은 고딕"/>
              </a:rPr>
              <a:t>데이터와 구조의 축은 전부 통제 실험으로 닫혔지만 최적화 축은 그런 측정을 거치지 않았고, 이 설정은 윈도 파이프라인에서 물려받았다.</a:t>
            </a:r>
          </a:p>
          <a:p>
            <a:pPr>
              <a:spcAft>
                <a:spcPts val="540"/>
              </a:spcAft>
            </a:pPr>
            <a:r>
              <a:rPr sz="1620">
                <a:ea typeface="맑은 고딕"/>
                <a:cs typeface="맑은 고딕"/>
              </a:rPr>
              <a:t>현재 이를 방어하는 증거는 간접적이다. 예산 균등화 조건(고정 10 epoch, 검증 기반 체크포인트 선택 금지)에서도 백본의 짝지은 T_i 이득은 4개 분할 전부 양수였다(+0.063, +0.033, +0.045, +0.030). 결론은 학습 일정의 인공물이 아니다.</a:t>
            </a:r>
          </a:p>
          <a:p>
            <a:pPr>
              <a:spcAft>
                <a:spcPts val="540"/>
              </a:spcAft>
            </a:pPr>
            <a:r>
              <a:rPr sz="1620">
                <a:ea typeface="맑은 고딕"/>
                <a:cs typeface="맑은 고딕"/>
              </a:rPr>
              <a:t>'왜 배치 16인가'는 이제 측정된 답을 갖는다. 경사 잡음 척도를 학습 블록 452개 전부에 대해 계산하면 중앙값 33.6 블록이므로, 배치 16은 측정된 잡음 척도의 절반쯤에 있다.</a:t>
            </a:r>
          </a:p>
          <a:p>
            <a:pPr lvl="1">
              <a:spcAft>
                <a:spcPts val="270"/>
              </a:spcAft>
            </a:pPr>
            <a:r>
              <a:rPr sz="1440">
                <a:ea typeface="맑은 고딕"/>
                <a:cs typeface="맑은 고딕"/>
              </a:rPr>
              <a:t>첫 epoch 이후 블록 하나의 그래디언트 에너지 가운데 86~98 %가 잡음이다. 이는 계산 비용과 스텝 수의 교환에 관한 진술이지 최종 skill에 관한 것이 아니다.</a:t>
            </a:r>
          </a:p>
          <a:p>
            <a:pPr>
              <a:spcAft>
                <a:spcPts val="540"/>
              </a:spcAft>
            </a:pPr>
            <a:r>
              <a:rPr sz="1620">
                <a:ea typeface="맑은 고딕"/>
                <a:cs typeface="맑은 고딕"/>
              </a:rPr>
              <a:t>μP는 아직 수행하지 않았다. 그것을 쓰면 폭 스윕이 평평한 이유가 용량인지 학습률인지의 구분이 구성상 불필요해진다.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53128" y="1508760"/>
            <a:ext cx="7296912" cy="3703320"/>
          </a:xfrm>
        </p:spPr>
        <p:txBody>
          <a:bodyPr wrap="square" anchor="ctr"/>
          <a:lstStyle/>
          <a:p>
            <a:r>
              <a:rPr b="0" sz="4800">
                <a:solidFill>
                  <a:schemeClr val="accent1"/>
                </a:solidFill>
                <a:ea typeface="맑은 고딕"/>
                <a:cs typeface="맑은 고딕"/>
              </a:rPr>
              <a:t>Evaluation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지표는 PCHIP 대비 skill이고, 판정은 인과 GP에 대해 내린다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모든 오차는 물리 CES 단위로 역정규화되어 타겟별로 계산되며, 1차 점수는 skill = 1 - MSE_model / MSE_PCHIP이다(양수 = 모델 우위, 0 = 동률).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모든 팔은 동일한 (파일, 행) 집합에서 동일한 타겟별 유지 마스크로 채점되고, 어떤 짝지은 비교 이전에도 모집단 키가 비트 단위로 동일함을 검증한다.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인과 기준선은 persistence, 국소 AR, 그리고 같은 GP를 과거 이웃 16개로 제한한 인과 GP다. 미래를 읽는 팔은 선형·PCHIP·오프라인 GP다.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인과 GP가 배치 가능한 가장 강한 기준선이므로(T_i RMSE 164.3 대 persistence 197.2), '배치 가능한 모든 인과 방법을 이긴다'는 persistence가 아니라 이 기준선에 대해 판정한다.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보간도 모델 입력도 세그먼트 경계를 넘지 않으며, 경계 너머의 이웃이 필요한 지점에서 보간은 persistence 값을 대신 예측한다.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사전등록 규칙과, 유의성을 방전 단위로 세는 이유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527"/>
              </a:spcAft>
            </a:pPr>
            <a:r>
              <a:rPr sz="1580">
                <a:ea typeface="맑은 고딕"/>
                <a:cs typeface="맑은 고딕"/>
              </a:rPr>
              <a:t>PR1 헤드라인 비교 대상은 PCHIP. PR2 보간은 모델이 채점되는 모든 곳에서 예측하고 미래 이웃이 없으면 persistence로 후퇴하며 그 비율을 보고한다. PR3 test 셋 최소 규모. PR4 유의성은 shot 군집 bootstrap 95 % CI가 0을 제외하는 것으로 정의한다.</a:t>
            </a:r>
          </a:p>
          <a:p>
            <a:pPr>
              <a:spcAft>
                <a:spcPts val="527"/>
              </a:spcAft>
            </a:pPr>
            <a:r>
              <a:rPr sz="1580">
                <a:ea typeface="맑은 고딕"/>
                <a:cs typeface="맑은 고딕"/>
              </a:rPr>
              <a:t>확정 프로토콜은 여기에 유지값 제거 학습·채점, W=2, 윈도 계열의 파일당 상한 500, 두 공동 1차 모집단, 그리고 TEST 채점 이전에 확정한 모델 결정 규칙을 더한다.</a:t>
            </a:r>
          </a:p>
          <a:p>
            <a:pPr>
              <a:spcAft>
                <a:spcPts val="527"/>
              </a:spcAft>
            </a:pPr>
            <a:r>
              <a:rPr sz="1580">
                <a:ea typeface="맑은 고딕"/>
                <a:cs typeface="맑은 고딕"/>
              </a:rPr>
              <a:t>표준 test 셋은 컷 모집단에서 96개 shot의 관측 T_i 32,589행과 60개 shot의 진짜 V_rot 10,463행을 담으며, 4개 분할(시드 42·1·7·123)이 각각 자기 test 셋을 갖는다.</a:t>
            </a:r>
          </a:p>
          <a:p>
            <a:pPr>
              <a:spcAft>
                <a:spcPts val="527"/>
              </a:spcAft>
            </a:pPr>
            <a:r>
              <a:rPr sz="1580">
                <a:ea typeface="맑은 고딕"/>
                <a:cs typeface="맑은 고딕"/>
              </a:rPr>
              <a:t>한 방전 내 인접 CES 행은 강하게 상관되므로, 짝지은 오차를 shot 단위로 집계하고 shot 전체를 복원추출로 10,000회 재표본한다. 대가는 유효 표본 크기가 shot 수(T_i 약 96, V_rot 60~66)가 된다는 것이며, 이것이 전체 검정력을 제한한다.</a:t>
            </a:r>
          </a:p>
          <a:p>
            <a:pPr>
              <a:spcAft>
                <a:spcPts val="527"/>
              </a:spcAft>
            </a:pPr>
            <a:r>
              <a:rPr sz="1580">
                <a:ea typeface="맑은 고딕"/>
                <a:cs typeface="맑은 고딕"/>
              </a:rPr>
              <a:t>채점된 V_rot 행의 40~44 %에서 PCHIP은 persistence로 후퇴하므로, V_rot의 'PCHIP 대비'는 5분의 2가 'persistence 대비'다.</a:t>
            </a:r>
          </a:p>
          <a:p>
            <a:pPr>
              <a:spcAft>
                <a:spcPts val="527"/>
              </a:spcAft>
            </a:pPr>
            <a:r>
              <a:rPr sz="1580">
                <a:ea typeface="맑은 고딕"/>
                <a:cs typeface="맑은 고딕"/>
              </a:rPr>
              <a:t>결측이 MNAR이므로 관측 시점 skill은 낙관적 추정이며, 이를 재가중으로 따로 검정한다.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53128" y="1508760"/>
            <a:ext cx="7296912" cy="3703320"/>
          </a:xfrm>
        </p:spPr>
        <p:txBody>
          <a:bodyPr wrap="square" anchor="ctr"/>
          <a:lstStyle/>
          <a:p>
            <a:r>
              <a:rPr b="0" sz="4800">
                <a:solidFill>
                  <a:schemeClr val="accent1"/>
                </a:solidFill>
                <a:ea typeface="맑은 고딕"/>
                <a:cs typeface="맑은 고딕"/>
              </a:rPr>
              <a:t>Results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450">
                <a:ea typeface="맑은 고딕"/>
                <a:cs typeface="맑은 고딕"/>
              </a:rPr>
              <a:t>결과 ①: 나우캐스터는 미래를 읽지 않는 모든 방법 가운데 최저 RMSE를 갖는다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297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표준 test 분할(시드 42), 컷 모집단, 진짜 측정만(T_i n = 32,589, V_rot n = 10,463). 아래 세 행은 미래를 읽는다.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400807"/>
          <a:ext cx="11027661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0718"/>
                <a:gridCol w="4556885"/>
                <a:gridCol w="2005029"/>
                <a:gridCol w="2005029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팔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정보 접근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T_i RMSE (eV)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V_rot RMSE (km/s)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seq_v2 (나우캐스터)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고속 진단 + 과거 CES, 세그먼트 전체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157.8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23.6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윈도 대조군 (W=2)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고속 진단 + 과거 CES 2행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169.2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26.1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인과 GP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과거 CES 이웃 16개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164.3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28.8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Persistence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마지막 관측 CES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197.2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33.4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AR (국소, 인과)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과거 CES만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472.2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51.0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GP (오프라인)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과거 + 미래 CES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153.8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24.7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선형 보간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과거 + 미래 CES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169.8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29.0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PCHIP 보간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과거 + 미래 CES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173.6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30.2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5216" y="4961127"/>
            <a:ext cx="11027664" cy="486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>
                <a:ea typeface="맑은 고딕"/>
                <a:cs typeface="맑은 고딕"/>
              </a:rPr>
              <a:t>유일한 동률 팔은 잡음 앵커를 평균해 내는 오프라인 GP다(153.8 대 157.8). 미래 CES가 정의상 없는 모든 온라인 환경에서 시퀀스 나우캐스터는 명백한 승자다.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350">
                <a:ea typeface="맑은 고딕"/>
                <a:cs typeface="맑은 고딕"/>
              </a:rPr>
              <a:t>결과 ②: T_i는 두 모집단 모두에서 4개 독립 분할 전부 미래를 쓰는 보간을 이긴다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297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held-out test skill과 shot 군집 95 % CI(10,000회 재표본). 시드 1·7·123은 어떤 선택 단계에도 쓰이지 않았다.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400807"/>
          <a:ext cx="11027662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377"/>
                <a:gridCol w="820239"/>
                <a:gridCol w="3098682"/>
                <a:gridCol w="3098682"/>
                <a:gridCol w="3098682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타겟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분할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컷: skill (95 % CI)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포함: skill (95 % CI)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인과 GP 대비 (컷/포함)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T_i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42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+0.174 [+0.097, +0.236]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+0.225 [+0.109, +0.293]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+0.078 / +0.154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T_i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+0.248 [+0.188, +0.295]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+0.238 [+0.153, +0.302]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+0.133 / +0.169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T_i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+0.257 [+0.199, +0.302]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+0.292 [+0.232, +0.344]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+0.138 / +0.123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T_i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123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+0.264 [+0.188, +0.320]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+0.316 [+0.186, +0.392]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+0.105 / +0.149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V_rot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42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+0.390 [+0.077, +0.591]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+0.384 [+0.066, +0.586]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+0.331 / +0.324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V_rot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+0.183 [-0.028, +0.280]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+0.195 [+0.000, +0.286]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+0.130 / +0.143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V_rot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+0.135 [-0.358, +0.269]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+0.132 [-0.362, +0.266]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+0.020 / +0.018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V_rot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123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+0.305 [-0.049, +0.437]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+0.304 [-0.065, +0.433]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+0.134 / +0.132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5216" y="4961127"/>
            <a:ext cx="11027664" cy="486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>
                <a:ea typeface="맑은 고딕"/>
                <a:cs typeface="맑은 고딕"/>
              </a:rPr>
              <a:t>T_i는 8개 셀 전부 PASS이며 인과 GP와 persistence도 이긴다. V_rot는 점추정이 모두 양수지만 PR4 통과가 1/4(컷)·2/4(포함)이므로 승리가 아니라 동률로 보고한다.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550">
                <a:ea typeface="맑은 고딕"/>
                <a:cs typeface="맑은 고딕"/>
              </a:rPr>
              <a:t>forest plot: T_i는 8개 셀 전부에서, V_rot는 3개 셀에서만 CI가 0을 제외한다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817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ea typeface="맑은 고딕"/>
                <a:cs typeface="맑은 고딕"/>
              </a:rPr>
              <a:t>포함 모집단의 수치가 더 높은 이유는 스파이크가 보간 앵커를 오염시키기 때문이다. 학습된 모델은 스파이크가 낀 이월값을 할인할 수 있지만 보간은 그럴 수 없다.</a:t>
            </a:r>
          </a:p>
          <a:p>
            <a:pPr>
              <a:spcAft>
                <a:spcPts val="400"/>
              </a:spcAft>
            </a:pPr>
            <a:r>
              <a:rPr sz="1400">
                <a:ea typeface="맑은 고딕"/>
                <a:cs typeface="맑은 고딕"/>
              </a:rPr>
              <a:t>그래서 본 논문은 더 좋아 보이는 한쪽이 아니라 두 모집단을 함께 보고한다.</a:t>
            </a:r>
          </a:p>
        </p:txBody>
      </p:sp>
      <p:pic>
        <p:nvPicPr>
          <p:cNvPr id="4" name="Picture 3" descr="fig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2880" y="2957576"/>
            <a:ext cx="7432334" cy="2894583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150">
                <a:ea typeface="맑은 고딕"/>
                <a:cs typeface="맑은 고딕"/>
              </a:rPr>
              <a:t>결과 ③: 전체격자 프레이밍의 채택은 네 조건 관문을 먼저 고정하고 한 번만 채점하였다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분할 시드 × 초기화 시드의 4×4 격자를 돌리고 각 실행을 해당 분할의 W=2 윈도 대조군과 행 단위로 짝지었다. 짝지은 T_i skill은 16/16 실행에서 양수였고 13/16에서 개별적으로 유의했다.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통합 평균은 +0.081이며 실행 군집 95 % CI는 [+0.067, +0.096]이다. 초기화 산포가 분할 산포보다 훨씬 작다.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예산을 균등화한 팔도 4/4 분할에서 부호를 유지하므로 이 이득은 학습 예산 효과가 아니라 아키텍처에서 온다. 어떤 실행도 유의한 V_rot 손실을 보이지 않았다.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관문은 프레이밍이 무엇을 사는지도 확정한다. 윈도 대조군은 인과 GP와 동률인 반면 시퀀스 백본은 두 모집단 모두에서 4/4로 이긴다. 세그먼트의 과거 전체로 뻗는 도달 범위가 배치 가능한 가장 강한 기준선을 넘어서게 하는 요소다.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그 비용은 음수다. 샘플별 윈도 조립도 조합적 증강도 없으므로 백본은 윈도 계열의 학습 시간 중 일부만으로 학습된다.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450">
                <a:ea typeface="맑은 고딕"/>
                <a:cs typeface="맑은 고딕"/>
              </a:rPr>
              <a:t>결과 ④: skill은 간극 영역에서도 살아 있으며, V_rot는 바로 그곳에서만 이긴다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297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마지막 관측으로부터의 경과시간으로 계층화하고 4개 test 분할을 통합하였다. Δt가 커질수록 PCHIP의 과제는 쉬워지고 우리 과제는 어려워진다.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400807"/>
          <a:ext cx="110276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6220"/>
                <a:gridCol w="2205532"/>
                <a:gridCol w="1357250"/>
                <a:gridCol w="2799330"/>
                <a:gridCol w="2799330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Δt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n (컷 / 포함)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shot 수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컷: PCHIP 대비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포함: PCHIP 대비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T_i,  ≤ 15 ms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134,546 / 135,317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301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+0.239 [+0.197, +0.274]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+0.299 [+0.244, +0.347]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T_i,  &gt; 15 ms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3,422 / 3,334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265 / 263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+0.268 [+0.187, +0.337]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+0.206 [+0.108, +0.290]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T_i,  &gt; 45 ms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460 / 429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104 / 101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+0.267 [+0.092, +0.414]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-0.004 [-0.304, +0.246]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V_rot, ≤ 15 ms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51,689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197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+0.233 [+0.020, +0.318]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+0.233 [+0.020, +0.317]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V_rot, &gt; 15 ms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466 / 456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130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+0.418 [+0.104, +0.680]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+0.432 [+0.128, +0.696]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V_rot, &gt; 45 ms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14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채점하지 않음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채점하지 않음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5216" y="4412487"/>
            <a:ext cx="11027664" cy="486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>
                <a:ea typeface="맑은 고딕"/>
                <a:cs typeface="맑은 고딕"/>
              </a:rPr>
              <a:t>Δt &gt; 15 ms에서 V_rot가 PCHIP을 이기는 것이 본 논문에서 유일한 무조건적 V_rot 긍정 판정이다. T_i는 45 ms를 넘어서면 포함 모집단에서 동률이 되며, 그대로 동률로 보고한다.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결과 ⑤: 진짜 결측 지점으로 재가중하면 두 비교가 갈라진다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참값이 없는 곳에서 오차를 잴 수는 없지만, 관측 행과 결측 행 모두에서 계산 가능한 공변량(경과시간 구간 × 입력 전용 국소 활동 플래그) 위에서 사후 계층화하고 재가중할 수는 있다.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먼저 적용 범위. 이 분석의 도메인은 'W=2 안에 진짜 관측이 있음'이며, 진짜 결측인 T_i 행의 54~68 %가 도메인 안이지만 V_rot는 4~6 %뿐이다. 따라서 재가중된 V_rot에서는 아무것도 끌어내지 않는다.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온라인 시스템이 실제로 돌리는 기준선인 persistence를 상대로는 T_i 우위가 두 모집단 모두에서 4개 분할 전부 재가중을 견딘다(+0.28~+0.44, 모든 CI가 0을 제외).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미래를 쓰는 PCHIP을 상대로는 재가중된 점추정이 +0.14~+0.28에 머물지만, 넓은 CI가 컷 모집단 2개 분할에서 0을 지난다(컷 2/4, 포함 4/4).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결측 지점은 더 큰 Δt에 놓이는데, 그곳이 바로 양쪽 앵커가 가장 크게 도움이 되고 재가중 bootstrap이 가장 얇은 곳이다.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한 계층 안에서 결측 행과 관측 행이 교환 가능하다는 가정은 없앤 척하지 않고 명시한다.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150">
                <a:ea typeface="맑은 고딕"/>
                <a:cs typeface="맑은 고딕"/>
              </a:rPr>
              <a:t>결과 ⑥: 캠페인을 가로지르면 윈도 모델의 오프라인 우위는 붕괴하고 시퀀스는 살아남는다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502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641개 방전을 shot 번호로 정렬해 시간으로 엄격히 잘랐다(train 416 / val 128 / test 97). 바뀐 변수는 분할 규칙 하나뿐이며, 네 실행은 분할이 아니라 초기화만 다르다.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605531"/>
          <a:ext cx="11027662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9997"/>
                <a:gridCol w="2756916"/>
                <a:gridCol w="3963066"/>
                <a:gridCol w="947689"/>
                <a:gridCol w="2239994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모집단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팔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T_i PCHIP 대비 (초기화 42/1/7/123)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PASS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인과 GP 대비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컷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윈도 대조군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+0.027 / +0.091 / -0.001 / +0.061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2/4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0/4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컷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대조군 + shot별 표준화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+0.103 / +0.107 / +0.094 / +0.107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4/4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컷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seq_v2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+0.187 / +0.174 / +0.181 / +0.177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4/4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4/4 (+0.11~+0.12)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포함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윈도 대조군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+0.014 / +0.047 / +0.055 / +0.089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0/4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0/4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포함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seq_v2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+0.173 / +0.202 / +0.198 / +0.184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4/4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4/4 (+0.13~+0.16)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5216" y="4342891"/>
            <a:ext cx="11027664" cy="486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>
                <a:ea typeface="맑은 고딕"/>
                <a:cs typeface="맑은 고딕"/>
              </a:rPr>
              <a:t>이유는 단언이 아니라 측정이다. 고속 진단은 기간 사이에 BES 1.22 σ, ECEI 0.53 σ 이동하는데 타겟 자신은 0.115 σ에 그쳐, 예측 대상보다 5~11배 더 이동한다. 각 방전을 자기 통계로 표준화하면 누수 없이 그것이 수리된다.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250">
                <a:ea typeface="맑은 고딕"/>
                <a:cs typeface="맑은 고딕"/>
              </a:rPr>
              <a:t>같은 그림: 대조군은 무너지고, shot별 표준화가 복구하며, 시퀀스는 흔들리지 않는다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597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ea typeface="맑은 고딕"/>
                <a:cs typeface="맑은 고딕"/>
              </a:rPr>
              <a:t>시퀀스 나우캐스터는 두 모집단 모두에서 4/4 초기화에 대해 PCHIP과 인과 GP를 앞서고 8/8에서 윈도 대조군을 이긴다.</a:t>
            </a:r>
          </a:p>
          <a:p>
            <a:pPr>
              <a:spcAft>
                <a:spcPts val="400"/>
              </a:spcAft>
            </a:pPr>
            <a:r>
              <a:rPr sz="1400">
                <a:ea typeface="맑은 고딕"/>
                <a:cs typeface="맑은 고딕"/>
              </a:rPr>
              <a:t>V_rot도 대조군이 0/4인 자리에서 두 모집단 모두 4/4로 persistence를 이긴다.</a:t>
            </a:r>
          </a:p>
        </p:txBody>
      </p:sp>
      <p:pic>
        <p:nvPicPr>
          <p:cNvPr id="4" name="Picture 3" descr="fig_campa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881" y="2737104"/>
            <a:ext cx="10476333" cy="3115055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450">
                <a:ea typeface="맑은 고딕"/>
                <a:cs typeface="맑은 고딕"/>
              </a:rPr>
              <a:t>결과 ⑦: T_i와 V_rot의 정보 비대칭은 물리에서 예측되었고 절제로 확인되었다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588"/>
              </a:spcAft>
            </a:pPr>
            <a:r>
              <a:rPr sz="1760">
                <a:ea typeface="맑은 고딕"/>
                <a:cs typeface="맑은 고딕"/>
              </a:rPr>
              <a:t>평가 시점에 한 모달리티 그룹을 0으로 만들고 재학습은 하지 않는 통제된 절제를 윈도 대조군에 적용하였다.</a:t>
            </a:r>
          </a:p>
          <a:p>
            <a:pPr>
              <a:spcAft>
                <a:spcPts val="588"/>
              </a:spcAft>
            </a:pPr>
            <a:r>
              <a:rPr sz="1760">
                <a:ea typeface="맑은 고딕"/>
                <a:cs typeface="맑은 고딕"/>
              </a:rPr>
              <a:t>이력은 두 타겟 모두에 필수불가결하다. CES 이력이 없으면 두 모집단의 두 타겟 모두에서 PCHIP 대비 -1에서 -4까지 떨어진다. 자기 앵커 없이 100 Hz 진단만으로 예측 가능한 타겟은 없다.</a:t>
            </a:r>
          </a:p>
          <a:p>
            <a:pPr>
              <a:spcAft>
                <a:spcPts val="588"/>
              </a:spcAft>
            </a:pPr>
            <a:r>
              <a:rPr sz="1760">
                <a:ea typeface="맑은 고딕"/>
                <a:cs typeface="맑은 고딕"/>
              </a:rPr>
              <a:t>T_i의 보간 대비 마진은 고속 진단 정보다. 컷 모집단에서 BES/ECEI/MC를 0으로 만들면 대조군이 보간기 아래로 떨어진다(짝지은 변화 -0.25~-0.43, 4/4 유의).</a:t>
            </a:r>
          </a:p>
          <a:p>
            <a:pPr lvl="1">
              <a:spcAft>
                <a:spcPts val="294"/>
              </a:spcAft>
            </a:pPr>
            <a:r>
              <a:rPr sz="1570">
                <a:ea typeface="맑은 고딕"/>
                <a:cs typeface="맑은 고딕"/>
              </a:rPr>
              <a:t>포함 모집단에서는 같은 이력 전용 모델이 여전히 PCHIP을 +0.15~+0.23으로 이기며 고속 채널이 더하는 것은 0.03~0.09뿐이다. 즉 포함 마진에는 스파이크 강건성 성분이 섞여 있고, 고속 진단의 기여를 분리해 내는 쪽은 컷 모집단이다.</a:t>
            </a:r>
          </a:p>
          <a:p>
            <a:pPr>
              <a:spcAft>
                <a:spcPts val="588"/>
              </a:spcAft>
            </a:pPr>
            <a:r>
              <a:rPr sz="1760">
                <a:ea typeface="맑은 고딕"/>
                <a:cs typeface="맑은 고딕"/>
              </a:rPr>
              <a:t>V_rot의 정보는 전적으로 CES 이력이다. 고속 진단을 0으로 만들어도 출력이 8/8 셀에서 비트 단위로 동일하다. 라우팅이 구조적이기 때문이다.</a:t>
            </a:r>
          </a:p>
          <a:p>
            <a:pPr>
              <a:spcAft>
                <a:spcPts val="588"/>
              </a:spcAft>
            </a:pPr>
            <a:r>
              <a:rPr sz="1760">
                <a:ea typeface="맑은 고딕"/>
                <a:cs typeface="맑은 고딕"/>
              </a:rPr>
              <a:t>토로이달 회전은 우리 입력 중 어느 것도 관측하지 않는 운동량 원천이 지배하며, Mirnov는 100 Hz 샘플링으로 kHz 모드 회전을 앨리어싱으로 잃는다.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절제 결과: 고속 진단을 0으로 만들면 V_rot는 비트 단위로 동일하다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3261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ea typeface="맑은 고딕"/>
                <a:cs typeface="맑은 고딕"/>
              </a:rPr>
              <a:t>이는 실패가 아니라 진단 정보량에 관한 발견이며, 모델의 타겟별 라우팅을 정당화한다.</a:t>
            </a:r>
          </a:p>
        </p:txBody>
      </p:sp>
      <p:pic>
        <p:nvPicPr>
          <p:cNvPr id="4" name="Picture 3" descr="fig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0519" y="2465831"/>
            <a:ext cx="7737057" cy="3386328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750">
                <a:ea typeface="맑은 고딕"/>
                <a:cs typeface="맑은 고딕"/>
              </a:rPr>
              <a:t>결과 ⑧: 이력은 필수적이며, 그 첫 관측 하나가 사실상 전부를 담는다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297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24회의 독립 실행(W 다섯 지점 × 4시드 + history-0 × 4시드). 검토되지 않은 기본값 W=4를 곡선과 명시된 선택 규칙으로 대체하였다.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400807"/>
          <a:ext cx="110276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1453"/>
                <a:gridCol w="2281585"/>
                <a:gridCol w="1901321"/>
                <a:gridCol w="1330924"/>
                <a:gridCol w="2091453"/>
                <a:gridCol w="1330924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이력 관측 수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W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T_i skill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PASS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V_rot skill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PASS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-0.026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0/4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-0.783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0/4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+0.238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4/4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+0.206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0/4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+0.246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4/4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+0.203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1/4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4 (구 기본값)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+0.221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3/4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+0.190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1/4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+0.190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3/4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+0.205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1/4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8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+0.216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4/4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+0.204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2/4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5216" y="4412487"/>
            <a:ext cx="11027664" cy="486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>
                <a:ea typeface="맑은 고딕"/>
                <a:cs typeface="맑은 고딕"/>
              </a:rPr>
              <a:t>한 지점 안에서의 시드 산포(0.07~0.16)가 곡선 전체보다 넓다. 'plateau에 도달하는 가장 작은 W'를 적용하면 W=2가 나온다. 더 넓게 갈 방어 가능한 이유는 커버리지 하나뿐이며, 그것은 도달 범위가 세그먼트 전체인 시퀀스 프레이밍의 근거다.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결과 ⑨: 복잡도 사다리와 폭 스윕이 모델 크기 축을 닫는다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502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held-out TEST T_i skill(4개 분할 평균). b3k8은 예측을 이월값 + 여덟 개의 유계 보정항으로 정확히 분해하며, 결정 규칙은 TEST 채점 이전에 고정되었다.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605531"/>
          <a:ext cx="11027662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43476"/>
                <a:gridCol w="2205532"/>
                <a:gridCol w="2389327"/>
                <a:gridCol w="2389327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팔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파라미터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컷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포함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Persistence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-0.264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-0.288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앵커+Δ (명명된 항)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1,258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-0.261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-0.287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b3k8 (잠재 8개 유계 보정)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21,498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+0.237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+0.126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윈도 대조군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201,258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+0.173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+0.238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seq_v2 백본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357,570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+0.236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+0.268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5216" y="4342891"/>
            <a:ext cx="11027664" cy="486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>
                <a:ea typeface="맑은 고딕"/>
                <a:cs typeface="맑은 고딕"/>
              </a:rPr>
              <a:t>컷에서는 백본의 T_i skill 전부가 유계 수 여덟 개로 압축된다(짝지은 평균 +0.002, 모든 CI가 0을 포함). 컷이 없으면 -0.19를 잃는데, 유계 보정으로는 스파이크가 낀 앵커를 복구할 수 없기 때문이다. 백본을 34k에서 879k로 넓혀도 skill은 ±0.01 미만으로 움직인다.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결과 ⑩: 우위는 보간이 가장 약한 고변동 국소 구간에 집중된다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1038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ea typeface="맑은 고딕"/>
                <a:cs typeface="맑은 고딕"/>
              </a:rPr>
              <a:t>T_i의 peak 계층 skill은 컷 +0.45~+0.61, 포함 +0.62~+0.72이며 8/8 셀에서 PASS다. bulk에서는 컷 +0.09~+0.20이다. 매끄러운 bulk에서는 보간이 거의 최적이며, 모델의 가치는 활동 구간에 있다.</a:t>
            </a:r>
          </a:p>
          <a:p>
            <a:pPr>
              <a:spcAft>
                <a:spcPts val="400"/>
              </a:spcAft>
            </a:pPr>
            <a:r>
              <a:rPr sz="1400">
                <a:ea typeface="맑은 고딕"/>
                <a:cs typeface="맑은 고딕"/>
              </a:rPr>
              <a:t>V_rot의 peak 계층 skill은 +0.54~+0.79로 8/8에서 점추정이 양수이고 bulk에서는 약 0이다. 즉 비대칭은 지역적이며, 이를 전역 영가설의 뒤집힘이 아니라 유의성 기반이 얇은 지역적 강점으로 보고한다.</a:t>
            </a:r>
          </a:p>
        </p:txBody>
      </p:sp>
      <p:pic>
        <p:nvPicPr>
          <p:cNvPr id="4" name="Picture 3" descr="fig_p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0398" y="3178047"/>
            <a:ext cx="7037299" cy="2674111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450">
                <a:ea typeface="맑은 고딕"/>
                <a:cs typeface="맑은 고딕"/>
              </a:rPr>
              <a:t>결과 ⑪: 문맥은 승리를 전형적으로 만들고, 계열은 skill이 아니라 값을 정한다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502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301개 방전 통합 재채점(순환 계열). 도달 범위는 절단이 아니라 각 문맥에서 다시 학습한 모델로 잰다. 사전등록 규칙이 반환하는 포화점은 5스텝, 즉 50 ms다.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605531"/>
          <a:ext cx="110276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4149"/>
                <a:gridCol w="4043476"/>
                <a:gridCol w="2389327"/>
                <a:gridCol w="2940710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문맥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T_i skill vs 인과 GP [95 % CI]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방전 단위 승률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상위 10개 방전 제거 후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20 ms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+0.057 [+0.027, +0.085]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0.52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+0.028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30 ms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+0.087 [+0.061, +0.111]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0.60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+0.060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50 ms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+0.104 [+0.079, +0.128]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0.64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+0.077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70 ms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+0.119 [+0.095, +0.142]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0.66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+0.092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150 ms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+0.123 [+0.096, +0.148]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0.66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+0.096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630 ms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+0.143 [+0.118, +0.168]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0.67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+0.116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5216" y="4617211"/>
            <a:ext cx="11027664" cy="486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>
                <a:ea typeface="맑은 고딕"/>
                <a:cs typeface="맑은 고딕"/>
              </a:rPr>
              <a:t>승률이 이 절의 결론이다. 20 ms에서 모델은 평균으로는 이기지만 방전의 절반에서만 이기고, 70 ms부터 3분의 2에서 이기며 평평해진다. 포화점을 '유용해지기 위해 필요한 문맥'으로 기술해서는 안 된다. 20 ms에서도 persistence를 +0.356으로 앞선다.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250">
                <a:ea typeface="맑은 고딕"/>
                <a:cs typeface="맑은 고딕"/>
              </a:rPr>
              <a:t>결과 ⑫: 같은 도달 범위에서 계열은 구별되지 않으므로 아키텍처는 비용으로 정한다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502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도달 범위를 맞추면 110배의 파라미터 범위와 서로 가장 다른 세 연산자가 구별되지 않는 결과를 낸다. 계열이 T_i를 움직이는 폭은 최대 0.023이고, 도달 범위를 20에서 70 ms로 옮기는 효과는 +0.060이다.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605531"/>
          <a:ext cx="11027661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19087"/>
                <a:gridCol w="2756916"/>
                <a:gridCol w="1459543"/>
                <a:gridCol w="1459543"/>
                <a:gridCol w="2432572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계열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R에 대한 비용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R = 15 (ops)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R = 63 (ops)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630 ms에서 skill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순환 (LSTM, 357,570)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O(1) - 상태가 나른다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111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111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+0.138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확장 인과 합성곱 (3,238)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O(log R), 층당 +48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209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305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+0.124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띠 attention (295,746)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O(1), 상수 4.3배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473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473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+0.122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대각 상태공간 (SSM)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O(1)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+0.105 (승률 0.58~0.60)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5216" y="4068571"/>
            <a:ext cx="11027664" cy="486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>
                <a:ea typeface="맑은 고딕"/>
                <a:cs typeface="맑은 고딕"/>
              </a:rPr>
              <a:t>온라인 1스텝 지연은 파라미터 수가 아니라 디스패치되는 연산자 개수를 따라간다(약 2~3 μs/연산자). 이 문제에서 attention은 엄밀히 지배당한다. 10 ms 예산은 어느 팔에도 구속 조건이 아니며, 1 ms 판정은 세션 간 산포 때문에 사전등록 규칙에 따라 보류되었다.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550">
                <a:ea typeface="맑은 고딕"/>
                <a:cs typeface="맑은 고딕"/>
              </a:rPr>
              <a:t>결과 ⑬: 두 개의 스트레스 테스트가 오프라인 주장과 배치 주장을 분리한다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297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seq_v2, T_i. 항목은 PR4 통과 수(컷 · 포함)와 점추정 범위다.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400807"/>
          <a:ext cx="11027663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4158"/>
                <a:gridCol w="3902096"/>
                <a:gridCol w="4241409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200" b="1">
                          <a:ea typeface="맑은 고딕"/>
                          <a:cs typeface="맑은 고딕"/>
                        </a:rPr>
                        <a:t>평가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ea typeface="맑은 고딕"/>
                          <a:cs typeface="맑은 고딕"/>
                        </a:rPr>
                        <a:t>PCHIP 대비 (오프라인, 미래 사용)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ea typeface="맑은 고딕"/>
                          <a:cs typeface="맑은 고딕"/>
                        </a:rPr>
                        <a:t>인과 기준선 대비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200" b="0">
                          <a:ea typeface="맑은 고딕"/>
                          <a:cs typeface="맑은 고딕"/>
                        </a:rPr>
                        <a:t>무작위 분할, 관측 지점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ea typeface="맑은 고딕"/>
                          <a:cs typeface="맑은 고딕"/>
                        </a:rPr>
                        <a:t>4/4 · 4/4, +0.17~+0.32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ea typeface="맑은 고딕"/>
                          <a:cs typeface="맑은 고딕"/>
                        </a:rPr>
                        <a:t>인과 GP 대비 4/4 · 4/4, +0.08~+0.17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200" b="0">
                          <a:ea typeface="맑은 고딕"/>
                          <a:cs typeface="맑은 고딕"/>
                        </a:rPr>
                        <a:t>결측 지점으로 재가중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ea typeface="맑은 고딕"/>
                          <a:cs typeface="맑은 고딕"/>
                        </a:rPr>
                        <a:t>2/4 · 4/4, +0.14~+0.28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ea typeface="맑은 고딕"/>
                          <a:cs typeface="맑은 고딕"/>
                        </a:rPr>
                        <a:t>persistence 대비 4/4 · 4/4, +0.28~+0.44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200" b="0">
                          <a:ea typeface="맑은 고딕"/>
                          <a:cs typeface="맑은 고딕"/>
                        </a:rPr>
                        <a:t>시간 캠페인 분할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ea typeface="맑은 고딕"/>
                          <a:cs typeface="맑은 고딕"/>
                        </a:rPr>
                        <a:t>4/4 · 4/4, +0.17~+0.20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ea typeface="맑은 고딕"/>
                          <a:cs typeface="맑은 고딕"/>
                        </a:rPr>
                        <a:t>인과 GP 대비 4/4 · 4/4, +0.11~+0.16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5216" y="3589527"/>
            <a:ext cx="11027664" cy="486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>
                <a:ea typeface="맑은 고딕"/>
                <a:cs typeface="맑은 고딕"/>
              </a:rPr>
              <a:t>실시간 시스템이 실제로 돌릴 수 있는 기준선에 대한 우위는 두 모집단 모두에서 두 테스트를 모두 견딘다. 이 표의 윈도 모델 판본에서는 오프라인 우위가 두 테스트 모두를 견디지 못했다. 그것을 바꾼 것이 시퀀스 프레이밍이며, 새 열이 원래부터 거기 있었던 것처럼 제시하지 않는다.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53128" y="1508760"/>
            <a:ext cx="7296912" cy="3703320"/>
          </a:xfrm>
        </p:spPr>
        <p:txBody>
          <a:bodyPr wrap="square" anchor="ctr"/>
          <a:lstStyle/>
          <a:p>
            <a:r>
              <a:rPr b="0" sz="4800">
                <a:solidFill>
                  <a:schemeClr val="accent1"/>
                </a:solidFill>
                <a:ea typeface="맑은 고딕"/>
                <a:cs typeface="맑은 고딕"/>
              </a:rPr>
              <a:t>Discussion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모든 모델 결정은 그것이 결정할 수치보다 먼저 적혔다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윈도 계열의 아키텍처는 통제된 실험의 연속으로 도달하였다. 각 실험은 데이터 계약을 보존하는 하나의 변경이었고, 깨끗한 비증강 검증 skill로만 채점되었다.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증강된 검증 손실은 보간이 이미 강한 바로 그곳에서 평활화를 보상하므로 결코 쓰지 않았다.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시퀀스 프레이밍은 네 조건 관문이 먼저 고정되고 그 다음 충족된 뒤에야 채택되었다.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같은 규칙 아래에서 이후 탐색된 단 하나의 아키텍처 후보(관측 마스킹 인과 어텐션 추가)는 4/4 분할에서 양수였으나 사전 확정 기준 3/4에 대해 1/4에서만 유의했으므로 승격되지 않았다.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이 후보의 검증 이득은 탐색 분할에서 2/2 유의했으며, 이는 선택 분할 결과의 통상적 낙관이자 승격 기준을 TEST에 두는 이유다.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사다리 칸과 폭 스윕도 두 갈래 판정을 어떤 TEST 채점 이전에 적어 두었고, 구성상 이 스윕 위에서 백본을 재선택하는 것은 허용되지 않았다.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배치 가능성은 지연시간과 불확실성 두 가지로 판정한다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순환 나우캐스터는 온라인에서 상태를 유지한 채 실행되며, 새 행마다 배치 1의 순환 스텝 하나가 든다. 노트북급 CPU에서 중앙값 1.05 ms, p99 1.61 ms로 10 ms 격자의 16 %다.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이 크기에서 GPU는 배치 1에서 아무것도 사주지 않는다(1.21 / 2.31 ms). 실무 지침은 상태 유지형 나우캐스터를 제어 계산기의 CPU에서 돌리는 것이며, 예산의 80 % 이상이 획득과 제어에 남는다.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불확실성은 재학습 없이 다룬다. split conformal을 해당 실행 자신의 검증 분할에서 보정하고 예측기는 아무것도 바꾸지 않으며, 같은 절차를 PCHIP과 persistence에도 적용한다.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모델의 구간이 32개 셀 전부에서 두 기준선의 구간을 이긴다. 폭과 빗나감을 함께 벌하는 Winkler 점수로 컷 T_i는 1,272 대 1,554(PCHIP) 대 1,727(persistence)이다.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포함 모집단에서 모델의 T_i 구간은 PCHIP보다 오히려 넓은데도 점수가 좋다. 스파이크가 빗나감 벌점을 부풀리는데 모델이 덜 빗나가기 때문이다.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정직한 실패: 커버리지는 주변적이지 조건부가 아니다. shot 수준의 이동이 교환가능성 가정을 깨며, 이를 고치려면 현재 shot 수로는 지탱할 수 없는 shot 조건부 보정이 필요하다.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350">
                <a:ea typeface="맑은 고딕"/>
                <a:cs typeface="맑은 고딕"/>
              </a:rPr>
              <a:t>남은 개선 여지는 모델이 아니라 데이터에 있으며, 세 레버는 이름이 지목되어 있다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540"/>
              </a:spcAft>
            </a:pPr>
            <a:r>
              <a:rPr sz="1620">
                <a:ea typeface="맑은 고딕"/>
                <a:cs typeface="맑은 고딕"/>
              </a:rPr>
              <a:t>용량은 배제되었고 더 긴 윈도도 배제되었으며 도달 범위를 사는 프레이밍은 채택되었다. 남은 것은 데이터이고, 각 레버는 이미 이 데이터셋 안의 증거로 지목된다.</a:t>
            </a:r>
          </a:p>
          <a:p>
            <a:pPr>
              <a:spcAft>
                <a:spcPts val="540"/>
              </a:spcAft>
            </a:pPr>
            <a:r>
              <a:rPr sz="1620">
                <a:ea typeface="맑은 고딕"/>
                <a:cs typeface="맑은 고딕"/>
              </a:rPr>
              <a:t>① CES 피팅 품질 메타데이터. 표본별 피팅 χ²이나 신호 수준이 있으면 품질 컷이 값 컷을 모든 팔에서 대체하고 두 모집단은 하나로 합쳐진다. V_rot 자신의 스파이크도 같은 규칙으로 처리된다.</a:t>
            </a:r>
          </a:p>
          <a:p>
            <a:pPr>
              <a:spcAft>
                <a:spcPts val="540"/>
              </a:spcAft>
            </a:pPr>
            <a:r>
              <a:rPr sz="1620">
                <a:ea typeface="맑은 고딕"/>
                <a:cs typeface="맑은 고딕"/>
              </a:rPr>
              <a:t>② 원시 kHz Mirnov 스트림. 같은 격자에서 lag-1 자기상관은 BES +0.568, ECEI +0.572인 반면 Mirnov는 -0.009로, 이 격자 위에서 자기 채널은 백색잡음이다. 정보는 플라즈마에 없었던 것이 아니라 100 Hz 데시메이션이 모델보다 상류에서 파괴한 것이다.</a:t>
            </a:r>
          </a:p>
          <a:p>
            <a:pPr lvl="1">
              <a:spcAft>
                <a:spcPts val="270"/>
              </a:spcAft>
            </a:pPr>
            <a:r>
              <a:rPr sz="1440">
                <a:ea typeface="맑은 고딕"/>
                <a:cs typeface="맑은 고딕"/>
              </a:rPr>
              <a:t>해결책은 모델 변경이 아니라 전처리 변경이다. 원시 시계열에서 계산한 윈도별 RMS·대역 파워·모드 수·모드 회전 주파수를 V_rot 분기로 라우팅하는 것이 V_rot에 대해 지목할 수 있는 가장 가치 높은 실험이다.</a:t>
            </a:r>
          </a:p>
          <a:p>
            <a:pPr>
              <a:spcAft>
                <a:spcPts val="540"/>
              </a:spcAft>
            </a:pPr>
            <a:r>
              <a:rPr sz="1620">
                <a:ea typeface="맑은 고딕"/>
                <a:cs typeface="맑은 고딕"/>
              </a:rPr>
              <a:t>③ 액추에이터 채널. shot 사이에서 ECE 유래 T_e 대리 지표는 T_i와 r = +0.353(p = 3e-17)로 상관되지만 V_rot와는 r = +0.024(p = 0.58)이다. 파워는 토크가 아니며, NBI 토크를 더하는 일은 모델링 과제가 아니라 데이터 획득 과제다.</a:t>
            </a:r>
          </a:p>
          <a:p>
            <a:pPr>
              <a:spcAft>
                <a:spcPts val="540"/>
              </a:spcAft>
            </a:pPr>
            <a:r>
              <a:rPr sz="1620">
                <a:ea typeface="맑은 고딕"/>
                <a:cs typeface="맑은 고딕"/>
              </a:rPr>
              <a:t>셋 모두 아카이브된 KSTAR 데이터에서 실행 가능하며, 어느 것도 현재 결과가 천장에 있다는 진술이 아니다.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한계는 결과와 같은 자리에 적는다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564"/>
              </a:spcAft>
            </a:pPr>
            <a:r>
              <a:rPr sz="1689">
                <a:ea typeface="맑은 고딕"/>
                <a:cs typeface="맑은 고딕"/>
              </a:rPr>
              <a:t>통계적 검정력. 재현의 단위는 shot이며 분할당 test shot이 96개(T_i) / 60~66개(V_rot)이므로 검정력이 모든 유의성 판정을 제약하고, shot별 제곱오차 차이는 두꺼운 꼬리를 갖는다.</a:t>
            </a:r>
          </a:p>
          <a:p>
            <a:pPr>
              <a:spcAft>
                <a:spcPts val="564"/>
              </a:spcAft>
            </a:pPr>
            <a:r>
              <a:rPr sz="1689">
                <a:ea typeface="맑은 고딕"/>
                <a:cs typeface="맑은 고딕"/>
              </a:rPr>
              <a:t>MNAR 낙관. skill은 관측 지점에서만 측정되며, 재가중은 결측 T_i 행의 54~68 %와 결측 V_rot 행의 4~6 %에만 닿는다.</a:t>
            </a:r>
          </a:p>
          <a:p>
            <a:pPr>
              <a:spcAft>
                <a:spcPts val="564"/>
              </a:spcAft>
            </a:pPr>
            <a:r>
              <a:rPr sz="1689">
                <a:ea typeface="맑은 고딕"/>
                <a:cs typeface="맑은 고딕"/>
              </a:rPr>
              <a:t>오프라인 주장의 상한은 GP 동률이다. '미래를 쓰는 보간을 이긴다'는 '사전등록된 보간들을 이긴다'를 뜻하며 모든 오프라인 방법으로 확장되지 않는다. 다만 인과 GP로는 확장된다.</a:t>
            </a:r>
          </a:p>
          <a:p>
            <a:pPr>
              <a:spcAft>
                <a:spcPts val="564"/>
              </a:spcAft>
            </a:pPr>
            <a:r>
              <a:rPr sz="1689">
                <a:ea typeface="맑은 고딕"/>
                <a:cs typeface="맑은 고딕"/>
              </a:rPr>
              <a:t>값 기준 컷은 대리 지표이고, 캠페인 전이는 4개 분할이 아니라 하나의 시간 블록 위 4개 초기화에 기댄다. 대조군을 전이시키는 shot별 표준화는 오프라인 형태이며 인과적 러닝 판본은 여기서 측정되지 않았다.</a:t>
            </a:r>
          </a:p>
          <a:p>
            <a:pPr>
              <a:spcAft>
                <a:spcPts val="564"/>
              </a:spcAft>
            </a:pPr>
            <a:r>
              <a:rPr sz="1689">
                <a:ea typeface="맑은 고딕"/>
                <a:cs typeface="맑은 고딕"/>
              </a:rPr>
              <a:t>지표의 비대칭. 보간은 shot 전체의 이웃을 쓰고 백본은 세그먼트의 과거를 본다. 이는 인과 모델에 의도적으로 불리하지만 직접적인 해석은 어렵게 만든다.</a:t>
            </a:r>
          </a:p>
          <a:p>
            <a:pPr>
              <a:spcAft>
                <a:spcPts val="564"/>
              </a:spcAft>
            </a:pPr>
            <a:r>
              <a:rPr sz="1689">
                <a:ea typeface="맑은 고딕"/>
                <a:cs typeface="맑은 고딕"/>
              </a:rPr>
              <a:t>단일 장치·단일 진단 집합이며, 불확실성은 조건부가 아니라 주변적으로 보정된다. 페데스탈 상단 프레이밍은 데이터 선정에서 물려받았고 사건 위상 분석은 향후 과제다.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53128" y="1508760"/>
            <a:ext cx="7296912" cy="3703320"/>
          </a:xfrm>
        </p:spPr>
        <p:txBody>
          <a:bodyPr wrap="square" anchor="ctr"/>
          <a:lstStyle/>
          <a:p>
            <a:r>
              <a:rPr b="0" sz="4800">
                <a:solidFill>
                  <a:schemeClr val="accent1"/>
                </a:solidFill>
                <a:ea typeface="맑은 고딕"/>
                <a:cs typeface="맑은 고딕"/>
              </a:rPr>
              <a:t>Conclusion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결론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527"/>
              </a:spcAft>
            </a:pPr>
            <a:r>
              <a:rPr sz="1580">
                <a:ea typeface="맑은 고딕"/>
                <a:cs typeface="맑은 고딕"/>
              </a:rPr>
              <a:t>인과적이고 누수 방지된 멀티모달 나우캐스터, 즉 V_rot 분기가 고속 진단을 결코 보지 않는 전체격자 2분기 순환 모델을 만들고, 사전등록된 shot 군집 두-모집단 프로토콜 아래에서 의도적으로 불리한 기준에 대해 평가하였다.</a:t>
            </a:r>
          </a:p>
          <a:p>
            <a:pPr>
              <a:spcAft>
                <a:spcPts val="527"/>
              </a:spcAft>
            </a:pPr>
            <a:r>
              <a:rPr sz="1580">
                <a:ea typeface="맑은 고딕"/>
                <a:cs typeface="맑은 고딕"/>
              </a:rPr>
              <a:t>이온온도에 대해 모델은 미래를 쓰는 PCHIP을 +0.17~+0.32의 skill로 이기고, 4개 독립 분할과 두 모집단 전부에서 유의하며, 가장 강한 오프라인 평활기와는 동률이고, 두 타겟 모두에서 모든 인과 기준선을 이긴다.</a:t>
            </a:r>
          </a:p>
          <a:p>
            <a:pPr>
              <a:spcAft>
                <a:spcPts val="527"/>
              </a:spcAft>
            </a:pPr>
            <a:r>
              <a:rPr sz="1580">
                <a:ea typeface="맑은 고딕"/>
                <a:cs typeface="맑은 고딕"/>
              </a:rPr>
              <a:t>배치 주장은 두 스트레스 테스트의 지지를 받는다. 진짜 결측이면서 도메인 안인 시점에서 모든 인과 방법 대비 우위는 8/8 셀에서 재가중을 견디고, 캠페인 경계를 가로질러서도 시퀀스 나우캐스터는 두 모집단 모두에서 4/4 초기화로 PCHIP과 인과 GP를 앞선다.</a:t>
            </a:r>
          </a:p>
          <a:p>
            <a:pPr>
              <a:spcAft>
                <a:spcPts val="527"/>
              </a:spcAft>
            </a:pPr>
            <a:r>
              <a:rPr sz="1580">
                <a:ea typeface="맑은 고딕"/>
                <a:cs typeface="맑은 고딕"/>
              </a:rPr>
              <a:t>작동하지 않는 곳과 그 이유도 함께 보고한다. 회전은 전역적으로 보간과 동률이고 그 skill은 과도 구간에 산다. 값 기준 컷은 한쪽 방향 대리 지표이며, 예측 구간은 방전별이 아니라 주변적으로 보정된다.</a:t>
            </a:r>
          </a:p>
          <a:p>
            <a:pPr>
              <a:spcAft>
                <a:spcPts val="527"/>
              </a:spcAft>
            </a:pPr>
            <a:r>
              <a:rPr sz="1580">
                <a:ea typeface="맑은 고딕"/>
                <a:cs typeface="맑은 고딕"/>
              </a:rPr>
              <a:t>이 중 어느 것도 천장 논변이 아니다. 각각은 구체적이고 검정 가능한 변경을 가리킨다: CES 피팅 품질 메타데이터, 원시 kHz Mirnov 스트림에서 다시 계산한 윈도별 특징, 그리고 회전의 물리적 원인인 NBI 토크 채널.</a:t>
            </a:r>
          </a:p>
          <a:p>
            <a:pPr>
              <a:spcAft>
                <a:spcPts val="527"/>
              </a:spcAft>
            </a:pPr>
            <a:r>
              <a:rPr sz="1580">
                <a:ea typeface="맑은 고딕"/>
                <a:cs typeface="맑은 고딕"/>
              </a:rPr>
              <a:t>모델 크기 축은 닫혔다. 21k 파라미터의 persistence+유계 보정 모델이 컷에서 백본과 대등하고 26배 폭 스윕은 평평하다. 총합 손실의 한계는 추정기가 아니라 정보다.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재현성과 가용성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분할은 디스크에 고정되고 재적재 시 검증된다. 정규화 통계는 학습 파일 전용이며, 시퀀스 계열은 여기에 shot별 입력 표준화가 더해진다.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모델 선택은 test 데이터를 결코 읽지 않는다. bootstrap은 고정 시드와 10,000회 재표본을 쓰고, 인용된 모든 수치는 단일 수집 스크립트가 동결된 평가 산출물에서 읽어온다.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전체 파이프라인, 사전등록 문서, 통제 실험 러너, 고정된 분할, 그리고 수집기가 공개 저장소에 있다: github.com/iseungsang01/ml-intern-revision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백본은 ces_prediction/experiments/seq/model_seq_v2.py, 해석 가능한 사다리 칸은 model_seq_b3.py, 윈도 대조군은 ces_prediction/model_iter009.py이며 테스트 스위트가 내용 해시로 보호한다.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KSTAR 진단 데이터 641개 방전은 코드와 함께 재배포되지 않으며 운영 기관의 데이터 정책을 따른다. 저장소에는 shot 파일이 갖춰진 뒤 분석을 재현하는 데 필요한 모든 것이 들어 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분할">
  <a:themeElements>
    <a:clrScheme name="분할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분할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분할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Dividend</Template>
  <TotalTime>2801</TotalTime>
  <Words>931</Words>
  <Application>Microsoft Office PowerPoint</Application>
  <PresentationFormat>와이드스크린</PresentationFormat>
  <Paragraphs>94</Paragraphs>
  <Slides>18</Slides>
  <Notes>3</Notes>
  <HiddenSlides>1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5" baseType="lpstr">
      <vt:lpstr>Google Sans Text</vt:lpstr>
      <vt:lpstr>맑은 고딕</vt:lpstr>
      <vt:lpstr>Gill Sans MT</vt:lpstr>
      <vt:lpstr>Helvetica</vt:lpstr>
      <vt:lpstr>Wingdings</vt:lpstr>
      <vt:lpstr>Wingdings 2</vt:lpstr>
      <vt:lpstr>분할</vt:lpstr>
      <vt:lpstr>Improvement of CES Terminal Resolution at KSTAR Pedestal Top via Multimodal Neural Networks Using Muti-Diagnostic Data (BES, ECEI, Mirnov Coil)</vt:lpstr>
      <vt:lpstr>PowerPoint 프레젠테이션</vt:lpstr>
      <vt:lpstr>Introduction</vt:lpstr>
      <vt:lpstr>구체적인 연구 계획과 목표</vt:lpstr>
      <vt:lpstr>왜 이 연구를 해야하는가</vt:lpstr>
      <vt:lpstr>왜 이 연구를 해야하는가</vt:lpstr>
      <vt:lpstr>연구를 통해 기대되는 효과</vt:lpstr>
      <vt:lpstr>Theoretical Backgrounds</vt:lpstr>
      <vt:lpstr>KstAr diagnostics layout</vt:lpstr>
      <vt:lpstr>methods</vt:lpstr>
      <vt:lpstr>데이터셋 수집 기준</vt:lpstr>
      <vt:lpstr>데이터셋 수집 기준</vt:lpstr>
      <vt:lpstr>Data 처리 pipeline</vt:lpstr>
      <vt:lpstr>DATASET</vt:lpstr>
      <vt:lpstr>시간 축 설정 방법</vt:lpstr>
      <vt:lpstr>REsults</vt:lpstr>
      <vt:lpstr>질문 정리</vt:lpstr>
      <vt:lpstr>월드 모델로의 전환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김하빈</dc:creator>
  <cp:lastModifiedBy>lss</cp:lastModifiedBy>
  <cp:revision>194</cp:revision>
  <dcterms:created xsi:type="dcterms:W3CDTF">2025-11-13T08:47:20Z</dcterms:created>
  <dcterms:modified xsi:type="dcterms:W3CDTF">2026-05-03T00:37:07Z</dcterms:modified>
</cp:coreProperties>
</file>