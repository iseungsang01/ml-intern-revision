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덱은 docs/연구방어_종합문서.md(11축 전면 감사, 2026-08-05)의 발표판입니다.</a:t>
            </a:r>
          </a:p>
          <a:p>
            <a:r>
              <a:t>모든 수치의 출처: THESIS_RESULTS.md §8(실험 원장) · docs/paper/paper_numbers.json(동결</a:t>
            </a:r>
          </a:p>
          <a:p>
            <a:r>
              <a:t>산출물 자동 수집) · data/.gp_analysis.json · data/.fitfail_analysis.json ·</a:t>
            </a:r>
          </a:p>
          <a:p>
            <a:r>
              <a:t>docs/paper/NOVELTY.md(문헌 검증 2회).</a:t>
            </a:r>
          </a:p>
          <a:p/>
          <a:p>
            <a:r>
              <a:t>시간이 2분뿐이면: 2번(주장) → 13번(스트레스 테스트) → 20번(요약)만 보여줍니다.</a:t>
            </a:r>
          </a:p>
          <a:p>
            <a:r>
              <a:t>심사 대비 핵심 슬라이드는 17·18번(예상질문 17문항 방어표)입니다.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[정확한 수치]</a:t>
            </a:r>
          </a:p>
          <a:p>
            <a:r>
              <a:t>C1 (Tᵢ vs 사전등록 보간): genuine skill_vs_pchip = +0.179 [+0.007,+0.302] /</a:t>
            </a:r>
          </a:p>
          <a:p>
            <a:r>
              <a:t>+0.197 [+0.091,+0.276] / +0.280 [+0.192,+0.347] / +0.263 [+0.109,+0.348] — 4/4 PASS.</a:t>
            </a:r>
          </a:p>
          <a:p>
            <a:r>
              <a:t>held 포함 모집단에서도 +0.19~+0.28 4/4. 더 강한 linear 대비 genuine 3/4 PASS</a:t>
            </a:r>
          </a:p>
          <a:p>
            <a:r>
              <a:t>(시드 42만 +0.148 n.s. — 이것도 논문에 명시).</a:t>
            </a:r>
          </a:p>
          <a:p>
            <a:r>
              <a:t>C2 (인과 우위·배치): 진짜 결측 재가중 후 vs persistence +0.292/+0.308/+0.293/+0.293</a:t>
            </a:r>
          </a:p>
          <a:p>
            <a:r>
              <a:t>(4/4 PASS, MNAR 보정 비용 0.06~0.12뿐) · 캠페인 시간 분할에서 Tᵢ 3/4(평균 +0.222),</a:t>
            </a:r>
          </a:p>
          <a:p>
            <a:r>
              <a:t>V_rot 4/4(평균 +0.216).</a:t>
            </a:r>
          </a:p>
          <a:p>
            <a:r>
              <a:t>C3 (V_rot): 점추정 +0.100~+0.203 전부 양수지만 PASS는 시드 1(+0.162)뿐 = 잡음 수준.</a:t>
            </a:r>
          </a:p>
          <a:p>
            <a:r>
              <a:t>C4 (비대칭): fast-only Tᵢ +0.372(승) vs fast-only V_rot −0.642(평균 예측보다 나쁨).</a:t>
            </a:r>
          </a:p>
          <a:p/>
          <a:p>
            <a:r>
              <a:t>[C1의 정밀화 — 반드시 이 형태로 말할 것]</a:t>
            </a:r>
          </a:p>
          <a:p>
            <a:r>
              <a:t>"미래를 쓰는 보간을 이긴다" = "사전등록된 보간(PCHIP·linear)을 이긴다". 사후 실측된</a:t>
            </a:r>
          </a:p>
          <a:p>
            <a:r>
              <a:t>최강 오프라인 팔(GP)과는 동률(유의 승 1/4·패 0/4)이며 이는 논문에 그대로 보고됨.</a:t>
            </a:r>
          </a:p>
          <a:p>
            <a:r>
              <a:t>배치 주장(C2)은 무영향 — 미래 앵커 없는 GP는 온라인에 존재하지 않는다.</a:t>
            </a:r>
          </a:p>
          <a:p/>
          <a:p>
            <a:r>
              <a:t>[왜 두 주장을 분리하는가]</a:t>
            </a:r>
          </a:p>
          <a:p>
            <a:r>
              <a:t>오프라인 우위는 무작위 분할·관측 모집단의 성질(스트레스 2종 모두 탈락: 1/4, 0/4).</a:t>
            </a:r>
          </a:p>
          <a:p>
            <a:r>
              <a:t>인과 우위만 결측 지점·미래 캠페인을 생존. 온라인 가상 센서의 실제 경쟁 상대는</a:t>
            </a:r>
          </a:p>
          <a:p>
            <a:r>
              <a:t>persistence다. 이 둘을 뭉개는 것이 과대판매의 주된 경로.</a:t>
            </a:r>
          </a:p>
          <a:p>
            <a:r>
              <a:t>출처: THESIS §8h·§8i·§8n·§8p / 방어문서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[표현 원칙 — 승상님 2026-08-05]</a:t>
            </a:r>
          </a:p>
          <a:p>
            <a:r>
              <a:t>"관련 논문이 없다"를 앞세우지 않는다. 부재-프레임은 반례 하나에 무너지고 심사자에게</a:t>
            </a:r>
          </a:p>
          <a:p>
            <a:r>
              <a:t>문헌 이해 부족으로 읽힌다. 확장-프레임은 계보를 인정할수록 강해진다.</a:t>
            </a:r>
          </a:p>
          <a:p>
            <a:r>
              <a:t>말하는 순서: ① 계보 인정(NN-CES '93 JET~, 교차 진단 추론, 시간 조밀화) →</a:t>
            </a:r>
          </a:p>
          <a:p>
            <a:r>
              <a:t>② 3축 확장 → ③ 관례적 한정 한 문장("우리가 아는 한 이 결합은 아직 다뤄지지 않았으며,</a:t>
            </a:r>
          </a:p>
          <a:p>
            <a:r>
              <a:t>계열의 자연스러운 다음 단계로 제시한다" — 논문 관련연구 절 마지막 문장 그대로).</a:t>
            </a:r>
          </a:p>
          <a:p/>
          <a:p>
            <a:r>
              <a:t>[3축 확장의 정확한 내용]</a:t>
            </a:r>
          </a:p>
          <a:p>
            <a:r>
              <a:t>① 타겟: Thomson/ECE 전자 물리량(Tₑ·nₑ) → 희소 CES 이온 물리량(Tᵢ·V_rot).</a:t>
            </a:r>
          </a:p>
          <a:p>
            <a:r>
              <a:t>  선행에서 CES/CER이 등장하면 어디까지나 입력이었다.</a:t>
            </a:r>
          </a:p>
          <a:p>
            <a:r>
              <a:t>② 매핑: 동시각·기억 없는 매핑(Diag2Diag는 명시적 memory-less) → 타겟 자신의 불규칙</a:t>
            </a:r>
          </a:p>
          <a:p>
            <a:r>
              <a:t>  과거 이력+관측 플래그에 조건화된 인과 추정(미래 절대 안 읽음).</a:t>
            </a:r>
          </a:p>
          <a:p>
            <a:r>
              <a:t>③ 평가: 재구성 가능성을 가정 → 현직 방법(타겟 채널의 미래-사용 보간)을 통계 bar로</a:t>
            </a:r>
          </a:p>
          <a:p>
            <a:r>
              <a:t>  세우는 사전등록 검정. 이 프로토콜이 음성 결과를 낼 수 있다는 것 자체가 기여</a:t>
            </a:r>
          </a:p>
          <a:p>
            <a:r>
              <a:t>  (실제로 V_rot 승리를 부정했다). Tᵢ↔V_rot 비대칭은 이 검정의 산출물.</a:t>
            </a:r>
          </a:p>
          <a:p/>
          <a:p>
            <a:r>
              <a:t>[검증 방법]</a:t>
            </a:r>
          </a:p>
          <a:p>
            <a:r>
              <a:t>1차 2026-07-03: 병렬 4에이전트, 25+ 쿼리, OpenAlex 서지 검증 → BORDERLINE-POSITIVE.</a:t>
            </a:r>
          </a:p>
          <a:p>
            <a:r>
              <a:t>2차 2026-08-05: 18개 고유 쿼리(한국어 포함) + 원문 12건 → 판정 유지, 서지 정정 1건,</a:t>
            </a:r>
          </a:p>
          <a:p>
            <a:r>
              <a:t>신규 인용 3건(Kim NF 2024, Char arXiv 2024, Jung 차별 문구).</a:t>
            </a:r>
          </a:p>
          <a:p>
            <a:r>
              <a:t>출처: NOVELTY.md(상단 표현 규칙 포함) / 방어문서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[정식 서지 + 입력→타겟 상세]</a:t>
            </a:r>
          </a:p>
          <a:p>
            <a:r>
              <a:t>· Diag2Diag = Jalalvand et al., "Multimodal super-resolution: discovering hidden</a:t>
            </a:r>
          </a:p>
          <a:p>
            <a:r>
              <a:t>  physics and its application to fusion plasmas", Nat. Commun. 16, 8506 (2025), DIII-D.</a:t>
            </a:r>
          </a:p>
          <a:p>
            <a:r>
              <a:t>  입력: 간섭계·ECE·자기·CER·MSE(전부 동시각). 타겟: Thomson Tₑ/nₑ 하나.</a:t>
            </a:r>
          </a:p>
          <a:p>
            <a:r>
              <a:t>  원문 인용: "all the included diagnostics are aligned with the TS sampling time</a:t>
            </a:r>
          </a:p>
          <a:p>
            <a:r>
              <a:t>  steps" — CER은 입력이지 초해상 대상이 아님. 모델은 명시적 memory-less.</a:t>
            </a:r>
          </a:p>
          <a:p>
            <a:r>
              <a:t>  ※ 주의: 이 논문 PDF 추출 경로로 읽으면 환각이 남 — HTML 본문으로 확인할 것.</a:t>
            </a:r>
          </a:p>
          <a:p>
            <a:r>
              <a:t>· Imríšek et al., PPCF 68, 065049 (2026), COMPASS. SXR·AXUV+간섭계·분광·자기 →</a:t>
            </a:r>
          </a:p>
          <a:p>
            <a:r>
              <a:t>  Thomson Tₑ/nₑ μs급 시간 초해상.</a:t>
            </a:r>
          </a:p>
          <a:p>
            <a:r>
              <a:t>· Wang et al., "Time series extrinsic regression...", NF 65, 076008 (2025), EAST.</a:t>
            </a:r>
          </a:p>
          <a:p>
            <a:r>
              <a:t>  타 진단 시계열 → 결측 ECE형 Tₑ (고장 복구 프레이밍).</a:t>
            </a:r>
          </a:p>
          <a:p>
            <a:r>
              <a:t>· FusionMAE = Yang et al., Comm. Phys. (2026), HL-3. 88ch×1 kHz 비마스킹 → 마스킹</a:t>
            </a:r>
          </a:p>
          <a:p>
            <a:r>
              <a:t>  채널 (Transformer MAE, 10 ms 윈도).</a:t>
            </a:r>
          </a:p>
          <a:p>
            <a:r>
              <a:t>· RTCAKENN = Shousha et al., NF 64, 026006 (2024), DIII-D. 자기·MSE·간섭계·ECE →</a:t>
            </a:r>
          </a:p>
          <a:p>
            <a:r>
              <a:t>  Tₑ·nₑ·불순물 Tᵢ·회전 프로파일(실시간). CER/TS 소실에 dropout 강건.</a:t>
            </a:r>
          </a:p>
          <a:p>
            <a:r>
              <a:t>  [최대 위협 — 방어 3종] (a) 입력이 BES/ECEI/Mirnov 요동 진단이 아님;</a:t>
            </a:r>
          </a:p>
          <a:p>
            <a:r>
              <a:t>  (b) 과거 타겟 이력 채널 없음(불규칙 CES 이력+관측 플래그 구성은 조사 범위에서 유일);</a:t>
            </a:r>
          </a:p>
          <a:p>
            <a:r>
              <a:t>  (c) 보간 기준선과 통계 비교 없음.</a:t>
            </a:r>
          </a:p>
          <a:p>
            <a:r>
              <a:t>· Lin et al., NF 64, 106061 (2024), EAST. XCS(X선 결정 분광기 — XICS 아님) Ar XVII</a:t>
            </a:r>
          </a:p>
          <a:p>
            <a:r>
              <a:t>  101픽셀 스펙트럼 → Tᵢ·V_rot 프로파일 (Voigt 피팅 ~10배 가속). 같은 물리 채널의</a:t>
            </a:r>
          </a:p>
          <a:p>
            <a:r>
              <a:t>  다른 계기·순간 매핑 → 소스 진단 가용성 상속.</a:t>
            </a:r>
          </a:p>
          <a:p>
            <a:r>
              <a:t>· Jung, Kim &amp; Kang, JKPS 88, 1079 (2026), KSTAR. Thomson 31ch+TCI 5ch+CES 32ch(입력)</a:t>
            </a:r>
          </a:p>
          <a:p>
            <a:r>
              <a:t>  → Tₑ·nₑ·Tᵢ EPED 공간 프로파일. 회전은 저자들이 명시한 향후 과제 — 동일 장치에서</a:t>
            </a:r>
          </a:p>
          <a:p>
            <a:r>
              <a:t>  회전 미착수를 공식 문헌이 인정(우리 차별점 강화).</a:t>
            </a:r>
          </a:p>
          <a:p>
            <a:r>
              <a:t>계보(피팅 가속): Bishop &amp; Roach &amp; von Hellermann PPCF 35, 765 (1993) → Svensson &amp;</a:t>
            </a:r>
          </a:p>
          <a:p>
            <a:r>
              <a:t>von Hellermann PPCF 41, 315 (1999) → Chai et al. PST 21, 105103 (2019).</a:t>
            </a:r>
          </a:p>
          <a:p>
            <a:r>
              <a:t>출처: NOVELTY.md 2026-08-05 절 / 방어문서 §3.2.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[데이터]</a:t>
            </a:r>
          </a:p>
          <a:p>
            <a:r>
              <a:t>KSTAR shot #30801–32751 연속 641개 CSV, 247,207행, 공통 10 ms 격자. H-mode RMP ELM</a:t>
            </a:r>
          </a:p>
          <a:p>
            <a:r>
              <a:t>억제 구간을 D_α 활동 중심 ~100 ms(파일은 shot당 ~30 s 구간)로 절단. 하드웨어 이력</a:t>
            </a:r>
          </a:p>
          <a:p>
            <a:r>
              <a:t>('17 MicroTCA, '20 UFCES, '23 W-divertor)을 고려한 캠페인 범위 #24000–33000에서 선정.</a:t>
            </a:r>
          </a:p>
          <a:p>
            <a:r>
              <a:t>열: BES_* 9ch(밀도요동) · ECEI_* 4ch(전자온도) · MC* 2ch(자기요동) · time ·</a:t>
            </a:r>
          </a:p>
          <a:p>
            <a:r>
              <a:t>CES_TI · CES_VT — 접두사로 자동 인식.</a:t>
            </a:r>
          </a:p>
          <a:p/>
          <a:p>
            <a:r>
              <a:t>[결측 실태 — 전수 조사]</a:t>
            </a:r>
          </a:p>
          <a:p>
            <a:r>
              <a:t>NaN: Tᵢ 8.2% / V_rot 23.9%, 서로 독립(한쪽만 있는 행이 흔함).</a:t>
            </a:r>
          </a:p>
          <a:p>
            <a:r>
              <a:t>V_rot는 추가로 41.1%가 held(직전 관측의 bit-동일 복사) → 실질 무정보 65.0%.</a:t>
            </a:r>
          </a:p>
          <a:p>
            <a:r>
              <a:t>관측된 V_rot 중 54.0%가 held. Tᵢ의 held는 641 shot 전체에서 1행(0.0%).</a:t>
            </a:r>
          </a:p>
          <a:p>
            <a:r>
              <a:t>"V_rot 결측 24%"만 말하면 실태를 과소평가 — 반드시 65%와 함께.</a:t>
            </a:r>
          </a:p>
          <a:p/>
          <a:p>
            <a:r>
              <a:t>[샘플 구성 (W=4)]</a:t>
            </a:r>
          </a:p>
          <a:p>
            <a:r>
              <a:t>bes(4,9)+ecei(4,4)+mc(4,2)+time_features(4,4)+ces_history(4,4) → target(2)+mask(2).</a:t>
            </a:r>
          </a:p>
          <a:p>
            <a:r>
              <a:t>time_features = lookback초·delta초·각각의 log1p — 불규칙 간격을 명시 입력으로.</a:t>
            </a:r>
          </a:p>
          <a:p>
            <a:r>
              <a:t>ces_history = 이전 정규화 Tᵢ·V_rot + 타겟별 관측 flag 2개. 타겟 시점은 값·flag 완전</a:t>
            </a:r>
          </a:p>
          <a:p>
            <a:r>
              <a:t>마스킹. 연속 블록(행간 Δt&lt;0.5 s) 안에서 temporal-subset 증강(조합 폭발 → seeded 상한:</a:t>
            </a:r>
          </a:p>
          <a:p>
            <a:r>
              <a:t>train 20만; window 비교 실험은 shot당 500 추가).</a:t>
            </a:r>
          </a:p>
          <a:p>
            <a:r>
              <a:t>행 유지: 진단 입력 완전 + 타겟 ≥1개 실측 (구 "둘 다 관측" 필터는 라벨 행 ≈28%를</a:t>
            </a:r>
          </a:p>
          <a:p>
            <a:r>
              <a:t>조용히 폐기 — per-target mask로 회복).</a:t>
            </a:r>
          </a:p>
          <a:p>
            <a:r>
              <a:t>출처: 방어문서 §4.1·§4.2 / 논문 §데이터.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[누수 방지 3겹]</a:t>
            </a:r>
          </a:p>
          <a:p>
            <a:r>
              <a:t>① 파일(shot) 단위 3-way 분할, seeded, 디스크 고정 + 재로드 검증(불일치 시 예외).</a:t>
            </a:r>
          </a:p>
          <a:p>
            <a:r>
              <a:t>② train-file-only 채널별 z-score(타겟 통계는 NaN-aware). — 캠페인 분할이 이 선택의</a:t>
            </a:r>
          </a:p>
          <a:p>
            <a:r>
              <a:t>  비용을 실측(§8n): 무작위 분할에선 올바른 누수 방지, 시간 이동에선 깨지는 지점.</a:t>
            </a:r>
          </a:p>
          <a:p>
            <a:r>
              <a:t>③ ces_history의 타겟 시점 완전 마스킹(값+flag). 보간 기준선도 타겟 자신 값 불독,</a:t>
            </a:r>
          </a:p>
          <a:p>
            <a:r>
              <a:t>  ≥0.5 s 세그먼트 경계 불통과(persistence 후퇴, 모집단 축소 없음).</a:t>
            </a:r>
          </a:p>
          <a:p/>
          <a:p>
            <a:r>
              <a:t>[held 스토리 — 신뢰를 얻는 지점, 방어적으로 말하지 말 것]</a:t>
            </a:r>
          </a:p>
          <a:p>
            <a:r>
              <a:t>발견: 관측된 V_rot의 54%가 forward-fill(499/641 파일, 최대 1,214행 연속).</a:t>
            </a:r>
          </a:p>
          <a:p>
            <a:r>
              <a:t>평가: 전 구간 제외(genuine-only가 headline) → V_rot RMSE 22~33 → 35~46으로 정직 상승.</a:t>
            </a:r>
          </a:p>
          <a:p>
            <a:r>
              <a:t>학습: 초기 단일-seed A/B는 "무해" → 4-seed paired가 뒤집음: held 제거 학습이 V_rot</a:t>
            </a:r>
          </a:p>
          <a:p>
            <a:r>
              <a:t>4/4 개선(평균 +0.039, 3/4 유의). forward-fill이 "이력 복사가 최적"이라고 가르치고</a:t>
            </a:r>
          </a:p>
          <a:p>
            <a:r>
              <a:t>있었다. 재확인: window sweep에서 held 제거 이득이 W에 단조 감소(+0.088→+0.006) —</a:t>
            </a:r>
          </a:p>
          <a:p>
            <a:r>
              <a:t>held는 짧은 윈도를 벌하고 있었다. 현행 규약: 학습·평가 모두 제거(CES_DROP_STUCK_TARGETS=1).</a:t>
            </a:r>
          </a:p>
          <a:p/>
          <a:p>
            <a:r>
              <a:t>[Mirnov 결함 — 정직 공개 + 수리 지목]</a:t>
            </a:r>
          </a:p>
          <a:p>
            <a:r>
              <a:t>같은 100 Hz 격자에서 블록 내 lag-1 자기상관: BES +0.568 / ECEI +0.572 / MC −0.009</a:t>
            </a:r>
          </a:p>
          <a:p>
            <a:r>
              <a:t>(블록 82%가 |r|&lt;0.1) = kHz dB/dt를 무필터 데시메이션한 백색잡음. 파생 특징 4종</a:t>
            </a:r>
          </a:p>
          <a:p>
            <a:r>
              <a:t>(적분·PCHIP적분·|MC|·이동RMS) 전부 무효(4-seed paired). 수리는 상류: 원 kHz 스트림의</a:t>
            </a:r>
          </a:p>
          <a:p>
            <a:r>
              <a:t>window별 RMS·대역 파워·모드 번호.</a:t>
            </a:r>
          </a:p>
          <a:p>
            <a:r>
              <a:t>출처: THESIS §1·§8b.2·§8c·§8f / 방어문서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[아키텍처 상세 — 201,258 파라미터]</a:t>
            </a:r>
          </a:p>
          <a:p>
            <a:r>
              <a:t>· 진단별 time-aware 1D CNN 인코더 ×3 (Conv–BN–GELU ×2 → GAP → 96-d 사영) + 시간</a:t>
            </a:r>
          </a:p>
          <a:p>
            <a:r>
              <a:t>  특징 소형 CNN. 순환 대신 CNN인 이유: 결측 제거로 시간축이 불규칙 — 등간격 가정 회피.</a:t>
            </a:r>
          </a:p>
          <a:p>
            <a:r>
              <a:t>· 이력 인코더: 1-layer 양방향 GRU(hidden 64) → 타겟별 독립 관측 마스킹 멀티헤드(4)</a:t>
            </a:r>
          </a:p>
          <a:p>
            <a:r>
              <a:t>  가산 어텐션 풀링 2개. softmax 이전에 해당 타겟의 관측 flag=0인 시점(완전 마스킹된</a:t>
            </a:r>
          </a:p>
          <a:p>
            <a:r>
              <a:t>  타겟 행 + 미관측 이력 행)을 −∞로 밀어냄 → 어텐션 질량은 실측점에만.</a:t>
            </a:r>
          </a:p>
          <a:p>
            <a:r>
              <a:t>  이것이 "관측점만 쓴다"는 보간의 귀납 편향을 파라미터 0개로 주입한, 이 모델의</a:t>
            </a:r>
          </a:p>
          <a:p>
            <a:r>
              <a:t>  유일한 비표준 구성요소이자 n.s.(+0.088) → 유의 전환의 주역.</a:t>
            </a:r>
          </a:p>
          <a:p>
            <a:r>
              <a:t>· 양방향성 주의: 윈도가 엄격히 과거 전용이므로 미래 접근이 아님 — 이력 구간 내부의</a:t>
            </a:r>
          </a:p>
          <a:p>
            <a:r>
              <a:t>  앞뒤 문맥화일 뿐. 마스킹된 타겟이 윈도 중앙에 있어 forward+backward가 양쪽 관측</a:t>
            </a:r>
          </a:p>
          <a:p>
            <a:r>
              <a:t>  이웃을 취합 → 구조적으로 '학습된 보간'처럼 동작.</a:t>
            </a:r>
          </a:p>
          <a:p>
            <a:r>
              <a:t>· 물리 기반 라우팅: Tᵢ 헤드 = 고속+시간+이력(72k) / V_rot 헤드 = 이력+시간만(14k,</a:t>
            </a:r>
          </a:p>
          <a:p>
            <a:r>
              <a:t>  고속 진단 의도적 배제 — ablation 근거). 출력은 정규화 단위(역정규화는 평가만).</a:t>
            </a:r>
          </a:p>
          <a:p/>
          <a:p>
            <a:r>
              <a:t>[체크포인트 함정 — 질문 대비]</a:t>
            </a:r>
          </a:p>
          <a:p>
            <a:r>
              <a:t>논문 숫자를 만든 아키텍처는 model_iter009.py 하나뿐이고 SHA-256으로 고정돼 있다.</a:t>
            </a:r>
          </a:p>
          <a:p>
            <a:r>
              <a:t>한때 model.py가 AutoML이 Transformer로 재작성한 별개 파일이라 저장 체크포인트 45개를</a:t>
            </a:r>
          </a:p>
          <a:p>
            <a:r>
              <a:t>하나도 못 불러왔고, 채점할 때마다 iter009를 주입해야 했다 — 2026-08-09에 model.py가</a:t>
            </a:r>
          </a:p>
          <a:p>
            <a:r>
              <a:t>iter009를 재수출하도록 배선을 정리해 해소. 변형 아키텍처는 CES_MODEL_FILE로 지정한다.</a:t>
            </a:r>
          </a:p>
          <a:p>
            <a:r>
              <a:t>재학습으로 양 타겟 재현 확인(2026-07-14 .vt_repro_* 계열).</a:t>
            </a:r>
          </a:p>
          <a:p>
            <a:r>
              <a:t>출처: PROJECT_KNOWLEDGE "Checkpoint Provenance" / 방어문서 §4.4.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[학습 절차]</a:t>
            </a:r>
          </a:p>
          <a:p>
            <a:r>
              <a:t>손실 = 타겟별 마스킹 MSE Σm(ŷ−y)²/Σm + 0.1·relu(정규화0 − ŷ_Tᵢ) 물리 soft 벌점.</a:t>
            </a:r>
          </a:p>
          <a:p>
            <a:r>
              <a:t>AdamW(lr 1e-3, wd 1e-4) · batch 512 · 10 epoch · ReduceLROnPlateau(patience 2, ×0.5)</a:t>
            </a:r>
          </a:p>
          <a:p>
            <a:r>
              <a:t>· grad-clip 5.0 · 고정 seed · loss 비유한 시 즉시 실패(fail-loud).</a:t>
            </a:r>
          </a:p>
          <a:p>
            <a:r>
              <a:t>데이터 규약: held 제거를 모든 실행에서 명시 고정 — 기본값 상속이 §8f의 잘못된 결론</a:t>
            </a:r>
          </a:p>
          <a:p>
            <a:r>
              <a:t>(V_rot은 긴 윈도 필요)을 한 번 만든 적이 있음.</a:t>
            </a:r>
          </a:p>
          <a:p/>
          <a:p>
            <a:r>
              <a:t>[아키텍처 도달 경로 — keep/discard 통제 탐색 ~40회]</a:t>
            </a:r>
          </a:p>
          <a:p>
            <a:r>
              <a:t>후보 = 데이터 계약 보존 + 통제 변수 1개 변경 → 완전 학습 → 깨끗한 비증강 검증</a:t>
            </a:r>
          </a:p>
          <a:p>
            <a:r>
              <a:t>skill_vs_pchip으로 채점 → 최고 갱신 시 KEEP, 아니면 롤백. test는 전 과정 봉인.</a:t>
            </a:r>
          </a:p>
          <a:p>
            <a:r>
              <a:t>게이트 교체가 결정타: 증강 val loss는 이력 촘촘한 쉬운 구간이 복제돼 '평활한 예측'을</a:t>
            </a:r>
          </a:p>
          <a:p>
            <a:r>
              <a:t>보상 — 평활한 영역은 보간이 이미 잘하는 곳. clean skill로 직접 채점하면 선택 기준이</a:t>
            </a:r>
          </a:p>
          <a:p>
            <a:r>
              <a:t>보고 지표와 일치, 보간이 약한 곳(고변동·gap)에서 이기는 구조가 선택됨.</a:t>
            </a:r>
          </a:p>
          <a:p/>
          <a:p>
            <a:r>
              <a:t>[계보 — "무엇을 참고했나" 질문 대비]</a:t>
            </a:r>
          </a:p>
          <a:p>
            <a:r>
              <a:t>GRU-D(Che 2018, 관측 마스크 순환) · mTAN(Shukla 2021) · Latent-ODE(Rubanova 2019,</a:t>
            </a:r>
          </a:p>
          <a:p>
            <a:r>
              <a:t>시험 후 기각) · ABMIL(Ilse 2018, 어텐션 풀링) · Caruana 1997(부분 라벨 멀티태스크) ·</a:t>
            </a:r>
          </a:p>
          <a:p>
            <a:r>
              <a:t>Ngiam 2011(후기 융합) · Xiong 2020(Pre-LN) · ConvLSTM/DGMR(나우캐스팅 용법).</a:t>
            </a:r>
          </a:p>
          <a:p>
            <a:r>
              <a:t>새로움은 재료가 아니라 "물리적으로 불리한 평가 프로토콜 아래의 누수 방지 조합".</a:t>
            </a:r>
          </a:p>
          <a:p>
            <a:r>
              <a:t>재현성: collect_paper_numbers.py → paper_numbers.json → 그림/표 (수기 전사 금지).</a:t>
            </a:r>
          </a:p>
          <a:p>
            <a:r>
              <a:t>출처: 방어문서 §4.3·§4.5·§4.6.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[한 문장 정의를 풀어서]</a:t>
            </a:r>
          </a:p>
          <a:p>
            <a:r>
              <a:t>"TEST 숫자를 보기 전에 규칙을 문서로 고정했고(PR1–4), 방전(shot)을 재표본 단위로</a:t>
            </a:r>
          </a:p>
          <a:p>
            <a:r>
              <a:t>하는 paired bootstrap 95% CI가 0을 제외하는지를, 모델 선택이 접근한 적 없는 4개</a:t>
            </a:r>
          </a:p>
          <a:p>
            <a:r>
              <a:t>독립 분할에서 반복 확인했다."</a:t>
            </a:r>
          </a:p>
          <a:p/>
          <a:p>
            <a:r>
              <a:t>[왜 shot이 단위인가 — 가장 자주 나올 질문]</a:t>
            </a:r>
          </a:p>
          <a:p>
            <a:r>
              <a:t>한 방전 내 인접 CES 행은 강하게 자기상관 → 표본 3만 개를 독립 취급하면 CI가</a:t>
            </a:r>
          </a:p>
          <a:p>
            <a:r>
              <a:t>터무니없이 좁아짐(가짜 복제). SE_model−SE_pchip을 shot으로 집계해 shot 전체를</a:t>
            </a:r>
          </a:p>
          <a:p>
            <a:r>
              <a:t>복원추출(B=10,000, 고정 seed 12345). 유효 n이 표본 수가 아니라 shot 수(~96)가 되는</a:t>
            </a:r>
          </a:p>
          <a:p>
            <a:r>
              <a:t>검정력 비용을 정직하게 지불 — 이것이 V_rot 미해결의 구속 조건.</a:t>
            </a:r>
          </a:p>
          <a:p>
            <a:r>
              <a:t>paired인 이유: shot 간 난이도 분산이 소거돼 비교가 예리해짐.</a:t>
            </a:r>
          </a:p>
          <a:p/>
          <a:p>
            <a:r>
              <a:t>[PR 세부]</a:t>
            </a:r>
          </a:p>
          <a:p>
            <a:r>
              <a:t>PR1 headline=PCHIP(사전 선택; 사다리 전체 병행). PR2 보간은 모든 채점 지점에서 예측</a:t>
            </a:r>
          </a:p>
          <a:p>
            <a:r>
              <a:t>(미래 이웃 없으면 persistence 후퇴 — 모집단 솎아내기 금지). PR3 TEST ≥15 shot &amp;</a:t>
            </a:r>
          </a:p>
          <a:p>
            <a:r>
              <a:t>≥3,000 Tᵢ 표본(실제 96). PR4 PASS ⟺ 95% CI 하한 &gt; 0.</a:t>
            </a:r>
          </a:p>
          <a:p>
            <a:r>
              <a:t>선택 편향 차단: test는 탐색 전 예약·미열람, 시드 1/7/123은 선택 밖 재현.</a:t>
            </a:r>
          </a:p>
          <a:p/>
          <a:p>
            <a:r>
              <a:t>[통과 못한 것 목록 — 먼저 말하면 신뢰를 얻음]</a:t>
            </a:r>
          </a:p>
          <a:p>
            <a:r>
              <a:t>V_rot 1/4(동률 판정) · linear 대비 시드 42 n.s. · Δt&gt;105 ms에서 PCHIP 유의 승 ·</a:t>
            </a:r>
          </a:p>
          <a:p>
            <a:r>
              <a:t>캠페인 분할 vs PCHIP 0/4 · 모델 vs GP 동률(1/4).</a:t>
            </a:r>
          </a:p>
          <a:p>
            <a:r>
              <a:t>출처: 방어문서 §6 / THESIS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[사다리 — 정보 접근·근거]</a:t>
            </a:r>
          </a:p>
          <a:p>
            <a:r>
              <a:t>persistence(마지막 관측; Murphy 1988 skill 분모 관습) · AR 국소(과거만; IAR —</a:t>
            </a:r>
          </a:p>
          <a:p>
            <a:r>
              <a:t>Eyheramendy 2018) · linear(과거+미래; Press 2007) · PCHIP(과거+미래 단조 3차;</a:t>
            </a:r>
          </a:p>
          <a:p>
            <a:r>
              <a:t>Fritsch–Carlson 1980) · 모델(고속+과거 CES — 유일하게 미래 미접근).</a:t>
            </a:r>
          </a:p>
          <a:p>
            <a:r>
              <a:t>PCHIP 사전 선택 이유: 자연 스플라인은 급변에서 Gibbs형 진동(Kvernadze 1998).</a:t>
            </a:r>
          </a:p>
          <a:p>
            <a:r>
              <a:t>linear 교차확인(genuine): +0.148 n.s.(42) / +0.167 / +0.259 / +0.234 PASS —</a:t>
            </a:r>
          </a:p>
          <a:p>
            <a:r>
              <a:t>"기준선을 유리하게 골랐다"는 반박을 시드 42 n.s.까지 공개하며 차단.</a:t>
            </a:r>
          </a:p>
          <a:p>
            <a:r>
              <a:t>공정성: 전 팔 동일 (file,row)·동일 per-target mask, 보간은 타겟 자신 값 불독,</a:t>
            </a:r>
          </a:p>
          <a:p>
            <a:r>
              <a:t>≥0.5 s 간극 불통과, Δt≤15 ms가 채점의 97.7%.</a:t>
            </a:r>
          </a:p>
          <a:p/>
          <a:p>
            <a:r>
              <a:t>[GP 팔 — 2026-08-05 사후 실측, §8p]</a:t>
            </a:r>
          </a:p>
          <a:p>
            <a:r>
              <a:t>구현: 정확한(exact) Matern-3/2+백색잡음 GP, 최근접 과거16+미래16 국소 적합, 이웃집합</a:t>
            </a:r>
          </a:p>
          <a:p>
            <a:r>
              <a:t>내 표준화, 초모수는 격자(길이척도 5–80 ms × 잡음 1e-4–1e-1)에서 표본별 주변우도 최대</a:t>
            </a:r>
          </a:p>
          <a:p>
            <a:r>
              <a:t>선택 — 완전 결정론적, 0.94 ms/fit. (sklearn 원안은 블록 전체 적합 38 ms/fit = 실행</a:t>
            </a:r>
          </a:p>
          <a:p>
            <a:r>
              <a:t>불가로 판명되어 교체.) 무누수·PR2 fallback 동일. NaN 조건이 ar_local과 동일 → 모집단</a:t>
            </a:r>
          </a:p>
          <a:p>
            <a:r>
              <a:t>불변이 구조적으로 보장, 4-seed 재채점 전부 기존 14키 bit-identical.</a:t>
            </a:r>
          </a:p>
          <a:p>
            <a:r>
              <a:t>결과: GP vs PCHIP(Tᵢ) +0.242/+0.216/+0.206/+0.278 — 4/4 PASS, 최강 오프라인 팔.</a:t>
            </a:r>
          </a:p>
          <a:p>
            <a:r>
              <a:t>model vs GP(Tᵢ) −0.083/−0.024/+0.094*/−0.021 — 유의 승 1/4·패 0/4 = 동률.</a:t>
            </a:r>
          </a:p>
          <a:p>
            <a:r>
              <a:t>V_rot: GP vs PCHIP 3/4 PASS, model vs GP 전부 n.s.</a:t>
            </a:r>
          </a:p>
          <a:p>
            <a:r>
              <a:t>기전: PCHIP은 잡음 앵커를 정확히 통과, GP는 잡음을 평균해 냄(linear&gt;PCHIP의 연장).</a:t>
            </a:r>
          </a:p>
          <a:p>
            <a:r>
              <a:t>말할 것: "기준선이 약했다는 비판을 측정으로 선제 차단했고, 결과를 그대로 보고한다."</a:t>
            </a:r>
          </a:p>
          <a:p>
            <a:r>
              <a:t>출처: data/.gp_analysis.json / THESIS §8p / 방어문서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[정확한 수치 (genuine)]</a:t>
            </a:r>
          </a:p>
          <a:p>
            <a:r>
              <a:t>Tᵢ skill_vs_pchip: 42 +0.179 [+0.007,+0.302] / 1 +0.197 [+0.091,+0.276] /</a:t>
            </a:r>
          </a:p>
          <a:p>
            <a:r>
              <a:t>7 +0.280 [+0.192,+0.347] / 123 +0.263 [+0.109,+0.348] — 전부 PASS.</a:t>
            </a:r>
          </a:p>
          <a:p>
            <a:r>
              <a:t>V_rot: +0.203 n.s. / +0.162 PASS / +0.100 n.s. / +0.183 n.s.</a:t>
            </a:r>
          </a:p>
          <a:p>
            <a:r>
              <a:t>RMSE 사다리(시드 42, genuine): Tᵢ 모델 407.0 &lt; linear 441.0 &lt; PCHIP 449.3 &lt;</a:t>
            </a:r>
          </a:p>
          <a:p>
            <a:r>
              <a:t>persistence 504.3 &lt; AR 2425.9 (eV). V_rot 35.0 &lt; 38.4 &lt; 39.2 &lt; 44.4 &lt; 91.5 (원 CSV 물리 단위).</a:t>
            </a:r>
          </a:p>
          <a:p>
            <a:r>
              <a:t>채점 모집단: 33,693 샘플/96 shot — Tᵢ n=32,787, V_rot n=10,729(61 shot; held 제외).</a:t>
            </a:r>
          </a:p>
          <a:p/>
          <a:p>
            <a:r>
              <a:t>[정직한 진행 스토리]</a:t>
            </a:r>
          </a:p>
          <a:p>
            <a:r>
              <a:t>초기 iter2는 단일 분할 +0.088 [−0.221,+0.323] n.s. → 선택 게이트를 val loss에서</a:t>
            </a:r>
          </a:p>
          <a:p>
            <a:r>
              <a:t>clean skill로 교체 → iter009가 4/4 유의. n.s. 결과도 버전과 함께 보고.</a:t>
            </a:r>
          </a:p>
          <a:p/>
          <a:p>
            <a:r>
              <a:t>[fit-failure 민감도 — §8q, "이상값이 결과 부풀리지 않았나" 대비]</a:t>
            </a:r>
          </a:p>
          <a:p>
            <a:r>
              <a:t>Tᵢ&gt;3 keV(분광 적합실패, 행의 0.4~0.6%)를 모든 팔에서 동일 제거하면 4/4 PASS 유지 +</a:t>
            </a:r>
          </a:p>
          <a:p>
            <a:r>
              <a:t>skill이 약 2배: +0.362/+0.470/+0.589/+0.538. 스파이크는 어느 팔에도 예측 불가 →</a:t>
            </a:r>
          </a:p>
          <a:p>
            <a:r>
              <a:t>MSE 비율을 1로 끌어당김. 즉 아티팩트는 headline을 끌어내리는 쪽 — 사전등록 모집단을</a:t>
            </a:r>
          </a:p>
          <a:p>
            <a:r>
              <a:t>유지한 headline은 보수적. (더 엄격한 p99=2,089 eV 컷은 3/4 PASS, 시드 42 경계.)</a:t>
            </a:r>
          </a:p>
          <a:p>
            <a:r>
              <a:t>출처: paper_numbers.json / data/.fitfail_analysis.json / THESIS §8q.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[간극 층화 — 4분할 통합, 물리적 shot 군집, genuine (§8g)]</a:t>
            </a:r>
          </a:p>
          <a:p>
            <a:r>
              <a:t>Tᵢ vs PCHIP | vs persistence:</a:t>
            </a:r>
          </a:p>
          <a:p>
            <a:r>
              <a:t>≤15 ms(n=134,629): +0.262 PASS | +0.407 PASS</a:t>
            </a:r>
          </a:p>
          <a:p>
            <a:r>
              <a:t>(15,25]: +0.183 PASS | +0.384 PASS · (25,35]: +0.402 PASS | +0.564 PASS</a:t>
            </a:r>
          </a:p>
          <a:p>
            <a:r>
              <a:t>(55,105]: +0.282 PASS | +0.287 PASS · &gt;105 ms(n=167): −0.542(PCHIP 승) | +0.266 n.s.</a:t>
            </a:r>
          </a:p>
          <a:p>
            <a:r>
              <a:t>전체 &gt;15 ms(n=4,496): +0.191 PASS | +0.388 PASS · 전체 &gt;45 ms: −0.057 n.s. | +0.271 PASS</a:t>
            </a:r>
          </a:p>
          <a:p>
            <a:r>
              <a:t>V_rot vs persistence: ≤15 ms +0.368 · &gt;15 ms +0.309 — 전 구간 유의 승.</a:t>
            </a:r>
          </a:p>
          <a:p>
            <a:r>
              <a:t>말하기: "비인접 영역에서도 미래를 쓰는 PCHIP을 이긴다 — 이전 초안은 검정력이 없어</a:t>
            </a:r>
          </a:p>
          <a:p>
            <a:r>
              <a:t>못 하던 주장. &gt;105 ms는 양측 보간의 영역이고 실시간엔 그것이 없다."</a:t>
            </a:r>
          </a:p>
          <a:p/>
          <a:p>
            <a:r>
              <a:t>[window sweep — 24 run + history-0 ×4 (§8f)]</a:t>
            </a:r>
          </a:p>
          <a:p>
            <a:r>
              <a:t>history-0: Tᵢ −0.026(보간 이하)·V_rot −0.783(PCHIP MSE의 1.8배) — 고속 진단만으로는</a:t>
            </a:r>
          </a:p>
          <a:p>
            <a:r>
              <a:t>보간 동률에도 못 미침. 관측 1개(W=2): Tᵢ +0.238 4/4·V_rot +0.206 — 즉시 최대치.</a:t>
            </a:r>
          </a:p>
          <a:p>
            <a:r>
              <a:t>이후 평탄(Tᵢ 0.190–0.246, V_rot 0.190–0.206; 한 점 안의 seed 산포 0.07–0.16이 곡선</a:t>
            </a:r>
          </a:p>
          <a:p>
            <a:r>
              <a:t>전체 폭보다 넓음). plateau 규칙 → W=2. W=4는 경험적 정당성 없음(우리가 먼저 보고).</a:t>
            </a:r>
          </a:p>
          <a:p>
            <a:r>
              <a:t>W&gt;2의 유일한 논리 = 커버리지: Δt&gt;15 ms 채점 456→1,958, &gt;45 ms 14→135 (W=2→8).</a:t>
            </a:r>
          </a:p>
          <a:p>
            <a:r>
              <a:t>검증된 통제 3종: 분할 window-불변(seed당 동일 96 test shot), shot당 상한 500,</a:t>
            </a:r>
          </a:p>
          <a:p>
            <a:r>
              <a:t>채점 모집단 1.8%만 감소. held-free 필수(held는 짧은 윈도를 벌함).</a:t>
            </a:r>
          </a:p>
          <a:p>
            <a:r>
              <a:t>출처: THESIS §8f·§8g / data/.largegap_analysis.json.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[스트레스 1 — 진짜 결측 지점 재가중 (MNAR, §8i)]</a:t>
            </a:r>
          </a:p>
          <a:p>
            <a:r>
              <a:t>방법: 관측·결측 양쪽에서 계산 가능한 공변량(마지막 진짜 관측 후 Δt × 입력 전용 국소</a:t>
            </a:r>
          </a:p>
          <a:p>
            <a:r>
              <a:t>활동도)으로 사후 층화, &lt;30표본 층 폐기, 층 커버리지 95–100% 보고. 가정(층 내 교환</a:t>
            </a:r>
          </a:p>
          <a:p>
            <a:r>
              <a:t>가능성)은 명시.</a:t>
            </a:r>
          </a:p>
          <a:p>
            <a:r>
              <a:t>적용 범위 사실: W=4에서 진짜 결측 Tᵢ의 54.1%·V_rot의 4.8%만 도메인 내(윈도 안에</a:t>
            </a:r>
          </a:p>
          <a:p>
            <a:r>
              <a:t>관측값 존재) — 정확도가 아니라 커버리지 한계 → reach 확장 지목.</a:t>
            </a:r>
          </a:p>
          <a:p>
            <a:r>
              <a:t>결과: Tᵢ vs persistence +0.292/+0.308/+0.293/+0.293 — 4/4 PASS, 낙관 편향 0.06~0.12.</a:t>
            </a:r>
          </a:p>
          <a:p>
            <a:r>
              <a:t>vs PCHIP은 1/4만 유의 — 결측 지점은 큰 Δt에 있고 거기가 양측 앵커의 최대 이점 지점.</a:t>
            </a:r>
          </a:p>
          <a:p/>
          <a:p>
            <a:r>
              <a:t>[스트레스 2 — 캠페인 시간 분할 (§8n)]</a:t>
            </a:r>
          </a:p>
          <a:p>
            <a:r>
              <a:t>641 방전을 shot 번호로 정렬해 시간 절단: train 416 [30801,31991] / val 128 / test 97</a:t>
            </a:r>
          </a:p>
          <a:p>
            <a:r>
              <a:t>[32312,32751] — 어떤 test도 train보다 앞서지 않음. 분할 고정, 초기화 시드만 4개</a:t>
            </a:r>
          </a:p>
          <a:p>
            <a:r>
              <a:t>(재현은 초기화에 대한 것임을 그대로 밝힘).</a:t>
            </a:r>
          </a:p>
          <a:p>
            <a:r>
              <a:t>Tᵢ vs PCHIP 0/4(−0.148~+0.051) | vs persistence 3/4 PASS(평균 +0.222).</a:t>
            </a:r>
          </a:p>
          <a:p>
            <a:r>
              <a:t>V_rot vs persistence 4/4 PASS(평균 +0.216) — 회전은 "실패한 타겟"이 아니라</a:t>
            </a:r>
          </a:p>
          <a:p>
            <a:r>
              <a:t>"의미 있는 비교가 인과뿐인 타겟".</a:t>
            </a:r>
          </a:p>
          <a:p>
            <a:r>
              <a:t>원인 실측: train→test 드리프트 z = BES 1.218σ(스케일 0.75) / ECEI 0.529σ(0.62) /</a:t>
            </a:r>
          </a:p>
          <a:p>
            <a:r>
              <a:t>MC 0.007(제로평균 잡음) / CES 타겟 0.115σ(1.06). 보간 대비 우위를 사는 고속 진단</a:t>
            </a:r>
          </a:p>
          <a:p>
            <a:r>
              <a:t>경로가 5~11배 더 이동 — train-file-only 정규화가 깨지는 지점.</a:t>
            </a:r>
          </a:p>
          <a:p>
            <a:r>
              <a:t>수리 지목: 고속 진단의 shot별(인과) 표준화 — 누수 없음·실행 시점 가용. 절대 수준</a:t>
            </a:r>
          </a:p>
          <a:p>
            <a:r>
              <a:t>정보(BES↔밀도) 상실이 Tᵢ를 해칠 수 있어 통제 실험 대상(가정 아님).</a:t>
            </a:r>
          </a:p>
          <a:p>
            <a:r>
              <a:t>출처: THESIS §8i·§8n / data/.mnar_analysis.json·.campaign_*.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[4겹 답의 상세]</a:t>
            </a:r>
          </a:p>
          <a:p>
            <a:r>
              <a:t>① 구조가 물리를 코딩: V_rot 헤드에서 고속 진단 배제(라우팅), 관측 마스킹 어텐션</a:t>
            </a:r>
          </a:p>
          <a:p>
            <a:r>
              <a:t>  (실측점만) — 어텐션 질량 위치는 직접 열람 가능.</a:t>
            </a:r>
          </a:p>
          <a:p>
            <a:r>
              <a:t>② 비대칭의 기전 검증:</a:t>
            </a:r>
          </a:p>
          <a:p>
            <a:r>
              <a:t>  Tᵢ 경로 = 충돌성 e–i 결합, t_ei ∝ Tₑ^1.5/nₑ → ECEI(Tₑ)+BES(nₑ)가 정보 운반.</a:t>
            </a:r>
          </a:p>
          <a:p>
            <a:r>
              <a:t>  검증: fast-only +0.372(persistence 승) · shot 간 Tₑ~Tᵢ r=+0.353(p=2.9e−17) ·</a:t>
            </a:r>
          </a:p>
          <a:p>
            <a:r>
              <a:t>  peak에서 fast 제거 시 Tᵢ 유의 붕괴(paired diff CI≫0).</a:t>
            </a:r>
          </a:p>
          <a:p>
            <a:r>
              <a:t>  V_rot 경로 부재 = NBI 토크 미관측 + Mirnov aliasing(lag-1 −0.009 실측).</a:t>
            </a:r>
          </a:p>
          <a:p>
            <a:r>
              <a:t>  검증: fast-only −0.642(평균 예측보다 나쁨) · Tₑ~V_rot r=+0.024(p=0.58 — 파워는</a:t>
            </a:r>
          </a:p>
          <a:p>
            <a:r>
              <a:t>  토크가 아니다; 토크는 빔 에너지·접선 반경·기하 의존) · peak에서 fast 제거해도 불변.</a:t>
            </a:r>
          </a:p>
          <a:p>
            <a:r>
              <a:t>  양성 대조군(Char et al. arXiv:2404.12416): NBI 액추에이터 입력 시 회전 예측 가능</a:t>
            </a:r>
          </a:p>
          <a:p>
            <a:r>
              <a:t>  → "토크가 들어오면 학습 가능"이라는 반증 가능한 형태.</a:t>
            </a:r>
          </a:p>
          <a:p>
            <a:r>
              <a:t>③ 복잡도의 가격(§8k): 완전 해석 가능한 앵커+Δ 모델(1,258 파라미터 = 0.6%; 앵커+</a:t>
            </a:r>
          </a:p>
          <a:p>
            <a:r>
              <a:t>  기울기×갭+진단별 변화율×갭; 항별 분해; persistence에서 정확히 출발) —</a:t>
            </a:r>
          </a:p>
          <a:p>
            <a:r>
              <a:t>  persistence −0.272 → 앵커 −0.113 → 전체 +0.234 (Tᵢ 평균). 회수율 31.5%(28~36%</a:t>
            </a:r>
          </a:p>
          <a:p>
            <a:r>
              <a:t>  4분할 일관) / V_rot 7%. 남은 것은 비선형·비국소 구조라고 정량 진술.</a:t>
            </a:r>
          </a:p>
          <a:p>
            <a:r>
              <a:t>④ 위치 특정: peak(입력 전용 proxy) Tᵢ +0.27→+0.702 [+0.503,+0.851] ·</a:t>
            </a:r>
          </a:p>
          <a:p>
            <a:r>
              <a:t>  V_rot +0.13→+0.438 [+0.068,+0.726] (val, 낙관 주의). #31815 사례: 모델은 과도 추적,</a:t>
            </a:r>
          </a:p>
          <a:p>
            <a:r>
              <a:t>  PCHIP은 overshoot (Tᵢ +0.36, peak +0.63).</a:t>
            </a:r>
          </a:p>
          <a:p>
            <a:r>
              <a:t>한계 인정: 채널별 인과 귀속은 미수행 — 부족분을 사다리로 정량화한 것이 우리의 대응.</a:t>
            </a:r>
          </a:p>
          <a:p>
            <a:r>
              <a:t>출처: THESIS §5·§8b·§8k / 방어문서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[사슬의 각 행 근거]</a:t>
            </a:r>
          </a:p>
          <a:p>
            <a:r>
              <a:t>행1: 4-seed genuine+held 이중 보고 + linear 교차(시드 42 n.s. 공개) + §8g 비인접 확장.</a:t>
            </a:r>
          </a:p>
          <a:p>
            <a:r>
              <a:t>행2: §8i 재가중 4/4 + §8n 캠페인 — 이 두 독립 스트레스가 같은 답(인과만 생존).</a:t>
            </a:r>
          </a:p>
          <a:p>
            <a:r>
              <a:t>행3: ablation 2계열 + Tₑ 프로브 + MC 자기상관 → NBI·원 Mirnov 지목.</a:t>
            </a:r>
          </a:p>
          <a:p>
            <a:r>
              <a:t>행4: §8i 도메인 산정(54.1%/4.8%) → reach≠depth 확장 지목(§8f가 W는 커버리지만 삼을</a:t>
            </a:r>
          </a:p>
          <a:p>
            <a:r>
              <a:t>  보임 — dataset.py의 미사용 max_window_span이 바로 그 자리).</a:t>
            </a:r>
          </a:p>
          <a:p>
            <a:r>
              <a:t>행5: §8k 사다리 31.5%/7% → 다른 함수 형태 지목.</a:t>
            </a:r>
          </a:p>
          <a:p>
            <a:r>
              <a:t>행6: §8l p99 6.4 ms + §8m conformal 8/8 → shot-조건부 보정은 현 shot 수로 불가 명시.</a:t>
            </a:r>
          </a:p>
          <a:p/>
          <a:p>
            <a:r>
              <a:t>[편집 규칙 2개의 배경 — 왜 생겼나]</a:t>
            </a:r>
          </a:p>
          <a:p>
            <a:r>
              <a:t>§8j: 초안이 "정보가 부족하다"를 종결 주장으로 쓰다가 교정됨(승상님) — 음성 결과는</a:t>
            </a:r>
          </a:p>
          <a:p>
            <a:r>
              <a:t>그것을 뒤집을 측정을 지목할 때만 보고.</a:t>
            </a:r>
          </a:p>
          <a:p>
            <a:r>
              <a:t>§8h: 감사에서 논문이 다른 아키텍처를 설명하고 구세대 체크포인트 숫자를 인용하던 것을</a:t>
            </a:r>
          </a:p>
          <a:p>
            <a:r>
              <a:t>적발 — 원인은 수기 전사. collect_paper_numbers.py → paper_numbers.json → 그림/표</a:t>
            </a:r>
          </a:p>
          <a:p>
            <a:r>
              <a:t>파이프라인으로 재발 차단(genuine·stuck0 두 처리를 모두 수록해 혼용 방지).</a:t>
            </a:r>
          </a:p>
          <a:p>
            <a:r>
              <a:t>+ 추가 규칙(2026-08-05): novelty는 부재-프레임 금지, 확장-프레임으로(NOVELTY.md 상단).</a:t>
            </a:r>
          </a:p>
          <a:p>
            <a:r>
              <a:t>출처: 방어문서 §9 / PROJECT_KNOWLEDGE Framing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[각 항목의 근거]</a:t>
            </a:r>
          </a:p>
          <a:p>
            <a:r>
              <a:t>① 온라인 가상 센서: CPU batch-1 p99 6.4 ms(W=4; 중앙값 2.8 ms) — 10 ms 주기의 64%.</a:t>
            </a:r>
          </a:p>
          <a:p>
            <a:r>
              <a:t>  반직관: CUDA는 ~8× 느림(p99 43–72 ms; 0.2M 파라미터로는 커널 오버헤드 상쇄 불가;</a:t>
            </a:r>
          </a:p>
          <a:p>
            <a:r>
              <a:t>  호출별·amortized 두 측정 일치). 지침: 제어 컴퓨터의 CPU에서.</a:t>
            </a:r>
          </a:p>
          <a:p>
            <a:r>
              <a:t>  conformal 구간 동반(α=0.10): 동일 절차를 PCHIP·persistence에도 적용한 공정 비교에서</a:t>
            </a:r>
          </a:p>
          <a:p>
            <a:r>
              <a:t>  모델이 8/8 Winkler 승(persistence의 ~0.80×) · Mondrian(Δt×활동도 층화)이 전부 개선.</a:t>
            </a:r>
          </a:p>
          <a:p>
            <a:r>
              <a:t>  정직한 실패: 커버리지는 주변적 — shot별 50~100% 산포, shot-조건부 보정은 shot 수 부족.</a:t>
            </a:r>
          </a:p>
          <a:p>
            <a:r>
              <a:t>② 오프라인 재분석: 관측 모집단에서 사전등록 보간보다 우수(GP와는 동률), 과도 구간</a:t>
            </a:r>
          </a:p>
          <a:p>
            <a:r>
              <a:t>  (peak)에서 이점 최대.</a:t>
            </a:r>
          </a:p>
          <a:p>
            <a:r>
              <a:t>③ 진단 정보 감사 방법론: ablation+사전등록+shot-군집 CI로 "이 진단이 저 물리량을</a:t>
            </a:r>
          </a:p>
          <a:p>
            <a:r>
              <a:t>  나르는가"를 검정 — Mirnov 전처리 결함·NBI 부재를 데이터로 고발한 것이 시범.</a:t>
            </a:r>
          </a:p>
          <a:p>
            <a:r>
              <a:t>④ 평가 프로토콜 이식: "인과 모델 vs 미래 쓰는 현직 보간 + shot-군집 paired bootstrap</a:t>
            </a:r>
          </a:p>
          <a:p>
            <a:r>
              <a:t>  + 사전등록" — Thomson·XICS 등 다른 희소 진단의 ML 채움 연구가 그대로 사용 가능.</a:t>
            </a:r>
          </a:p>
          <a:p>
            <a:r>
              <a:t>⑤ 로드맵(비용 낮은 순, 전부 아카이브 데이터로 실행 가능): 이력 reach 확장 →</a:t>
            </a:r>
          </a:p>
          <a:p>
            <a:r>
              <a:t>  원 kHz Mirnov window 특징(V_rot 최대 레버) → NBI 토크 확보(원인 변수) →</a:t>
            </a:r>
          </a:p>
          <a:p>
            <a:r>
              <a:t>  shot별 표준화(캠페인 수리) → 타 장치(EAST·DIII-D) 이식.</a:t>
            </a:r>
          </a:p>
          <a:p>
            <a:r>
              <a:t>출처: THESIS §8l·§8m / 방어문서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[답변 스크립트 보강]</a:t>
            </a:r>
          </a:p>
          <a:p>
            <a:r>
              <a:t>Q1 MNAR: "직접 검증은 불가능하니 재가중으로 정량화했습니다. 도메인 내 결측 지점에서</a:t>
            </a:r>
          </a:p>
          <a:p>
            <a:r>
              <a:t>  인과 우위는 4/4 +0.29로 살아남고 보정 비용은 0.06~0.12뿐입니다. 오프라인 보간</a:t>
            </a:r>
          </a:p>
          <a:p>
            <a:r>
              <a:t>  대비는 1/4만 살아남아 — 그래서 배치 주장을 인과로 좁혔습니다."</a:t>
            </a:r>
          </a:p>
          <a:p>
            <a:r>
              <a:t>Q2 PCHIP/linear: "linear가 근소하게 더 강합니다(Δt≤15 ms가 97.7%라 3차의 여지가</a:t>
            </a:r>
          </a:p>
          <a:p>
            <a:r>
              <a:t>  없음). PR1로 사전등록했고, linear 대비도 genuine 3/4 PASS — 시드 42 n.s.까지</a:t>
            </a:r>
          </a:p>
          <a:p>
            <a:r>
              <a:t>  논문에 명시했습니다." (+ GP는 Q9에서: 최강 팔이고 동률로 보고)</a:t>
            </a:r>
          </a:p>
          <a:p>
            <a:r>
              <a:t>Q3 검정력: "맞습니다 — shot이 올바른 독립 단위라 지불한 비용이고, 모든 판정의 구속</a:t>
            </a:r>
          </a:p>
          <a:p>
            <a:r>
              <a:t>  조건이라고 논문 한계 첫 줄에 썼습니다. V_rot 미해결의 원인이며 다중 캠페인 확장이</a:t>
            </a:r>
          </a:p>
          <a:p>
            <a:r>
              <a:t>  해결책입니다."</a:t>
            </a:r>
          </a:p>
          <a:p>
            <a:r>
              <a:t>Q4 과적합: "test는 탐색 시작 전 예약·전 과정 미열람, 시드 1/7/123은 아키텍처 선택에</a:t>
            </a:r>
          </a:p>
          <a:p>
            <a:r>
              <a:t>  한 번도 쓰이지 않은 선택-밖 재현입니다. 게이트도 val의 clean skill입니다."</a:t>
            </a:r>
          </a:p>
          <a:p>
            <a:r>
              <a:t>Q5 미래 보간 비교 의미: "의도적 불리함입니다. 이기면 고속 진단이 시간 구조 밖 정보를</a:t>
            </a:r>
          </a:p>
          <a:p>
            <a:r>
              <a:t>  나른다는 강한 증거이고, 실시간 주장은 별도로 인과 기준선과 비교합니다(분리)."</a:t>
            </a:r>
          </a:p>
          <a:p>
            <a:r>
              <a:t>Q6 W=4: "24-run sweep으로 우리가 먼저 답했습니다 — 관측 1개가 전부, plateau 규칙은</a:t>
            </a:r>
          </a:p>
          <a:p>
            <a:r>
              <a:t>  W=2, W&gt;2의 논리는 skill이 아니라 커버리지(길간극 채점 4~10배)."</a:t>
            </a:r>
          </a:p>
          <a:p>
            <a:r>
              <a:t>Q7 불확실성: "conformal이 8/8 Winkler 승, 단 보장은 주변 커버리지 — shot별</a:t>
            </a:r>
          </a:p>
          <a:p>
            <a:r>
              <a:t>  50~100% 산포를 스스로 보고했고 수리(shot-조건부)가 왜 지금 불가한지도 명시."</a:t>
            </a:r>
          </a:p>
          <a:p>
            <a:r>
              <a:t>Q8 held: "우리가 발견했고(54%, 499/641 파일), 전수 정량화·평가 제외·학습 제거</a:t>
            </a:r>
          </a:p>
          <a:p>
            <a:r>
              <a:t>  규약화까지 했습니다. 초기 오판을 4-seed paired로 뒤집은 과정도 공개합니다."</a:t>
            </a:r>
          </a:p>
          <a:p>
            <a:r>
              <a:t>출처: 방어문서 §11 Q1~Q8·Q16.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[답변 스크립트 보강]</a:t>
            </a:r>
          </a:p>
          <a:p>
            <a:r>
              <a:t>Q V_rot 실패?: "동률로 보고하되 — 물리로 사전 예측된 비대칭이고(fast-only −0.64),</a:t>
            </a:r>
          </a:p>
          <a:p>
            <a:r>
              <a:t>  인과 대비로는 캠페인 분할에서도 4/4 유의 승, peak에서도 유의 승입니다. 실패한</a:t>
            </a:r>
          </a:p>
          <a:p>
            <a:r>
              <a:t>  타겟이 아니라 의미 있는 비교가 인과뿐인 타겟입니다."</a:t>
            </a:r>
          </a:p>
          <a:p>
            <a:r>
              <a:t>Q 복잡도: "1,258-파라미터 완전 해석 모델이 Tᵢ 마진의 31.5%만 회수함을 측정했습니다</a:t>
            </a:r>
          </a:p>
          <a:p>
            <a:r>
              <a:t>  — 복잡도가 사는 것(비선형·비국소 구조)을 정량적으로 말할 수 있습니다."</a:t>
            </a:r>
          </a:p>
          <a:p>
            <a:r>
              <a:t>Q 실시간: "CPU p99 6.4 ms 실측 — GPU가 오히려 8× 느린 것도 두 방식으로 검증.</a:t>
            </a:r>
          </a:p>
          <a:p>
            <a:r>
              <a:t>  특징 조립·수집 지연은 모델 밖이라 별도임을 인정합니다."</a:t>
            </a:r>
          </a:p>
          <a:p>
            <a:r>
              <a:t>Q novelty (확장 프레임으로!): "그 계열(Diag2Diag 등)의 프로그램을 이어받아 3축으로</a:t>
            </a:r>
          </a:p>
          <a:p>
            <a:r>
              <a:t>  확장합니다 — 전자→이온 타겟, 동시각→인과 이력, 가정→사전등록 검정. Diag2Diag는</a:t>
            </a:r>
          </a:p>
          <a:p>
            <a:r>
              <a:t>  원문 확인 결과 CER이 입력이고 타겟은 Thomson뿐입니다. RTCAKENN에는 방어 3종."</a:t>
            </a:r>
          </a:p>
          <a:p>
            <a:r>
              <a:t>Q 일반화: "캠페인 시간 분할을 직접 수행해 오프라인 우위 소멸(0/4)을 자진 보고했고,</a:t>
            </a:r>
          </a:p>
          <a:p>
            <a:r>
              <a:t>  원인(BES 1.22σ 드리프트)을 측정했으며 수리(shot별 표준화)를 지목했습니다.</a:t>
            </a:r>
          </a:p>
          <a:p>
            <a:r>
              <a:t>  타 장치는 미검증 한계로 명시합니다."</a:t>
            </a:r>
          </a:p>
          <a:p>
            <a:r>
              <a:t>Q Mirnov: "기여 ~0(무해)을 ablation으로, 파생 4종 무효를 4-seed paired로 확인.</a:t>
            </a:r>
          </a:p>
          <a:p>
            <a:r>
              <a:t>  원인은 무필터 100 Hz 데시메이션(lag-1 −0.009 실측) — 수리는 원 kHz 스트림."</a:t>
            </a:r>
          </a:p>
          <a:p>
            <a:r>
              <a:t>Q GP: "실측했습니다 — GP가 최강 오프라인 팔(PCHIP에 4/4 승)이고 모델은 동률(승 1/4·</a:t>
            </a:r>
          </a:p>
          <a:p>
            <a:r>
              <a:t>  패 0/4). 사전등록 headline은 유지되고 배치 주장은 무영향. 그대로 보고했습니다."</a:t>
            </a:r>
          </a:p>
          <a:p>
            <a:r>
              <a:t>Q fit-failure: "제거 민감도를 돌렸더니 방향이 반대 — 4/4 유지에 skill이 약 2배로</a:t>
            </a:r>
          </a:p>
          <a:p>
            <a:r>
              <a:t>  뜁니다. headline은 이 아티팩트에 대해 보수적입니다."</a:t>
            </a:r>
          </a:p>
          <a:p>
            <a:r>
              <a:t>Q 반경 방향: "페데스탈-상단 채널 선택에서 상속된 프레이밍 — 한계 절 명시, ELM 위상</a:t>
            </a:r>
          </a:p>
          <a:p>
            <a:r>
              <a:t>  분석과 함께 향후 과제입니다." (유일하게 ●○○ — 순순히 인정할 것)</a:t>
            </a:r>
          </a:p>
          <a:p>
            <a:r>
              <a:t>출처: 방어문서 §11 Q4·Q7~Q17.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[각 행의 상세]</a:t>
            </a:r>
          </a:p>
          <a:p>
            <a:r>
              <a:t>1 목차별정리: "held는 학습 무오염"(§8c에서 뒤집힌 결론)·Transformer 아키텍처(숫자를</a:t>
            </a:r>
          </a:p>
          <a:p>
            <a:r>
              <a:t>  만든 적 없는 model.py 설명)·유지값 포함 headline — 3중 구버전을 전면 재작성.</a:t>
            </a:r>
          </a:p>
          <a:p>
            <a:r>
              <a:t>2 발표덱 4종: make_figures.py를 paper_numbers.json 판독으로 전환(수기 숫자 금지 규칙을</a:t>
            </a:r>
          </a:p>
          <a:p>
            <a:r>
              <a:t>  발표 그림에도 강제), 1시간 덱 40장(스트레스·배치 신설), 20분·흐름·1pager 재빌드,</a:t>
            </a:r>
          </a:p>
          <a:p>
            <a:r>
              <a:t>  1pager의 글리프 tofu(matplotlib에 ᵢ/ₑ/−/≈ 없음)도 수리 — 전 덱 preview QC 0경고.</a:t>
            </a:r>
          </a:p>
          <a:p>
            <a:r>
              <a:t>3 문헌 재검증: 18쿼리+원문 12건 — 주장 3개 STANDS, Shousha 연도 정정, 신규 인용</a:t>
            </a:r>
          </a:p>
          <a:p>
            <a:r>
              <a:t>  3건(Kim/Char/Jung 문구), 정적 검사 통과.</a:t>
            </a:r>
          </a:p>
          <a:p>
            <a:r>
              <a:t>4 수치 대조: 논문↔THESIS↔paper_numbers.json 불일치 0건.</a:t>
            </a:r>
          </a:p>
          <a:p>
            <a:r>
              <a:t>5 GP 팔(§8p): 최강 오프라인 팔 판명·모델 동률 — 논문 headline·한계·결론 반영.</a:t>
            </a:r>
          </a:p>
          <a:p>
            <a:r>
              <a:t>6 fit-failure(§8q): 제거 시 skill ~2배·4/4 유지 — headline 보수적.</a:t>
            </a:r>
          </a:p>
          <a:p>
            <a:r>
              <a:t>7 novelty 프레임: 부재→확장 재설계(논문·문서·덱·규칙 4곳).</a:t>
            </a:r>
          </a:p>
          <a:p/>
          <a:p>
            <a:r>
              <a:t>[잔여 — 다음 결정]</a:t>
            </a:r>
          </a:p>
          <a:p>
            <a:r>
              <a:t>shot별(인과) 표준화 통제 실험: 정규화 계약 변경이라 승인 필요. 설계 완료 —</a:t>
            </a:r>
          </a:p>
          <a:p>
            <a:r>
              <a:t>env 1곳 변경, 4-seed, 무작위+캠페인 두 분할 규칙 채점, GPU 학습 8회 규모.</a:t>
            </a:r>
          </a:p>
          <a:p>
            <a:r>
              <a:t>인과 과거-전용 GP 팔: GP 동률의 지목된 해소책, 평가 전용으로 실행 가능.</a:t>
            </a:r>
          </a:p>
          <a:p>
            <a:r>
              <a:t>출처: 방어문서 §12 / THESIS §8o~§8q.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[마무리 대사 예시]</a:t>
            </a:r>
          </a:p>
          <a:p>
            <a:r>
              <a:t>"관측된 지점에서는 사전등록된 미래-사용 보간을 4개 분할 전부에서 유의하게 이기고,</a:t>
            </a:r>
          </a:p>
          <a:p>
            <a:r>
              <a:t>최강 오프라인 평활기(GP)와는 동률입니다. 배치에 관한 주장은 더 좁고 더 튼튼합니다 —</a:t>
            </a:r>
          </a:p>
          <a:p>
            <a:r>
              <a:t>진짜 결측 지점으로 재가중해도, 캠페인을 시간으로 갈라도 살아남는 것은 인과 기준선</a:t>
            </a:r>
          </a:p>
          <a:p>
            <a:r>
              <a:t>대비 우위뿐이고, 그것이 실시간 가상 센서가 실제로 경쟁하는 상대입니다. V_rot의</a:t>
            </a:r>
          </a:p>
          <a:p>
            <a:r>
              <a:t>동률은 실패가 아니라 물리로 예측되고 ablation으로 확인된 발견이며, 그 발견이 다음</a:t>
            </a:r>
          </a:p>
          <a:p>
            <a:r>
              <a:t>데이터 과제(NBI 토크·원 Mirnov)를 지목합니다. 작동하지 않는 지점들도 전부 본문에</a:t>
            </a:r>
          </a:p>
          <a:p>
            <a:r>
              <a:t>있고, 각각 그것을 뒤집을 측정과 함께입니다."</a:t>
            </a:r>
          </a:p>
          <a:p/>
          <a:p>
            <a:r>
              <a:t>[숫자 최종 점검 목록]</a:t>
            </a:r>
          </a:p>
          <a:p>
            <a:r>
              <a:t>genuine Tᵢ +0.179/+0.197/+0.280/+0.263 · V_rot PASS 1/4(+0.162) ·</a:t>
            </a:r>
          </a:p>
          <a:p>
            <a:r>
              <a:t>재가중 +0.29 4/4 · 캠페인 +0.222(3/4)/+0.216(4/4) · GP 동률(승 1/4·패 0/4) ·</a:t>
            </a:r>
          </a:p>
          <a:p>
            <a:r>
              <a:t>fit-fail 제거 시 +0.36~+0.59 · peak +0.702/+0.438 · 사다리 31.5%/7% ·</a:t>
            </a:r>
          </a:p>
          <a:p>
            <a:r>
              <a:t>CPU p99 6.4 ms · conformal 8/8 · 커버리지 54.1%/4.8% · held 54%/499파일.</a:t>
            </a:r>
          </a:p>
          <a:p>
            <a:r>
              <a:t>전부 THESIS_RESULTS.md §8 및 동결 산출물에서 재확인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KSTAR 희소 CES 신호의 멀티모달 나우캐스팅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1" i="0">
                <a:solidFill>
                  <a:srgbClr val="BFD3EE"/>
                </a:solidFill>
                <a:latin typeface="Malgun Gothic"/>
              </a:rPr>
              <a:t>연구 종합 정리 · 방어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FD3EE"/>
                </a:solidFill>
                <a:latin typeface="Malgun Gothic"/>
              </a:rPr>
              <a:t>주장 · novelty 검증 · 관련연구 대비 · 데이터/학습 · 전처리 · 통계 · 기준선 · 해석성 · 결론 일관성 · 활용 · 예상질문 — 11개 축 전면 감사 결과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이승상 · 서울대학교 원자핵공학과 · 2026-08-05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FA8C8"/>
                </a:solidFill>
                <a:latin typeface="Malgun Gothic"/>
              </a:rPr>
              <a:t>근거: THESIS_RESULTS.md · docs/paper/main_ko.tex · paper_numbers.json(동결 산출물 자동 수집) · docs/paper/NOVELTY.md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① 주장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우리가 주장하는 것 — 범위가 다른 4개의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6128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310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389888"/>
            <a:ext cx="5705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389888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적용 범위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1389888"/>
            <a:ext cx="2322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증거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3108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C1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1801368"/>
            <a:ext cx="570585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Tᵢ: 미래를 쓰는 보간(PCHIP)을 유의하게 이긴다 (+0.18~+0.28)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1801368"/>
            <a:ext cx="26883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무작위 분할 · 관측 지점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1801368"/>
            <a:ext cx="232257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4/4 분할 PASS, 두 모집단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285619"/>
            <a:ext cx="116128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295144"/>
            <a:ext cx="11612880" cy="5669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368296"/>
            <a:ext cx="3108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C2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368296"/>
            <a:ext cx="570585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두 타겟 모두 모든 인과 기준선을 이긴다 — 배치 주장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368296"/>
            <a:ext cx="26883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진짜 결측 지점 · 미래 캠페인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368296"/>
            <a:ext cx="232257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스트레스 2종 생존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852547"/>
            <a:ext cx="116128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935224"/>
            <a:ext cx="3108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C3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2935224"/>
            <a:ext cx="570585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V_rot: 오프라인 보간과는 동률 (n.s.)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2935224"/>
            <a:ext cx="26883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관측 지점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935224"/>
            <a:ext cx="232257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B6670"/>
                </a:solidFill>
                <a:latin typeface="Malgun Gothic"/>
              </a:rPr>
              <a:t>1/4 PASS = 잡음 수준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419475"/>
            <a:ext cx="116128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429000"/>
            <a:ext cx="11612880" cy="5669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502152"/>
            <a:ext cx="3108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C4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3502152"/>
            <a:ext cx="570585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Tᵢ↔V_rot 정보 비대칭은 물리에서 온 발견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3502152"/>
            <a:ext cx="26883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진단 정보 내용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3502152"/>
            <a:ext cx="232257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E9E5B"/>
                </a:solidFill>
                <a:latin typeface="Malgun Gothic"/>
              </a:rPr>
              <a:t>예측→ablation→데이터 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986403"/>
            <a:ext cx="116128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4251960"/>
            <a:ext cx="11201400" cy="14173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251960"/>
            <a:ext cx="91440" cy="14173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" y="436168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과대주장 방지 장치 — 두 주장의 분리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" y="4764024"/>
            <a:ext cx="10817352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"미래를 쓰는 보간을 이긴다"(C1)는 관측 모집단의 주장 — 더 어렵고 유익한 기준이라 headline 유지.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"모든 인과 방법을 이긴다"(C2)만이 진짜 결측 재가중(4/4 +0.29)과 캠페인 시간분할(V_rot 4/4 +0.22)을 생존.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온라인 가상 센서의 경쟁 상대는 미래를 읽는 보간이 아니라 persistence — 배치 주장은 C2로 좁힌다.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② 선행 지형과 위치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활발한 계보 위에 서서, 세 축으로 확장한다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1556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진단 재구성·예측은 활발한 분야 — NN-CES 스펙트럼 분석('93 JET~), 교차 진단 추론, 시간 조밀화 계열이 존재하며 전부 인용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–  우리의 주장은 "이 계보를 3축으로 확장한다" — "선행이 없다"가 아니다 (부재-프레임은 반례 하나에 무너지고, 확장-프레임은 계보를 인정할수록 강해짐)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위치 설정의 근거 = 적대적 탐색 2회 (1차 25+쿼리·OpenAlex / 2차 18쿼리·원문 12건) → 세 확장의 결합을 다룬 연구는 미확인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–  논문 문구: "계열의 프로그램을 이어받아 세 방향으로 확장 … 자연스러운 다음 단계로 제시" — 관례적 한정("우리가 아는 한")은 한 문장뿐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361188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063240"/>
            <a:ext cx="91440" cy="18288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확장 ① — 타겟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575304"/>
            <a:ext cx="322783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전자 채널(Thomson/ECE의 Tₑ·nₑ)에서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희소 이온 채널(CES Tᵢ+V_rot)로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(선행에서 CES가 등장하면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어디까지나 입력이었다)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063240"/>
            <a:ext cx="361188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3063240"/>
            <a:ext cx="91440" cy="18288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확장 ② — 매핑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575304"/>
            <a:ext cx="322783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동시각·기억 없는 매핑에서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자신의 불규칙 과거 이력에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조건화된 인과 추정으로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— 온라인 센서가 요구하는 형태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63240"/>
            <a:ext cx="361188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3063240"/>
            <a:ext cx="91440" cy="1828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확장 ③ — 평가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3575304"/>
            <a:ext cx="322783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가정된 재구성 가능성에서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사전등록 검정으로: 현직 보간을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 bar로 세움 (V_rot 승리를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부정한, 음성 가능한 프로토콜)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20640"/>
            <a:ext cx="111556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Tᵢ↔V_rot 비대칭은 확장 ③의 검정이 산출한 중심 발견. 가장 가까운 계열과의 논문별 대비는 다음 장.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③ 관련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각 논문은 무엇을 보고(입력), 무엇을 예측했나(타겟)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505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362456"/>
            <a:ext cx="4837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입력 → 타겟(예측 결과)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3624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우리와 다른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773936"/>
            <a:ext cx="25054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Diag2Diag (NC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773936"/>
            <a:ext cx="483717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간섭계·ECE·자기·CER(입력!)·MSE → Thomson Tₑ/nₑ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773936"/>
            <a:ext cx="34198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이온 채널 예측 없음 · memory-less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130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139696"/>
            <a:ext cx="11201400" cy="4389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12848"/>
            <a:ext cx="25054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COMPASS 초해상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212848"/>
            <a:ext cx="483717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SXR·AXUV 등 고속 복사+자기 → Thomson Tₑ/nₑ 초해상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212848"/>
            <a:ext cx="34198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 채널 · 비인과 동시각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690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651760"/>
            <a:ext cx="25054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EAST 결측 Tₑ (NF 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2651760"/>
            <a:ext cx="483717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타 진단 시계열(외생 회귀) → 결측 ECE형 Tₑ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651760"/>
            <a:ext cx="34198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 대상 · 인과성 기준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0079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017520"/>
            <a:ext cx="11201400" cy="4389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090672"/>
            <a:ext cx="25054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FusionMAE (HL-3)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090672"/>
            <a:ext cx="483717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비마스킹 88ch 신호(윈도) → 마스킹된 임의 채널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090672"/>
            <a:ext cx="34198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일반 dropout · 윈도 내 비인과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4469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529584"/>
            <a:ext cx="25054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RTCAKENN (2024) — 최대 위협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3529584"/>
            <a:ext cx="483717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자기·MSE·간섭계·ECE → Tₑ·nₑ·불순물 Tᵢ·회전 프로파일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529584"/>
            <a:ext cx="34198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요동 진단·타겟 이력·보간 비교 없음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8858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895344"/>
            <a:ext cx="11201400" cy="4389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968496"/>
            <a:ext cx="25054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EAST XCS (NF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20" y="3968496"/>
            <a:ext cx="483717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XCS Ar 스펙트럼(동시각) → Tᵢ·V_rot 프로파일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968496"/>
            <a:ext cx="34198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물리 채널 · 순간 매핑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247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4407408"/>
            <a:ext cx="25054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KSTAR ML 프로파일 (2026)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4407408"/>
            <a:ext cx="483717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Thomson+TCI+CES(입력) → Tₑ·nₑ·Tᵢ 공간 프로파일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407408"/>
            <a:ext cx="34198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공간 피팅 · 회전은 향후 과제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4773168"/>
            <a:ext cx="11201400" cy="438912"/>
          </a:xfrm>
          <a:prstGeom prst="rect">
            <a:avLst/>
          </a:prstGeom>
          <a:solidFill>
            <a:srgbClr val="E2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4846320"/>
            <a:ext cx="25054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본 연구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6120" y="4846320"/>
            <a:ext cx="483717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BES·ECEI·Mirnov + 과거 CES 이력(미래 X) → 결측 시점 CES Tᵢ·V_rot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846320"/>
            <a:ext cx="34198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이온 타겟 · 인과 이력 · 사전등록 검정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2025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2920" y="5285232"/>
            <a:ext cx="11201400" cy="115214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" y="5285232"/>
            <a:ext cx="91440" cy="115214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0664" y="5394960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읽는 법 — 계보의 다음 단계로서의 3축 확장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0664" y="5797296"/>
            <a:ext cx="10817352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시간 조밀화 계열의 타겟은 전부 전자 채널(CES/CER은 입력) · 이온 Tᵢ·회전을 내는 연구(RTCAKENN·XCS)는 다른 문제를 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"희소 CES 이온 측정 자체를 타겟으로 한 인과적 시간 결측 채움"이 우리가 채우는 칸 (이온 타겟 · 인과 이력 · 사전등록 검정).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④ 데이터셋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641개 방전 · 10 ms 격자 · 결측의 실태 (전수 조사)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pic>
        <p:nvPicPr>
          <p:cNvPr id="10" name="Picture 9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541435"/>
            <a:ext cx="5394960" cy="1409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1371600"/>
            <a:ext cx="557784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KSTAR shot #30801–32751, 641개 CSV · 247,207행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H-mode ELM 억제(RMP) 구간, D_α 활동 주변 ~100 ms 절단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BES 9ch · ECEI 4ch · Mirnov 2ch · time · CES_TI · CES_VT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결측(NaN): Tᵢ 8.2% / V_rot 23.9% — 서로 독립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0392B"/>
                </a:solidFill>
                <a:latin typeface="Malgun Gothic"/>
              </a:rPr>
              <a:t>–  V_rot는 추가로 41.1%가 held(직전 값 복사) → 실질 무정보 65.0%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샘플 = 진단 3종 윈도 + 시간특징 4ch + CES 이력 4ch(값 2+관측 flag 2)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타겟 시점은 값·flag 완전 마스킹 — 자기 정답 열람 차단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연속 블록(Δt&lt;0.5 s) 내 temporal-subset 증강 + seeded 표본 상한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49240"/>
            <a:ext cx="11201400" cy="914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5349240"/>
            <a:ext cx="91440" cy="914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545896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행 유지 규칙 (No Fake Data)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5861304"/>
            <a:ext cx="10817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가짜 라벨 대체 금지 — 입력이 완전하고 타겟 ≥1개 실측인 행만 학습. 타겟별 mask 손실로 전환해 "둘 다 관측" 필터가 버리던 라벨 행 ≈28%를 회복.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⑤ 전처리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누수 방지 3겹 + 데이터 품질 발견 (held)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3611880" cy="1600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1600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파일(shot) 단위 분할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3227832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인접 행 자기상관 → 행 단위 분할은 누수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seeded 3-way split, 디스크 고정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재로드 시 불일치 검사(예외 발생)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611880" cy="1600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91440" cy="1600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48132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1883664"/>
            <a:ext cx="3227832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z-score 통계를 학습 파일에서만 추정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타겟 통계는 NaN-aware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(캠페인 이동 시 비용은 §8n에서 실측)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71600"/>
            <a:ext cx="3611880" cy="1600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71600"/>
            <a:ext cx="91440" cy="16002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4" y="148132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타겟 시점 완전 마스킹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1883664"/>
            <a:ext cx="3227832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ces_history에서 타겟 행의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값·관측 flag 모두 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보간도 타겟 자신 값 미사용 · ≥0.5 s 불통과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200400"/>
            <a:ext cx="11201400" cy="17373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200400"/>
            <a:ext cx="91440" cy="17373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331012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held(유지값) — 관측된 V_rot의 54%가 forward-fill 복사본이었다 (499/641 파일, 최대 1,214행 연속)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" y="3712464"/>
            <a:ext cx="10817352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평가: 전 구간 채점 제외(genuine-only가 headline) — V_rot RMSE 22~33 → 35~46으로 정직하게 상승.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학습: 초기 단일-seed A/B "무해" 판정을 4-seed paired 재학습이 뒤집음 — held 제거 학습이 V_rot 4/4 개선(평균 +0.039, 3/4 유의).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재확인: window sweep에서 held 제거 이득이 W에 단조 감소(+0.088→+0.006) — held는 짧은 윈도를 벌하고 있었다. 현행 규약: 학습·평가 모두 제거.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2064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91440" cy="1143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23036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알려진 전처리 결함 (정직 공개)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" y="5632704"/>
            <a:ext cx="10817352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Mirnov: kHz dB/dt를 무필터 100 Hz 데시메이션 → 같은 격자에서 lag-1 자기상관 −0.009(BES +0.57, ECEI +0.57 대비) = 백색잡음 실측.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모드 회전 주파수(유일한 회전 대리)가 모델 상류에서 파괴 — 수리는 원 kHz 스트림의 window별 RMS/대역 파워/모드 번호.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④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출판 아키텍처 — 201,258 파라미터 후기 융합 (model_iter009)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229"/>
            <a:ext cx="6766560" cy="36216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1371600"/>
            <a:ext cx="4297680" cy="4846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진단별 time-aware 1D CNN 인코더 ×3 + 시간특징 CNN — 후기 융합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이력: 1-layer 양방향 GRU(64) → 타겟별 관측 마스킹 멀티헤드 어텐션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C0392B"/>
                </a:solidFill>
                <a:latin typeface="Malgun Gothic"/>
              </a:rPr>
              <a:t>–  관측 flag=0인 시점을 softmax 전 −∞ → 어텐션 질량은 실측점에만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= 보간의 귀납 편향을 파라미터 0개로 주입 — 유일한 비표준 요소, n.s.→유의 전환의 주역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물리 기반 라우팅: Tᵢ 헤드=고속+시간+이력 / V_rot 헤드=이력+시간만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–  윈도는 과거 전용 — BiGRU 양방향성은 이력 내부 문맥화일 뿐 미래 접근 없음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–  model.py는 model_iter009.py를 재수출 — 기본 import 경로가 곧 출판 아키텍처(SHA-256 고정)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④ 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학습 절차와 참고한 모델·논문 계보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5760720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손실: 타겟별 마스킹 MSE + 0.1·relu(정규화-0 이하 Tᵢ 벌점)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AdamW lr 1e-3 (wd 1e-4) · batch 512 · 10 epoch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ReduceLROnPlateau(p2, ×0.5) · grad-clip 5.0 · 고정 seed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데이터 규약: held 제거(CES_DROP_STUCK_TARGETS=1) 명시 고정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아키텍처 도달: keep/discard 통제 탐색 ~40회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후보 = 통제 변수 1개 변경 · 채점 = 깨끗한 val skill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E8743B"/>
                </a:solidFill>
                <a:latin typeface="Malgun Gothic"/>
              </a:rPr>
              <a:t>–  게이트를 val loss→clean skill로 바꾼 것이 n.s.(+0.088)→유의의 결정타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325880"/>
            <a:ext cx="52578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389888"/>
            <a:ext cx="2596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차용한 표준 재료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389888"/>
            <a:ext cx="2368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참고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801368"/>
            <a:ext cx="25968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관측 마스크 순환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801368"/>
            <a:ext cx="2368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GRU-D (Che 2018)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10273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2112264"/>
            <a:ext cx="525780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185416"/>
            <a:ext cx="25968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불규칙 시간 어텐션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185416"/>
            <a:ext cx="2368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mTAN (Shukla 2021)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248678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569464"/>
            <a:ext cx="25968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어텐션 풀링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9464"/>
            <a:ext cx="2368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ABMIL (Ilse 2018)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870835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2240" y="2880360"/>
            <a:ext cx="525780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953512"/>
            <a:ext cx="25968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멀티태스크 부분 라벨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953512"/>
            <a:ext cx="2368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Caruana 1997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254883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337560"/>
            <a:ext cx="25968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후기 융합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337560"/>
            <a:ext cx="2368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Ngiam 2011 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3638931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92240" y="3648456"/>
            <a:ext cx="525780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721608"/>
            <a:ext cx="25968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나우캐스팅 프레이밍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721608"/>
            <a:ext cx="2368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ConvLSTM·DGMR(기상)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402297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105656"/>
            <a:ext cx="25968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기준선·지표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105656"/>
            <a:ext cx="2368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· Murphy · IAR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440702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663440"/>
            <a:ext cx="111556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새로움은 개별 재료가 아니라 "물리적으로 불리한 평가 프로토콜 아래의 누수 방지 조합"에 있다 — 논문 관련연구 절에 명시.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재현성: 분할 디스크 고정 · 동결 실행 디렉터리 · collect_paper_numbers.py → paper_numbers.json → 그림/표 자동 파이프라인 (수기 전사 금지).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⑥ 통계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"통계적으로 검증했다"의 정확한 의미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11201400" cy="11704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한 문장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4"/>
            <a:ext cx="1081735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TEST를 보기 전에 고정한 규칙(사전등록) 아래, shot을 재표본 단위로 한 paired bootstrap 95% CI가 0을 제외하는지를,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선택이 접근하지 않은 4개 독립 분할에서 반복 확인했다.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33472"/>
            <a:ext cx="269748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633472"/>
            <a:ext cx="91440" cy="14630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74320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PR1 — 기준선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145536"/>
            <a:ext cx="23134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headline = PCHIP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(사전 선택)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사다리 전체 병행 보고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2633472"/>
            <a:ext cx="269748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2633472"/>
            <a:ext cx="91440" cy="14630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75304" y="274320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PR2 — 모집단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3145536"/>
            <a:ext cx="23134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모든 채점 지점에서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예측(없으면 persistence 후퇴)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모집단 솎아내기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633472"/>
            <a:ext cx="269748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2633472"/>
            <a:ext cx="91440" cy="14630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274320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PR3 — 규모 하한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45536"/>
            <a:ext cx="23134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≥15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≥3,000 Tᵢ 표본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실제 96 shot 충족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2633472"/>
            <a:ext cx="269748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06840" y="2633472"/>
            <a:ext cx="91440" cy="14630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4584" y="2743200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PR4 — 유의성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3145536"/>
            <a:ext cx="23134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shot-군집 bootstrap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95% CI가 0 제외 =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B=10,000 · 고정 seed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315968"/>
            <a:ext cx="1115568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왜 shot 군집인가 — 방전 내 인접 행은 강한 자기상관: 표본 3만 개를 독립 취급하면 CI가 가짜로 좁아진다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SE_model−SE_pchip을 shot으로 집계 → shot 전체를 복원추출: CI가 shot-to-shot 일반화를 반영, 유효 n≈96의 검정력 비용을 정직하게 지불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3-way split — TEST는 탐색 전 예약·미열람 · 시드 1/7/123은 선택 밖 재현(winner's curse 차단)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통과 못한 것도 그대로 보고 — V_rot 1/4=동률 판정, &gt;105 ms PCHIP 승, 캠페인 0/4, linear 대비 시드 42 n.s.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⑦ 기준선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정보 접근이 다른 5개 팔의 사다리 — 전부 같은 표본·같은 mask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1556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322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362456"/>
            <a:ext cx="2505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362456"/>
            <a:ext cx="29626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1362456"/>
            <a:ext cx="2779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근거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773936"/>
            <a:ext cx="23225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1773936"/>
            <a:ext cx="25054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마지막 관측값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773936"/>
            <a:ext cx="29626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인과 최소 기준 (실시간의 현직)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73936"/>
            <a:ext cx="27797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Murphy 1988 관습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4845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57984"/>
            <a:ext cx="11155680" cy="457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31136"/>
            <a:ext cx="23225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AR (국소·인과)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2231136"/>
            <a:ext cx="25054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2231136"/>
            <a:ext cx="29626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인과 시계열 모형 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231136"/>
            <a:ext cx="27797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IAR (Eyheramendy 2018)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60565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688336"/>
            <a:ext cx="23225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Linear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2688336"/>
            <a:ext cx="25054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과거+미래 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688336"/>
            <a:ext cx="29626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오프라인 사실상 표준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2688336"/>
            <a:ext cx="27797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Press 2007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6285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072384"/>
            <a:ext cx="11155680" cy="457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145536"/>
            <a:ext cx="23225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PCHIP (headline)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3145536"/>
            <a:ext cx="25054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과거+미래 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3145536"/>
            <a:ext cx="29626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단조 3차 — 급변에서 무진동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3145536"/>
            <a:ext cx="27797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Fritsch–Carlson 1980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2005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602736"/>
            <a:ext cx="23225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모델 (nowcaster)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3602736"/>
            <a:ext cx="25054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고속 진단+과거 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0" y="3602736"/>
            <a:ext cx="29626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검정 대상 — 유일하게 미래 미접근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3602736"/>
            <a:ext cx="277977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97725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2920" y="4160520"/>
            <a:ext cx="548640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416052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66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왜 PCHIP인가 · linear 교차확인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" y="4672584"/>
            <a:ext cx="510235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자연 스플라인은 급변에서 Gibbs 진동 → 단조 3차를 사전 선택(PR1).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사후: 이 데이터에선 linear가 근소 우세(Δt≤15 ms가 97.7%).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더 강한 linear로 바꿔도 결론 유지: hold 4/4, genuine 3/4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 (시드 42 n.s.까지 명시) — "기준선 유리 선택" 반박 차단.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0520"/>
            <a:ext cx="548640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0520"/>
            <a:ext cx="91440" cy="19659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GP 팔 — 사후 실측 완료 (§8p)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672584"/>
            <a:ext cx="510235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GP가 최강 오프라인 팔: PCHIP에 Tᵢ 4/4 유의 승(+0.21~+0.28)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— 잡음 앵커 통과 대신 평균해 내는 평활기.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모델은 GP와 동률(유의 승 1/4·패 0/4) — 논문에 그대로 보고.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사전등록 headline(PCHIP) 유지 · 배치(인과) 주장 무영향.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Headline — Tᵢ는 4개 독립 분할 전부에서 미래를 쓰는 보간을 이긴다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73193"/>
            <a:ext cx="6309360" cy="23516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1417320"/>
            <a:ext cx="4663440" cy="4754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●  Tᵢ genuine: +0.179 / +0.197 / +0.280 / +0.263 — 4/4 PASS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held 포함 모집단에서도 4/4 PASS (+0.19~+0.28) — 데이터 처리에 불변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V_rot: 점추정 전부 양수지만 PASS는 시드 1 하나 → 동률 보고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RMSE 사다리(시드 42): 모델 407.0 &lt; linear 441.0 &lt; PCHIP 449.3 &lt; pers. 504.3 &lt; AR 2425.9 (Tᵢ)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인과 기준선 압도가 가장 강건한 결과 — V_rot도 35.0 &lt; 44.4(pers.)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●  정직한 진행: 초기 iter2는 +0.088 n.s. — 선택 게이트 교체가 유의를 만듦(과정 공개)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간극 층화 · window sweep — 정보 한계의 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pic>
        <p:nvPicPr>
          <p:cNvPr id="10" name="Picture 9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24867"/>
            <a:ext cx="5852160" cy="23510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0" y="1417320"/>
            <a:ext cx="512064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●  4분할 통합으로 비인접 영역 첫 측정: Δt&gt;15 ms에서도 Tᵢ가 PCHIP에 +0.191 유의 승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&gt;105 ms는 양측 보간의 영역(−0.542) — 단 실시간은 그것을 가질 수 없고, 인과 대비는 &gt;45 ms에서 +0.271 유의 승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V_rot도 인과 대비 전 구간 유의 승 (≤15 ms +0.368, &gt;15 ms +0.309)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window sweep 24-run: 관측 1개가 사실상 전부 — history-0은 붕괴(Tᵢ −0.03, V_rot −0.78), 이후 곡선 평탄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plateau 규칙은 W=2 반환 — "왜 W=4인가"에 곡선과 선택 규칙으로 답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W&gt;2의 유일한 논리는 커버리지: 긴 간극 표본을 4~10배 더 예측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257800"/>
            <a:ext cx="58521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Malgun Gothic"/>
              </a:rPr>
              <a:t>용량 확장·복잡한 skip·추가 conv 추출기 전부 개선 없음 — 용량·아키텍처가 아니라 정보가 한계라는 진단의 근거.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결과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스트레스 테스트 2종 — 어느 주장이 살아남는가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35608"/>
            <a:ext cx="4059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435608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vs PCHIP (오프라인·미래 사용)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435608"/>
            <a:ext cx="3282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vs persistence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47088"/>
            <a:ext cx="40599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무작위 분할 · 관측 지점 (headline)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847088"/>
            <a:ext cx="341985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+0.18~+0.28 · 4/4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847088"/>
            <a:ext cx="32826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+0.35~+0.42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3133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340864"/>
            <a:ext cx="11201400" cy="5669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414016"/>
            <a:ext cx="40599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진짜 결측 지점으로 재가중 (MNAR)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414016"/>
            <a:ext cx="341985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0392B"/>
                </a:solidFill>
                <a:latin typeface="Malgun Gothic"/>
              </a:rPr>
              <a:t>+0.06~+0.21 · 1/4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14016"/>
            <a:ext cx="32826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+0.29 · 4/4 PASS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9826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980944"/>
            <a:ext cx="40599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캠페인 시간 분할 (미래 방전)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2980944"/>
            <a:ext cx="341985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0392B"/>
                </a:solidFill>
                <a:latin typeface="Malgun Gothic"/>
              </a:rPr>
              <a:t>−0.15~+0.05 · 0/4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980944"/>
            <a:ext cx="32826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+0.12~+0.28 (V_rot 4/4 PASS)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4651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749040"/>
            <a:ext cx="1115568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결론: 오프라인 보간 대비 우위는 무작위 분할·관측 모집단의 성질 — 배치 주장은 인과 우위로 좁힌다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MNAR 재가중의 부산물 — 적용 범위 사실: W=4에서 진짜 결측 Tᵢ의 54.1%, V_rot의 4.8%만 도메인 내 (커버리지 한계, reach 확장 지목)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캠페인 손실의 원인을 측정: BES 1.22σ · ECEI 0.53σ 드리프트 vs CES 타겟 0.115σ — 고속 진단 경로가 5~11배 더 이동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→ 지목된 수리: 고속 진단의 shot별(인과) 표준화 — 누수 없음 · 실행 시점 가용 · 절충은 다음 통제 실험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V_rot조차 캠페인 분할에서 persistence를 4/4 유의하게 이김 — "실패한 타겟"이 아니라 "의미 있는 비교가 인과뿐인 타겟"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⑧ 해석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모델은 물리학적으로 해석 가능한가 — 4겹의 답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79366"/>
            <a:ext cx="5120640" cy="247630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7880" y="1371600"/>
            <a:ext cx="5806440" cy="3383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① 구조가 물리를 코딩 — V_rot 헤드의 고속 진단 배제(라우팅), 관측 마스킹 어텐션(실측점만)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② 비대칭의 기전 검증 — Tᵢ: e–i 충돌 결합(fast-only +0.37, Te~Tᵢ r=+0.353) / V_rot: 토크 미관측+aliasing(fast-only −0.64, Te~V_rot r=+0.02)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③ 복잡도의 가격 측정 — 1,258-파라미터 완전 해석 모델이 Tᵢ 마진의 31.5%(V_rot 7%) 회수 → 나머지는 비선형·비국소 구조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④ 우위의 위치 특정 — peak에 집중(Tᵢ +0.27→+0.70, V_rot +0.13→+0.44) · #31815 사례로 시각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92040"/>
            <a:ext cx="11201400" cy="1280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892040"/>
            <a:ext cx="91440" cy="128016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500176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한계 인정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5404104"/>
            <a:ext cx="10817352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어텐션 가중치는 열람 가능하나 채널별 인과 귀속(attribution)은 미수행 — 인코더 내부는 학습된 표현.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 부족분을 "해석 가능한 1,258 파라미터가 회수하는 비율"로 정량화한 것이 우리의 대응 (반박이 아니라 측정).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⑨ 결론 일관성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주장 → 증거 → 한계 → 다음 단계가 한 사슬로 닫힌다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24712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3145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결론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1389888"/>
            <a:ext cx="3145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38988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남는 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55480" y="1389888"/>
            <a:ext cx="2139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지목된 다음 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Tᵢ, 미래 보간을 이김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1801368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4-seed·2모집단·linear 교차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80136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MNAR 낙관성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1801368"/>
            <a:ext cx="213969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재가중으로 정량화 완료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94179"/>
            <a:ext cx="112471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203704"/>
            <a:ext cx="1124712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76856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배치 주장 = 인과 우위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2276856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재가중 4/4 · 캠페인 생존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27685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오프라인 우위 소멸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276856"/>
            <a:ext cx="213969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shot별 표준화 실험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669667"/>
            <a:ext cx="112471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752344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V_rot 동률·비대칭 발견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2752344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ablation·Te 프로브·MC 자기상관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275234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회전 원천 부재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2752344"/>
            <a:ext cx="213969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NBI 토크 + 원 Mirnov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145155"/>
            <a:ext cx="112471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154680"/>
            <a:ext cx="1124712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227832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커버리지 54.1%/4.8%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227832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MNAR 도메인 산정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3227832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W=4의 도달 범위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3227832"/>
            <a:ext cx="213969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reach 확장(슬롯≠span)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620643"/>
            <a:ext cx="112471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703320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복잡도는 값을 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3703320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1,258-파라미터 사다리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370332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인코더 내부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3703320"/>
            <a:ext cx="213969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다른 함수 형태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096131"/>
            <a:ext cx="112471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105656"/>
            <a:ext cx="1124712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178808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실시간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4178808"/>
            <a:ext cx="31455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CPU p99 6.4 ms · conformal 8/8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417880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커버리지 주변적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4178808"/>
            <a:ext cx="213969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shot-조건부 보정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571619"/>
            <a:ext cx="112471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4892040"/>
            <a:ext cx="11201400" cy="1371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892040"/>
            <a:ext cx="91440" cy="1371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0664" y="500176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일관성을 지키는 편집 규칙 2개 (문서화됨)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" y="5404104"/>
            <a:ext cx="1081735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① 음성 결과는 그것을 뒤집을 측정을 지목할 때만 보고 — "정보가 부족하다"는 종결 금지 (§8j).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② 모든 숫자는 동결 산출물에서 자동 수집 — §8h 감사의 재발 방지 장치 = paper_numbers.json 파이프라인.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⑩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이 연구는 앞으로 어떻게 쓰이는가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40680" cy="14173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14173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074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1. 온라인 가상 CES 센서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056632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CPU p99 6.4 ms &lt; 10 ms 주기 (실측) + conformal 구간 동반.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Tᵢ를 실시간으로 채워 pedestal 분석·제어에 끊김 없는 입력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경쟁 상대(persistence) 대비 우위가 결측 지점·미래 캠페인에서 생존.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440680" cy="14173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91440" cy="14173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481328"/>
            <a:ext cx="5074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2. 오프라인 재분석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883664"/>
            <a:ext cx="5056632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아카이브 방전의 CES 간극 고품질 채움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모집단에선 미래를 쓰는 보간보다 우수,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과도 현상(ELM·천이) 구간에서 우위 최대(peak).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71800"/>
            <a:ext cx="5440680" cy="14173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971800"/>
            <a:ext cx="91440" cy="14173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081528"/>
            <a:ext cx="5074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3. 진단 정보 내용 감사 방법론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3483864"/>
            <a:ext cx="5056632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"이 진단 조합이 저 물리량을 나르는가"를 검정하는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절차(ablation+사전등록+shot-군집 CI) 자체가 재사용 가능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Mirnov 결함·NBI 토크 부재를 데이터로 고발한 것이 시범.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971800"/>
            <a:ext cx="5440680" cy="14173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971800"/>
            <a:ext cx="91440" cy="14173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1384" y="3081528"/>
            <a:ext cx="5074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4. 평가 프로토콜의 이식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3483864"/>
            <a:ext cx="5056632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"인과 모델 vs 미래 쓰는 현직 보간 + shot-군집 paired bootstrap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 사전등록" — 다른 희소 진단(Thomson·XICS)의 ML 채움 연구가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그대로 가져다 쓸 수 있는 bar.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572000"/>
            <a:ext cx="11201400" cy="1554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572000"/>
            <a:ext cx="91440" cy="1554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68172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5. 명시된 확장 로드맵 (전부 아카이브 데이터로 실행 가능 · 비용 낮은 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" y="5084064"/>
            <a:ext cx="10817352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이력 reach 확장(슬롯 2–3개 유지, span 확대 — 커버리지 54.1%/4.8% 직접 개선)  →  원 kHz Mirnov window 특징(V_rot 최대 레버)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 NBI 토크 데이터 확보(회전의 원인 변수)  →  고속 진단 shot별 표준화(캠페인 전이 수리)  →  타 장치(EAST·DIII-D) 이식 검증.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⑪ 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방어 가능성 평가 I — 통계·평가 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4059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389888"/>
            <a:ext cx="5660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답변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방어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0136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관측 지점만 평가 — 진짜 결측에선? (MNAR)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801368"/>
            <a:ext cx="56601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재가중으로 정량화: 인과 우위 4/4 생존(+0.29), 오프라인은 1/4 → 주장을 인과로 한정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1801368"/>
            <a:ext cx="104241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673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276856"/>
            <a:ext cx="11201400" cy="5486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35000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PCHIP이 최선? linear가 더 강한데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50008"/>
            <a:ext cx="56601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사전등록 사실 + linear 대비 결과(4/4·3/4, 시드42 n.s.)까지 공개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350008"/>
            <a:ext cx="104241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159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9864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shot 96개 — 검정력 부족?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2898648"/>
            <a:ext cx="56601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인정: 올바른 독립 단위의 비용. V_rot 미해결 원인으로 명시, 다중 캠페인이 해결책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898648"/>
            <a:ext cx="104241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●●○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364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374136"/>
            <a:ext cx="11201400" cy="5486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44728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탐색이 test에 과적합?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3447288"/>
            <a:ext cx="56601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사전 예약·미열람, 시드 1/7/123은 선택 밖 재현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3447288"/>
            <a:ext cx="104241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91325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99592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 쓰는 보간과의 비교가 의미 있나?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3995928"/>
            <a:ext cx="56601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의도적 불리함 — 이기면 시간 구조 밖 정보의 강한 증거. 실시간 주장은 별도로 인과 비교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3995928"/>
            <a:ext cx="104241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4618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471416"/>
            <a:ext cx="11201400" cy="5486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54456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window=4 근거는?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4544568"/>
            <a:ext cx="56601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24-run sweep으로 우리가 먼저 답: 관측 1개가 전부, plateau 규칙은 W=2, W&gt;2 논리는 커버리지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4544568"/>
            <a:ext cx="104241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105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09320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불확실성은 신뢰 가능?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5093208"/>
            <a:ext cx="56601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conformal 8/8 Winkler 승 — 단 주변적 커버리지(shot별 50~100%)를 스스로 보고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5093208"/>
            <a:ext cx="104241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●●○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559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568696"/>
            <a:ext cx="11201400" cy="5486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5641848"/>
            <a:ext cx="40599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데이터 54%가 가짜(held)라며?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600" y="5641848"/>
            <a:ext cx="566013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우리가 발견·전수 정량화·규약화. 초기 오판을 4-seed paired로 뒤집은 과정도 공개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5641848"/>
            <a:ext cx="104241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61078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⑪ 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방어 가능성 평가 II — 물리·일반화·novelty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4059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389888"/>
            <a:ext cx="5660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답변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방어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01368"/>
            <a:ext cx="40599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V_rot은 결국 실패 아닌가?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801368"/>
            <a:ext cx="56601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물리로 사전 예측된 비대칭 · 인과 대비 캠페인 4/4 승 · peak 유의 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1801368"/>
            <a:ext cx="1042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21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231136"/>
            <a:ext cx="11201400" cy="5029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304288"/>
            <a:ext cx="40599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모델이 복잡해서 못 믿겠다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04288"/>
            <a:ext cx="56601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1,258-파라미터 모델이 31.5%만 회수 — 복잡도의 값을 정량 진술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304288"/>
            <a:ext cx="1042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245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07208"/>
            <a:ext cx="40599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실시간이 실제로 되나?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2807208"/>
            <a:ext cx="56601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CPU p99 6.4 ms 실측(GPU 8× 느림) · 조립 지연은 별도 인정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807208"/>
            <a:ext cx="1042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2745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236976"/>
            <a:ext cx="11201400" cy="5029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0128"/>
            <a:ext cx="40599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Diag2Diag·RTCAKENN과 차이는?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3310128"/>
            <a:ext cx="56601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4축 차별 + RTCAKENN 방어 3종 + 적대 탐색 2회(STANDS ×3)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3310128"/>
            <a:ext cx="1042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7303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813048"/>
            <a:ext cx="40599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타 장치·미래 캠페인 일반화?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3813048"/>
            <a:ext cx="56601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캠페인 0/4 자진 보고 + 원인 측정 + 수리 지목 · 타 장치 한계 명시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3813048"/>
            <a:ext cx="1042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●●○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2332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242816"/>
            <a:ext cx="11201400" cy="5029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315968"/>
            <a:ext cx="40599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Mirnov가 잡음이면 왜 입력에?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4315968"/>
            <a:ext cx="56601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기여 ~0 확인 · 파생 4종 무효 · 원인 실측 · 원 스트림 수리 지목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4315968"/>
            <a:ext cx="1042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●●○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7362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4818888"/>
            <a:ext cx="40599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GP 기준선은 왜 없나?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4818888"/>
            <a:ext cx="56601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실측 완료: GP=최강 오프라인 팔, 모델과 동률 — 그대로 보고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4818888"/>
            <a:ext cx="1042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2391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248656"/>
            <a:ext cx="11201400" cy="5029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5321808"/>
            <a:ext cx="40599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Tᵢ&gt;3 keV 이상값(fit 실패)?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600" y="5321808"/>
            <a:ext cx="56601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민감도 실측: 제거 시 skill ~2배·4/4 유지 — headline은 보수적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5321808"/>
            <a:ext cx="1042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74205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5824728"/>
            <a:ext cx="40599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반경 방향·ELM 위상은?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00600" y="5824728"/>
            <a:ext cx="566013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데이터 선택에서 상속 — 한계 명시, 향후 과제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5824728"/>
            <a:ext cx="1042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●○○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62449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⑫ 감사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이번 루프에서 발견·수정된 것 / 남은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6528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발견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389888"/>
            <a:ext cx="4379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801368"/>
            <a:ext cx="652881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연구설명_목차별정리.md가 구버전 결론 유지 (held 무해 판정·구 아키텍처·구 headline·2026-08 실험 7종 미반영)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1801368"/>
            <a:ext cx="437997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전면 재작성 완료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856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95144"/>
            <a:ext cx="11201400" cy="5669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68296"/>
            <a:ext cx="652881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기존 발표덱 4종이 논문 대비 구세대 (held 포함 headline · 스트레스 테스트 미반영)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368296"/>
            <a:ext cx="437997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4종 전부 재빌드 완료 (figures는 paper_numbers.json 판독)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525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935224"/>
            <a:ext cx="652881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문헌 검증이 2026-07-03 시점 고정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935224"/>
            <a:ext cx="437997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재검증 완료: STANDS ×3 · 논문에 인용 3건 반영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194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29000"/>
            <a:ext cx="11201400" cy="5669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502152"/>
            <a:ext cx="652881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논문·THESIS_RESULTS·paper_numbers.json 수치 대조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3502152"/>
            <a:ext cx="437997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불일치 없음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98640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069080"/>
            <a:ext cx="652881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기준선 부재 + fit-failure 영향 미측정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069080"/>
            <a:ext cx="437997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둘 다 실측 완료: GP=최강 팔·모델 동률 / 제거 시 skill ~2배 (§8p·§8q)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533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4892040"/>
            <a:ext cx="11201400" cy="1280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892040"/>
            <a:ext cx="91440" cy="1280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500176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잔여 미해결 (다음 루프 후보)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5404104"/>
            <a:ext cx="10817352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캠페인 전이 수리(shot별 표준화) 통제 실험 — 정규화 계약 변경이라 승인 필요 · 인과 과거-전용 GP 팔(동률 해소책).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상세는 docs/연구방어_종합문서.md §12. (GP 팔·fit-failure 민감도는 실행 완료 — §8p·§8q.)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한 장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109728" cy="10241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417320"/>
            <a:ext cx="102412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주장 (분리된 2개)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Malgun Gothic"/>
              </a:rPr>
              <a:t>Tᵢ는 미래를 쓰는 보간을 4/4 분할에서 유의하게 이긴다(관측 모집단). 배치 주장은 "모든 인과 방법을 이긴다" — 진짜 결측·미래 캠페인을 생존하는 것은 이것뿐(+0.29/+0.22).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24328"/>
            <a:ext cx="109728" cy="1024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24328"/>
            <a:ext cx="102412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발견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Malgun Gothic"/>
              </a:rPr>
              <a:t>Tᵢ↔V_rot 정보 비대칭 — 고속 진단은 10 ms에서 Tᵢ 정보를 나르지만(e–i 결합) 회전 정보는 없다(NBI 토크 미관측·Mirnov aliasing 실측). V_rot 동률은 실패가 아니라 물리 발견.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31336"/>
            <a:ext cx="109728" cy="10241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831336"/>
            <a:ext cx="102412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방법의 기여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Malgun Gothic"/>
              </a:rPr>
              <a:t>사전등록 + shot-군집 paired bootstrap + "현직 보간을 이겨라" bar + 데이터 품질 감사(held 54%) + 관측 마스킹 어텐션 + 복잡도 사다리(31.5%) — 전부 이식 가능.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38344"/>
            <a:ext cx="109728" cy="102412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038344"/>
            <a:ext cx="1024128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E9E5B"/>
                </a:solidFill>
                <a:latin typeface="Malgun Gothic"/>
              </a:rPr>
              <a:t>정직성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Malgun Gothic"/>
              </a:rPr>
              <a:t>V_rot 동률·캠페인 0/4·&gt;105 ms 열세·커버리지 54.1%/4.8%·주변적 커버리지 — 전부 본문 보고, 각각 뒤집을 측정을 지목(reach 확장·원 Mirnov·NBI 토크·shot별 표준화).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(2026-08-05 감사)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