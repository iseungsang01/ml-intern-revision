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덱은 확정 프로토콜(W = 2 · held-free · 두 모집단 공동 1차 · 백본 seq_v2)에서 다시 쓴</a:t>
            </a:r>
          </a:p>
          <a:p>
            <a:r>
              <a:t>종합 방어 자료다. 2026-08-12 방향 재정립(§8v) → B.7 감사(§8w) → B.1 관문(§8x) →</a:t>
            </a:r>
          </a:p>
          <a:p>
            <a:r>
              <a:t>B.2(§8y) → B.3(§8z) → B.4(§8aa) → B.5 전면 재채점(§8ab)의 결과만 인용한다.</a:t>
            </a:r>
          </a:p>
          <a:p/>
          <a:p>
            <a:r>
              <a:t>시간이 2분뿐이면: 2번(두 주장·두 모집단) → 3번(판정표) → 11번(스트레스 2종)만 보여준다.</a:t>
            </a:r>
          </a:p>
          <a:p>
            <a:r>
              <a:t>심사 대비 핵심은 19·20·21번(예상 질문 12문항 방어표).</a:t>
            </a:r>
          </a:p>
          <a:p/>
          <a:p>
            <a:r>
              <a:t>폐기 목록 — 절대 인용 금지: +0.18~+0.28 헤드라인, MNAR 1/4·캠페인 0/4, anchor+Δ 31.5%,</a:t>
            </a:r>
          </a:p>
          <a:p>
            <a:r>
              <a:t>seq +0.045, CPU p99 6.4 ms, held 포함/제외 이중 보고, iter2→iter9 progression.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[정확한 수치]</a:t>
            </a:r>
          </a:p>
          <a:p>
            <a:r>
              <a:t>T_i vs PCHIP (seq_v2, TEST 4 분할): 컷 +0.174 [+0.097,+0.236] / +0.248 [+0.188,+0.295] /</a:t>
            </a:r>
          </a:p>
          <a:p>
            <a:r>
              <a:t>+0.257 [+0.199,+0.302] / +0.264 [+0.188,+0.320]; 포함 +0.225 / +0.238 / +0.292 / +0.316.</a:t>
            </a:r>
          </a:p>
          <a:p>
            <a:r>
              <a:t>vs 인과 GP(컷/포함): +0.078/+0.154 · +0.133/+0.169 · +0.138/+0.123 · +0.105/+0.149.</a:t>
            </a:r>
          </a:p>
          <a:p>
            <a:r>
              <a:t>V_rot vs PCHIP: 컷 +0.390* / +0.183 / +0.135 / +0.305 (1/4), 포함 +0.384* / +0.195* /</a:t>
            </a:r>
          </a:p>
          <a:p>
            <a:r>
              <a:t>+0.132 / +0.304 (2/4).</a:t>
            </a:r>
          </a:p>
          <a:p/>
          <a:p>
            <a:r>
              <a:t>[말하는 순서]</a:t>
            </a:r>
          </a:p>
          <a:p>
            <a:r>
              <a:t>① 두 주장을 먼저 분리한다(오프라인 = 관측 모집단의 성질, 인과 = 배치의 문장).</a:t>
            </a:r>
          </a:p>
          <a:p>
            <a:r>
              <a:t>② 두 모집단 규칙을 말한다 — "무조건부 = 둘 다"가 이 연구의 판정 언어다.</a:t>
            </a:r>
          </a:p>
          <a:p>
            <a:r>
              <a:t>③ 오프라인 GP 동률을 스스로 먼저 말한다. 상한을 우리가 측정했다는 것이 신뢰를 산다.</a:t>
            </a:r>
          </a:p>
          <a:p/>
          <a:p>
            <a:r>
              <a:t>[반박 대비]</a:t>
            </a:r>
          </a:p>
          <a:p>
            <a:r>
              <a:t>"컷은 어려운 행을 버린 것 아닌가" → 그래서 포함 모집단이 민감도가 아니라 공동 1차다.</a:t>
            </a:r>
          </a:p>
          <a:p>
            <a:r>
              <a:t>"그럼 p100만 쓰면 되지 않나" → 19번 슬라이드 Q1(절제 근거)로 답한다.</a:t>
            </a:r>
          </a:p>
          <a:p>
            <a:r>
              <a:t>출처: outline_ko_v2.tex §0·§5.2, THESIS_RESULTS.md §8ab, PREREGISTRATION_W2.md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이 덱의 중심이다. THESIS_RESULTS.md §8ab "Verdict — what is unconditional"의</a:t>
            </a:r>
          </a:p>
          <a:p>
            <a:r>
              <a:t>국문판이며, 행 순서·수치가 그 표와 1:1로 대응한다.</a:t>
            </a:r>
          </a:p>
          <a:p/>
          <a:p>
            <a:r>
              <a:t>[읽는 법]</a:t>
            </a:r>
          </a:p>
          <a:p>
            <a:r>
              <a:t>"무조건부" = 컷·포함 두 모집단에서 모두 성립. "조건부" = 한쪽에서만 성립하므로 반드시</a:t>
            </a:r>
          </a:p>
          <a:p>
            <a:r>
              <a:t>모집단을 붙여 말한다. "미확립" = 점추정은 양수지만 PR4를 못 넘김.</a:t>
            </a:r>
          </a:p>
          <a:p/>
          <a:p>
            <a:r>
              <a:t>[자주 나오는 추궁]</a:t>
            </a:r>
          </a:p>
          <a:p>
            <a:r>
              <a:t>· "conformal 32/32는 무엇의 32인가" → 두 기준선(PCHIP·persistence) × 두 타겟 ×</a:t>
            </a:r>
          </a:p>
          <a:p>
            <a:r>
              <a:t>  4 분할 × 두 모집단의 Winkler 비교 셀 전부에서 모델 구간이 이겼다는 뜻.</a:t>
            </a:r>
          </a:p>
          <a:p>
            <a:r>
              <a:t>· "캠페인이 무조건부인데 왜 †가 붙나" → 시간 분할은 하나뿐이고 재현은 초기화 4개에</a:t>
            </a:r>
          </a:p>
          <a:p>
            <a:r>
              <a:t>  대한 것이다. 분할 4개의 증거가 아님을 우리가 먼저 밝힌다.</a:t>
            </a:r>
          </a:p>
          <a:p>
            <a:r>
              <a:t>· "b3k8 행의 -0.194는 실패 아닌가" → 21번은 실패가 아니라 컷 조건부다. 20번 Q7 참조.</a:t>
            </a:r>
          </a:p>
          <a:p>
            <a:r>
              <a:t>출처: THESIS_RESULTS.md §8ab, outline_ko_v2.tex §11.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 문장 요지]</a:t>
            </a:r>
          </a:p>
          <a:p>
            <a:r>
              <a:t>"이전 초고의 숫자를 방어하지 않습니다 — 우리 장부의 세 결과가 그 프로토콜을 독립적으로</a:t>
            </a:r>
          </a:p>
          <a:p>
            <a:r>
              <a:t>기소했고, 그래서 한 번에 전부 다시 돌렸습니다."</a:t>
            </a:r>
          </a:p>
          <a:p/>
          <a:p>
            <a:r>
              <a:t>[B.7 감사에서 재확인된 사실 — 질문 대비]</a:t>
            </a:r>
          </a:p>
          <a:p>
            <a:r>
              <a:t>· 관측 T_i p99 = 2,089 eV, &gt; 3 keV = 1,197행 = 관측 T_i의 0.53%.</a:t>
            </a:r>
          </a:p>
          <a:p>
            <a:r>
              <a:t>· CES_VT는 소수점 5자리·최소 간격 약 0.00004 → "연속 동일값 = forward-fill" 규칙의</a:t>
            </a:r>
          </a:p>
          <a:p>
            <a:r>
              <a:t>  오탐 채널이 없다. T_i의 held는 226,991행 중 1행(경험적 상한).</a:t>
            </a:r>
          </a:p>
          <a:p>
            <a:r>
              <a:t>· 0.5 s 세그먼트 문턱은 쌍봉 분포의 골짜기에 있어 문턱 자체가 둔감하다.</a:t>
            </a:r>
          </a:p>
          <a:p/>
          <a:p>
            <a:r>
              <a:t>[사전등록 문서와의 관계]</a:t>
            </a:r>
          </a:p>
          <a:p>
            <a:r>
              <a:t>PREREGISTRATION_W2.md는 커밋으로만 변경되고, 해당 실험의 TEST 수치를 본 뒤의 변경은</a:t>
            </a:r>
          </a:p>
          <a:p>
            <a:r>
              <a:t>금지된다. 각 배치 규칙 아래에 "집행 결과" 블록이 §8x/§8y/§8z/§8aa/§8ab로 이어 붙는다.</a:t>
            </a:r>
          </a:p>
          <a:p>
            <a:r>
              <a:t>출처: THESIS_RESULTS.md §8v·§8w, PREREGISTRATION_W2.md §1·§1.1.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 문장 정의]</a:t>
            </a:r>
          </a:p>
          <a:p>
            <a:r>
              <a:t>"TEST를 보기 전에 규칙을 문서로 고정하고(PR1–4 + 확정 프로토콜 + 배치별 판정 규칙),</a:t>
            </a:r>
          </a:p>
          <a:p>
            <a:r>
              <a:t>방전을 재표본 단위로 하는 paired bootstrap 95% CI가 0을 제외하는지를, 모델 선택이</a:t>
            </a:r>
          </a:p>
          <a:p>
            <a:r>
              <a:t>접근하지 않은 4개 독립 분할에서 반복 확인했다."</a:t>
            </a:r>
          </a:p>
          <a:p/>
          <a:p>
            <a:r>
              <a:t>[PR2 폴백률이 왜 중요한가 — V_rot 질문의 핵심]</a:t>
            </a:r>
          </a:p>
          <a:p>
            <a:r>
              <a:t>W = 2 held-free에서 V_rot의 보간 폴백률이 40–44%다. 즉 V_rot의 "vs PCHIP" 비교는</a:t>
            </a:r>
          </a:p>
          <a:p>
            <a:r>
              <a:t>5분의 2가 사실상 "vs persistence"다. V_rot 동률을 논할 때 반드시 함께 말할 것.</a:t>
            </a:r>
          </a:p>
          <a:p/>
          <a:p>
            <a:r>
              <a:t>[분할 규모]</a:t>
            </a:r>
          </a:p>
          <a:p>
            <a:r>
              <a:t>기준 seed 42 TEST = 관측 T_i 32,589행/96 방전, genuine V_rot 10,463행/60 방전(컷;</a:t>
            </a:r>
          </a:p>
          <a:p>
            <a:r>
              <a:t>포함 32,721/10,461). 4 분할에서 T_i 32.6–35.9k행/96 방전, V_rot 10.5–14.5k행/60–66 방전.</a:t>
            </a:r>
          </a:p>
          <a:p>
            <a:r>
              <a:t>출처: PREREGISTRATION_W2.md §1·§2·§3, outline_ko_v2.tex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[말하는 순서 — 승상님 2026-08-05 규칙, 여전히 유효]</a:t>
            </a:r>
          </a:p>
          <a:p>
            <a:r>
              <a:t>① 계보 인정 → ② 3축 확장 → ③ 관례적 한정 한 문장. 이 순서를 뒤집지 말 것.</a:t>
            </a:r>
          </a:p>
          <a:p/>
          <a:p>
            <a:r>
              <a:t>[정식 대비 — 원문에서 확인 가능한 범위]</a:t>
            </a:r>
          </a:p>
          <a:p>
            <a:r>
              <a:t>· Diag2Diag (Jalalvand et al., Nat. Commun. 2025, DIII-D): 입력에 CER 포함(동시각),</a:t>
            </a:r>
          </a:p>
          <a:p>
            <a:r>
              <a:t>  타겟은 Thomson T_e/n_e. 모델은 명시적으로 memory-less.</a:t>
            </a:r>
          </a:p>
          <a:p>
            <a:r>
              <a:t>· COMPASS 시간 초해상(Imríšek et al., PPCF 2026): 고속 복사 진단 → Thomson 프로파일.</a:t>
            </a:r>
          </a:p>
          <a:p>
            <a:r>
              <a:t>· EAST 결측 T_e(Wang et al., NF 2025): 타 진단 시계열 외생 회귀로 ECE형 T_e 복구.</a:t>
            </a:r>
          </a:p>
          <a:p>
            <a:r>
              <a:t>· FusionMAE(Yang et al., 2026, HL-3): 88채널 마스킹 복원, 윈도 내 비인과.</a:t>
            </a:r>
          </a:p>
          <a:p>
            <a:r>
              <a:t>· RTCAKENN(Shousha et al., NF 2024): 실시간 운동학 프로파일. 결측은 입력 강건성 조건.</a:t>
            </a:r>
          </a:p>
          <a:p>
            <a:r>
              <a:t>· EAST XCS(Lin et al., NF 2024): 같은 T_i·V_rot이지만 입력이 또 다른 도플러 분광기 —</a:t>
            </a:r>
          </a:p>
          <a:p>
            <a:r>
              <a:t>  같은 물리 채널·순간 매핑·소스 가용성 상속.</a:t>
            </a:r>
          </a:p>
          <a:p>
            <a:r>
              <a:t>· KSTAR EPED 프로파일(Jung, Kim &amp; Kang, JKPS 2026): CES가 입력, 회전은 향후 과제로 명시.</a:t>
            </a:r>
          </a:p>
          <a:p/>
          <a:p>
            <a:r>
              <a:t>[비대칭이 novelty의 산출물]</a:t>
            </a:r>
          </a:p>
          <a:p>
            <a:r>
              <a:t>T_i↔V_rot 정보 비대칭은 확장 ③(검정 가능한 평가)이 만들어낸 발견이다. 가정했으면 나올 수</a:t>
            </a:r>
          </a:p>
          <a:p>
            <a:r>
              <a:t>없었던 결과라는 점을 강조한다.</a:t>
            </a:r>
          </a:p>
          <a:p>
            <a:r>
              <a:t>출처: main_ko.tex §2 관련 연구, outline_ko_v2.tex §1.3.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[관문의 설계 의도]</a:t>
            </a:r>
          </a:p>
          <a:p>
            <a:r>
              <a:t>"왜 시퀀스 모델인가"를 사후 정당화로 만들지 않기 위해, 채택 조건 4개를 실행 전에 문서로</a:t>
            </a:r>
          </a:p>
          <a:p>
            <a:r>
              <a:t>고정하고 그 문서를 커밋했다(PREREGISTRATION_W2.md §4). 대조군도 감사 (B)-4에 따라</a:t>
            </a:r>
          </a:p>
          <a:p>
            <a:r>
              <a:t>W = 4 계열이 아니라 확정 프로토콜과 정합한 W = 2 계열로 교체했고, 컷 도입이 모집단을</a:t>
            </a:r>
          </a:p>
          <a:p>
            <a:r>
              <a:t>바꾸므로 양쪽 모두 재학습했다.</a:t>
            </a:r>
          </a:p>
          <a:p/>
          <a:p>
            <a:r>
              <a:t>[Stage A — 윈도 대조군(w2cut) 4 seed]</a:t>
            </a:r>
          </a:p>
          <a:p>
            <a:r>
              <a:t>T_i vs PCHIP +0.051 n.s. / +0.203 / +0.208 / +0.231 → 3/4 PASS(컷 모집단은 앵커가</a:t>
            </a:r>
          </a:p>
          <a:p>
            <a:r>
              <a:t>깨끗해져 보간을 강화한다). vs persistence 4/4. V_rot vs persistence 3/4.</a:t>
            </a:r>
          </a:p>
          <a:p/>
          <a:p>
            <a:r>
              <a:t>[claim-2 게이트]</a:t>
            </a:r>
          </a:p>
          <a:p>
            <a:r>
              <a:t>윈도 모델 vs 인과 GP는 1/4 → 사전 규칙대로 주장 2를 일단 한정 재서술하고 "인과 GP 초과"를</a:t>
            </a:r>
          </a:p>
          <a:p>
            <a:r>
              <a:t>B.2 목표로 올렸다. §8y에서 백본 자신이 4/4로 이겨 복권됐다(8번 슬라이드).</a:t>
            </a:r>
          </a:p>
          <a:p/>
          <a:p>
            <a:r>
              <a:t>[수치 확인]</a:t>
            </a:r>
          </a:p>
          <a:p>
            <a:r>
              <a:t>2.2 h wall, 산출물 data/.b1_*, 판정 data/.b1_gate_summary.json. 분할은 얼린 W = 2 스윕</a:t>
            </a:r>
          </a:p>
          <a:p>
            <a:r>
              <a:t>manifest에 seed별로 고정했고 test 격리 assert가 4 seed 전부 통과.</a:t>
            </a:r>
          </a:p>
          <a:p>
            <a:r>
              <a:t>출처: THESIS_RESULTS.md §8x, PREREGISTRATION_W2.md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슬라이드의 방어 가치]</a:t>
            </a:r>
          </a:p>
          <a:p>
            <a:r>
              <a:t>"모델을 고르고 나서 이유를 붙인 것 아닌가"에 대한 실물 반증이다. 실제로 우리는 val에서</a:t>
            </a:r>
          </a:p>
          <a:p>
            <a:r>
              <a:t>유의했던 후보를 사전 규칙 때문에 떨어뜨렸고, 그 기록을 §8y에 남겼다.</a:t>
            </a:r>
          </a:p>
          <a:p/>
          <a:p>
            <a:r>
              <a:t>[v3의 성격]</a:t>
            </a:r>
          </a:p>
          <a:p>
            <a:r>
              <a:t>iter009의 관측마스킹 attention을 시퀀스 프레임으로 옮긴 것(각 타겟 경로가 자기 과거의</a:t>
            </a:r>
          </a:p>
          <a:p>
            <a:r>
              <a:t>신선한 관측 스텝들에만 attend, shifted mask·strict lower-triangular). 작지만 일관되게</a:t>
            </a:r>
          </a:p>
          <a:p>
            <a:r>
              <a:t>양수인 실제 메커니즘이므로 폐기가 아니라 "B.4 인접 스케일링 질문"으로 남겼다.</a:t>
            </a:r>
          </a:p>
          <a:p/>
          <a:p>
            <a:r>
              <a:t>[백본 구조의 검증 가능한 주장]</a:t>
            </a:r>
          </a:p>
          <a:p>
            <a:r>
              <a:t>빠른 채널 15개를 어떻게 섭동해도 V_rot 출력이 bit-identical이다(seq_v2·b3k8·윈도 대조군</a:t>
            </a:r>
          </a:p>
          <a:p>
            <a:r>
              <a:t>모두 같은 시험 통과). 라우팅은 학습된 것이 아니라 구조다.</a:t>
            </a:r>
          </a:p>
          <a:p/>
          <a:p>
            <a:r>
              <a:t>[학습]</a:t>
            </a:r>
          </a:p>
          <a:p>
            <a:r>
              <a:t>AdamW 1e-3, batch 16 세그먼트, val masked MSE 조기 종료(patience 6, 상한 30; 확증 run은</a:t>
            </a:r>
          </a:p>
          <a:p>
            <a:r>
              <a:t>14–25 epoch에서 종료).</a:t>
            </a:r>
          </a:p>
          <a:p>
            <a:r>
              <a:t>출처: THESIS_RESULTS.md §8y, outline_ko_v2.tex §3.1·§12.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[사다리의 요점]</a:t>
            </a:r>
          </a:p>
          <a:p>
            <a:r>
              <a:t>같은 (file, row) 집합·같은 per-target mask에서 8개 팔을 채점한다. 보간은 타겟 자기 값을</a:t>
            </a:r>
          </a:p>
          <a:p>
            <a:r>
              <a:t>읽지 않고 세그먼트 경계를 넘지 않으며, 경계 밖 이웃이 필요하면 persistence로 폴백한다(PR2).</a:t>
            </a:r>
          </a:p>
          <a:p/>
          <a:p>
            <a:r>
              <a:t>[인과 GP를 새로 만든 이유]</a:t>
            </a:r>
          </a:p>
          <a:p>
            <a:r>
              <a:t>§8p에서 오프라인 GP가 최강 오프라인 팔이고 모델과 동률임이 드러났다. 배치 주장을</a:t>
            </a:r>
          </a:p>
          <a:p>
            <a:r>
              <a:t>persistence 기준으로 말하는 것은 너무 관대하다 — 그래서 미래 이웃을 제거한 인과 GP를</a:t>
            </a:r>
          </a:p>
          <a:p>
            <a:r>
              <a:t>사다리의 최상단 배치 가능 팔로 세우고, 그 기준에서 판정한다. NaN 조건을 ar_local과 동일하게</a:t>
            </a:r>
          </a:p>
          <a:p>
            <a:r>
              <a:t>유지해 채점 모집단이 바뀌지 않도록 구조적으로 보장했다(기존 키 bit-identical 검증).</a:t>
            </a:r>
          </a:p>
          <a:p/>
          <a:p>
            <a:r>
              <a:t>[AR이 왜 이렇게 나쁜가]</a:t>
            </a:r>
          </a:p>
          <a:p>
            <a:r>
              <a:t>국소 AR은 불규칙 격자에서 발산에 가까운 외삽을 한다. 사다리에 남기는 이유는 "인과 시계열</a:t>
            </a:r>
          </a:p>
          <a:p>
            <a:r>
              <a:t>모형 대표"라는 자리를 비워두지 않기 위해서다.</a:t>
            </a:r>
          </a:p>
          <a:p>
            <a:r>
              <a:t>출처: outline_ko_v2.tex §5.1, main_ko.tex §6.1.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[정확한 CI]</a:t>
            </a:r>
          </a:p>
          <a:p>
            <a:r>
              <a:t>컷: +0.174 [+0.097,+0.236] / +0.248 [+0.188,+0.295] / +0.257 [+0.199,+0.302] /</a:t>
            </a:r>
          </a:p>
          <a:p>
            <a:r>
              <a:t>+0.264 [+0.188,+0.320]. 포함: +0.225 [+0.109,+0.293] / +0.238 [+0.153,+0.302] /</a:t>
            </a:r>
          </a:p>
          <a:p>
            <a:r>
              <a:t>+0.292 [+0.232,+0.344] / +0.316 [+0.186,+0.392].</a:t>
            </a:r>
          </a:p>
          <a:p>
            <a:r>
              <a:t>V_rot 컷: +0.390 [+0.077,+0.591]* / +0.183 [-0.028,+0.280] / +0.135 [-0.358,+0.269] /</a:t>
            </a:r>
          </a:p>
          <a:p>
            <a:r>
              <a:t>+0.305 [-0.049,+0.437]. 포함: +0.384* / +0.195* / +0.132 / +0.304.</a:t>
            </a:r>
          </a:p>
          <a:p/>
          <a:p>
            <a:r>
              <a:t>[간극 슬라이드의 핵심 문장]</a:t>
            </a:r>
          </a:p>
          <a:p>
            <a:r>
              <a:t>"비인접 영역(Δt &gt; 15 ms)에서도 미래를 쓰는 PCHIP을 두 모집단 모두에서 이긴다."</a:t>
            </a:r>
          </a:p>
          <a:p>
            <a:r>
              <a:t>&gt; 45 ms가 포함에서 동률인 이유는 429행/101 방전 규모에서 스파이크 앵커 몇 행이 층 전체를</a:t>
            </a:r>
          </a:p>
          <a:p>
            <a:r>
              <a:t>지배할 수 있기 때문이며, 그것을 그대로 조건부로 보고한다.</a:t>
            </a:r>
          </a:p>
          <a:p/>
          <a:p>
            <a:r>
              <a:t>[V_rot &gt; 15 ms를 반드시 말할 것]</a:t>
            </a:r>
          </a:p>
          <a:p>
            <a:r>
              <a:t>전역 동률만 말하면 "회전은 아무것도 안 된다"로 오해된다. 보간이 가장 어려운 영역에서는</a:t>
            </a:r>
          </a:p>
          <a:p>
            <a:r>
              <a:t>두 모집단 모두 PCHIP을 이긴다 — 이것이 논문의 유일한 V_rot 무조건부 양성이다.</a:t>
            </a:r>
          </a:p>
          <a:p>
            <a:r>
              <a:t>출처: outline_ko_v2.tex §5.2·§5.4, THESIS_RESULTS.md 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슬라이드가 이전 덱과 가장 크게 달라진 곳]</a:t>
            </a:r>
          </a:p>
          <a:p>
            <a:r>
              <a:t>W = 4 초고에서는 두 스트레스가 오프라인 우위를 죽였다(MNAR 1/4, 캠페인 0/4). 확정</a:t>
            </a:r>
          </a:p>
          <a:p>
            <a:r>
              <a:t>프로토콜의 백본은 둘 다 통과한다. 단, 윈도 대조군은 여전히 캠페인에서 붕괴하며 그것을</a:t>
            </a:r>
          </a:p>
          <a:p>
            <a:r>
              <a:t>같은 슬라이드에 함께 싣는다 — 달라진 것은 프로토콜이 아니라 모델이라는 것이 요점이다.</a:t>
            </a:r>
          </a:p>
          <a:p/>
          <a:p>
            <a:r>
              <a:t>[MNAR 방법]</a:t>
            </a:r>
          </a:p>
          <a:p>
            <a:r>
              <a:t>관측·결측 양쪽에서 계산 가능한 공변량으로 사후 층화하고 결측 행의 층 분포로 재가중한다.</a:t>
            </a:r>
          </a:p>
          <a:p>
            <a:r>
              <a:t>층 커버리지 T_i 0.99–1.00, V_rot 0.73–0.76. 가정(층 내 교환 가능성)은 명시한다.</a:t>
            </a:r>
          </a:p>
          <a:p>
            <a:r>
              <a:t>재가중 CI가 넓은 이유는 &gt; 45 ms 층이 얇기 때문이다.</a:t>
            </a:r>
          </a:p>
          <a:p/>
          <a:p>
            <a:r>
              <a:t>[캠페인의 남는 주의 — 먼저 말할 것]</a:t>
            </a:r>
          </a:p>
          <a:p>
            <a:r>
              <a:t>분할은 하나(97 파일의 시간 블록)이고 반복은 초기화 4개다. 컷 seq_v2 run 2/4가 30-epoch</a:t>
            </a:r>
          </a:p>
          <a:p>
            <a:r>
              <a:t>상한에서 종료됐다. shot별 표준화는 현재 오프라인 형태이며 배치 가능한 인과 running 형태</a:t>
            </a:r>
          </a:p>
          <a:p>
            <a:r>
              <a:t>(EWMA)는 미측정이다.</a:t>
            </a:r>
          </a:p>
          <a:p>
            <a:r>
              <a:t>출처: outline_ko_v2.tex §6.1·§6.2, THESIS_RESULTS.md 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번째 행이 이 슬라이드의 진짜 발견]</a:t>
            </a:r>
          </a:p>
          <a:p>
            <a:r>
              <a:t>"p100만 쓰면 되지 않나"에 대한 측정된 답이다. 포함 모집단에서 이력-전용(빠른 진단 제거)</a:t>
            </a:r>
          </a:p>
          <a:p>
            <a:r>
              <a:t>모델조차 PCHIP를 +0.15~+0.23 이긴다 — 보간의 앵커가 스파이크라서 학습된 모델이 그것을</a:t>
            </a:r>
          </a:p>
          <a:p>
            <a:r>
              <a:t>할인할 수 있기 때문이다. 즉 p100 마진의 일부는 "빠른 진단이 나르는 정보"가 아니라</a:t>
            </a:r>
          </a:p>
          <a:p>
            <a:r>
              <a:t>"스파이크에 강건함"이다. 빠른 진단의 기여를 분리하는 모집단은 컷이다.</a:t>
            </a:r>
          </a:p>
          <a:p/>
          <a:p>
            <a:r>
              <a:t>[재확인된 두 라우팅 사실 — held-free, W = 2, 두 모집단]</a:t>
            </a:r>
          </a:p>
          <a:p>
            <a:r>
              <a:t>① 빠른 채널을 0으로 만들어도 V_rot 출력이 bit-identical → 라우팅은 학습이 아니라 구조.</a:t>
            </a:r>
          </a:p>
          <a:p>
            <a:r>
              <a:t>② 이력을 없애면 두 타겟이 모두 붕괴(skill -1~-8) → 100 Hz 진단만으로는 CES 앵커 없이</a:t>
            </a:r>
          </a:p>
          <a:p>
            <a:r>
              <a:t>   어느 타겟도 예측되지 않는다.</a:t>
            </a:r>
          </a:p>
          <a:p/>
          <a:p>
            <a:r>
              <a:t>[물리 근거]</a:t>
            </a:r>
          </a:p>
          <a:p>
            <a:r>
              <a:t>T_i 경로 = 충돌성 e–i 결합(τ_ei ∝ T_e^1.5/n_e) → ECEI(T_e)·BES(n_e)가 정보를 나른다.</a:t>
            </a:r>
          </a:p>
          <a:p>
            <a:r>
              <a:t>V_rot 경로 부재 = NBI 토크 미관측(T_e~V_rot r = +0.024, p = 0.58) + Mirnov 앨리어싱.</a:t>
            </a:r>
          </a:p>
          <a:p>
            <a:r>
              <a:t>출처: outline_ko_v2.tex §7, THESIS_RESULTS.md §8ab-8.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[두 문장 요약]</a:t>
            </a:r>
          </a:p>
          <a:p>
            <a:r>
              <a:t>① 컷 모집단에서 백본의 T_i skill 전부가 "persistence + 8개의 유계 수"로 압축된다.</a:t>
            </a:r>
          </a:p>
          <a:p>
            <a:r>
              <a:t>② 26배 폭 스윕이 평평하다. 두 사실을 합치면 상한은 추정기 용량이 아니라 정보다.</a:t>
            </a:r>
          </a:p>
          <a:p/>
          <a:p>
            <a:r>
              <a:t>[정확한 paired 수치]</a:t>
            </a:r>
          </a:p>
          <a:p>
            <a:r>
              <a:t>b3 - seq_v2 (컷): -0.009 / -0.005 / +0.026 / -0.004 → 평균 +0.002, PR4 4/4, 인과 GP 4/4.</a:t>
            </a:r>
          </a:p>
          <a:p>
            <a:r>
              <a:t>포함: -0.16~-0.21, 4/4 유의, 윈도 대조군보다도 3/4 아래.</a:t>
            </a:r>
          </a:p>
          <a:p>
            <a:r>
              <a:t>anchor+Δ는 W = 2에서 persistence로 붕괴한다(기울기 항이 관측 2행을 요구하기 때문).</a:t>
            </a:r>
          </a:p>
          <a:p/>
          <a:p>
            <a:r>
              <a:t>[해석 가능성 주장의 정확한 형태 — 과장 금지]</a:t>
            </a:r>
          </a:p>
          <a:p>
            <a:r>
              <a:t>"1,258 파라미터가 마진의 31.5%를 회수한다"(W = 4 시대 문장)는 폐기됐다. 지금의 문장은</a:t>
            </a:r>
          </a:p>
          <a:p>
            <a:r>
              <a:t>"21,498 파라미터의 정확 분해 모델이 컷 모집단에서 백본과 동급(+0.002)이고, 포함</a:t>
            </a:r>
          </a:p>
          <a:p>
            <a:r>
              <a:t>모집단에서는 -0.194로 벌어진다"이다. 조건을 반드시 붙일 것.</a:t>
            </a:r>
          </a:p>
          <a:p>
            <a:r>
              <a:t>출처: outline_ko_v2.tex §9, THESIS_RESULTS.md §8z·§8aa.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peak 층화가 ELM/천이 주장을 운반하는가]</a:t>
            </a:r>
          </a:p>
          <a:p>
            <a:r>
              <a:t>사전등록은 "과도 포착" 주장을 모집단 선택(컷/포함)이 아니라 peak 층화 분석이 나르도록</a:t>
            </a:r>
          </a:p>
          <a:p>
            <a:r>
              <a:t>정해 두었다. 그래서 8/8 PASS라는 결과가 모집단 논쟁과 독립적으로 성립한다.</a:t>
            </a:r>
          </a:p>
          <a:p/>
          <a:p>
            <a:r>
              <a:t>[층의 정의]</a:t>
            </a:r>
          </a:p>
          <a:p>
            <a:r>
              <a:t>입력 전용 활동도 프록시(빠른 진단의 국소 변동)로 층을 나눈다. 타겟 값을 사용하지 않으므로</a:t>
            </a:r>
          </a:p>
          <a:p>
            <a:r>
              <a:t>"결과를 보고 유리한 구간을 골랐다"는 반박이 구조적으로 차단된다.</a:t>
            </a:r>
          </a:p>
          <a:p/>
          <a:p>
            <a:r>
              <a:t>[V_rot 해석]</a:t>
            </a:r>
          </a:p>
          <a:p>
            <a:r>
              <a:t>전역 동률 + peak 양수 + 본류 약 0의 조합은 "회전 정보가 전혀 없다"가 아니라 "이력이 나르는</a:t>
            </a:r>
          </a:p>
          <a:p>
            <a:r>
              <a:t>회전 정보는 활동 구간에서만 보간을 넘는다"는 뜻이다. 여기에 Δt &gt; 15 ms의 무조건부 양성을</a:t>
            </a:r>
          </a:p>
          <a:p>
            <a:r>
              <a:t>더하면 V_rot 서사가 완결된다.</a:t>
            </a:r>
          </a:p>
          <a:p>
            <a:r>
              <a:t>출처: outline_ko_v2.tex §10, THESIS_RESULTS.md 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[사례를 쓰는 방식]</a:t>
            </a:r>
          </a:p>
          <a:p>
            <a:r>
              <a:t>"이 그림이 증거다"라고 말하지 않는다. 통계 판정은 peak 층화(8/8 PASS)와 간극 층화가</a:t>
            </a:r>
          </a:p>
          <a:p>
            <a:r>
              <a:t>운반하고, 사례는 그 판정이 시간 축에서 어떻게 보이는지를 보여줄 뿐이다. 심사에서</a:t>
            </a:r>
          </a:p>
          <a:p>
            <a:r>
              <a:t>"체리피킹 아닌가"가 나오면 이 순서로 답한다.</a:t>
            </a:r>
          </a:p>
          <a:p/>
          <a:p>
            <a:r>
              <a:t>[이 그림이 W = 4 시대 그림과 다른 점]</a:t>
            </a:r>
          </a:p>
          <a:p>
            <a:r>
              <a:t>fig_transient_31815.png(구 윈도 모델, W = 4)은 폐기됐다. 여기 쓰는 것은</a:t>
            </a:r>
          </a:p>
          <a:p>
            <a:r>
              <a:t>fig_transient_seq_31815.png — 확정 프로토콜의 백본 seq_v2가 낸 예측이다.</a:t>
            </a:r>
          </a:p>
          <a:p>
            <a:r>
              <a:t>같은 계열의 두 번째 방전 그림(#30842)도 있으나 이 덱에는 넣지 않았다.</a:t>
            </a:r>
          </a:p>
          <a:p>
            <a:r>
              <a:t>출처: docs/presentation/figures/fig_transient_seq_31815.png (§8ab 재생성).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[감사를 방어적으로 말하지 말 것 — 신뢰를 얻는 지점이다]</a:t>
            </a:r>
          </a:p>
          <a:p>
            <a:r>
              <a:t>두 감사 모두 우리가 발견했고, 전수 정량화했고, 프로토콜로 강제했다.</a:t>
            </a:r>
          </a:p>
          <a:p/>
          <a:p>
            <a:r>
              <a:t>[유지값의 결과]</a:t>
            </a:r>
          </a:p>
          <a:p>
            <a:r>
              <a:t>평가에서 제외하면 V_rot RMSE가 정직하게 올라간다. 학습에서도 제거해야 한다는 것은</a:t>
            </a:r>
          </a:p>
          <a:p>
            <a:r>
              <a:t>4-seed paired가 단일 seed A/B의 "무해" 판정을 뒤집어 확인했다(§8c). forward-fill이</a:t>
            </a:r>
          </a:p>
          <a:p>
            <a:r>
              <a:t>"이력 복사가 최적"이라고 가르치고 있었다.</a:t>
            </a:r>
          </a:p>
          <a:p/>
          <a:p>
            <a:r>
              <a:t>[스파이크 구조 감사(§8ab 말미)의 정확한 숫자]</a:t>
            </a:r>
          </a:p>
          <a:p>
            <a:r>
              <a:t>1,197행 = 951 run / 274 방전, 단일행 813(85%), 2–4행 121 run, ≥5행 17 run(최대 15),</a:t>
            </a:r>
          </a:p>
          <a:p>
            <a:r>
              <a:t>고립 run 70%, run 피크 중앙값 = 이웃 평균의 13× (IQR 6–26×).</a:t>
            </a:r>
          </a:p>
          <a:p>
            <a:r>
              <a:t>일방향성: 225,580행 기준 상향 ≥2× 3,845 · 하향 ≤½× 4,965, 컷 제거분 731 = 19%.</a:t>
            </a:r>
          </a:p>
          <a:p/>
          <a:p>
            <a:r>
              <a:t>[V_rot 스파이크가 왜 b3k8 논쟁과 이어지는가]</a:t>
            </a:r>
          </a:p>
          <a:p>
            <a:r>
              <a:t>TEST 분할마다 0–4행의 스파이크 앵커가 b3의 V_rot SSE의 28–72%를 나른다. 그래서 anchored</a:t>
            </a:r>
          </a:p>
          <a:p>
            <a:r>
              <a:t>비교에는 항상 SSE 비중을 병기하라는 결정이 붙었다.</a:t>
            </a:r>
          </a:p>
          <a:p>
            <a:r>
              <a:t>출처: THESIS_RESULTS.md §8ab, outline_ko_v2.tex §2.5·§2.6.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[지연 측정의 조건 — 반드시 함께 말할 것]</a:t>
            </a:r>
          </a:p>
          <a:p>
            <a:r>
              <a:t>유휴 노트북급 머신, 워밍업 후 1,000회, 배치 1, 은닉 상태 이월. 전원 상태에 따라 절대값이</a:t>
            </a:r>
          </a:p>
          <a:p>
            <a:r>
              <a:t>최대 2배 흔들리지만 arm 사이의 순서는 불변이다. 그래서 "1.05 ms"를 절대 성능이 아니라</a:t>
            </a:r>
          </a:p>
          <a:p>
            <a:r>
              <a:t>"예산의 16%"로 말한다.</a:t>
            </a:r>
          </a:p>
          <a:p/>
          <a:p>
            <a:r>
              <a:t>[윈도 대조군과의 대비가 왜 의미 있나]</a:t>
            </a:r>
          </a:p>
          <a:p>
            <a:r>
              <a:t>윈도 모델은 배치 1에서 오히려 느리고 꼬리가 무겁다(p99 18.9 ms &gt; 10 ms 예산). 시퀀스</a:t>
            </a:r>
          </a:p>
          <a:p>
            <a:r>
              <a:t>프레이밍은 skill뿐 아니라 배치 특성에서도 유리하다.</a:t>
            </a:r>
          </a:p>
          <a:p/>
          <a:p>
            <a:r>
              <a:t>[conformal의 공정성]</a:t>
            </a:r>
          </a:p>
          <a:p>
            <a:r>
              <a:t>동일 절차(split conformal, 같은 val 교정 집합)를 PCHIP·persistence에도 적용한 뒤 Winkler</a:t>
            </a:r>
          </a:p>
          <a:p>
            <a:r>
              <a:t>점수로 비교한다. 넓은 구간이 자동으로 이기지 않도록 하는 지표다 — 포함 모집단에서 모델</a:t>
            </a:r>
          </a:p>
          <a:p>
            <a:r>
              <a:t>구간이 더 넓은데도 점수가 좋은 이유를 그 자리에서 설명할 수 있어야 한다.</a:t>
            </a:r>
          </a:p>
          <a:p>
            <a:r>
              <a:t>출처: outline_ko_v2.tex §13, THESIS_RESULTS.md 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레버의 공통점]</a:t>
            </a:r>
          </a:p>
          <a:p>
            <a:r>
              <a:t>전부 데이터 레버다. B.4가 크기 축을 닫았고 B.3이 21k로도 충분함을 보였으므로, 남은 개선은</a:t>
            </a:r>
          </a:p>
          <a:p>
            <a:r>
              <a:t>모델이 아니라 입력에서 온다. 이 문장이 결론의 마지막 축이다.</a:t>
            </a:r>
          </a:p>
          <a:p/>
          <a:p>
            <a:r>
              <a:t>[Mirnov를 정직하게 말하는 법]</a:t>
            </a:r>
          </a:p>
          <a:p>
            <a:r>
              <a:t>"Mirnov가 잡음이라 뺐다"가 아니라 "전처리가 정보를 파괴했음을 측정으로 고발했다"이다.</a:t>
            </a:r>
          </a:p>
          <a:p>
            <a:r>
              <a:t>파생 특징 4종(적분·PCHIP 적분·|MC|·이동 RMS)은 4-seed paired에서 전부 무효였고, 수리는</a:t>
            </a:r>
          </a:p>
          <a:p>
            <a:r>
              <a:t>상류(원 kHz 스트림)에 있다. B.6은 특징 테이블이 도착하면 사전등록 §7 규칙에 따라</a:t>
            </a:r>
          </a:p>
          <a:p>
            <a:r>
              <a:t>파일럿 → 확대로 진행한다.</a:t>
            </a:r>
          </a:p>
          <a:p/>
          <a:p>
            <a:r>
              <a:t>[한계를 먼저 말하는 이유]</a:t>
            </a:r>
          </a:p>
          <a:p>
            <a:r>
              <a:t>심사에서 한계를 상대가 먼저 지적하면 방어가 되고, 우리가 먼저 말하면 프로토콜의 일부가</a:t>
            </a:r>
          </a:p>
          <a:p>
            <a:r>
              <a:t>된다. 특히 캠페인 †(한 시간 블록)와 conformal marginal은 스스로 먼저 말할 것.</a:t>
            </a:r>
          </a:p>
          <a:p>
            <a:r>
              <a:t>출처: outline_ko_v2.tex §14·§15, THESIS_RESULTS.md 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[Q1 답변 스크립트]</a:t>
            </a:r>
          </a:p>
          <a:p>
            <a:r>
              <a:t>"p100만 쓰면 우리 결과가 더 좋아 보입니다(+0.268 vs +0.236). 그런데 절제를 돌려 보니</a:t>
            </a:r>
          </a:p>
          <a:p>
            <a:r>
              <a:t>포함 모집단에서는 빠른 진단을 전부 끈 이력-전용 모델도 PCHIP을 +0.15~+0.23 이깁니다.</a:t>
            </a:r>
          </a:p>
          <a:p>
            <a:r>
              <a:t>그 마진의 상당 부분은 빠른 진단 정보가 아니라 보간 앵커가 오염돼 있다는 사실입니다.</a:t>
            </a:r>
          </a:p>
          <a:p>
            <a:r>
              <a:t>빠른 진단의 기여를 분리하는 모집단은 컷이고, 배치된 시스템이 실제로 만나는 모집단은</a:t>
            </a:r>
          </a:p>
          <a:p>
            <a:r>
              <a:t>포함입니다. 그래서 둘 다 1차로 두고, 무조건부는 둘 다 성립할 때만 씁니다."</a:t>
            </a:r>
          </a:p>
          <a:p/>
          <a:p>
            <a:r>
              <a:t>[Q2에서 절대 하지 말 것]</a:t>
            </a:r>
          </a:p>
          <a:p>
            <a:r>
              <a:t>컷을 정당화하려고 방어적으로 길게 말하는 것. 일방향성을 먼저 인정하고, 품질 메타데이터가</a:t>
            </a:r>
          </a:p>
          <a:p>
            <a:r>
              <a:t>오면 대체된다는 후속을 지목하는 순서가 강하다.</a:t>
            </a:r>
          </a:p>
          <a:p/>
          <a:p>
            <a:r>
              <a:t>[Q3 보강]</a:t>
            </a:r>
          </a:p>
          <a:p>
            <a:r>
              <a:t>W = 4는 이전 초고의 기본값이었고, 그것이 정당화되지 않는다는 것을 우리가 먼저 보고했다</a:t>
            </a:r>
          </a:p>
          <a:p>
            <a:r>
              <a:t>(§8f). 이 재실험 자체가 그 보고의 결과다.</a:t>
            </a:r>
          </a:p>
          <a:p/>
          <a:p>
            <a:r>
              <a:t>[Q4 보강]</a:t>
            </a:r>
          </a:p>
          <a:p>
            <a:r>
              <a:t>"in-domain"은 정확도 한계가 아니라 커버리지 한계다. 이 구분을 흐리지 말 것.</a:t>
            </a:r>
          </a:p>
          <a:p>
            <a:r>
              <a:t>출처: THESIS_RESULTS.md §8ab-8·§8ab-9, outline_ko_v2.tex §6.1·§8·§11.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[Q5 보강 — 관문의 대조군]</a:t>
            </a:r>
          </a:p>
          <a:p>
            <a:r>
              <a:t>감사 (B)-4에 따라 대조군을 W = 4 계열에서 W = 2 계열로 바꾸고, 컷 도입이 모집단을</a:t>
            </a:r>
          </a:p>
          <a:p>
            <a:r>
              <a:t>바꾸므로 양쪽을 재학습했다. "유리한 대조군을 골랐다"는 반박을 사전에 차단한 부분이다.</a:t>
            </a:r>
          </a:p>
          <a:p/>
          <a:p>
            <a:r>
              <a:t>[Q6 보강 — 이 답변의 태도]</a:t>
            </a:r>
          </a:p>
          <a:p>
            <a:r>
              <a:t>후보를 떨어뜨린 것을 자랑하듯 말하지 말고, 규칙이 있었기 때문에 가능했다는 순서로 말한다.</a:t>
            </a:r>
          </a:p>
          <a:p>
            <a:r>
              <a:t>"val에서 2/2 유의였습니다. 그래서 TEST에 bar를 둔 것입니다."</a:t>
            </a:r>
          </a:p>
          <a:p/>
          <a:p>
            <a:r>
              <a:t>[Q7 보강]</a:t>
            </a:r>
          </a:p>
          <a:p>
            <a:r>
              <a:t>숫자를 정확히: b3 - seq_v2 컷 -0.009/-0.005/+0.026/-0.004(평균 +0.002), 포함 -0.16~-0.21.</a:t>
            </a:r>
          </a:p>
          <a:p>
            <a:r>
              <a:t>b3 - anchor는 두 모집단 4/4 유의(컷 +0.35~+0.42, 포함 +0.29~+0.34)이므로 "단이 무너진</a:t>
            </a:r>
          </a:p>
          <a:p>
            <a:r>
              <a:t>것"이 아니다.</a:t>
            </a:r>
          </a:p>
          <a:p/>
          <a:p>
            <a:r>
              <a:t>[Q8 보강 — probe로 이어 붙이기]</a:t>
            </a:r>
          </a:p>
          <a:p>
            <a:r>
              <a:t>b3의 latent은 직전 관측 T_i(R² 0.47–0.75)와 ECEI T_e 프록시(0.31–0.48)를 분산 부호화하고,</a:t>
            </a:r>
          </a:p>
          <a:p>
            <a:r>
              <a:t>보정 항이 예측 분산의 25–39%를 설명한다. 즉 백본이 배운 것의 정체가 해석 가능하다.</a:t>
            </a:r>
          </a:p>
          <a:p>
            <a:r>
              <a:t>출처: THESIS_RESULTS.md §8x·§8y·§8z·§8aa.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[Q9 — V_rot 답변의 태도]</a:t>
            </a:r>
          </a:p>
          <a:p>
            <a:r>
              <a:t>"실패한 타겟이 아니라, 의미 있는 비교가 제한된 타겟"이라고 말한다. 물리로 사전에 예측된</a:t>
            </a:r>
          </a:p>
          <a:p>
            <a:r>
              <a:t>비대칭이고, 절제가 기전을 확인했으며, 데이터 레버(NBI 토크·kHz Mirnov)를 지목한다.</a:t>
            </a:r>
          </a:p>
          <a:p>
            <a:r>
              <a:t>반증 가능한 형태로 말할 것: "토크가 들어오면 학습 가능해야 한다 — DIII-D의 액추에이터</a:t>
            </a:r>
          </a:p>
          <a:p>
            <a:r>
              <a:t>조건부 예보가 양성 대조군이다."</a:t>
            </a:r>
          </a:p>
          <a:p/>
          <a:p>
            <a:r>
              <a:t>[Q10 — 절대 하면 안 되는 말]</a:t>
            </a:r>
          </a:p>
          <a:p>
            <a:r>
              <a:t>"프로토콜을 바꿔서 좋아졌다". 사실이 아니다. 같은 캠페인 분할에서 윈도 대조군의 붕괴는</a:t>
            </a:r>
          </a:p>
          <a:p>
            <a:r>
              <a:t>그대로 재현되며, 달라진 것은 모델(도달거리 + shot별 표준화)이다. 그리고 캠페인 †</a:t>
            </a:r>
          </a:p>
          <a:p>
            <a:r>
              <a:t>(한 시간 블록 × 초기화 4개, 컷 run 2/4 상한 종료)를 스스로 먼저 붙일 것.</a:t>
            </a:r>
          </a:p>
          <a:p/>
          <a:p>
            <a:r>
              <a:t>[Q11 보강]</a:t>
            </a:r>
          </a:p>
          <a:p>
            <a:r>
              <a:t>GP 팔은 §8p에서 사후에 실측했고 그 결과가 불리했음에도 그대로 보고했다는 사실이 이</a:t>
            </a:r>
          </a:p>
          <a:p>
            <a:r>
              <a:t>답변의 힘이다. "기준선이 약했다는 비판을 측정으로 선제 차단했고, 결과를 그대로 싣는다."</a:t>
            </a:r>
          </a:p>
          <a:p/>
          <a:p>
            <a:r>
              <a:t>[Q12 보강 — 실물을 열어 보여줄 수 있어야 함]</a:t>
            </a:r>
          </a:p>
          <a:p>
            <a:r>
              <a:t>질문이 나오면 PREREGISTRATION_W2.md의 §4(관문 4조건)와 §6(v3 승격 규칙)을 실제로 열어</a:t>
            </a:r>
          </a:p>
          <a:p>
            <a:r>
              <a:t>"이 문장이 TEST 채점 전에 커밋됐다"를 커밋 시각과 함께 보여주는 것이 가장 강한 답이다.</a:t>
            </a:r>
          </a:p>
          <a:p>
            <a:r>
              <a:t>출처: PREREGISTRATION_W2.md §3·§4·§6, THESIS_RESULTS.md §8w·§8ab.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[마무리 대사 예시]</a:t>
            </a:r>
          </a:p>
          <a:p>
            <a:r>
              <a:t>"관측 지점에서 이온온도는 미래를 쓰는 보간을 두 모집단·네 분할 전부에서 유의하게 이기고,</a:t>
            </a:r>
          </a:p>
          <a:p>
            <a:r>
              <a:t>최강 오프라인 평활기와는 동률입니다. 배치에 관한 주장은 이제 더 좁지 않습니다 — 실제</a:t>
            </a:r>
          </a:p>
          <a:p>
            <a:r>
              <a:t>결측 지점으로 재가중해도, 캠페인을 시간으로 갈라도, 백본은 미래를 쓰는 보간과 최강 인과</a:t>
            </a:r>
          </a:p>
          <a:p>
            <a:r>
              <a:t>방법을 모두 이깁니다. 회전의 동률은 실패가 아니라 물리로 예측되고 절제로 확인된 발견이며,</a:t>
            </a:r>
          </a:p>
          <a:p>
            <a:r>
              <a:t>그 발견이 다음 데이터 과제를 지목합니다. 작동하지 않는 지점도 전부 판정표에 있고, 각각</a:t>
            </a:r>
          </a:p>
          <a:p>
            <a:r>
              <a:t>그것을 뒤집을 측정과 함께 있습니다."</a:t>
            </a:r>
          </a:p>
          <a:p/>
          <a:p>
            <a:r>
              <a:t>[숫자 최종 점검 목록]</a:t>
            </a:r>
          </a:p>
          <a:p>
            <a:r>
              <a:t>T_i vs PCHIP 컷 +0.174/+0.248/+0.257/+0.264 · 포함 +0.225/+0.238/+0.292/+0.316 ·</a:t>
            </a:r>
          </a:p>
          <a:p>
            <a:r>
              <a:t>vs 인과 GP 4/4+4/4 · V_rot 1/4·2/4 · B.1 pooled +0.081 [+0.067,+0.096] ·</a:t>
            </a:r>
          </a:p>
          <a:p>
            <a:r>
              <a:t>b3k8 +0.002 / -0.194 · 폭 스윕 ±0.008 · MNAR 도달 54–68% / 4–6% ·</a:t>
            </a:r>
          </a:p>
          <a:p>
            <a:r>
              <a:t>캠페인 seq 4/4+4/4, 윈도 2/4·0/4 · peak 8/8 · conformal 32/32 ·</a:t>
            </a:r>
          </a:p>
          <a:p>
            <a:r>
              <a:t>지연 1.05 / 1.61 ms · held 54% · 스파이크 0.53% · 값 컷 19%.</a:t>
            </a:r>
          </a:p>
          <a:p>
            <a:r>
              <a:t>전부 THESIS_RESULTS.md §8ab와 paper_numbers.json에서 재확인 가능하다.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KSTAR 희소 CES 신호의 멀티모달 나우캐스팅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BFD3EE"/>
                </a:solidFill>
                <a:latin typeface="Malgun Gothic"/>
              </a:rPr>
              <a:t>연구 종합 정리 · novelty 검증 · 예상 질문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327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BFD3EE"/>
                </a:solidFill>
                <a:latin typeface="Malgun Gothic"/>
              </a:rPr>
              <a:t>확정 프로토콜: W = 2 · held-free(학습·평가) · 파일당 500 · 두 모집단 공동 1차(컷 / 포함) · 인과 GP 기준선 · 백본 seq_v2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8FA8C8"/>
                </a:solidFill>
                <a:latin typeface="Malgun Gothic"/>
              </a:rPr>
              <a:t>재실험 B.1–B.5 완료(2026-08-16)로 이전 W = 4 초고의 수치는 전부 대체됐다 — 이 덱에는 폐기된 수치가 하나도 없다.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이승상 · 서울대학교 원자핵공학과 · 2026년 8월 16일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8FA8C8"/>
                </a:solidFill>
                <a:latin typeface="Malgun Gothic"/>
              </a:rPr>
              <a:t>근거: THESIS_RESULTS.md §8v–§8ab · docs/paper/main_ko.tex · outline_ko_v2.tex · paper_numbers.json(동결 산출물 자동 수집) · experiments/PREREGISTRATION_W2.md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한 장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두 개의 주장, 두 개의 모집단 — 무조건부의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주장 1 (오프라인) — T_i는 미래를 쓰는 보간을 이긴다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컷 +0.174/+0.248/+0.257/+0.264 (4/4, 평균 +0.236),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포함 +0.225/+0.238/+0.292/+0.316 (4/4, 평균 +0.268) → 무조건부.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주장의 상한도 우리가 먼저 측정했다: 최강 오프라인 팔인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오프라인 GP와는 동률(-0.05~+0.11, 1/8 유의). 헤드라인 비교 대상은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사전등록(PR1)대로 PCHIP를 유지하고 GP는 사다리에 병기한다.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주장 2 (인과·배치) — 배치 가능한 모든 인과 방법을 이긴다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인과(past-only) GP 대비 4/4 + 4/4 (+0.08~+0.17),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 대비 4/4 + 4/4 (+0.36~+0.46).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스트레스를 모두 견딘다: 실제 결측점 재가중에서 인과 대비 8/8,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캠페인 시간 분할에서 PCHIP·인과 GP 대비 4/4 + 4/4.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온라인 가상 센서가 실제로 경쟁하는 상대가 이 사다리다.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551383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39312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49039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(2026-08-14 개정 · 08-16 유지 결정)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51376"/>
            <a:ext cx="512978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 = 관측 T_i &gt; 3 keV(피팅 실패, 1,197행 = 0.53%)를 로드 시점에 결측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처리 — 지도 타겟·이력·정규화 통계·모든 보간 앵커 4개소에 동일 적용.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포함 = 컷 없음(p100). 각 모집단 안에서 전 arm 처리가 일관된다.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무조건부 주장 = 두 모집단 모두 성립. 한쪽만이면 모집단을 명시한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조건부로만 보고한다 — 단일 헤드라인보다 엄격한 기준이다.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39312"/>
            <a:ext cx="551383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39312"/>
            <a:ext cx="91440" cy="1874519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49039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V_rot — 정직한 동률, 그리고 하나의 무조건부 양성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51376"/>
            <a:ext cx="512978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대비 PR4 1/4(컷) · 2/4(포함) → 회전 승리 주장은 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persistence 대비는 3/4 양쪽(+0.30~+0.50), 인과 GP 대비 2/4.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보간이 가장 어려운 Δt &gt; 15 ms에서는 두 모집단 모두 PCHIP를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(+0.418* / +0.432*, 130 방전) — 논문의 유일한 V_rot 무조건부 양성.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peak 층에서도 +0.54~+0.79(8/8 양수), 본류는 약 0. 비대칭은 지역적이다.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650992"/>
            <a:ext cx="1120140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두 주장을 분리하는 이유: 오프라인 우위는 관측 모집단·무작위 분할의 성질이고, 배치에 관한 문장은 인과 사다리 위에서만 뜻이 있다. 확정 프로토콜에서는 백본이 둘 다 통과한다.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판정표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무엇이 무조건부이고, 무엇이 모집단 조건부인가 (§8ab)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5248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판정 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1362456"/>
            <a:ext cx="2276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지위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37360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백본 T_i가 오프라인 PCHIP를 이김 (PR4)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73736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73736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1737360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021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11680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084832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백본 T_i가 인과 GP를 이김 (주장 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08483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08483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084832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3496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32304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백본 T_i가 persistence · 윈도 계열을 이김 (부호)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43230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43230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2432304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697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06624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779776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T_i 과도(peak) 층 포착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277977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277977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2779776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445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27248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T_i Δt &gt; 15 ms 통합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31272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31272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3127248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920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01568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474720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캠페인 이동 — 백본 T_i vs PCHIP · 인과 GP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747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4747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3474720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 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9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22192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conformal 구간 우위 (Winkler 32/32 셀)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38221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38221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3822192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869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096512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169664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라우팅 구조적 · 이력 필수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41696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성립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41696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성립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72600" y="4169664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무조건부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344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517136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T_i가 PCHIP를 이김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89320" y="45171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45171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72600" y="4517136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조건부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7819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791456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864608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b3k8 (21k) = 백본 T_i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9320" y="486460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+0.002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486460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-0.194*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72600" y="4864608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컷 조건부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12940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5212080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본류(peak 외) T_i / Δt &gt; 45 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521208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 · PASS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21208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2/4 · 동률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72600" y="5212080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조건부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476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" y="5486400"/>
            <a:ext cx="1120140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5559552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MNAR 재가중 T_i vs PCHIP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555955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0960" y="555955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2600" y="5559552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조건부 ‡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8243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5907024"/>
            <a:ext cx="52486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vs PCHIP (PR4)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90702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80960" y="590702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72600" y="5907024"/>
            <a:ext cx="2276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미확립 §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61718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2920" y="6199632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†  캠페인 = 한 시간 블록 × 초기화 4개.   ‡  persistence 대비는 두 모집단 4/4.   §  V_rot는 persistence 3/4 · 캠페인 4/4 · Δt &gt; 15 ms PASS(양쪽).   컷 문턱 2.5–4 keV 불민감.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재실험의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2026-08-12 방향 재정립 — W = 4 프로토콜은 우리 장부가 기소했다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폐기 근거 ① §8f 윈도 스윕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24-run 스윕의 plateau-최소 규칙이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반환하는 값은 W = 2다.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관측 하나가 두 타겟을 plateau로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올리고 이후 곡선은 평평(T_i 0.190–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0.246) — W = 4는 skill로 정당화되지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않는다. 우리가 먼저 보고했다.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2588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2588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폐기 근거 ② §8c held-free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37943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관측 V_rot의 54%가 계측 유지값이고,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이것이 평가뿐 아니라 학습도 오염한다.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held 제거 학습이 V_rot 4/4 개선.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확정 프로토콜은 held를 어디서나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제거한다 — 지도 타겟·이력·정규화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통계·모든 기준선의 보간 앵커.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2588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폐기 근거 ③ §8q 피팅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1837943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관측 T_i &gt; 3 keV 스파이크가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skill을 대략 절반으로 만든다.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재실행 전에 규칙을 고정하면 이 선택은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사후 선별이 아니다 — 그래서 컷을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사전등록하되, 배치된 시스템은 그런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행을 실제로 만나므로 포함도 1차.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20440"/>
            <a:ext cx="1120140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결정: 결과를 하나씩 기워 붙이지 않고, 단일 확정 프로토콜에서 전부 한 번에 재실행한다 — 교체되기 전의 수치는 잠정이며 인용하지 않는다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개정(2026-08-14 승상님): 포함(p100) 모집단은 민감도 행이 아니라 공동 1차. 무조건부 주장은 두 모집단 모두에서 성립해야 한다</a:t>
            </a:r>
          </a:p>
          <a:p>
            <a:pPr algn="l" lvl="2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 정직성 기록: 이 개정은 컷 체제 윈도 계열 3/4 seed의 TEST 수치가 부분 언블라인딩된 뒤 결정됐다 — 개정 방향이 기준 강화라 선택 편향은 반대로 작동한다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실행 순서: ① B.7 프로토콜 감사 → ② B.1 백본 관문(+ 인과 GP 병렬) → ③ B.2 탐색 → ④ B.3 해석가능 단 → ⑤ B.4 크기 → ⑥ B.5 전면 재채점. B.6(kHz Mirnov)은 비동기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B.7 감사(21개 제약, 무학습): 결측 원장 · MC lag-1 자기상관 · T_e/NBI 프로브가 641파일에서 정확히 재현, 관측 T_i p99 = 2,089 eV 재현, 0.5 s 세그먼트 문턱은 쌍봉 분포의 골짜기(247k 간격 중 82개만 (0.1, 0.5) 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(B) 교정 4건 전부 실행 전 사전등록 — 컷을 로드 시점 결측 처리로 구현(커밋 3598760, 캐시 서명 v5, 35/35 테스트 통과), 관문 대조군을 W = 4 계열에서 W = 2 계열로 교체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●  §8h 감사 서사는 한 줄로만: 수기 전사가 논문·산출물 드리프트를 만든 적이 있어, 이후 모든 수치는 얼린 산출물에서 자동 수집된다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프로토콜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사전등록 · TEST 동결 · shot 군집 · 두 모집단 · 인과 GP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공통 고정 상수 (실행 전 커밋, 배치 전체 불변)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 = 2 (§8f plateau-최소 규칙) · held-free 학습·평가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T_i &gt; 3 keV 로드 시점 결측 처리(전 arm 자동 동일) · 파일당 500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파일(shot) 단위 분할 상속 + TEST 격리 assert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10 epoch · batch 512 · lr 1e-3 AdamW · T_i 음수 소프트 페널티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train-파일 전용 정규화(타겟 NaN-aware), seq_v2는 정의상 shot별 표준화 ON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라우팅(빠른 진단 차단) 유지 — B.5의 W = 2 held-free 절제로 재확인.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PR1–PR4 (기존 사전등록 계승)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  헤드라인 비교 대상 = PCHIP. 사다리 전체 병기 의무.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  보간은 모든 채점 지점에서 예측(미래 이웃 없으면 persistence 폴백),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      모집단 솎아내기 금지 + 폴백률 보고 의무.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      폴백률 T_i 0.3–0.4%, V_rot 40–44% → V_rot의 'vs PCHIP'는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      5분의 2가 사실상 'vs persistence'다.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  TEST 하한 ≥ 15 방전 · ≥ 3,000 관측 T_i (실제 96 방전).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 유의 = shot 군집 paired bootstrap 10,000회의 95% CI가 0을 배제.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76472"/>
            <a:ext cx="361188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76472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8620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TEST 동결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88536"/>
            <a:ext cx="322783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B.2 탐색의 모든 모델 선택은 val에서만.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TEST는 후보당 1회, 판정 규칙을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전에 커밋한 확증 실험에서만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B.2의 v3가 그 규율의 시험대였다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val 2/2 유의였지만 TEST 1/4로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미승격(20번 Q6).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76472"/>
            <a:ext cx="361188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76472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5424" y="388620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shot 군집이 독립 단위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4288536"/>
            <a:ext cx="322783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방전 내 인접 행은 강하게 자기상관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표본 3만 개를 독립 취급하면 CI가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가짜로 좁아진다. SE 차이를 shot으로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집계해 shot을 복원추출한다.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유효 표본 = 방전 수(T_i 약 96,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 60–66)가 검정력의 상한.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776472"/>
            <a:ext cx="361188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3776472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3" y="388620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사다리에 인과 GP 신설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3" y="4288536"/>
            <a:ext cx="322783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기존 GP에서 미래 이웃을 제거하고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과거 16 이웃만 사용(NaN 조건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채점 모집단 불변, bit-identical 검증).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이것이 최강 배치 기준선이다: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seed 42 T_i RMSE 164.3 vs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197.2 (컷).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novelty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계보 위에 서서 세 축으로 확장한다 — 부재가 아니라 확장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표현 규칙: "관련 연구가 없다"를 앞세우지 않는다 — 부재-프레임은 반례 하나에 무너지고, 확장-프레임은 계보를 인정할수록 강해진다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교차 진단 재구성·시간 조밀화는 활발한 계열이다(Diag2Diag·COMPASS 시간 초해상·EAST 결측 T_e·FusionMAE·PanoMHD·RTCAKENN·EAST XCS·KSTAR EPED) — 전부 인용하고, 그 프로그램을 이어받는다고 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87168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59689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확장 ① 타겟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999232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전자 채널(Thomson·ECE의 T_e·n_e)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또는 임의의 조밀 채널에서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희소 이온 채널(CES T_i·V_rot)로.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선행에서 CER/CES가 등장할 때는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어디까지나 입력이었고, 희소 타겟이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아니었다.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487168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487168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59689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확장 ② 매핑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999232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동시각·기억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타겟 자신의 불규칙한 과거에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조건화된 인과 추정으로.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여기서는 한 걸음 더 나아가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전체격자 인과 시퀀스 — 도달거리가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고정 윈도가 아니라 세그먼트 전체다.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487168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487168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3" y="259689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확장 ③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3" y="2999232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사전등록 기준선에 대한 타겟별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검정으로. 현직 방법(미래를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보간)을 통계 bar로 세운다.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 프로토콜이 음성을 낼 수 있다는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것 자체가 기여 — V_rot 승리를 부정했다.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6177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617720"/>
            <a:ext cx="91440" cy="14630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7274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한정은 한 문장뿐 (논문 관련연구 절 마지막 문장 그대로)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5129783"/>
            <a:ext cx="1081735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"우리가 아는 한 이 세 확장의 결합 — 희소 CXRS 이온 측정의 인과적 시간 결측 채움 — 은 아직 다뤄지지 않았으며, 우리는 이를 계열로부터의 이탈이 아니라 그 자연스러운 다음 단계로 제시한다."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가장 가까운 선행과의 대비: Diag2Diag는 CER이 입력이고 타겟은 Thomson뿐이며 명시적으로 기억이 없다 · COMPASS·EAST·FusionMAE는 전자 채널 또는 윈도 내 마스킹 복원 · RTCAKENN은 dropout 강건성이지 타겟 희소성이 아니고 보간 기준선과의 통계 비교가 없다 · EAST XCS는 같은 물리 채널의 순간 매핑 · KSTAR EPED 연구는 CES를 입력으로 쓰고 회전을 명시된 향후 과제로 남긴다.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모델 선택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B.1 백본 관문 — 사전등록 4조건을 전부 충족했다 (§8x)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09751"/>
            <a:ext cx="5943600" cy="234141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29400" y="1325880"/>
            <a:ext cx="50749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132588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435607"/>
            <a:ext cx="47091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판정 규칙 (실행 전 고정, 전부 충족 시에만 채택)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1837943"/>
            <a:ext cx="46908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① split별 init-평균 paired T_i 부호 4/4 양수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② 16-run paired 평균의 run-클러스터 bootstrap 95% CI가 0 배제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③ 예산 균등화 arm(고정 10 epoch)에서도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④ V_rot 유의 열세 run 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설계: seq_v2 16 run = 분할 seed 4 × 초기화 seed 4, 각 run은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자기 분할의 W = 2 held-free 윈도 대조군과 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29000"/>
            <a:ext cx="5074920" cy="2606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paired T_i 16/16 양수 · 13/16 개별 유의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분할별 초기화 평균 +0.129 / +0.059 / +0.078 / +0.058 (초기화 산포 ≪ 분할 산포)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E9E5B"/>
                </a:solidFill>
                <a:latin typeface="Malgun Gothic"/>
              </a:rPr>
              <a:t>–  pooled +0.081, run-클러스터 CI [+0.067, +0.096]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예산 균등화 +0.063 / +0.033 / +0.045 / +0.030 → 4/4 양수 = 예산이 아니라 아키텍처 효과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V_rot 유의 열세 0/16 (유의 우세는 8/16)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확증 4 분할의 seq - 윈도: 컷 +0.130/+0.058/+0.062/+0.044, 포함 +0.053/+0.024/+0.047/+0.029 (8/8 양수)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무엇을 사는가: 윈도 대조군은 인과 GP와 동률(1/4)이고 시퀀스 백본은 4/4+4/4 — 세그먼트 과거 전체로의 도달거리가 최강 배치 기준선을 넘게 한다. 비용은 음수(학습비 약 1/10)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모델 선택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B.2 후보는 미승격 — 주 모델은 seq_v2로 남는다 (§8y)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65413"/>
            <a:ext cx="6035040" cy="323009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720840" y="1325880"/>
            <a:ext cx="498348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20840" y="132588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1435607"/>
            <a:ext cx="4617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백본 seq_v2 (357,570 파라미터)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837943"/>
            <a:ext cx="4599432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22채널 전체격자 시퀀스 위 독립 인과 LSTM 2개.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T_i 분기(2층 160)는 전체 상태(빠른 진단 15 + 두 타겟 이월값·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신선도·flag + log Δt), V_rot 분기(1층 64)는 비-빠른 7채널만.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라벨 없는 행도 맥락으로 유지하고 희소성은 masked loss로 처리.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라우팅이 head가 아니라 인코더에서 성립한다 — 공유 상태였다면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배선을 어떻게 하든 빠른 진단이 V_rot로 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566160"/>
            <a:ext cx="498348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후보 seq v3 = v2 + 관측마스킹 인과 attention readout(396,930, 출력 사영 0-초기화 → 학습이 정확히 v2 함수에서 출발)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탐색은 val 전용(분할 42/7): paired T_i +0.024* / +0.037*, vs 인과 GP +0.170* / +0.132*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TEST 확증(규칙 사전 커밋): +0.009 / +0.013 / +0.033* / +0.020 → 4/4 양수 · 유의 1/4, 기준 ≥3/4 미달 → 미승격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val에서 2/2 유의였다는 사실이 바로 승격 bar를 TEST에 두는 이유다 — 탐색 분할 쌍이 유리했던 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부수 소득: v3가 인과 GP를 4/4로 넘고, 교차 검증에서 백본 자신이 인과 GP를 T_i 4/4 유의로 이김(+0.078/+0.133/+0.138/+0.105) → claim 2 복권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RMSE 사다리 — 정보 접근이 다른 8개 팔, 같은 행·같은 마스크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26628"/>
            <a:ext cx="5760720" cy="23076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46520" y="1325880"/>
            <a:ext cx="530352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389888"/>
            <a:ext cx="2139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arm (seed 42, 컷)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138988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T_i 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38988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km/s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78308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157.8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178308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23.6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06616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2075688"/>
            <a:ext cx="530352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14884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(W =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14884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214884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43192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51460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51460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51460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279768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2807208"/>
            <a:ext cx="530352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88036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288036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88036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31634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24612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24612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324612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352920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3538728"/>
            <a:ext cx="530352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61188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361188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361188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89496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97764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선형 보간 (오프라인)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397764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397764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26072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46520" y="4270248"/>
            <a:ext cx="530352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4343400"/>
            <a:ext cx="2139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PCHIP (오프라인)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23960" y="434340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4343400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46520" y="462648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4754880"/>
            <a:ext cx="5257800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백본은 인과 GP보다 RMSE가 T_i 4% · V_rot 18% 낮고, 오프라인 GP와는 동률(153.8 vs 157.8)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포함 모집단: seq_v2 363.0 / 23.7, PCHIP 412.4 / 30.2, 인과 GP 394.6 / 28.8, persistence 478.0 / 33.4 — 스파이크가 T_i RMSE를 두 배 이상 키우지만 순서는 불변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–  점선 위는 미래를 읽는 팔(배치 불가), 아래는 배치 가능한 팔이다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헤드라인 — T_i는 두 모집단·네 분할 전부에서 미래를 쓰는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5324"/>
            <a:ext cx="6035040" cy="25902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1325880"/>
            <a:ext cx="507492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T_i vs PCHIP — 컷 +0.174 / +0.248 / +0.257 / +0.264 (4/4, 평균 +0.236)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포함 +0.225 / +0.238 / +0.292 / +0.316 (4/4, 평균 +0.268)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8개 셀 전부 인과 GP(+0.08~+0.17)와 persistence(+0.36~+0.46)도 이긴다 → 무조건부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–  오프라인 GP와는 동률(-0.05~+0.11, 1/8 유의) — 오프라인 주장의 상한을 그대로 보고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743B"/>
                </a:solidFill>
                <a:latin typeface="Malgun Gothic"/>
              </a:rPr>
              <a:t>–  포함 수치가 더 높은 이유: 컷이 없으면 스파이크가 보간 앵커를 오염시켜 모든 arm이 PCHIP 대비 좋아 보인다 — 어느 한 모집단만 인용하지 않는 이유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V_rot: 점추정 8/8 양수이나 PR4는 1/4(컷) · 2/4(포함) → 동률로 보고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114800"/>
            <a:ext cx="507492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114800"/>
            <a:ext cx="91440" cy="19202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67144" y="4224528"/>
            <a:ext cx="47091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간극 층화 (4 분할 통합, 방전 군집) — 컷 /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144" y="4626864"/>
            <a:ext cx="469087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 ≤ 15 ms:  +0.239* / +0.299*   (n = 134,546 / 135,317)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 &gt; 15 ms:  +0.268* / +0.206*   (n = 3,422 / 3,334, 265 / 263 방전)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 &gt; 45 ms:  +0.267* / -0.004 n.s.   (429–460행, 101–104 방전)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&gt; 15 ms:  +0.418* / +0.432*   (130 방전) ← 유일한 V_rot 무조건부 양성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가장 넓은 층(V_rot &gt; 45 ms)은 14행뿐이라 채점하지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스트레스 2종 — 두 주장을 가르던 시험을 백본은 둘 다 통과한다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8677"/>
            <a:ext cx="5623560" cy="220846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206240"/>
            <a:ext cx="562356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2062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315968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캠페인(시간) 분할 — 어떤 test 방전도 train보다 앞서지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718304"/>
            <a:ext cx="523951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train 416 [30801–31991] / val 128 [32002–32310] / test 97 [32312–32751], 초기화 4개.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윈도 OFF — 컷 2/4 (+0.027 / +0.091* / -0.001 / +0.061*), 포함 0/4, 인과 GP 0/4.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윈도 ON (shot별 표준화, 컷) — 4/4 (+0.103 / +0.107 / +0.094 / +0.107): 수리 작동.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seq_v2 — 컷 +0.187 / +0.174 / +0.181 / +0.177, 포함 +0.173 / +0.202 / +0.198 / +0.184.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PCHIP 4/4+4/4, 인과 GP 4/4+4/4, seq - 윈도 8/8 유의.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 vs persistence도 seq는 4/4 양쪽 (윈도 대조군은 0/4).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98448"/>
            <a:ext cx="553212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298448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408176"/>
            <a:ext cx="51663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MNAR — 실제 결측점 분포로 재가중 (W = 2 in-domain)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1810512"/>
            <a:ext cx="5148072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 = Δt(15/25/45 ms) × 입력만의 활동 flag, 30 미만 층 기각, 가중 격자에도 컷 적용.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도달 범위(사전등록이 요구한 보고): 결측 T_i의 54–68%, V_rot의 4–6%만 도메인 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재가중 V_rot는 결측 질량의 1/20에 대한 답이라 결론을 내지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T_i vs PCHIP  컷 +0.140 / +0.164* / +0.203 / +0.283* (2/4)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               포함 +0.140* / +0.217* / +0.167* / +0.221* (4/4)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T_i vs persistence  4/4 양쪽 (+0.28~+0.44, 보정 비용 최대 0.12)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93008"/>
            <a:ext cx="5532120" cy="1280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493008"/>
            <a:ext cx="91440" cy="1280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3602736"/>
            <a:ext cx="51663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원인은 추측이 아니라 측정됐다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005072"/>
            <a:ext cx="514807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 → test 드리프트 BES 1.22σ · ECEI 0.53σ (스케일비 0.75 / 0.62)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vs CES 타겟 0.115σ (1.06) — 빠른 진단 경로가 5–11배 더 이동한다.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train-파일 전용 정규화가 캠페인 이동에서 깨지는 지점이다.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864608"/>
            <a:ext cx="5532120" cy="12161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864608"/>
            <a:ext cx="91440" cy="121615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974336"/>
            <a:ext cx="51663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어느 주장이 어디서 사는가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5376672"/>
            <a:ext cx="5148072" cy="5760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무작위 분할·관측점 —  PCHIP 4/4·4/4  ·  인과 GP 4/4·4/4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결측점 재가중 —  PCHIP 2/4·4/4  ·  persistence 4/4·4/4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캠페인 시간 분할 —  PCHIP 4/4·4/4  ·  인과 GP 4/4·4/4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정보 비대칭 — 절제가 두 모집단의 필요성까지 설명한다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35"/>
            <a:ext cx="5577840" cy="244128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3640" y="1325880"/>
            <a:ext cx="539496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절제 (평가 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389888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1389888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83080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T_i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83080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783080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084451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093976"/>
            <a:ext cx="53949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167128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T_i  no_fast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167128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167128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+0.201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468499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551176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T_i  no_history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551176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551176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2852547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862072"/>
            <a:ext cx="53949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2935224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V_rot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935224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2935224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36595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319272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 no_fast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319272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+0.000 ×4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3319272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+0.000 ×4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620643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630168"/>
            <a:ext cx="53949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703320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V_rot  no_history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703320"/>
            <a:ext cx="1682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703320"/>
            <a:ext cx="16367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004691"/>
            <a:ext cx="5394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4114800"/>
            <a:ext cx="544068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5B6670"/>
                </a:solidFill>
                <a:latin typeface="Malgun Gothic"/>
              </a:rPr>
              <a:t>–  no_fast T_i paired: 컷 -0.25*/-0.38*/-0.42*/-0.43*, 포함 -0.03*/-0.04/-0.03/-0.09*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컷에서 T_i 마진은 빠른 진단 정보로 만들어진다 — 빠른 채널을 0으로 두면 보간 아래로(-0.10~-0.18). 물리 경로는 전자–이온 충돌 결합(ECEI T_e, BES n_e)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포함에서는 이력-전용 모델도 PCHIP를 +0.15~+0.23 이기고 빠른 채널은 0.03–0.09만 더한다 → p100 마진에는 스파이크-강건성 성분이 섞여 있다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E8743B"/>
                </a:solidFill>
                <a:latin typeface="Malgun Gothic"/>
              </a:rPr>
              <a:t>–  → 두 모집단을 함께 보고하는 측정된 이유이자, 빠른 진단 기여를 분리하는 것이 컷 모집단인 이유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V_rot 정보는 전부 CES 이력 — 빠른 채널 섭동에 출력이 bit-identical(8/8). NBI 토크 미관측 + Mirnov 100 Hz 앨리어싱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복잡도 사다리와 크기 축 — 상한은 추정기가 아니라 정보다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95565"/>
            <a:ext cx="6035040" cy="26096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20840" y="1325880"/>
            <a:ext cx="49834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389888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389888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T_i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1389888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T_i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783080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persistence (0)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83080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-0.264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1783080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-0.288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084451"/>
            <a:ext cx="4983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093976"/>
            <a:ext cx="49834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167128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anchor+Δ (1,258)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67128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-0.261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167128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-0.287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2468499"/>
            <a:ext cx="4983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551176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b3k8 (21,498)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551176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+0.237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2551176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0840" y="2852547"/>
            <a:ext cx="4983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20840" y="2862072"/>
            <a:ext cx="49834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2935224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(201,258)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35224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2935224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36595"/>
            <a:ext cx="4983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319272"/>
            <a:ext cx="2093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 (357,570)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3319272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69880" y="3319272"/>
            <a:ext cx="11795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+0.268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20840" y="3620643"/>
            <a:ext cx="4983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3749039"/>
            <a:ext cx="4983480" cy="2286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●  b3k8 = persistence + 8개 유계 latent의 선형 보정(정확 분해, readout 0-초기화 → 학습이 정확히 persistence에서 출발)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800" b="0" i="0">
                <a:solidFill>
                  <a:srgbClr val="222B35"/>
                </a:solidFill>
                <a:latin typeface="Malgun Gothic"/>
              </a:rPr>
              <a:t>–  b3 - anchor: 컷 +0.35~+0.42 · 포함 +0.29~+0.34, 4/4* 양쪽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800" b="0" i="0">
                <a:solidFill>
                  <a:srgbClr val="E8743B"/>
                </a:solidFill>
                <a:latin typeface="Malgun Gothic"/>
              </a:rPr>
              <a:t>–  b3 - seq_v2: 컷 평균 +0.002(CI 전부 0 포함) = 백본 skill 전부가 유계 수 8개로 압축 / 포함 평균 -0.194(4/4*)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800" b="0" i="0">
                <a:solidFill>
                  <a:srgbClr val="5B6670"/>
                </a:solidFill>
                <a:latin typeface="Malgun Gothic"/>
              </a:rPr>
              <a:t>–  컷 조건부인 이유: 포함 test의 0.6–1.3% 행(persistence 오차 &gt; 2 keV)이 b3 T_i SSE의 73–83%(모든 arm 70–83%) — 유계 보정은 스파이크 이월값을 못 살린다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●  probe: T_i latent은 직전 관측 T_i(R² 0.47–0.75)와 ECEI T_e 프록시(0.31–0.48)를 분산 부호화, 보정은 예측 분산의 25–39%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●  B.4 폭 스윕 24/40/80/160/260 = 34k/49k/114k/358k/879k → +0.230/+0.236/+0.235/+0.236/+0.230, 160 대비 ±0.008, V_rot 불변 → 크기 축 폐쇄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우위는 고변동 구간에 집중된다 (peak 층화, TEST, seq_v2)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51202"/>
            <a:ext cx="5943600" cy="22585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629400" y="1325880"/>
            <a:ext cx="50749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132588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435607"/>
            <a:ext cx="47091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T_i — 무조건부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1837943"/>
            <a:ext cx="46908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peak 층: 컷 +0.45~+0.61, 포함 +0.62~+0.72 → 8/8 PASS.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본류: +0.09~+0.20(컷 4/4) · +0.06~+0.19(포함 2/4).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"보간은 매끄러운 본류에서 사실상 최적이고, 모델의 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활동 구간에 있다" — 이 문장은 두 모집단 모두에서 성립한다.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429000"/>
            <a:ext cx="50749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342900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3538728"/>
            <a:ext cx="47091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V_rot — 비대칭은 지역적이다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3941064"/>
            <a:ext cx="46908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층: +0.54~+0.79 (8/8 양수, PASS 각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 대비 +0.75~+0.86으로 8/8 PASS).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본류: 약 0 (-0.07~+0.15, 0/8).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전역으로는 동률이어도 고활동 이웃에서는 이력 기반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예측기도 값을 더한다 — 회전이 '아무것도 안 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타겟'이 아니라는 증거.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559552"/>
            <a:ext cx="50749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peak 층은 입력만으로 계산되는 활동도 프록시로 정의한다 — 타겟 값을 보고 고른 층이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held-out TEST 방전 #31815 — 사례로 보는 과도 추적 (seq_v2)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460" y="1298448"/>
            <a:ext cx="6523080" cy="48463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23960" y="1325880"/>
            <a:ext cx="288036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23960" y="132588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1704" y="1435607"/>
            <a:ext cx="2514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이 방전에서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837943"/>
            <a:ext cx="249631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T_i skill +0.42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V_rot skill +0.21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모델은 과도 구간을 추적하고,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쓰는 보간은 관측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사이를 매끄럽게 지나간다.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3657600"/>
            <a:ext cx="2880360" cy="2377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3657600"/>
            <a:ext cx="91440" cy="2377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4" y="3767328"/>
            <a:ext cx="2514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사례의 지위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4169664"/>
            <a:ext cx="2496312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사례는 예시일 뿐이고,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통계 판정은 peak 층화(8/8 PASS)와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간극 층화가 운반한다.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이 방전은 TEST 분할에 속하며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 과정에서 한 번도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열람되지 않았다.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데이터 감사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두 개의 감사가 프로토콜을 강제했다 — 유지값과 피팅 실패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7965"/>
            <a:ext cx="4983480" cy="161840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3794760"/>
            <a:ext cx="49834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91440" cy="2286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904488"/>
            <a:ext cx="4617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1 — 유지(forward-fill)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06824"/>
            <a:ext cx="459943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 V_rot의 54%가 계측 유지값(run 최대 1,214행, 499/641 파일).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NaN 23.9% + held 41.1% → 격자의 65.0%에 독립 V_rot 정보가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5자리·최소 간격 0.00004 → 규칙의 오탐 채널 없음.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T_i의 held는 226,991행 중 1행 = 경험적 상한.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held는 어디서나 제거 — 지도 타겟·이력·정규화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통계·모든 기준선의 보간 앵커.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1298448"/>
            <a:ext cx="608076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1298448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1304" y="1408176"/>
            <a:ext cx="5715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2 — T_i 피팅 실패의 구조 (B.7 후속 감사)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810512"/>
            <a:ext cx="569671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 T_i p99 = 2,089 eV, p99.9 = 9,601, 최대 14,984 → 꼬리는 피팅 실패.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&gt; 3 keV 1,197행(0.53%) = 951 run / 274 방전, 85%가 단일행(813).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2–4행 run 121개, ≥ 5행은 17개(2%, 최대 15행), 70%가 고립 run.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run 피크 중앙값 = 이웃 평균의 13배 (IQR 6–26배).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컷이 제거하는 것은 거의 전부 단일-표본 사건 = 피팅 실패의 모습이지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ELM·천이의 모습이 아니다. 그래서 컷을 사전등록할 수 있었다.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0" y="3566160"/>
            <a:ext cx="6080760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3566160"/>
            <a:ext cx="91440" cy="1371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1304" y="3675887"/>
            <a:ext cx="5715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그러나 값 컷은 일방향 프록시다 (우리가 먼저 말한다)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1304" y="4078224"/>
            <a:ext cx="569671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관측된 두 이웃 기준 상향 ≥2× 이상치 3,845행 · 하향 ≤½× dip 4,965행.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 keV 컷은 상향의 19%(731행)만 제거하고 dip은 하나도 건드리지 못한다.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 피팅 품질 메타(fit χ²·신호 세기)가 오면 품질 컷이 값 컷을 대체·동반한다.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5029200"/>
            <a:ext cx="6080760" cy="1051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23560" y="5029200"/>
            <a:ext cx="91440" cy="105156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1304" y="5138928"/>
            <a:ext cx="5715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V_rot는 컷하지 않는다 — 값·점프 규칙 없음, 재학습 없음 (2026-08-16 결정)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1304" y="5541264"/>
            <a:ext cx="5696712" cy="41147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&gt; 1,000 km/s 119행 / 16 방전, 그중 101행이 s31181의 한 블록 (p99 = 223 km/s).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대신 persistence 앵커 비교마다 스파이크 행의 SSE 비중을 병기한다.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1 ms대 상태 유지 추론 + 전 셀 우위의 conformal 구간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91440" cy="2286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0817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 (은닉 상태 이월, 배치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10512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스텝: CPU 중앙값 1.05 ms / p95 1.35 / p99 1.61 ms → 예산의 16%.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GPU 1.21 / 2.31 ms — 이 크기에서는 배치 1에 GPU가 사주는 것이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세그먼트 재실행: 100행 2.9 / 5.6 ms, 300행 6.4 / 8.9 ms (35–47k 행/s).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윈도 대조군은 더 느리고 꼬리가 무겁다(W = 2 CPU 3.8 / p99 18.9 ms).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유휴 재실행 두 번의 절대값이 최대 2배 다르지만(0.51 / 0.99 ms) 순서는 불변.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권고: 제어 계산기의 CPU에서 상태 유지형으로 — 예산의 80%가 남는다.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98448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298448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0817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(α = 0.10, val 교정, TEST)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10512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T_i 컷: 1,272 vs 1,554(PCHIP) vs 1,727(persistence).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T_i 포함: 2,290 vs 2,851 vs 3,120.   V_rot: 150 vs 164 vs 179.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모델 T_i 구간이 PCHIP보다 넓으면서도(반폭 224–255 vs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211–241 eV) 점수가 더 좋다 — 스파이크가 miss 페널티를 키운다.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층화는 T_i arm을 4–5% 조이고 V_rot는 불변, 판정 불변.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5513832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91440" cy="16002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1304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정직한 한계 — 커버리지는 주변적이다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15383"/>
            <a:ext cx="5129784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coverage T_i 0.87–0.92, V_rot 0.91–0.94 — 명목 0.90 주변이지만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방전 조건부 보장은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방전별 보정은 현재 방전 수(96 / 60–66)로는 통계가 서지 않는다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다중 캠페인이 확보돼야 열리는 수리다.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513832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91440" cy="1600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1304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실시간 주장의 범위 (§8v 규칙 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15383"/>
            <a:ext cx="5129784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지연은 네트워크 순전파만 측정했다 — 특징 조립·수집 지연은 모델 밖.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입력이 100 Hz라 새 정보는 추론 속도와 무관하게 10 ms마다 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그래서 "즉각 반응하는 실시간"이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"10 ms 주기 안에 여유 있게 도는 나우캐스터"로 말한다.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440680"/>
            <a:ext cx="11201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배치 형태 3종: ① 온라인 가상 CES 센서(결측 T_i를 인과적으로 채워 프로파일 피팅·제어 입력으로) ② 아카이브 재분석의 간극 채움(과도 구간에서 이점 최대) ③ 다른 희소 진단의 ML 채움 연구가 그대로 쓸 수 있는 평가 bar.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개선 여지 ·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남은 레버는 전부 데이터다 — 그리고 못 한 것의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118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CES 피팅 품질 메타데이터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2783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값 컷은 일방향 프록시(상향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19%만 제거, dip 4,965는 그대로).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fit χ²·신호 세기가 오면 품질 컷이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값 컷을 대체하고 두 모집단이 하나로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합쳐진다 — 이 연구의 판정 언어를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가장 단순하게 만드는 레버.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 스파이크도 같은 규칙으로.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25880"/>
            <a:ext cx="36118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325880"/>
            <a:ext cx="91440" cy="2286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② 원본 kHz Mirnov (V_rot 최상위)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37943"/>
            <a:ext cx="322783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블록 내 lag-1 자기상관: BES +0.568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ECEI +0.572 vs Mirnov -0.009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(블록 82%가 |r| &lt; 0.1) — anti-aliasing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없이 kHz dB/dt를 100 Hz로 데시메이트한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서명이다. 원본 스트림에서 윈도 RMS·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대역 파워·모드수·모드 회전 주파수를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뽑아 V_rot 분기에 투입. B.6 = 대기 중.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25880"/>
            <a:ext cx="36118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NBI 토크 채널 부재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1837943"/>
            <a:ext cx="322783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T_e~T_i r = +0.353 (p = 3e-17)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vs T_e~V_rot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—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회전의 원인 변수가 데이터셋에 아예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없다. 아키텍처가 아니라 데이터 획득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과제이며, DIII-D의 액추에이터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예보가 양성 대조군이다.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1201400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검정력 — 유효 표본은 방전 수(T_i 약 96, V_rot 60–66); 포함 모집단에서는 약 1% 행이 모든 arm SSE의 70–83%를 나른다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MNAR 낙관 — 재가중은 인과 비교엔 두 모집단, 오프라인 비교엔 모집단 조건부. 도달 범위는 T_i 54–68% · V_rot 4–6%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오프라인 주장의 상한 = 오프라인 GP와 동률(1/8 유의) · 값 컷은 일방향 프록시 · V_rot는 컷하지 않음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캠페인은 한 시간 블록 위의 초기화 4개(분할 4개 아님), 컷 run 2/4가 30-epoch 상한 종료, shot별 표준화는 오프라인 형태(인과 EWMA 미측정)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conformal은 marginal 커버리지 · 지연은 네트워크만·전원 상태 2배 · 단일 장치 · 페데스탈 상단 프레이밍, 이벤트-위상 분석은 후속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규칙: 음성 결과는 그것을 뒤집을 측정을 지목할 때만 보고한다 — "정보가 부족하다"는 종결 문장으로 쓰지 않는다(§8j)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예상 질문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프로토콜 · 모집단 ·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871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예상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362456"/>
            <a:ext cx="6940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답변 요지 (수치는 전부 §8ab 기준)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1362456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755648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왜 두 모집단인가? p100 하나로 쓰면 안 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755648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절제가 측정된 답을 준다: 포함 모집단에서는 이력-전용 모델도 PCHIP를 +0.15~+0.23 이기고 빠른 채널이 더하는 것은 0.03–0.09뿐이다. 즉 p100 마진에는 빠른 진단 정보가 아닌 스파이크-강건성 성분이 섞여 있다. 반대로 컷만 쓰면 "어려운 행을 버렸다"는 비판에 노출된다. 그래서 두 모집단을 공동 1차로 두고 무조건부 주장의 기준을 "둘 다 성립"으로 올렸다 — 단일 헤드라인보다 엄격한 규칙이다.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1755648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68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16352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889504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값 컷은 결국 임의적 프록시 아닌가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889504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맞다. 그렇게 보고한다: 두 이웃이 관측된 225,580행 중 상향 ≥2× 이상치 3,845 · 하향 dip 4,965인데 3 keV 컷이 제거하는 것은 상향의 19%(731행)뿐이고 dip은 하나도 못 건드린다. 근거는 물리(&gt;3 keV는 KSTAR 이온온도가 아니다)와 구조 감사(85%가 단일행, run 피크가 이웃 평균의 13배)다. 문턱 2.5/3/4 keV에서 T_i 평균 +0.230/+0.236/+0.232, PR4 판정 전부 동일 — 문턱이 아니라 두 모집단이 본질이다.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2889504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4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왜 W = 2인가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23360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24-run 스윕이 먼저 답했다. history-0은 붕괴하고(T_i -0.026, V_rot -0.783), 관측 하나가 곧바로 plateau를 만들며(W = 2: T_i +0.238 4/4), 이후 곡선은 평평하다(T_i 0.190–0.246; 한 점 안의 seed 산포 0.07–0.16이 곡선 전체 폭보다 크다). plateau-최소 규칙이 W = 2를 반환한다. 넓은 W의 유일한 논거는 커버리지인데, 그것은 긴 윈도가 아니라 도달거리가 세그먼트 전체인 시퀀스 프레이밍의 논거다.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4023360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7453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84064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57216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MNAR 재가중은 어디까지 말해 주나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범위를 사전등록이 요구한 대로 보고한다: 결측 T_i의 54–68%, V_rot의 4–6%만 W = 2 도메인 안에 있다(과거 관측이 2행 이내). 그래서 재가중 V_rot는 결측 질량의 1/20에 대한 답이라 결론을 내지 않는다. T_i는 persistence 대비 두 모집단 4/4(+0.28~+0.44, 보정 비용 최대 0.12), PCHIP 대비는 컷 2/4·포함 4/4 — 인과 대비는 무조건부, 오프라인 대비는 모집단 조건부다.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5157216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●●○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208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예상 질문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모델 선택 · 복잡도 · 기준선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871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예상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362456"/>
            <a:ext cx="6940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답변 요지 (수치는 전부 §8ab 기준)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1362456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755648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왜 seq_v2가 주 모델인가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755648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관문 4조건을 실행 전에 커밋하고 전부 충족했다(PREREGISTRATION_W2.md §4): ① 분할별 초기화 평균 paired T_i 부호 4/4 양수 ② 16-run pooled +0.081, run-클러스터 CI [+0.067, +0.096]가 0 배제 ③ 예산 균등화(고정 10 epoch)에서도 4/4 양수(+0.063/+0.033/+0.045/+0.030) ④ V_rot 유의 열세 0/16. 16 run 전부 양수·13/16 유의였고, 학습 비용은 오히려 1/10이다.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1755648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68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16352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889504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val에서 좋았던 attention 후보는 왜 안 올렸나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889504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사전 고정한 승격 기준(유의 ≥3/4)에 미달했기 때문이다. seq v3는 val(분할 42/7)에서 paired +0.024*/+0.037*로 2/2 유의였지만, TEST 확증에서 +0.009/+0.013/+0.033*/+0.020 = 4/4 양수·1/4 유의였다. 규칙대로 미승격하고 §8y에 음성 기록으로 남겼다. 이것이 "모델을 고르고 이유를 붙였다"는 의심에 대한 실물 반증이다 — 다만 v3가 인과 GP를 4/4로 넘은 덕에 백본 자신의 claim 2가 복권됐다.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2889504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4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b3k8 = 백본이라면서 왜 컷 조건부인가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23360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 persistence 오차 &gt; 2 keV인 행이 TEST의 0.6–1.3%인데, 그 행들이 b3 T_i SSE의 73–83%(모든 arm 70–83%)를 나른다. 유계 보정(latent ∈ [-1,1] 8개)은 스파이크 이월값을 되살릴 수 없으므로 포함에서 -0.194(4/4 유의)로 벌어진다. 컷에서는 평균 +0.002이고 CI가 전부 0을 포함한다. 단(rung) 자체는 양쪽에서 성립하고, 조건부인 것은 "백본과 동급"이라는 허용치뿐이다.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4023360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7453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84064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57216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크기를 키우면 되지 않나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B.4가 그 축을 닫았다. T_i 인코더 폭 24 → 260(34k → 879k, 26배)에서 평균 skill이 +0.230/+0.236/+0.235/+0.236/+0.230으로 160 대비 ±0.008이고, 최대 폭의 유의 우세는 1/4, 폭 24까지 유의 열세가 ≥3/4인 지점이 없으며 V_rot는 불변(+0.250~+0.254)이다. 반대편에서는 21,498 파라미터 b3k8이 컷 모집단에서 백본과 동급이다. 상한은 추정기 용량이 아니라 정보다.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5157216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208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예상 질문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물리 · 일반화 · 증거의 소재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871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예상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362456"/>
            <a:ext cx="6940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답변 요지 (수치는 전부 §8ab 기준)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1362456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755648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왜 동률인가 — 실패 아닌가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755648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네 가지가 겹친다: ① 라우팅이 인코더에서 성립해 빠른 채널을 어떻게 섭동해도 V_rot 출력이 bit-identical이다(no_fast paired +0.000 ×4, 두 모집단) ② 회전의 원인 변수인 NBI 토크가 데이터셋에 없다(T_e~V_rot r = +0.024, p = 0.58) ③ 유일한 회전 대리인 Mirnov가 100 Hz 앨리어싱으로 파괴됐다(lag-1 -0.009) ④ PR2 폴백률이 40–44%라 "vs PCHIP"의 2/5가 사실상 vs persistence다. 그래도 Δt &gt; 15 ms에서는 두 모집단 모두 PCHIP을 이기고 peak 층은 +0.54~+0.79다.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1755648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68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16352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889504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캠페인 결과가 왜 뒤집혔나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889504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프로토콜이 아니라 모델이 바뀌었다. 윈도 대조군은 여전히 붕괴한다(컷 2/4·포함 0/4, 인과 GP 0/4) — 이전 초고의 0/4가 그대로 재현된다. 백본은 PCHIP·인과 GP 모두 4/4+4/4이고 대조군 대비 8/8 유의다. 원인은 측정됐다: train→test 드리프트가 BES 1.22σ·ECEI 0.53σ인 데 반해 타겟은 0.115σ다. 지목했던 수리(shot별 표준화)는 윈도에서 2/4→4/4로 실제 작동했고, seq_v2는 정의상 그 표준화 + 세그먼트 도달거리를 갖는다.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2889504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4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오프라인 GP와 동률인데 무슨 의미가 있나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23360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오프라인 주장의 상한을 우리가 먼저 측정해 보고한 것이다. 오프라인 GP는 미래 이웃 16개를 보고 잡음을 평균해 내는 평활기이므로 배치할 수 없다 — 실시간에는 존재하지 않는 팔이다. 배치에 관한 문장은 인과 사다리 위에서 판정하며 거기서는 백본이 인과 GP를 4/4+4/4(+0.08~+0.17)로 이긴다. 헤드라인 비교 대상은 사전등록(PR1)대로 PCHIP를 유지하고, GP는 사다리에 병기해 결과를 그대로 싣는다.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4023360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7453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84064"/>
            <a:ext cx="11201400" cy="11338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57216"/>
            <a:ext cx="287121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TEST 동결·사전등록의 증거는 어디에 있나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694029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ces_prediction/experiments/PREREGISTRATION_W2.md 하나다. 배치별 판정 규칙이 실행 전에 커밋돼 있고, 그 아래 "집행 결과" 블록이 B.1 §8x · B.2 §8y · B.3 §8z · B.4 §8aa · B.5 §8ab로 이어 붙는다. 스파이크 컷 구현은 커밋 3598760(로드 시점 NaN 처리, 캐시 서명 v5, 35/35 테스트 통과). B.2 탐색은 val 전용이었고 TEST는 후보당 1회만 채점했으며, 모든 수치는 얼린 run 디렉터리에서 단일 collector가 읽는다.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5157216"/>
            <a:ext cx="950976" cy="10424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●●●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208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재현성 · 남은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3335F"/>
                </a:solidFill>
                <a:latin typeface="Malgun Gothic"/>
              </a:rPr>
              <a:t>수치는 손으로 옮기지 않는다 — 그리고 2026-08-16의 결정 3건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연구 종합 정리·방어 · 확정 프로토콜(W=2 · held-free · 두 모집단 · 백본 seq_v2) · 2026-08-16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수치 파이프라인 (§8h 재발 방지 장치)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얼린 run 디렉터리 → collect_paper_numbers.py (v2) → paper_numbers.json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main.tex · main_ko.tex · outline_ko_v2.tex · make_figures_en.py.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수기 전사 금지. 영문·국문 두 논문의 수치 토큰 일치를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얼린 실행 재채점은 가산 키 + 기존 키 bit-identical 확인이 규칙이며,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se_model만 bounded-drift(RMSE &lt; 0.01 물리 단위)를 허용한다.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채점 모집단 키는 arm 사이에서 bit-identical임을 매번 확인한다.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코드와 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 experiments/seq/model_seq_v2.py · 해석가능 단 model_seq_b3.py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윈도 대조군 model_iter009.py (SHA-256 고정, 테스트가 검사).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프로토콜 experiments/PREREGISTRATION_W2.md · 감사 PROTOCOL_AUDIT.md.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산출물: data/.b5_summary.json(판정) · .b5i_{w2,seqv2,anchor,b3k8}_s*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.b5_camp_* · .b5c{2500,4000}_seqv2_s* · .b5_abl_*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.b5_spike_structure.json · .campaign_split_manifest.json · .b1_*.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남은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□  발표 덱 5종과 docs/presentation/make_figures.py를 새 스키마·§8ab 수치로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재빌드 (이 덱을 포함한 재빌드가 그 작업이다).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□  B.6 — kHz Mirnov 특징 테이블이 도착하면 사전등록 §7 규칙 개정을 커밋한 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파일럿 → 확대. 2026-08-16 기준 data/에 특징 없음.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□  논문 검토 — 초록·기여 문구, 두 모집단 서술 톤, 제목 유지 여부.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외의 W = 4 시대 산출물은 어떤 결과도 이월하지 않는다(역사적 재현 확인만 예외).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286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결정 기록 — 2026-08-16 (승상님)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 두 모집단 공동 1차를 유지한다. p100 단일 헤드라인으로 가지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   근거는 §8ab의 절제 — 포함 마진에 스파이크-강건성 성분이 섞여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 V_rot 프로토콜은 불변. 값 컷도 점프 규칙도 없고 재학습도 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   대신 persistence 앵커 비교마다 스파이크 행의 SSE 비중을 병기한다.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 B.6은 미도착 — 대기. 특징이 오기 전에는 V_rot 레버를 열지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이 세 결정이 현재 판정표(3번 슬라이드)의 전제다.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